
<file path=[Content_Types].xml><?xml version="1.0" encoding="utf-8"?>
<Types xmlns="http://schemas.openxmlformats.org/package/2006/content-types">
  <Default Extension="bin" ContentType="application/vnd.openxmlformats-officedocument.oleObject"/>
  <Default Extension="fntdata" ContentType="application/x-fontdata"/>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p:sldMasterIdLst>
    <p:sldMasterId id="2147483648" r:id="rId1"/>
  </p:sldMasterIdLst>
  <p:notesMasterIdLst>
    <p:notesMasterId r:id="rId27"/>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80" r:id="rId17"/>
    <p:sldId id="271" r:id="rId18"/>
    <p:sldId id="272" r:id="rId19"/>
    <p:sldId id="273" r:id="rId20"/>
    <p:sldId id="274" r:id="rId21"/>
    <p:sldId id="275" r:id="rId22"/>
    <p:sldId id="276" r:id="rId23"/>
    <p:sldId id="277" r:id="rId24"/>
    <p:sldId id="278" r:id="rId25"/>
    <p:sldId id="279" r:id="rId26"/>
  </p:sldIdLst>
  <p:sldSz cx="18288000" cy="10287000"/>
  <p:notesSz cx="6858000" cy="9144000"/>
  <p:embeddedFontLst>
    <p:embeddedFont>
      <p:font typeface="Canva Sans" panose="020B0604020202020204" charset="0"/>
      <p:regular r:id="rId28"/>
    </p:embeddedFont>
    <p:embeddedFont>
      <p:font typeface="Canva Sans Bold" panose="020B0604020202020204" charset="0"/>
      <p:regular r:id="rId29"/>
    </p:embeddedFont>
    <p:embeddedFont>
      <p:font typeface="Canva Sans Bold Italics" panose="020B0604020202020204" charset="0"/>
      <p:regular r:id="rId30"/>
    </p:embeddedFont>
    <p:embeddedFont>
      <p:font typeface="Canva Sans Italics" panose="020B0604020202020204" charset="0"/>
      <p:regular r:id="rId31"/>
    </p:embeddedFont>
    <p:embeddedFont>
      <p:font typeface="Lato Bold" panose="020B0604020202020204" charset="0"/>
      <p:regular r:id="rId32"/>
    </p:embeddedFont>
    <p:embeddedFont>
      <p:font typeface="Open Sans" panose="020B0606030504020204" pitchFamily="34" charset="0"/>
      <p:regular r:id="rId33"/>
    </p:embeddedFont>
    <p:embeddedFont>
      <p:font typeface="Open Sans Bold" panose="020B0806030504020204" charset="0"/>
      <p:regular r:id="rId34"/>
    </p:embeddedFont>
    <p:embeddedFont>
      <p:font typeface="The Seasons" panose="020B0604020202020204" charset="0"/>
      <p:regular r:id="rId35"/>
    </p:embeddedFont>
    <p:embeddedFont>
      <p:font typeface="The Seasons Bold" panose="020B0604020202020204" charset="0"/>
      <p:regular r:id="rId36"/>
    </p:embeddedFont>
    <p:embeddedFont>
      <p:font typeface="Times New Roman Bold" panose="02020803070505020304" pitchFamily="18" charset="0"/>
      <p:regular r:id="rId37"/>
      <p:bold r:id="rId38"/>
    </p:embeddedFont>
    <p:embeddedFont>
      <p:font typeface="Times New Roman Bold Italics" panose="020B0604020202020204" charset="0"/>
      <p:regular r:id="rId39"/>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autoAdjust="0"/>
    <p:restoredTop sz="94622" autoAdjust="0"/>
  </p:normalViewPr>
  <p:slideViewPr>
    <p:cSldViewPr>
      <p:cViewPr varScale="1">
        <p:scale>
          <a:sx n="37" d="100"/>
          <a:sy n="37" d="100"/>
        </p:scale>
        <p:origin x="988" y="44"/>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font" Target="fonts/font12.fntdata"/><Relationship Id="rId3" Type="http://schemas.openxmlformats.org/officeDocument/2006/relationships/slide" Target="slides/slide2.xml"/><Relationship Id="rId21" Type="http://schemas.openxmlformats.org/officeDocument/2006/relationships/slide" Target="slides/slide20.xml"/><Relationship Id="rId34" Type="http://schemas.openxmlformats.org/officeDocument/2006/relationships/font" Target="fonts/font7.fntdata"/><Relationship Id="rId42" Type="http://schemas.openxmlformats.org/officeDocument/2006/relationships/theme" Target="theme/theme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font" Target="fonts/font6.fntdata"/><Relationship Id="rId38" Type="http://schemas.openxmlformats.org/officeDocument/2006/relationships/font" Target="fonts/font11.fntdata"/><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font" Target="fonts/font2.fntdata"/><Relationship Id="rId41"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font" Target="fonts/font5.fntdata"/><Relationship Id="rId37" Type="http://schemas.openxmlformats.org/officeDocument/2006/relationships/font" Target="fonts/font10.fntdata"/><Relationship Id="rId40" Type="http://schemas.openxmlformats.org/officeDocument/2006/relationships/presProps" Target="pres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font" Target="fonts/font1.fntdata"/><Relationship Id="rId36" Type="http://schemas.openxmlformats.org/officeDocument/2006/relationships/font" Target="fonts/font9.fntdata"/><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font" Target="fonts/font4.fntdata"/><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notesMaster" Target="notesMasters/notesMaster1.xml"/><Relationship Id="rId30" Type="http://schemas.openxmlformats.org/officeDocument/2006/relationships/font" Target="fonts/font3.fntdata"/><Relationship Id="rId35" Type="http://schemas.openxmlformats.org/officeDocument/2006/relationships/font" Target="fonts/font8.fntdata"/><Relationship Id="rId43"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lang="cs-CZ"/>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fld id="{B7268E1E-0E44-426D-905E-8AD9B19D2182}" type="datetimeFigureOut">
              <a:rPr lang="cs-CZ" smtClean="0"/>
              <a:t>04.05.2026</a:t>
            </a:fld>
            <a:endParaRPr lang="cs-CZ"/>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lang="cs-CZ"/>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cs-CZ"/>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lang="cs-CZ"/>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fld id="{871B2431-D351-4C6E-A3CF-9DFAC0E3E050}" type="slidenum">
              <a:rPr lang="cs-CZ" smtClean="0"/>
              <a:t>‹#›</a:t>
            </a:fld>
            <a:endParaRPr lang="cs-CZ"/>
          </a:p>
        </p:txBody>
      </p:sp>
    </p:spTree>
    <p:extLst>
      <p:ext uri="{BB962C8B-B14F-4D97-AF65-F5344CB8AC3E}">
        <p14:creationId xmlns:p14="http://schemas.microsoft.com/office/powerpoint/2010/main" val="179888911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this is the multi agentic network. each takes their local observations (queue lengths, waiting times etc) and outputs and actions. </a:t>
            </a:r>
          </a:p>
          <a:p>
            <a:endParaRPr lang="en-US"/>
          </a:p>
          <a:p>
            <a:r>
              <a:rPr lang="en-US"/>
              <a:t>these observations and actions are used to create their Q value through their NN and all are stored in this experience replay buffer.</a:t>
            </a:r>
          </a:p>
          <a:p>
            <a:endParaRPr lang="en-US"/>
          </a:p>
          <a:p>
            <a:r>
              <a:rPr lang="en-US"/>
              <a:t>a small batch of these expereinces along with the cumulative Q value will be fed into the VDN mixing network and there it will will compared within the optimizer (adam) to output the loss through thr loss fucntion. </a:t>
            </a:r>
          </a:p>
          <a:p>
            <a:endParaRPr lang="en-US"/>
          </a:p>
          <a:p>
            <a:endParaRPr lang="en-US"/>
          </a:p>
          <a:p>
            <a:r>
              <a:rPr lang="en-US"/>
              <a:t> the error signal from this loss is backpropagated through the Mixing Network and down into the individual networks of every agent. This updates all agent networks to improve their collective performance.</a:t>
            </a:r>
          </a:p>
          <a:p>
            <a:endParaRPr lang="en-US"/>
          </a:p>
          <a:p>
            <a:r>
              <a:rPr lang="en-US"/>
              <a:t>loop</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Academic Value &amp; Funding:</a:t>
            </a:r>
          </a:p>
          <a:p>
            <a:endParaRPr lang="en-US"/>
          </a:p>
          <a:p>
            <a:r>
              <a:rPr lang="en-US"/>
              <a:t>Project recognized under final-year research, reducing future academic costs.</a:t>
            </a:r>
          </a:p>
          <a:p>
            <a:endParaRPr lang="en-US"/>
          </a:p>
          <a:p>
            <a:r>
              <a:rPr lang="en-US"/>
              <a:t>Potential for university research grants or government innovation funds (ITS/AI).</a:t>
            </a:r>
          </a:p>
          <a:p>
            <a:endParaRPr lang="en-US"/>
          </a:p>
          <a:p>
            <a:r>
              <a:rPr lang="en-US"/>
              <a:t>Commercialization &amp; Cost Recovery:</a:t>
            </a:r>
          </a:p>
          <a:p>
            <a:endParaRPr lang="en-US"/>
          </a:p>
          <a:p>
            <a:r>
              <a:rPr lang="en-US"/>
              <a:t>Licensing to municipalities / smart city projects for real-time traffic management.</a:t>
            </a:r>
          </a:p>
          <a:p>
            <a:endParaRPr lang="en-US"/>
          </a:p>
          <a:p>
            <a:r>
              <a:rPr lang="en-US"/>
              <a:t>Subscription-based dashboard service for traffic departments (monthly hosting fees).</a:t>
            </a:r>
          </a:p>
          <a:p>
            <a:endParaRPr lang="en-US"/>
          </a:p>
          <a:p>
            <a:r>
              <a:rPr lang="en-US"/>
              <a:t>Partnerships with transportation authorities → deployment reduces congestion &amp; fuel loss → cost justified.</a:t>
            </a:r>
          </a:p>
          <a:p>
            <a:endParaRPr lang="en-US"/>
          </a:p>
          <a:p>
            <a:r>
              <a:rPr lang="en-US"/>
              <a:t>Scalability &amp; Sustainability:</a:t>
            </a:r>
          </a:p>
          <a:p>
            <a:endParaRPr lang="en-US"/>
          </a:p>
          <a:p>
            <a:r>
              <a:rPr lang="en-US"/>
              <a:t>Cloud-based infrastructure can be scaled with minimal recurring costs.</a:t>
            </a:r>
          </a:p>
          <a:p>
            <a:endParaRPr lang="en-US"/>
          </a:p>
          <a:p>
            <a:r>
              <a:rPr lang="en-US"/>
              <a:t>Once deployed, low maintenance compared to infrastructure-heavy solutions.</a:t>
            </a:r>
          </a:p>
          <a:p>
            <a:endParaRPr lang="en-US"/>
          </a:p>
          <a:p>
            <a:r>
              <a:rPr lang="en-US"/>
              <a:t>Future integration into Sri Lanka Intelligent Transportation Systems (ITS) can open commercialization opportunities.</a:t>
            </a:r>
          </a:p>
          <a:p>
            <a:endParaRPr lang="en-US"/>
          </a:p>
          <a:p>
            <a:r>
              <a:rPr lang="en-US"/>
              <a:t>Recovery Path: Initial cost (~LKR 130,000) is recovered through a combination of research funding, institutional adoption, and future commercialization of the traffic optimization platform.</a:t>
            </a:r>
          </a:p>
          <a:p>
            <a:endParaRPr lang="en-US"/>
          </a:p>
          <a:p>
            <a:endParaRPr lang="en-US"/>
          </a:p>
          <a:p>
            <a:r>
              <a:rPr lang="en-US"/>
              <a:t>----------------</a:t>
            </a:r>
          </a:p>
          <a:p>
            <a:r>
              <a:rPr lang="en-US"/>
              <a:t>commercialization</a:t>
            </a:r>
          </a:p>
          <a:p>
            <a:r>
              <a:rPr lang="en-US"/>
              <a:t>Municipalities &amp; City Councils:  Offer them a software-driven solution to reduce congestion and without the massive cost of expensive smart infrastructure. Companies that already provide hardware/software to cities. License your algorithm as a "Smart Coordination Module" they can integrate into their existing offerings, making their products more advanced and competitive.</a:t>
            </a:r>
          </a:p>
          <a:p>
            <a:endParaRPr lang="en-US"/>
          </a:p>
          <a:p>
            <a:r>
              <a:rPr lang="en-US"/>
              <a:t>in doing so;</a:t>
            </a:r>
          </a:p>
          <a:p>
            <a:r>
              <a:rPr lang="en-US"/>
              <a:t>Step 1;Protect the Intellectual Property (IP). File for a software patent</a:t>
            </a:r>
          </a:p>
          <a:p>
            <a:r>
              <a:rPr lang="en-US"/>
              <a:t>Step 2;</a:t>
            </a:r>
          </a:p>
          <a:p>
            <a:r>
              <a:rPr lang="en-US"/>
              <a:t>Step 3;</a:t>
            </a:r>
          </a:p>
          <a:p>
            <a:r>
              <a:rPr lang="en-US"/>
              <a:t>Step 4;Choose a Licensing Business Model.</a:t>
            </a:r>
          </a:p>
          <a:p>
            <a:r>
              <a:rPr lang="en-US"/>
              <a:t>Software-as-a-Service (SaaS)</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1. Target Market (What to say)</a:t>
            </a:r>
          </a:p>
          <a:p>
            <a:endParaRPr lang="en-US"/>
          </a:p>
          <a:p>
            <a:r>
              <a:rPr lang="en-US"/>
              <a:t>“Our main target market includes government traffic management authorities and city councils, who are actively seeking smart traffic solutions for urban congestion.</a:t>
            </a:r>
          </a:p>
          <a:p>
            <a:endParaRPr lang="en-US"/>
          </a:p>
          <a:p>
            <a:r>
              <a:rPr lang="en-US"/>
              <a:t>We also focus on emergency services like ambulances, fire brigades, and police departments, who benefit from faster signal preemption.</a:t>
            </a:r>
          </a:p>
          <a:p>
            <a:endParaRPr lang="en-US"/>
          </a:p>
          <a:p>
            <a:r>
              <a:rPr lang="en-US"/>
              <a:t>Another key segment is smart city solution providers and IoT companies that want to integrate AI-based traffic systems.</a:t>
            </a:r>
          </a:p>
          <a:p>
            <a:endParaRPr lang="en-US"/>
          </a:p>
          <a:p>
            <a:r>
              <a:rPr lang="en-US"/>
              <a:t>Global development projects and NGOs working on smart infrastructure are also potential customers, as they fund modernization of traffic systems.”</a:t>
            </a:r>
          </a:p>
          <a:p>
            <a:endParaRPr lang="en-US"/>
          </a:p>
          <a:p>
            <a:r>
              <a:rPr lang="en-US"/>
              <a:t>🔹 2. Customer Profile (What to say)</a:t>
            </a:r>
          </a:p>
          <a:p>
            <a:endParaRPr lang="en-US"/>
          </a:p>
          <a:p>
            <a:r>
              <a:rPr lang="en-US"/>
              <a:t>“Our customers include traffic control center operators who need real-time dashboards to make decisions quickly.</a:t>
            </a:r>
          </a:p>
          <a:p>
            <a:endParaRPr lang="en-US"/>
          </a:p>
          <a:p>
            <a:r>
              <a:rPr lang="en-US"/>
              <a:t>City planners and officials will use this system for long-term infrastructure decisions based on traffic data.</a:t>
            </a:r>
          </a:p>
          <a:p>
            <a:endParaRPr lang="en-US"/>
          </a:p>
          <a:p>
            <a:r>
              <a:rPr lang="en-US"/>
              <a:t>Emergency dispatch teams will directly benefit by having priority at intersections, reducing response time.</a:t>
            </a:r>
          </a:p>
          <a:p>
            <a:endParaRPr lang="en-US"/>
          </a:p>
          <a:p>
            <a:r>
              <a:rPr lang="en-US"/>
              <a:t>Finally, everyday pedestrians and drivers are indirect beneficiaries—experiencing safer crossings, fewer delays, and smoother commutes.”</a:t>
            </a:r>
          </a:p>
          <a:p>
            <a:endParaRPr lang="en-US"/>
          </a:p>
          <a:p>
            <a:r>
              <a:rPr lang="en-US"/>
              <a:t>🔹 3. Value Proposition (What to say)</a:t>
            </a:r>
          </a:p>
          <a:p>
            <a:endParaRPr lang="en-US"/>
          </a:p>
          <a:p>
            <a:r>
              <a:rPr lang="en-US"/>
              <a:t>“Unlike traditional fixed-time or simple adaptive traffic systems, our system introduces multi-agent reinforcement learning for traffic signals, allowing intersections to communicate and learn optimal patterns.</a:t>
            </a:r>
          </a:p>
          <a:p>
            <a:endParaRPr lang="en-US"/>
          </a:p>
          <a:p>
            <a:r>
              <a:rPr lang="en-US"/>
              <a:t>We use computer vision models to classify pedestrians by age and detect mobility aids like wheelchairs, ensuring vulnerability-aware crossings.</a:t>
            </a:r>
          </a:p>
          <a:p>
            <a:endParaRPr lang="en-US"/>
          </a:p>
          <a:p>
            <a:r>
              <a:rPr lang="en-US"/>
              <a:t>The system integrates YOLOv8-based emergency vehicle detection, enabling real-time signal preemption.</a:t>
            </a:r>
          </a:p>
          <a:p>
            <a:endParaRPr lang="en-US"/>
          </a:p>
          <a:p>
            <a:r>
              <a:rPr lang="en-US"/>
              <a:t>By running this in the SUMO simulator first, we guarantee safe, risk-free testing before deployment.</a:t>
            </a:r>
          </a:p>
          <a:p>
            <a:endParaRPr lang="en-US"/>
          </a:p>
          <a:p>
            <a:r>
              <a:rPr lang="en-US"/>
              <a:t>All this is managed via an intuitive dashboard for monitoring, making it both powerful and user-friendly.”</a:t>
            </a:r>
          </a:p>
          <a:p>
            <a:endParaRPr lang="en-US"/>
          </a:p>
          <a:p>
            <a:r>
              <a:rPr lang="en-US"/>
              <a:t>🔹 4. Intellectual Property Rights (What to say)</a:t>
            </a:r>
          </a:p>
          <a:p>
            <a:endParaRPr lang="en-US"/>
          </a:p>
          <a:p>
            <a:r>
              <a:rPr lang="en-US"/>
              <a:t>“Our codebase, algorithms, and datasets will be copyright protected.</a:t>
            </a:r>
          </a:p>
          <a:p>
            <a:endParaRPr lang="en-US"/>
          </a:p>
          <a:p>
            <a:r>
              <a:rPr lang="en-US"/>
              <a:t>The pedestrian-aware MARL control algorithms and dashboard integration are patentable innovations.</a:t>
            </a:r>
          </a:p>
          <a:p>
            <a:endParaRPr lang="en-US"/>
          </a:p>
          <a:p>
            <a:r>
              <a:rPr lang="en-US"/>
              <a:t>Our labeled datasets for pedestrians and mobility detection will be proprietary assets.</a:t>
            </a:r>
          </a:p>
          <a:p>
            <a:endParaRPr lang="en-US"/>
          </a:p>
          <a:p>
            <a:r>
              <a:rPr lang="en-US"/>
              <a:t>Branding, like ‘SafeCity AI Traffic Manager,’ will be trademark protected, and commercialization will follow a licensing or SaaS business model for cities.”</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this is the multi agentic network. each takes their local observations (queue lengths, waiting times etc) and outputs and actions. </a:t>
            </a:r>
          </a:p>
          <a:p>
            <a:endParaRPr lang="en-US"/>
          </a:p>
          <a:p>
            <a:r>
              <a:rPr lang="en-US"/>
              <a:t>these observations and actions are used to create their Q value through their NN and all are stored in this experience replay buffer.</a:t>
            </a:r>
          </a:p>
          <a:p>
            <a:endParaRPr lang="en-US"/>
          </a:p>
          <a:p>
            <a:r>
              <a:rPr lang="en-US"/>
              <a:t>a small batch of these expereinces along with the cumulative Q value will be fed into the VDN mixing network and there it will will compared within the optimizer (adam) to output the loss through thr loss fucntion. </a:t>
            </a:r>
          </a:p>
          <a:p>
            <a:endParaRPr lang="en-US"/>
          </a:p>
          <a:p>
            <a:endParaRPr lang="en-US"/>
          </a:p>
          <a:p>
            <a:r>
              <a:rPr lang="en-US"/>
              <a:t> the error signal from this loss is backpropagated through the Mixing Network and down into the individual networks of every agent. This updates all agent networks to improve their collective performance.</a:t>
            </a:r>
          </a:p>
          <a:p>
            <a:endParaRPr lang="en-US"/>
          </a:p>
          <a:p>
            <a:r>
              <a:rPr lang="en-US"/>
              <a:t>loop</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1D8BD707-D9CF-40AE-B4C6-C98DA3205C09}" type="datetimeFigureOut">
              <a:rPr lang="en-US" smtClean="0"/>
              <a:pPr/>
              <a:t>5/4/2026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5/4/2026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5/4/2026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1D8BD707-D9CF-40AE-B4C6-C98DA3205C09}" type="datetimeFigureOut">
              <a:rPr lang="en-US" smtClean="0"/>
              <a:pPr/>
              <a:t>5/4/2026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1D8BD707-D9CF-40AE-B4C6-C98DA3205C09}" type="datetimeFigureOut">
              <a:rPr lang="en-US" smtClean="0"/>
              <a:pPr/>
              <a:t>5/4/2026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1D8BD707-D9CF-40AE-B4C6-C98DA3205C09}" type="datetimeFigureOut">
              <a:rPr lang="en-US" smtClean="0"/>
              <a:pPr/>
              <a:t>5/4/2026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5/4/2026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5/4/2026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5/4/2026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5/4/2026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5/4/2026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5/4/2026</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3.jpeg"/><Relationship Id="rId1" Type="http://schemas.openxmlformats.org/officeDocument/2006/relationships/slideLayout" Target="../slideLayouts/slideLayout7.xml"/><Relationship Id="rId6" Type="http://schemas.openxmlformats.org/officeDocument/2006/relationships/image" Target="../media/image6.jpeg"/><Relationship Id="rId5" Type="http://schemas.openxmlformats.org/officeDocument/2006/relationships/image" Target="../media/image5.jpeg"/><Relationship Id="rId4" Type="http://schemas.openxmlformats.org/officeDocument/2006/relationships/image" Target="../media/image4.jpeg"/></Relationships>
</file>

<file path=ppt/slides/_rels/slide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7.png"/><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3" Type="http://schemas.openxmlformats.org/officeDocument/2006/relationships/hyperlink" Target="https://drive.google.com/file/d/1uqDFj2NN2vXGW4y0fyfxnS794WNUMJLP/view?usp=sharing" TargetMode="External"/><Relationship Id="rId2" Type="http://schemas.openxmlformats.org/officeDocument/2006/relationships/image" Target="../media/image2.png"/><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3" Type="http://schemas.openxmlformats.org/officeDocument/2006/relationships/hyperlink" Target="https://drive.google.com/file/d/1FmF1OFh5o4AlMhmpVAbuuwQxp4s63HQe/view?usp=sharing" TargetMode="External"/><Relationship Id="rId2" Type="http://schemas.openxmlformats.org/officeDocument/2006/relationships/image" Target="../media/image2.png"/><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8" Type="http://schemas.openxmlformats.org/officeDocument/2006/relationships/image" Target="../media/image13.svg"/><Relationship Id="rId13" Type="http://schemas.openxmlformats.org/officeDocument/2006/relationships/image" Target="../media/image18.svg"/><Relationship Id="rId3" Type="http://schemas.openxmlformats.org/officeDocument/2006/relationships/image" Target="../media/image8.svg"/><Relationship Id="rId7" Type="http://schemas.openxmlformats.org/officeDocument/2006/relationships/image" Target="../media/image12.png"/><Relationship Id="rId12" Type="http://schemas.openxmlformats.org/officeDocument/2006/relationships/image" Target="../media/image17.svg"/><Relationship Id="rId2" Type="http://schemas.openxmlformats.org/officeDocument/2006/relationships/notesSlide" Target="../notesSlides/notesSlide1.xml"/><Relationship Id="rId16" Type="http://schemas.openxmlformats.org/officeDocument/2006/relationships/image" Target="../media/image21.png"/><Relationship Id="rId1" Type="http://schemas.openxmlformats.org/officeDocument/2006/relationships/slideLayout" Target="../slideLayouts/slideLayout7.xml"/><Relationship Id="rId6" Type="http://schemas.openxmlformats.org/officeDocument/2006/relationships/image" Target="../media/image11.png"/><Relationship Id="rId11" Type="http://schemas.openxmlformats.org/officeDocument/2006/relationships/image" Target="../media/image16.svg"/><Relationship Id="rId5" Type="http://schemas.openxmlformats.org/officeDocument/2006/relationships/image" Target="../media/image10.png"/><Relationship Id="rId15" Type="http://schemas.openxmlformats.org/officeDocument/2006/relationships/image" Target="../media/image20.svg"/><Relationship Id="rId10" Type="http://schemas.openxmlformats.org/officeDocument/2006/relationships/image" Target="../media/image15.png"/><Relationship Id="rId4" Type="http://schemas.openxmlformats.org/officeDocument/2006/relationships/image" Target="../media/image9.svg"/><Relationship Id="rId9" Type="http://schemas.openxmlformats.org/officeDocument/2006/relationships/image" Target="../media/image14.png"/><Relationship Id="rId14" Type="http://schemas.openxmlformats.org/officeDocument/2006/relationships/image" Target="../media/image19.png"/></Relationships>
</file>

<file path=ppt/slides/_rels/slide10.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6.jpeg"/><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image" Target="../media/image22.png"/><Relationship Id="rId1" Type="http://schemas.openxmlformats.org/officeDocument/2006/relationships/slideLayout" Target="../slideLayouts/slideLayout7.xml"/><Relationship Id="rId4" Type="http://schemas.openxmlformats.org/officeDocument/2006/relationships/image" Target="../media/image2.png"/></Relationships>
</file>

<file path=ppt/slides/_rels/slide12.xml.rels><?xml version="1.0" encoding="UTF-8" standalone="yes"?>
<Relationships xmlns="http://schemas.openxmlformats.org/package/2006/relationships"><Relationship Id="rId3" Type="http://schemas.openxmlformats.org/officeDocument/2006/relationships/image" Target="../media/image4.jpeg"/><Relationship Id="rId2" Type="http://schemas.openxmlformats.org/officeDocument/2006/relationships/image" Target="../media/image2.png"/><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8" Type="http://schemas.openxmlformats.org/officeDocument/2006/relationships/image" Target="../media/image29.svg"/><Relationship Id="rId3" Type="http://schemas.openxmlformats.org/officeDocument/2006/relationships/image" Target="../media/image24.svg"/><Relationship Id="rId7" Type="http://schemas.openxmlformats.org/officeDocument/2006/relationships/image" Target="../media/image28.svg"/><Relationship Id="rId2" Type="http://schemas.openxmlformats.org/officeDocument/2006/relationships/image" Target="../media/image2.png"/><Relationship Id="rId1" Type="http://schemas.openxmlformats.org/officeDocument/2006/relationships/slideLayout" Target="../slideLayouts/slideLayout7.xml"/><Relationship Id="rId6" Type="http://schemas.openxmlformats.org/officeDocument/2006/relationships/image" Target="../media/image27.svg"/><Relationship Id="rId5" Type="http://schemas.openxmlformats.org/officeDocument/2006/relationships/image" Target="../media/image26.svg"/><Relationship Id="rId4" Type="http://schemas.openxmlformats.org/officeDocument/2006/relationships/image" Target="../media/image25.png"/></Relationships>
</file>

<file path=ppt/slides/_rels/slide14.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3.jpeg"/><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3" Type="http://schemas.openxmlformats.org/officeDocument/2006/relationships/image" Target="../media/image30.png"/><Relationship Id="rId2" Type="http://schemas.openxmlformats.org/officeDocument/2006/relationships/image" Target="../media/image2.png"/><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3" Type="http://schemas.openxmlformats.org/officeDocument/2006/relationships/hyperlink" Target="https://drive.google.com/file/d/1bTZ4_Bn5wMiLCSUawtOgwx8YvyopiloK/view?usp=sharing" TargetMode="External"/><Relationship Id="rId2" Type="http://schemas.openxmlformats.org/officeDocument/2006/relationships/image" Target="../media/image2.png"/><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5.jpeg"/><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3" Type="http://schemas.openxmlformats.org/officeDocument/2006/relationships/image" Target="../media/image31.png"/><Relationship Id="rId2" Type="http://schemas.openxmlformats.org/officeDocument/2006/relationships/image" Target="../media/image2.png"/><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2.xml"/><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3.xml"/><Relationship Id="rId1" Type="http://schemas.openxmlformats.org/officeDocument/2006/relationships/slideLayout" Target="../slideLayouts/slideLayout7.xml"/><Relationship Id="rId5" Type="http://schemas.openxmlformats.org/officeDocument/2006/relationships/image" Target="../media/image32.png"/><Relationship Id="rId4" Type="http://schemas.openxmlformats.org/officeDocument/2006/relationships/oleObject" Target="../embeddings/oleObject1.bin"/></Relationships>
</file>

<file path=ppt/slides/_rels/slide2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23.xml.rels><?xml version="1.0" encoding="UTF-8" standalone="yes"?>
<Relationships xmlns="http://schemas.openxmlformats.org/package/2006/relationships"><Relationship Id="rId3" Type="http://schemas.openxmlformats.org/officeDocument/2006/relationships/image" Target="../media/image34.png"/><Relationship Id="rId2" Type="http://schemas.openxmlformats.org/officeDocument/2006/relationships/image" Target="../media/image33.png"/><Relationship Id="rId1" Type="http://schemas.openxmlformats.org/officeDocument/2006/relationships/slideLayout" Target="../slideLayouts/slideLayout7.xml"/><Relationship Id="rId6" Type="http://schemas.openxmlformats.org/officeDocument/2006/relationships/image" Target="../media/image37.png"/><Relationship Id="rId5" Type="http://schemas.openxmlformats.org/officeDocument/2006/relationships/image" Target="../media/image36.png"/><Relationship Id="rId4" Type="http://schemas.openxmlformats.org/officeDocument/2006/relationships/image" Target="../media/image35.png"/></Relationships>
</file>

<file path=ppt/slides/_rels/slide24.xml.rels><?xml version="1.0" encoding="UTF-8" standalone="yes"?>
<Relationships xmlns="http://schemas.openxmlformats.org/package/2006/relationships"><Relationship Id="rId8" Type="http://schemas.openxmlformats.org/officeDocument/2006/relationships/image" Target="../media/image13.svg"/><Relationship Id="rId13" Type="http://schemas.openxmlformats.org/officeDocument/2006/relationships/image" Target="../media/image18.svg"/><Relationship Id="rId3" Type="http://schemas.openxmlformats.org/officeDocument/2006/relationships/image" Target="../media/image8.svg"/><Relationship Id="rId7" Type="http://schemas.openxmlformats.org/officeDocument/2006/relationships/image" Target="../media/image12.png"/><Relationship Id="rId12" Type="http://schemas.openxmlformats.org/officeDocument/2006/relationships/image" Target="../media/image17.svg"/><Relationship Id="rId2" Type="http://schemas.openxmlformats.org/officeDocument/2006/relationships/notesSlide" Target="../notesSlides/notesSlide4.xml"/><Relationship Id="rId16" Type="http://schemas.openxmlformats.org/officeDocument/2006/relationships/image" Target="../media/image21.png"/><Relationship Id="rId1" Type="http://schemas.openxmlformats.org/officeDocument/2006/relationships/slideLayout" Target="../slideLayouts/slideLayout7.xml"/><Relationship Id="rId6" Type="http://schemas.openxmlformats.org/officeDocument/2006/relationships/image" Target="../media/image11.png"/><Relationship Id="rId11" Type="http://schemas.openxmlformats.org/officeDocument/2006/relationships/image" Target="../media/image16.svg"/><Relationship Id="rId5" Type="http://schemas.openxmlformats.org/officeDocument/2006/relationships/image" Target="../media/image10.png"/><Relationship Id="rId15" Type="http://schemas.openxmlformats.org/officeDocument/2006/relationships/image" Target="../media/image20.svg"/><Relationship Id="rId10" Type="http://schemas.openxmlformats.org/officeDocument/2006/relationships/image" Target="../media/image15.png"/><Relationship Id="rId4" Type="http://schemas.openxmlformats.org/officeDocument/2006/relationships/image" Target="../media/image9.svg"/><Relationship Id="rId9" Type="http://schemas.openxmlformats.org/officeDocument/2006/relationships/image" Target="../media/image14.png"/><Relationship Id="rId14" Type="http://schemas.openxmlformats.org/officeDocument/2006/relationships/image" Target="../media/image19.png"/></Relationships>
</file>

<file path=ppt/slides/_rels/slide25.xml.rels><?xml version="1.0" encoding="UTF-8" standalone="yes"?>
<Relationships xmlns="http://schemas.openxmlformats.org/package/2006/relationships"><Relationship Id="rId8" Type="http://schemas.openxmlformats.org/officeDocument/2006/relationships/image" Target="../media/image39.svg"/><Relationship Id="rId3" Type="http://schemas.openxmlformats.org/officeDocument/2006/relationships/image" Target="../media/image14.png"/><Relationship Id="rId7" Type="http://schemas.openxmlformats.org/officeDocument/2006/relationships/image" Target="../media/image38.svg"/><Relationship Id="rId2" Type="http://schemas.openxmlformats.org/officeDocument/2006/relationships/image" Target="../media/image2.png"/><Relationship Id="rId1" Type="http://schemas.openxmlformats.org/officeDocument/2006/relationships/slideLayout" Target="../slideLayouts/slideLayout7.xml"/><Relationship Id="rId6" Type="http://schemas.openxmlformats.org/officeDocument/2006/relationships/image" Target="../media/image17.svg"/><Relationship Id="rId5" Type="http://schemas.openxmlformats.org/officeDocument/2006/relationships/image" Target="../media/image16.svg"/><Relationship Id="rId4" Type="http://schemas.openxmlformats.org/officeDocument/2006/relationships/image" Target="../media/image15.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a:off x="7735362" y="407239"/>
            <a:ext cx="11770257" cy="11716811"/>
            <a:chOff x="0" y="0"/>
            <a:chExt cx="6378940" cy="6349975"/>
          </a:xfrm>
        </p:grpSpPr>
        <p:sp>
          <p:nvSpPr>
            <p:cNvPr id="3" name="Freeform 3"/>
            <p:cNvSpPr/>
            <p:nvPr/>
          </p:nvSpPr>
          <p:spPr>
            <a:xfrm>
              <a:off x="0" y="0"/>
              <a:ext cx="6378940" cy="6349975"/>
            </a:xfrm>
            <a:custGeom>
              <a:avLst/>
              <a:gdLst/>
              <a:ahLst/>
              <a:cxnLst/>
              <a:rect l="l" t="t" r="r" b="b"/>
              <a:pathLst>
                <a:path w="6378940" h="6349975">
                  <a:moveTo>
                    <a:pt x="6378940" y="3175025"/>
                  </a:moveTo>
                  <a:cubicBezTo>
                    <a:pt x="6378940" y="4928451"/>
                    <a:pt x="4950937" y="6349975"/>
                    <a:pt x="3189470" y="6349975"/>
                  </a:cubicBezTo>
                  <a:cubicBezTo>
                    <a:pt x="1427977" y="6349975"/>
                    <a:pt x="0" y="4928451"/>
                    <a:pt x="0" y="3175025"/>
                  </a:cubicBezTo>
                  <a:cubicBezTo>
                    <a:pt x="0" y="1421511"/>
                    <a:pt x="1427977" y="0"/>
                    <a:pt x="3189470" y="0"/>
                  </a:cubicBezTo>
                  <a:cubicBezTo>
                    <a:pt x="4950963" y="0"/>
                    <a:pt x="6378940" y="1421511"/>
                    <a:pt x="6378940" y="3175025"/>
                  </a:cubicBezTo>
                  <a:close/>
                </a:path>
              </a:pathLst>
            </a:custGeom>
            <a:blipFill>
              <a:blip r:embed="rId2"/>
              <a:stretch>
                <a:fillRect t="-228" b="-228"/>
              </a:stretch>
            </a:blipFill>
          </p:spPr>
          <p:txBody>
            <a:bodyPr/>
            <a:lstStyle/>
            <a:p>
              <a:endParaRPr lang="en-GB"/>
            </a:p>
          </p:txBody>
        </p:sp>
      </p:grpSp>
      <p:sp>
        <p:nvSpPr>
          <p:cNvPr id="4" name="AutoShape 4"/>
          <p:cNvSpPr/>
          <p:nvPr/>
        </p:nvSpPr>
        <p:spPr>
          <a:xfrm rot="-5400000">
            <a:off x="546454" y="7751947"/>
            <a:ext cx="983543" cy="0"/>
          </a:xfrm>
          <a:prstGeom prst="line">
            <a:avLst/>
          </a:prstGeom>
          <a:ln w="19050" cap="flat">
            <a:solidFill>
              <a:srgbClr val="88A201"/>
            </a:solidFill>
            <a:prstDash val="solid"/>
            <a:headEnd type="none" w="sm" len="sm"/>
            <a:tailEnd type="none" w="sm" len="sm"/>
          </a:ln>
        </p:spPr>
        <p:txBody>
          <a:bodyPr/>
          <a:lstStyle/>
          <a:p>
            <a:endParaRPr lang="en-GB"/>
          </a:p>
        </p:txBody>
      </p:sp>
      <p:sp>
        <p:nvSpPr>
          <p:cNvPr id="5" name="Freeform 5"/>
          <p:cNvSpPr/>
          <p:nvPr/>
        </p:nvSpPr>
        <p:spPr>
          <a:xfrm>
            <a:off x="0" y="9024768"/>
            <a:ext cx="5109349" cy="1208574"/>
          </a:xfrm>
          <a:custGeom>
            <a:avLst/>
            <a:gdLst/>
            <a:ahLst/>
            <a:cxnLst/>
            <a:rect l="l" t="t" r="r" b="b"/>
            <a:pathLst>
              <a:path w="5109349" h="1208574">
                <a:moveTo>
                  <a:pt x="0" y="0"/>
                </a:moveTo>
                <a:lnTo>
                  <a:pt x="5109349" y="0"/>
                </a:lnTo>
                <a:lnTo>
                  <a:pt x="5109349" y="1208574"/>
                </a:lnTo>
                <a:lnTo>
                  <a:pt x="0" y="1208574"/>
                </a:lnTo>
                <a:lnTo>
                  <a:pt x="0" y="0"/>
                </a:lnTo>
                <a:close/>
              </a:path>
            </a:pathLst>
          </a:custGeom>
          <a:blipFill>
            <a:blip r:embed="rId3"/>
            <a:stretch>
              <a:fillRect/>
            </a:stretch>
          </a:blipFill>
        </p:spPr>
        <p:txBody>
          <a:bodyPr/>
          <a:lstStyle/>
          <a:p>
            <a:endParaRPr lang="en-GB"/>
          </a:p>
        </p:txBody>
      </p:sp>
      <p:sp>
        <p:nvSpPr>
          <p:cNvPr id="6" name="TextBox 6"/>
          <p:cNvSpPr txBox="1"/>
          <p:nvPr/>
        </p:nvSpPr>
        <p:spPr>
          <a:xfrm>
            <a:off x="1354776" y="7439209"/>
            <a:ext cx="7547247" cy="587375"/>
          </a:xfrm>
          <a:prstGeom prst="rect">
            <a:avLst/>
          </a:prstGeom>
        </p:spPr>
        <p:txBody>
          <a:bodyPr lIns="0" tIns="0" rIns="0" bIns="0" rtlCol="0" anchor="t">
            <a:spAutoFit/>
          </a:bodyPr>
          <a:lstStyle/>
          <a:p>
            <a:pPr marL="0" lvl="0" indent="0" algn="l">
              <a:lnSpc>
                <a:spcPts val="4899"/>
              </a:lnSpc>
            </a:pPr>
            <a:r>
              <a:rPr lang="en-US" sz="3499">
                <a:solidFill>
                  <a:srgbClr val="3D2812"/>
                </a:solidFill>
                <a:latin typeface="Open Sans"/>
                <a:ea typeface="Open Sans"/>
                <a:cs typeface="Open Sans"/>
                <a:sym typeface="Open Sans"/>
              </a:rPr>
              <a:t>Group 25-26J-473 </a:t>
            </a:r>
          </a:p>
        </p:txBody>
      </p:sp>
      <p:sp>
        <p:nvSpPr>
          <p:cNvPr id="7" name="TextBox 7"/>
          <p:cNvSpPr txBox="1"/>
          <p:nvPr/>
        </p:nvSpPr>
        <p:spPr>
          <a:xfrm>
            <a:off x="1182213" y="1503145"/>
            <a:ext cx="7361279" cy="4762500"/>
          </a:xfrm>
          <a:prstGeom prst="rect">
            <a:avLst/>
          </a:prstGeom>
        </p:spPr>
        <p:txBody>
          <a:bodyPr lIns="0" tIns="0" rIns="0" bIns="0" rtlCol="0" anchor="t">
            <a:spAutoFit/>
          </a:bodyPr>
          <a:lstStyle/>
          <a:p>
            <a:pPr marL="0" lvl="0" indent="0" algn="l">
              <a:lnSpc>
                <a:spcPts val="7560"/>
              </a:lnSpc>
            </a:pPr>
            <a:r>
              <a:rPr lang="en-US" sz="6300" b="1">
                <a:solidFill>
                  <a:srgbClr val="3D2812"/>
                </a:solidFill>
                <a:latin typeface="Open Sans Bold"/>
                <a:ea typeface="Open Sans Bold"/>
                <a:cs typeface="Open Sans Bold"/>
                <a:sym typeface="Open Sans Bold"/>
              </a:rPr>
              <a:t>Smart Traffic Flow Optimization with Multi Agent Reinforcement Learning </a:t>
            </a:r>
          </a:p>
        </p:txBody>
      </p:sp>
      <p:sp>
        <p:nvSpPr>
          <p:cNvPr id="8" name="TextBox 8"/>
          <p:cNvSpPr txBox="1"/>
          <p:nvPr/>
        </p:nvSpPr>
        <p:spPr>
          <a:xfrm>
            <a:off x="17784258" y="9694139"/>
            <a:ext cx="293901" cy="722184"/>
          </a:xfrm>
          <a:prstGeom prst="rect">
            <a:avLst/>
          </a:prstGeom>
        </p:spPr>
        <p:txBody>
          <a:bodyPr wrap="none" lIns="0" tIns="0" rIns="0" bIns="0" rtlCol="0" anchor="t">
            <a:spAutoFit/>
          </a:bodyPr>
          <a:lstStyle/>
          <a:p>
            <a:pPr algn="ctr">
              <a:lnSpc>
                <a:spcPts val="4405"/>
              </a:lnSpc>
              <a:spcBef>
                <a:spcPct val="0"/>
              </a:spcBef>
            </a:pPr>
            <a:r>
              <a:rPr lang="en-US" sz="3146">
                <a:solidFill>
                  <a:srgbClr val="1A1A1A"/>
                </a:solidFill>
                <a:latin typeface="Canva Sans"/>
                <a:ea typeface="Canva Sans"/>
                <a:cs typeface="Canva Sans"/>
                <a:sym typeface="Canva Sans"/>
              </a:rPr>
              <a:t>1</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a:off x="591578" y="3320298"/>
            <a:ext cx="3891132" cy="5502931"/>
            <a:chOff x="0" y="0"/>
            <a:chExt cx="3133810" cy="4431908"/>
          </a:xfrm>
        </p:grpSpPr>
        <p:sp>
          <p:nvSpPr>
            <p:cNvPr id="3" name="Freeform 3"/>
            <p:cNvSpPr/>
            <p:nvPr/>
          </p:nvSpPr>
          <p:spPr>
            <a:xfrm>
              <a:off x="0" y="0"/>
              <a:ext cx="3133810" cy="4431909"/>
            </a:xfrm>
            <a:custGeom>
              <a:avLst/>
              <a:gdLst/>
              <a:ahLst/>
              <a:cxnLst/>
              <a:rect l="l" t="t" r="r" b="b"/>
              <a:pathLst>
                <a:path w="3133810" h="4431909">
                  <a:moveTo>
                    <a:pt x="3009350" y="4431909"/>
                  </a:moveTo>
                  <a:lnTo>
                    <a:pt x="124460" y="4431909"/>
                  </a:lnTo>
                  <a:cubicBezTo>
                    <a:pt x="55880" y="4431909"/>
                    <a:pt x="0" y="4376028"/>
                    <a:pt x="0" y="4307448"/>
                  </a:cubicBezTo>
                  <a:lnTo>
                    <a:pt x="0" y="124460"/>
                  </a:lnTo>
                  <a:cubicBezTo>
                    <a:pt x="0" y="55880"/>
                    <a:pt x="55880" y="0"/>
                    <a:pt x="124460" y="0"/>
                  </a:cubicBezTo>
                  <a:lnTo>
                    <a:pt x="3009350" y="0"/>
                  </a:lnTo>
                  <a:cubicBezTo>
                    <a:pt x="3077930" y="0"/>
                    <a:pt x="3133810" y="55880"/>
                    <a:pt x="3133810" y="124460"/>
                  </a:cubicBezTo>
                  <a:lnTo>
                    <a:pt x="3133810" y="4307449"/>
                  </a:lnTo>
                  <a:cubicBezTo>
                    <a:pt x="3133810" y="4376028"/>
                    <a:pt x="3077930" y="4431909"/>
                    <a:pt x="3009350" y="4431909"/>
                  </a:cubicBezTo>
                  <a:close/>
                </a:path>
              </a:pathLst>
            </a:custGeom>
            <a:solidFill>
              <a:srgbClr val="FEF2D4"/>
            </a:solidFill>
          </p:spPr>
          <p:txBody>
            <a:bodyPr/>
            <a:lstStyle/>
            <a:p>
              <a:endParaRPr lang="en-GB"/>
            </a:p>
          </p:txBody>
        </p:sp>
      </p:grpSp>
      <p:grpSp>
        <p:nvGrpSpPr>
          <p:cNvPr id="4" name="Group 4"/>
          <p:cNvGrpSpPr/>
          <p:nvPr/>
        </p:nvGrpSpPr>
        <p:grpSpPr>
          <a:xfrm>
            <a:off x="9400719" y="3320298"/>
            <a:ext cx="3891132" cy="5502931"/>
            <a:chOff x="0" y="0"/>
            <a:chExt cx="3133810" cy="4431908"/>
          </a:xfrm>
        </p:grpSpPr>
        <p:sp>
          <p:nvSpPr>
            <p:cNvPr id="5" name="Freeform 5"/>
            <p:cNvSpPr/>
            <p:nvPr/>
          </p:nvSpPr>
          <p:spPr>
            <a:xfrm>
              <a:off x="0" y="0"/>
              <a:ext cx="3133810" cy="4431909"/>
            </a:xfrm>
            <a:custGeom>
              <a:avLst/>
              <a:gdLst/>
              <a:ahLst/>
              <a:cxnLst/>
              <a:rect l="l" t="t" r="r" b="b"/>
              <a:pathLst>
                <a:path w="3133810" h="4431909">
                  <a:moveTo>
                    <a:pt x="3009350" y="4431909"/>
                  </a:moveTo>
                  <a:lnTo>
                    <a:pt x="124460" y="4431909"/>
                  </a:lnTo>
                  <a:cubicBezTo>
                    <a:pt x="55880" y="4431909"/>
                    <a:pt x="0" y="4376028"/>
                    <a:pt x="0" y="4307448"/>
                  </a:cubicBezTo>
                  <a:lnTo>
                    <a:pt x="0" y="124460"/>
                  </a:lnTo>
                  <a:cubicBezTo>
                    <a:pt x="0" y="55880"/>
                    <a:pt x="55880" y="0"/>
                    <a:pt x="124460" y="0"/>
                  </a:cubicBezTo>
                  <a:lnTo>
                    <a:pt x="3009350" y="0"/>
                  </a:lnTo>
                  <a:cubicBezTo>
                    <a:pt x="3077930" y="0"/>
                    <a:pt x="3133810" y="55880"/>
                    <a:pt x="3133810" y="124460"/>
                  </a:cubicBezTo>
                  <a:lnTo>
                    <a:pt x="3133810" y="4307449"/>
                  </a:lnTo>
                  <a:cubicBezTo>
                    <a:pt x="3133810" y="4376028"/>
                    <a:pt x="3077930" y="4431909"/>
                    <a:pt x="3009350" y="4431909"/>
                  </a:cubicBezTo>
                  <a:close/>
                </a:path>
              </a:pathLst>
            </a:custGeom>
            <a:solidFill>
              <a:srgbClr val="FEF2D4"/>
            </a:solidFill>
          </p:spPr>
          <p:txBody>
            <a:bodyPr/>
            <a:lstStyle/>
            <a:p>
              <a:endParaRPr lang="en-GB"/>
            </a:p>
          </p:txBody>
        </p:sp>
      </p:grpSp>
      <p:grpSp>
        <p:nvGrpSpPr>
          <p:cNvPr id="6" name="Group 6"/>
          <p:cNvGrpSpPr/>
          <p:nvPr/>
        </p:nvGrpSpPr>
        <p:grpSpPr>
          <a:xfrm>
            <a:off x="13805290" y="3320298"/>
            <a:ext cx="3891132" cy="5502931"/>
            <a:chOff x="0" y="0"/>
            <a:chExt cx="3133810" cy="4431908"/>
          </a:xfrm>
        </p:grpSpPr>
        <p:sp>
          <p:nvSpPr>
            <p:cNvPr id="7" name="Freeform 7"/>
            <p:cNvSpPr/>
            <p:nvPr/>
          </p:nvSpPr>
          <p:spPr>
            <a:xfrm>
              <a:off x="0" y="0"/>
              <a:ext cx="3133810" cy="4431909"/>
            </a:xfrm>
            <a:custGeom>
              <a:avLst/>
              <a:gdLst/>
              <a:ahLst/>
              <a:cxnLst/>
              <a:rect l="l" t="t" r="r" b="b"/>
              <a:pathLst>
                <a:path w="3133810" h="4431909">
                  <a:moveTo>
                    <a:pt x="3009350" y="4431909"/>
                  </a:moveTo>
                  <a:lnTo>
                    <a:pt x="124460" y="4431909"/>
                  </a:lnTo>
                  <a:cubicBezTo>
                    <a:pt x="55880" y="4431909"/>
                    <a:pt x="0" y="4376028"/>
                    <a:pt x="0" y="4307448"/>
                  </a:cubicBezTo>
                  <a:lnTo>
                    <a:pt x="0" y="124460"/>
                  </a:lnTo>
                  <a:cubicBezTo>
                    <a:pt x="0" y="55880"/>
                    <a:pt x="55880" y="0"/>
                    <a:pt x="124460" y="0"/>
                  </a:cubicBezTo>
                  <a:lnTo>
                    <a:pt x="3009350" y="0"/>
                  </a:lnTo>
                  <a:cubicBezTo>
                    <a:pt x="3077930" y="0"/>
                    <a:pt x="3133810" y="55880"/>
                    <a:pt x="3133810" y="124460"/>
                  </a:cubicBezTo>
                  <a:lnTo>
                    <a:pt x="3133810" y="4307449"/>
                  </a:lnTo>
                  <a:cubicBezTo>
                    <a:pt x="3133810" y="4376028"/>
                    <a:pt x="3077930" y="4431909"/>
                    <a:pt x="3009350" y="4431909"/>
                  </a:cubicBezTo>
                  <a:close/>
                </a:path>
              </a:pathLst>
            </a:custGeom>
            <a:solidFill>
              <a:srgbClr val="FEF2D4"/>
            </a:solidFill>
          </p:spPr>
          <p:txBody>
            <a:bodyPr/>
            <a:lstStyle/>
            <a:p>
              <a:endParaRPr lang="en-GB"/>
            </a:p>
          </p:txBody>
        </p:sp>
      </p:grpSp>
      <p:grpSp>
        <p:nvGrpSpPr>
          <p:cNvPr id="8" name="Group 8"/>
          <p:cNvGrpSpPr/>
          <p:nvPr/>
        </p:nvGrpSpPr>
        <p:grpSpPr>
          <a:xfrm>
            <a:off x="4996148" y="3320298"/>
            <a:ext cx="3891132" cy="5502931"/>
            <a:chOff x="0" y="0"/>
            <a:chExt cx="3133810" cy="4431908"/>
          </a:xfrm>
        </p:grpSpPr>
        <p:sp>
          <p:nvSpPr>
            <p:cNvPr id="9" name="Freeform 9"/>
            <p:cNvSpPr/>
            <p:nvPr/>
          </p:nvSpPr>
          <p:spPr>
            <a:xfrm>
              <a:off x="0" y="0"/>
              <a:ext cx="3133810" cy="4431909"/>
            </a:xfrm>
            <a:custGeom>
              <a:avLst/>
              <a:gdLst/>
              <a:ahLst/>
              <a:cxnLst/>
              <a:rect l="l" t="t" r="r" b="b"/>
              <a:pathLst>
                <a:path w="3133810" h="4431909">
                  <a:moveTo>
                    <a:pt x="3009350" y="4431909"/>
                  </a:moveTo>
                  <a:lnTo>
                    <a:pt x="124460" y="4431909"/>
                  </a:lnTo>
                  <a:cubicBezTo>
                    <a:pt x="55880" y="4431909"/>
                    <a:pt x="0" y="4376028"/>
                    <a:pt x="0" y="4307448"/>
                  </a:cubicBezTo>
                  <a:lnTo>
                    <a:pt x="0" y="124460"/>
                  </a:lnTo>
                  <a:cubicBezTo>
                    <a:pt x="0" y="55880"/>
                    <a:pt x="55880" y="0"/>
                    <a:pt x="124460" y="0"/>
                  </a:cubicBezTo>
                  <a:lnTo>
                    <a:pt x="3009350" y="0"/>
                  </a:lnTo>
                  <a:cubicBezTo>
                    <a:pt x="3077930" y="0"/>
                    <a:pt x="3133810" y="55880"/>
                    <a:pt x="3133810" y="124460"/>
                  </a:cubicBezTo>
                  <a:lnTo>
                    <a:pt x="3133810" y="4307449"/>
                  </a:lnTo>
                  <a:cubicBezTo>
                    <a:pt x="3133810" y="4376028"/>
                    <a:pt x="3077930" y="4431909"/>
                    <a:pt x="3009350" y="4431909"/>
                  </a:cubicBezTo>
                  <a:close/>
                </a:path>
              </a:pathLst>
            </a:custGeom>
            <a:solidFill>
              <a:srgbClr val="FEF2D4"/>
            </a:solidFill>
          </p:spPr>
          <p:txBody>
            <a:bodyPr/>
            <a:lstStyle/>
            <a:p>
              <a:endParaRPr lang="en-GB"/>
            </a:p>
          </p:txBody>
        </p:sp>
      </p:grpSp>
      <p:sp>
        <p:nvSpPr>
          <p:cNvPr id="10" name="Freeform 10"/>
          <p:cNvSpPr/>
          <p:nvPr/>
        </p:nvSpPr>
        <p:spPr>
          <a:xfrm>
            <a:off x="5602115" y="3728249"/>
            <a:ext cx="2679199" cy="3572266"/>
          </a:xfrm>
          <a:custGeom>
            <a:avLst/>
            <a:gdLst/>
            <a:ahLst/>
            <a:cxnLst/>
            <a:rect l="l" t="t" r="r" b="b"/>
            <a:pathLst>
              <a:path w="2679199" h="3572266">
                <a:moveTo>
                  <a:pt x="0" y="0"/>
                </a:moveTo>
                <a:lnTo>
                  <a:pt x="2679199" y="0"/>
                </a:lnTo>
                <a:lnTo>
                  <a:pt x="2679199" y="3572265"/>
                </a:lnTo>
                <a:lnTo>
                  <a:pt x="0" y="3572265"/>
                </a:lnTo>
                <a:lnTo>
                  <a:pt x="0" y="0"/>
                </a:lnTo>
                <a:close/>
              </a:path>
            </a:pathLst>
          </a:custGeom>
          <a:blipFill>
            <a:blip r:embed="rId2"/>
            <a:stretch>
              <a:fillRect/>
            </a:stretch>
          </a:blipFill>
        </p:spPr>
        <p:txBody>
          <a:bodyPr/>
          <a:lstStyle/>
          <a:p>
            <a:endParaRPr lang="en-GB"/>
          </a:p>
        </p:txBody>
      </p:sp>
      <p:sp>
        <p:nvSpPr>
          <p:cNvPr id="11" name="Freeform 11"/>
          <p:cNvSpPr/>
          <p:nvPr/>
        </p:nvSpPr>
        <p:spPr>
          <a:xfrm>
            <a:off x="0" y="9078426"/>
            <a:ext cx="5109349" cy="1208574"/>
          </a:xfrm>
          <a:custGeom>
            <a:avLst/>
            <a:gdLst/>
            <a:ahLst/>
            <a:cxnLst/>
            <a:rect l="l" t="t" r="r" b="b"/>
            <a:pathLst>
              <a:path w="5109349" h="1208574">
                <a:moveTo>
                  <a:pt x="0" y="0"/>
                </a:moveTo>
                <a:lnTo>
                  <a:pt x="5109349" y="0"/>
                </a:lnTo>
                <a:lnTo>
                  <a:pt x="5109349" y="1208574"/>
                </a:lnTo>
                <a:lnTo>
                  <a:pt x="0" y="1208574"/>
                </a:lnTo>
                <a:lnTo>
                  <a:pt x="0" y="0"/>
                </a:lnTo>
                <a:close/>
              </a:path>
            </a:pathLst>
          </a:custGeom>
          <a:blipFill>
            <a:blip r:embed="rId3"/>
            <a:stretch>
              <a:fillRect/>
            </a:stretch>
          </a:blipFill>
        </p:spPr>
        <p:txBody>
          <a:bodyPr/>
          <a:lstStyle/>
          <a:p>
            <a:endParaRPr lang="en-GB"/>
          </a:p>
        </p:txBody>
      </p:sp>
      <p:sp>
        <p:nvSpPr>
          <p:cNvPr id="12" name="Freeform 12"/>
          <p:cNvSpPr/>
          <p:nvPr/>
        </p:nvSpPr>
        <p:spPr>
          <a:xfrm>
            <a:off x="14415802" y="3728249"/>
            <a:ext cx="2843498" cy="3572266"/>
          </a:xfrm>
          <a:custGeom>
            <a:avLst/>
            <a:gdLst/>
            <a:ahLst/>
            <a:cxnLst/>
            <a:rect l="l" t="t" r="r" b="b"/>
            <a:pathLst>
              <a:path w="2843498" h="3572266">
                <a:moveTo>
                  <a:pt x="0" y="0"/>
                </a:moveTo>
                <a:lnTo>
                  <a:pt x="2843498" y="0"/>
                </a:lnTo>
                <a:lnTo>
                  <a:pt x="2843498" y="3572265"/>
                </a:lnTo>
                <a:lnTo>
                  <a:pt x="0" y="3572265"/>
                </a:lnTo>
                <a:lnTo>
                  <a:pt x="0" y="0"/>
                </a:lnTo>
                <a:close/>
              </a:path>
            </a:pathLst>
          </a:custGeom>
          <a:blipFill>
            <a:blip r:embed="rId4"/>
            <a:stretch>
              <a:fillRect l="-5040" r="-5040"/>
            </a:stretch>
          </a:blipFill>
        </p:spPr>
        <p:txBody>
          <a:bodyPr/>
          <a:lstStyle/>
          <a:p>
            <a:endParaRPr lang="en-GB"/>
          </a:p>
        </p:txBody>
      </p:sp>
      <p:sp>
        <p:nvSpPr>
          <p:cNvPr id="13" name="Freeform 13"/>
          <p:cNvSpPr/>
          <p:nvPr/>
        </p:nvSpPr>
        <p:spPr>
          <a:xfrm>
            <a:off x="1352503" y="3591488"/>
            <a:ext cx="2359868" cy="3709027"/>
          </a:xfrm>
          <a:custGeom>
            <a:avLst/>
            <a:gdLst/>
            <a:ahLst/>
            <a:cxnLst/>
            <a:rect l="l" t="t" r="r" b="b"/>
            <a:pathLst>
              <a:path w="2359868" h="3709027">
                <a:moveTo>
                  <a:pt x="0" y="0"/>
                </a:moveTo>
                <a:lnTo>
                  <a:pt x="2359868" y="0"/>
                </a:lnTo>
                <a:lnTo>
                  <a:pt x="2359868" y="3709026"/>
                </a:lnTo>
                <a:lnTo>
                  <a:pt x="0" y="3709026"/>
                </a:lnTo>
                <a:lnTo>
                  <a:pt x="0" y="0"/>
                </a:lnTo>
                <a:close/>
              </a:path>
            </a:pathLst>
          </a:custGeom>
          <a:blipFill>
            <a:blip r:embed="rId5"/>
            <a:stretch>
              <a:fillRect/>
            </a:stretch>
          </a:blipFill>
        </p:spPr>
        <p:txBody>
          <a:bodyPr/>
          <a:lstStyle/>
          <a:p>
            <a:endParaRPr lang="en-GB"/>
          </a:p>
        </p:txBody>
      </p:sp>
      <p:sp>
        <p:nvSpPr>
          <p:cNvPr id="14" name="Freeform 14"/>
          <p:cNvSpPr/>
          <p:nvPr/>
        </p:nvSpPr>
        <p:spPr>
          <a:xfrm>
            <a:off x="9897572" y="3707211"/>
            <a:ext cx="2851820" cy="3624339"/>
          </a:xfrm>
          <a:custGeom>
            <a:avLst/>
            <a:gdLst/>
            <a:ahLst/>
            <a:cxnLst/>
            <a:rect l="l" t="t" r="r" b="b"/>
            <a:pathLst>
              <a:path w="2851820" h="3624339">
                <a:moveTo>
                  <a:pt x="0" y="0"/>
                </a:moveTo>
                <a:lnTo>
                  <a:pt x="2851820" y="0"/>
                </a:lnTo>
                <a:lnTo>
                  <a:pt x="2851820" y="3624339"/>
                </a:lnTo>
                <a:lnTo>
                  <a:pt x="0" y="3624339"/>
                </a:lnTo>
                <a:lnTo>
                  <a:pt x="0" y="0"/>
                </a:lnTo>
                <a:close/>
              </a:path>
            </a:pathLst>
          </a:custGeom>
          <a:blipFill>
            <a:blip r:embed="rId6"/>
            <a:stretch>
              <a:fillRect t="-452" b="-730"/>
            </a:stretch>
          </a:blipFill>
        </p:spPr>
        <p:txBody>
          <a:bodyPr/>
          <a:lstStyle/>
          <a:p>
            <a:endParaRPr lang="en-GB"/>
          </a:p>
        </p:txBody>
      </p:sp>
      <p:sp>
        <p:nvSpPr>
          <p:cNvPr id="15" name="TextBox 15"/>
          <p:cNvSpPr txBox="1"/>
          <p:nvPr/>
        </p:nvSpPr>
        <p:spPr>
          <a:xfrm>
            <a:off x="3712371" y="1463770"/>
            <a:ext cx="10863257" cy="1219200"/>
          </a:xfrm>
          <a:prstGeom prst="rect">
            <a:avLst/>
          </a:prstGeom>
        </p:spPr>
        <p:txBody>
          <a:bodyPr lIns="0" tIns="0" rIns="0" bIns="0" rtlCol="0" anchor="t">
            <a:spAutoFit/>
          </a:bodyPr>
          <a:lstStyle/>
          <a:p>
            <a:pPr marL="0" lvl="0" indent="0" algn="ctr">
              <a:lnSpc>
                <a:spcPts val="9600"/>
              </a:lnSpc>
              <a:spcBef>
                <a:spcPct val="0"/>
              </a:spcBef>
            </a:pPr>
            <a:r>
              <a:rPr lang="en-US" sz="8000" b="1">
                <a:solidFill>
                  <a:srgbClr val="3D2812"/>
                </a:solidFill>
                <a:latin typeface="Open Sans Bold"/>
                <a:ea typeface="Open Sans Bold"/>
                <a:cs typeface="Open Sans Bold"/>
                <a:sym typeface="Open Sans Bold"/>
              </a:rPr>
              <a:t>Our Team</a:t>
            </a:r>
          </a:p>
        </p:txBody>
      </p:sp>
      <p:sp>
        <p:nvSpPr>
          <p:cNvPr id="16" name="TextBox 16"/>
          <p:cNvSpPr txBox="1"/>
          <p:nvPr/>
        </p:nvSpPr>
        <p:spPr>
          <a:xfrm>
            <a:off x="978026" y="7511689"/>
            <a:ext cx="3118235" cy="897636"/>
          </a:xfrm>
          <a:prstGeom prst="rect">
            <a:avLst/>
          </a:prstGeom>
        </p:spPr>
        <p:txBody>
          <a:bodyPr lIns="0" tIns="0" rIns="0" bIns="0" rtlCol="0" anchor="t">
            <a:spAutoFit/>
          </a:bodyPr>
          <a:lstStyle/>
          <a:p>
            <a:pPr algn="ctr">
              <a:lnSpc>
                <a:spcPts val="3666"/>
              </a:lnSpc>
            </a:pPr>
            <a:r>
              <a:rPr lang="en-US" sz="2820">
                <a:solidFill>
                  <a:srgbClr val="3D2812"/>
                </a:solidFill>
                <a:latin typeface="Open Sans"/>
                <a:ea typeface="Open Sans"/>
                <a:cs typeface="Open Sans"/>
                <a:sym typeface="Open Sans"/>
              </a:rPr>
              <a:t>Luvinson I</a:t>
            </a:r>
          </a:p>
          <a:p>
            <a:pPr marL="0" lvl="0" indent="0" algn="ctr">
              <a:lnSpc>
                <a:spcPts val="3666"/>
              </a:lnSpc>
              <a:spcBef>
                <a:spcPct val="0"/>
              </a:spcBef>
            </a:pPr>
            <a:r>
              <a:rPr lang="en-US" sz="2820">
                <a:solidFill>
                  <a:srgbClr val="3D2812"/>
                </a:solidFill>
                <a:latin typeface="Open Sans"/>
                <a:ea typeface="Open Sans"/>
                <a:cs typeface="Open Sans"/>
                <a:sym typeface="Open Sans"/>
              </a:rPr>
              <a:t>IT22323316</a:t>
            </a:r>
          </a:p>
        </p:txBody>
      </p:sp>
      <p:sp>
        <p:nvSpPr>
          <p:cNvPr id="17" name="TextBox 17"/>
          <p:cNvSpPr txBox="1"/>
          <p:nvPr/>
        </p:nvSpPr>
        <p:spPr>
          <a:xfrm>
            <a:off x="9787168" y="7511689"/>
            <a:ext cx="3118235" cy="897636"/>
          </a:xfrm>
          <a:prstGeom prst="rect">
            <a:avLst/>
          </a:prstGeom>
        </p:spPr>
        <p:txBody>
          <a:bodyPr lIns="0" tIns="0" rIns="0" bIns="0" rtlCol="0" anchor="t">
            <a:spAutoFit/>
          </a:bodyPr>
          <a:lstStyle/>
          <a:p>
            <a:pPr algn="ctr">
              <a:lnSpc>
                <a:spcPts val="3666"/>
              </a:lnSpc>
            </a:pPr>
            <a:r>
              <a:rPr lang="en-US" sz="2820">
                <a:solidFill>
                  <a:srgbClr val="3D2812"/>
                </a:solidFill>
                <a:latin typeface="Open Sans"/>
                <a:ea typeface="Open Sans"/>
                <a:cs typeface="Open Sans"/>
                <a:sym typeface="Open Sans"/>
              </a:rPr>
              <a:t>Krushanth A</a:t>
            </a:r>
          </a:p>
          <a:p>
            <a:pPr marL="0" lvl="0" indent="0" algn="ctr">
              <a:lnSpc>
                <a:spcPts val="3666"/>
              </a:lnSpc>
              <a:spcBef>
                <a:spcPct val="0"/>
              </a:spcBef>
            </a:pPr>
            <a:r>
              <a:rPr lang="en-US" sz="2820">
                <a:solidFill>
                  <a:srgbClr val="3D2812"/>
                </a:solidFill>
                <a:latin typeface="Open Sans"/>
                <a:ea typeface="Open Sans"/>
                <a:cs typeface="Open Sans"/>
                <a:sym typeface="Open Sans"/>
              </a:rPr>
              <a:t>IT22920218</a:t>
            </a:r>
          </a:p>
        </p:txBody>
      </p:sp>
      <p:sp>
        <p:nvSpPr>
          <p:cNvPr id="18" name="TextBox 18"/>
          <p:cNvSpPr txBox="1"/>
          <p:nvPr/>
        </p:nvSpPr>
        <p:spPr>
          <a:xfrm>
            <a:off x="14191738" y="7511689"/>
            <a:ext cx="3118235" cy="897636"/>
          </a:xfrm>
          <a:prstGeom prst="rect">
            <a:avLst/>
          </a:prstGeom>
        </p:spPr>
        <p:txBody>
          <a:bodyPr lIns="0" tIns="0" rIns="0" bIns="0" rtlCol="0" anchor="t">
            <a:spAutoFit/>
          </a:bodyPr>
          <a:lstStyle/>
          <a:p>
            <a:pPr algn="ctr">
              <a:lnSpc>
                <a:spcPts val="3666"/>
              </a:lnSpc>
            </a:pPr>
            <a:r>
              <a:rPr lang="en-US" sz="2820">
                <a:solidFill>
                  <a:srgbClr val="3D2812"/>
                </a:solidFill>
                <a:latin typeface="Open Sans"/>
                <a:ea typeface="Open Sans"/>
                <a:cs typeface="Open Sans"/>
                <a:sym typeface="Open Sans"/>
              </a:rPr>
              <a:t>Fernandopulle S N</a:t>
            </a:r>
          </a:p>
          <a:p>
            <a:pPr marL="0" lvl="0" indent="0" algn="ctr">
              <a:lnSpc>
                <a:spcPts val="3666"/>
              </a:lnSpc>
              <a:spcBef>
                <a:spcPct val="0"/>
              </a:spcBef>
            </a:pPr>
            <a:r>
              <a:rPr lang="en-US" sz="2820">
                <a:solidFill>
                  <a:srgbClr val="3D2812"/>
                </a:solidFill>
                <a:latin typeface="Open Sans"/>
                <a:ea typeface="Open Sans"/>
                <a:cs typeface="Open Sans"/>
                <a:sym typeface="Open Sans"/>
              </a:rPr>
              <a:t>IT22000576</a:t>
            </a:r>
          </a:p>
        </p:txBody>
      </p:sp>
      <p:sp>
        <p:nvSpPr>
          <p:cNvPr id="19" name="TextBox 19"/>
          <p:cNvSpPr txBox="1"/>
          <p:nvPr/>
        </p:nvSpPr>
        <p:spPr>
          <a:xfrm>
            <a:off x="5382597" y="7511689"/>
            <a:ext cx="3118235" cy="897636"/>
          </a:xfrm>
          <a:prstGeom prst="rect">
            <a:avLst/>
          </a:prstGeom>
        </p:spPr>
        <p:txBody>
          <a:bodyPr lIns="0" tIns="0" rIns="0" bIns="0" rtlCol="0" anchor="t">
            <a:spAutoFit/>
          </a:bodyPr>
          <a:lstStyle/>
          <a:p>
            <a:pPr algn="ctr">
              <a:lnSpc>
                <a:spcPts val="3666"/>
              </a:lnSpc>
            </a:pPr>
            <a:r>
              <a:rPr lang="en-US" sz="2820">
                <a:solidFill>
                  <a:srgbClr val="3D2812"/>
                </a:solidFill>
                <a:latin typeface="Open Sans"/>
                <a:ea typeface="Open Sans"/>
                <a:cs typeface="Open Sans"/>
                <a:sym typeface="Open Sans"/>
              </a:rPr>
              <a:t>Sangeerthan S</a:t>
            </a:r>
          </a:p>
          <a:p>
            <a:pPr marL="0" lvl="0" indent="0" algn="ctr">
              <a:lnSpc>
                <a:spcPts val="3666"/>
              </a:lnSpc>
              <a:spcBef>
                <a:spcPct val="0"/>
              </a:spcBef>
            </a:pPr>
            <a:r>
              <a:rPr lang="en-US" sz="2820">
                <a:solidFill>
                  <a:srgbClr val="3D2812"/>
                </a:solidFill>
                <a:latin typeface="Open Sans"/>
                <a:ea typeface="Open Sans"/>
                <a:cs typeface="Open Sans"/>
                <a:sym typeface="Open Sans"/>
              </a:rPr>
              <a:t>IT22346568</a:t>
            </a:r>
          </a:p>
        </p:txBody>
      </p:sp>
      <p:sp>
        <p:nvSpPr>
          <p:cNvPr id="20" name="TextBox 20"/>
          <p:cNvSpPr txBox="1"/>
          <p:nvPr/>
        </p:nvSpPr>
        <p:spPr>
          <a:xfrm>
            <a:off x="17646117" y="9676843"/>
            <a:ext cx="152400" cy="219075"/>
          </a:xfrm>
          <a:prstGeom prst="rect">
            <a:avLst/>
          </a:prstGeom>
        </p:spPr>
        <p:txBody>
          <a:bodyPr wrap="none" lIns="0" tIns="0" rIns="0" bIns="0" rtlCol="0" anchor="t">
            <a:spAutoFit/>
          </a:bodyPr>
          <a:lstStyle/>
          <a:p>
            <a:pPr algn="ctr">
              <a:lnSpc>
                <a:spcPts val="4405"/>
              </a:lnSpc>
              <a:spcBef>
                <a:spcPct val="0"/>
              </a:spcBef>
            </a:pPr>
            <a:r>
              <a:rPr lang="en-US" sz="3146">
                <a:solidFill>
                  <a:srgbClr val="1A1A1A"/>
                </a:solidFill>
                <a:latin typeface="Canva Sans"/>
                <a:ea typeface="Canva Sans"/>
                <a:cs typeface="Canva Sans"/>
                <a:sym typeface="Canva Sans"/>
              </a:rPr>
              <a:t>2</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a:off x="1028700" y="2728493"/>
            <a:ext cx="771999" cy="771999"/>
            <a:chOff x="0" y="0"/>
            <a:chExt cx="6350000" cy="6350000"/>
          </a:xfrm>
        </p:grpSpPr>
        <p:sp>
          <p:nvSpPr>
            <p:cNvPr id="3" name="Freeform 3"/>
            <p:cNvSpPr/>
            <p:nvPr/>
          </p:nvSpPr>
          <p:spPr>
            <a:xfrm>
              <a:off x="0" y="0"/>
              <a:ext cx="6350000" cy="6350000"/>
            </a:xfrm>
            <a:custGeom>
              <a:avLst/>
              <a:gdLst/>
              <a:ahLst/>
              <a:cxnLst/>
              <a:rect l="l" t="t" r="r" b="b"/>
              <a:pathLst>
                <a:path w="6350000" h="6350000">
                  <a:moveTo>
                    <a:pt x="3175000" y="0"/>
                  </a:moveTo>
                  <a:cubicBezTo>
                    <a:pt x="1421496" y="0"/>
                    <a:pt x="0" y="1421496"/>
                    <a:pt x="0" y="3175000"/>
                  </a:cubicBezTo>
                  <a:cubicBezTo>
                    <a:pt x="0" y="4928504"/>
                    <a:pt x="1421496" y="6350000"/>
                    <a:pt x="3175000" y="6350000"/>
                  </a:cubicBezTo>
                  <a:cubicBezTo>
                    <a:pt x="4928504" y="6350000"/>
                    <a:pt x="6350000" y="4928504"/>
                    <a:pt x="6350000" y="3175000"/>
                  </a:cubicBezTo>
                  <a:cubicBezTo>
                    <a:pt x="6350000" y="1421496"/>
                    <a:pt x="4928504" y="0"/>
                    <a:pt x="3175000" y="0"/>
                  </a:cubicBezTo>
                  <a:close/>
                </a:path>
              </a:pathLst>
            </a:custGeom>
            <a:solidFill>
              <a:srgbClr val="FEF2D4"/>
            </a:solidFill>
          </p:spPr>
          <p:txBody>
            <a:bodyPr/>
            <a:lstStyle/>
            <a:p>
              <a:endParaRPr lang="en-GB"/>
            </a:p>
          </p:txBody>
        </p:sp>
      </p:grpSp>
      <p:grpSp>
        <p:nvGrpSpPr>
          <p:cNvPr id="4" name="Group 4"/>
          <p:cNvGrpSpPr/>
          <p:nvPr/>
        </p:nvGrpSpPr>
        <p:grpSpPr>
          <a:xfrm>
            <a:off x="1028700" y="4008333"/>
            <a:ext cx="771999" cy="771999"/>
            <a:chOff x="0" y="0"/>
            <a:chExt cx="6350000" cy="6350000"/>
          </a:xfrm>
        </p:grpSpPr>
        <p:sp>
          <p:nvSpPr>
            <p:cNvPr id="5" name="Freeform 5"/>
            <p:cNvSpPr/>
            <p:nvPr/>
          </p:nvSpPr>
          <p:spPr>
            <a:xfrm>
              <a:off x="0" y="0"/>
              <a:ext cx="6350000" cy="6350000"/>
            </a:xfrm>
            <a:custGeom>
              <a:avLst/>
              <a:gdLst/>
              <a:ahLst/>
              <a:cxnLst/>
              <a:rect l="l" t="t" r="r" b="b"/>
              <a:pathLst>
                <a:path w="6350000" h="6350000">
                  <a:moveTo>
                    <a:pt x="3175000" y="0"/>
                  </a:moveTo>
                  <a:cubicBezTo>
                    <a:pt x="1421496" y="0"/>
                    <a:pt x="0" y="1421496"/>
                    <a:pt x="0" y="3175000"/>
                  </a:cubicBezTo>
                  <a:cubicBezTo>
                    <a:pt x="0" y="4928504"/>
                    <a:pt x="1421496" y="6350000"/>
                    <a:pt x="3175000" y="6350000"/>
                  </a:cubicBezTo>
                  <a:cubicBezTo>
                    <a:pt x="4928504" y="6350000"/>
                    <a:pt x="6350000" y="4928504"/>
                    <a:pt x="6350000" y="3175000"/>
                  </a:cubicBezTo>
                  <a:cubicBezTo>
                    <a:pt x="6350000" y="1421496"/>
                    <a:pt x="4928504" y="0"/>
                    <a:pt x="3175000" y="0"/>
                  </a:cubicBezTo>
                  <a:close/>
                </a:path>
              </a:pathLst>
            </a:custGeom>
            <a:solidFill>
              <a:srgbClr val="FEF2D4"/>
            </a:solidFill>
          </p:spPr>
          <p:txBody>
            <a:bodyPr/>
            <a:lstStyle/>
            <a:p>
              <a:endParaRPr lang="en-GB"/>
            </a:p>
          </p:txBody>
        </p:sp>
      </p:grpSp>
      <p:grpSp>
        <p:nvGrpSpPr>
          <p:cNvPr id="6" name="Group 6"/>
          <p:cNvGrpSpPr/>
          <p:nvPr/>
        </p:nvGrpSpPr>
        <p:grpSpPr>
          <a:xfrm>
            <a:off x="1028700" y="6568014"/>
            <a:ext cx="771999" cy="771999"/>
            <a:chOff x="0" y="0"/>
            <a:chExt cx="6350000" cy="6350000"/>
          </a:xfrm>
        </p:grpSpPr>
        <p:sp>
          <p:nvSpPr>
            <p:cNvPr id="7" name="Freeform 7"/>
            <p:cNvSpPr/>
            <p:nvPr/>
          </p:nvSpPr>
          <p:spPr>
            <a:xfrm>
              <a:off x="0" y="0"/>
              <a:ext cx="6350000" cy="6350000"/>
            </a:xfrm>
            <a:custGeom>
              <a:avLst/>
              <a:gdLst/>
              <a:ahLst/>
              <a:cxnLst/>
              <a:rect l="l" t="t" r="r" b="b"/>
              <a:pathLst>
                <a:path w="6350000" h="6350000">
                  <a:moveTo>
                    <a:pt x="3175000" y="0"/>
                  </a:moveTo>
                  <a:cubicBezTo>
                    <a:pt x="1421496" y="0"/>
                    <a:pt x="0" y="1421496"/>
                    <a:pt x="0" y="3175000"/>
                  </a:cubicBezTo>
                  <a:cubicBezTo>
                    <a:pt x="0" y="4928504"/>
                    <a:pt x="1421496" y="6350000"/>
                    <a:pt x="3175000" y="6350000"/>
                  </a:cubicBezTo>
                  <a:cubicBezTo>
                    <a:pt x="4928504" y="6350000"/>
                    <a:pt x="6350000" y="4928504"/>
                    <a:pt x="6350000" y="3175000"/>
                  </a:cubicBezTo>
                  <a:cubicBezTo>
                    <a:pt x="6350000" y="1421496"/>
                    <a:pt x="4928504" y="0"/>
                    <a:pt x="3175000" y="0"/>
                  </a:cubicBezTo>
                  <a:close/>
                </a:path>
              </a:pathLst>
            </a:custGeom>
            <a:solidFill>
              <a:srgbClr val="FEF2D4"/>
            </a:solidFill>
          </p:spPr>
          <p:txBody>
            <a:bodyPr/>
            <a:lstStyle/>
            <a:p>
              <a:endParaRPr lang="en-GB"/>
            </a:p>
          </p:txBody>
        </p:sp>
      </p:grpSp>
      <p:grpSp>
        <p:nvGrpSpPr>
          <p:cNvPr id="8" name="Group 8"/>
          <p:cNvGrpSpPr/>
          <p:nvPr/>
        </p:nvGrpSpPr>
        <p:grpSpPr>
          <a:xfrm>
            <a:off x="1028700" y="5288174"/>
            <a:ext cx="771999" cy="771999"/>
            <a:chOff x="0" y="0"/>
            <a:chExt cx="6350000" cy="6350000"/>
          </a:xfrm>
        </p:grpSpPr>
        <p:sp>
          <p:nvSpPr>
            <p:cNvPr id="9" name="Freeform 9"/>
            <p:cNvSpPr/>
            <p:nvPr/>
          </p:nvSpPr>
          <p:spPr>
            <a:xfrm>
              <a:off x="0" y="0"/>
              <a:ext cx="6350000" cy="6350000"/>
            </a:xfrm>
            <a:custGeom>
              <a:avLst/>
              <a:gdLst/>
              <a:ahLst/>
              <a:cxnLst/>
              <a:rect l="l" t="t" r="r" b="b"/>
              <a:pathLst>
                <a:path w="6350000" h="6350000">
                  <a:moveTo>
                    <a:pt x="3175000" y="0"/>
                  </a:moveTo>
                  <a:cubicBezTo>
                    <a:pt x="1421496" y="0"/>
                    <a:pt x="0" y="1421496"/>
                    <a:pt x="0" y="3175000"/>
                  </a:cubicBezTo>
                  <a:cubicBezTo>
                    <a:pt x="0" y="4928504"/>
                    <a:pt x="1421496" y="6350000"/>
                    <a:pt x="3175000" y="6350000"/>
                  </a:cubicBezTo>
                  <a:cubicBezTo>
                    <a:pt x="4928504" y="6350000"/>
                    <a:pt x="6350000" y="4928504"/>
                    <a:pt x="6350000" y="3175000"/>
                  </a:cubicBezTo>
                  <a:cubicBezTo>
                    <a:pt x="6350000" y="1421496"/>
                    <a:pt x="4928504" y="0"/>
                    <a:pt x="3175000" y="0"/>
                  </a:cubicBezTo>
                  <a:close/>
                </a:path>
              </a:pathLst>
            </a:custGeom>
            <a:solidFill>
              <a:srgbClr val="FEF2D4"/>
            </a:solidFill>
          </p:spPr>
          <p:txBody>
            <a:bodyPr/>
            <a:lstStyle/>
            <a:p>
              <a:endParaRPr lang="en-GB"/>
            </a:p>
          </p:txBody>
        </p:sp>
      </p:grpSp>
      <p:sp>
        <p:nvSpPr>
          <p:cNvPr id="10" name="Freeform 10"/>
          <p:cNvSpPr/>
          <p:nvPr/>
        </p:nvSpPr>
        <p:spPr>
          <a:xfrm>
            <a:off x="11914396" y="1028700"/>
            <a:ext cx="5847658" cy="7805002"/>
          </a:xfrm>
          <a:custGeom>
            <a:avLst/>
            <a:gdLst/>
            <a:ahLst/>
            <a:cxnLst/>
            <a:rect l="l" t="t" r="r" b="b"/>
            <a:pathLst>
              <a:path w="5847658" h="7805002">
                <a:moveTo>
                  <a:pt x="0" y="0"/>
                </a:moveTo>
                <a:lnTo>
                  <a:pt x="5847658" y="0"/>
                </a:lnTo>
                <a:lnTo>
                  <a:pt x="5847658" y="7805002"/>
                </a:lnTo>
                <a:lnTo>
                  <a:pt x="0" y="7805002"/>
                </a:lnTo>
                <a:lnTo>
                  <a:pt x="0" y="0"/>
                </a:lnTo>
                <a:close/>
              </a:path>
            </a:pathLst>
          </a:custGeom>
          <a:blipFill>
            <a:blip r:embed="rId2"/>
            <a:stretch>
              <a:fillRect l="-66734" r="-5766"/>
            </a:stretch>
          </a:blipFill>
        </p:spPr>
        <p:txBody>
          <a:bodyPr/>
          <a:lstStyle/>
          <a:p>
            <a:endParaRPr lang="en-GB"/>
          </a:p>
        </p:txBody>
      </p:sp>
      <p:sp>
        <p:nvSpPr>
          <p:cNvPr id="11" name="Freeform 11"/>
          <p:cNvSpPr/>
          <p:nvPr/>
        </p:nvSpPr>
        <p:spPr>
          <a:xfrm>
            <a:off x="0" y="9078426"/>
            <a:ext cx="5109349" cy="1208574"/>
          </a:xfrm>
          <a:custGeom>
            <a:avLst/>
            <a:gdLst/>
            <a:ahLst/>
            <a:cxnLst/>
            <a:rect l="l" t="t" r="r" b="b"/>
            <a:pathLst>
              <a:path w="5109349" h="1208574">
                <a:moveTo>
                  <a:pt x="0" y="0"/>
                </a:moveTo>
                <a:lnTo>
                  <a:pt x="5109349" y="0"/>
                </a:lnTo>
                <a:lnTo>
                  <a:pt x="5109349" y="1208574"/>
                </a:lnTo>
                <a:lnTo>
                  <a:pt x="0" y="1208574"/>
                </a:lnTo>
                <a:lnTo>
                  <a:pt x="0" y="0"/>
                </a:lnTo>
                <a:close/>
              </a:path>
            </a:pathLst>
          </a:custGeom>
          <a:blipFill>
            <a:blip r:embed="rId3"/>
            <a:stretch>
              <a:fillRect/>
            </a:stretch>
          </a:blipFill>
        </p:spPr>
        <p:txBody>
          <a:bodyPr/>
          <a:lstStyle/>
          <a:p>
            <a:endParaRPr lang="en-GB"/>
          </a:p>
        </p:txBody>
      </p:sp>
      <p:sp>
        <p:nvSpPr>
          <p:cNvPr id="12" name="TextBox 12"/>
          <p:cNvSpPr txBox="1"/>
          <p:nvPr/>
        </p:nvSpPr>
        <p:spPr>
          <a:xfrm>
            <a:off x="2444517" y="2498034"/>
            <a:ext cx="8860991" cy="963930"/>
          </a:xfrm>
          <a:prstGeom prst="rect">
            <a:avLst/>
          </a:prstGeom>
        </p:spPr>
        <p:txBody>
          <a:bodyPr lIns="0" tIns="0" rIns="0" bIns="0" rtlCol="0" anchor="t">
            <a:spAutoFit/>
          </a:bodyPr>
          <a:lstStyle/>
          <a:p>
            <a:pPr algn="l">
              <a:lnSpc>
                <a:spcPts val="8400"/>
              </a:lnSpc>
            </a:pPr>
            <a:r>
              <a:rPr lang="en-US" sz="4200">
                <a:solidFill>
                  <a:srgbClr val="3D2812"/>
                </a:solidFill>
                <a:latin typeface="Open Sans"/>
                <a:ea typeface="Open Sans"/>
                <a:cs typeface="Open Sans"/>
                <a:sym typeface="Open Sans"/>
              </a:rPr>
              <a:t>Problem Statement &amp; Stakeholders</a:t>
            </a:r>
          </a:p>
        </p:txBody>
      </p:sp>
      <p:sp>
        <p:nvSpPr>
          <p:cNvPr id="13" name="TextBox 13"/>
          <p:cNvSpPr txBox="1"/>
          <p:nvPr/>
        </p:nvSpPr>
        <p:spPr>
          <a:xfrm>
            <a:off x="1142094" y="2718062"/>
            <a:ext cx="545211" cy="669036"/>
          </a:xfrm>
          <a:prstGeom prst="rect">
            <a:avLst/>
          </a:prstGeom>
        </p:spPr>
        <p:txBody>
          <a:bodyPr lIns="0" tIns="0" rIns="0" bIns="0" rtlCol="0" anchor="t">
            <a:spAutoFit/>
          </a:bodyPr>
          <a:lstStyle/>
          <a:p>
            <a:pPr algn="ctr">
              <a:lnSpc>
                <a:spcPts val="5652"/>
              </a:lnSpc>
            </a:pPr>
            <a:r>
              <a:rPr lang="en-US" sz="3600" b="1">
                <a:solidFill>
                  <a:srgbClr val="3D2812"/>
                </a:solidFill>
                <a:latin typeface="Open Sans Bold"/>
                <a:ea typeface="Open Sans Bold"/>
                <a:cs typeface="Open Sans Bold"/>
                <a:sym typeface="Open Sans Bold"/>
              </a:rPr>
              <a:t>1</a:t>
            </a:r>
          </a:p>
        </p:txBody>
      </p:sp>
      <p:sp>
        <p:nvSpPr>
          <p:cNvPr id="14" name="TextBox 14"/>
          <p:cNvSpPr txBox="1"/>
          <p:nvPr/>
        </p:nvSpPr>
        <p:spPr>
          <a:xfrm>
            <a:off x="2444517" y="3780103"/>
            <a:ext cx="7322748" cy="963930"/>
          </a:xfrm>
          <a:prstGeom prst="rect">
            <a:avLst/>
          </a:prstGeom>
        </p:spPr>
        <p:txBody>
          <a:bodyPr lIns="0" tIns="0" rIns="0" bIns="0" rtlCol="0" anchor="t">
            <a:spAutoFit/>
          </a:bodyPr>
          <a:lstStyle/>
          <a:p>
            <a:pPr marL="0" lvl="1" indent="0" algn="l">
              <a:lnSpc>
                <a:spcPts val="8400"/>
              </a:lnSpc>
              <a:spcBef>
                <a:spcPct val="0"/>
              </a:spcBef>
            </a:pPr>
            <a:r>
              <a:rPr lang="en-US" sz="4200">
                <a:solidFill>
                  <a:srgbClr val="3D2812"/>
                </a:solidFill>
                <a:latin typeface="Open Sans"/>
                <a:ea typeface="Open Sans"/>
                <a:cs typeface="Open Sans"/>
                <a:sym typeface="Open Sans"/>
              </a:rPr>
              <a:t>Research Gap &amp; Objectives</a:t>
            </a:r>
          </a:p>
        </p:txBody>
      </p:sp>
      <p:sp>
        <p:nvSpPr>
          <p:cNvPr id="15" name="TextBox 15"/>
          <p:cNvSpPr txBox="1"/>
          <p:nvPr/>
        </p:nvSpPr>
        <p:spPr>
          <a:xfrm>
            <a:off x="1142094" y="3997902"/>
            <a:ext cx="545211" cy="669036"/>
          </a:xfrm>
          <a:prstGeom prst="rect">
            <a:avLst/>
          </a:prstGeom>
        </p:spPr>
        <p:txBody>
          <a:bodyPr lIns="0" tIns="0" rIns="0" bIns="0" rtlCol="0" anchor="t">
            <a:spAutoFit/>
          </a:bodyPr>
          <a:lstStyle/>
          <a:p>
            <a:pPr marL="0" lvl="1" indent="0" algn="ctr">
              <a:lnSpc>
                <a:spcPts val="5652"/>
              </a:lnSpc>
              <a:spcBef>
                <a:spcPct val="0"/>
              </a:spcBef>
            </a:pPr>
            <a:r>
              <a:rPr lang="en-US" sz="3600" b="1" u="none">
                <a:solidFill>
                  <a:srgbClr val="3D2812"/>
                </a:solidFill>
                <a:latin typeface="Open Sans Bold"/>
                <a:ea typeface="Open Sans Bold"/>
                <a:cs typeface="Open Sans Bold"/>
                <a:sym typeface="Open Sans Bold"/>
              </a:rPr>
              <a:t>2</a:t>
            </a:r>
          </a:p>
        </p:txBody>
      </p:sp>
      <p:sp>
        <p:nvSpPr>
          <p:cNvPr id="16" name="TextBox 16"/>
          <p:cNvSpPr txBox="1"/>
          <p:nvPr/>
        </p:nvSpPr>
        <p:spPr>
          <a:xfrm>
            <a:off x="2444517" y="6772992"/>
            <a:ext cx="8316197" cy="1056132"/>
          </a:xfrm>
          <a:prstGeom prst="rect">
            <a:avLst/>
          </a:prstGeom>
        </p:spPr>
        <p:txBody>
          <a:bodyPr lIns="0" tIns="0" rIns="0" bIns="0" rtlCol="0" anchor="t">
            <a:spAutoFit/>
          </a:bodyPr>
          <a:lstStyle/>
          <a:p>
            <a:pPr marL="0" lvl="1" indent="0" algn="l">
              <a:lnSpc>
                <a:spcPts val="4074"/>
              </a:lnSpc>
            </a:pPr>
            <a:r>
              <a:rPr lang="en-US" sz="4200">
                <a:solidFill>
                  <a:srgbClr val="3D2812"/>
                </a:solidFill>
                <a:latin typeface="Open Sans"/>
                <a:ea typeface="Open Sans"/>
                <a:cs typeface="Open Sans"/>
                <a:sym typeface="Open Sans"/>
              </a:rPr>
              <a:t>System Architecture &amp; Integration</a:t>
            </a:r>
          </a:p>
        </p:txBody>
      </p:sp>
      <p:sp>
        <p:nvSpPr>
          <p:cNvPr id="17" name="TextBox 17"/>
          <p:cNvSpPr txBox="1"/>
          <p:nvPr/>
        </p:nvSpPr>
        <p:spPr>
          <a:xfrm>
            <a:off x="1142094" y="6557583"/>
            <a:ext cx="545211" cy="669036"/>
          </a:xfrm>
          <a:prstGeom prst="rect">
            <a:avLst/>
          </a:prstGeom>
        </p:spPr>
        <p:txBody>
          <a:bodyPr lIns="0" tIns="0" rIns="0" bIns="0" rtlCol="0" anchor="t">
            <a:spAutoFit/>
          </a:bodyPr>
          <a:lstStyle/>
          <a:p>
            <a:pPr marL="0" lvl="1" indent="0" algn="ctr">
              <a:lnSpc>
                <a:spcPts val="5652"/>
              </a:lnSpc>
              <a:spcBef>
                <a:spcPct val="0"/>
              </a:spcBef>
            </a:pPr>
            <a:r>
              <a:rPr lang="en-US" sz="3600" b="1" u="none">
                <a:solidFill>
                  <a:srgbClr val="3D2812"/>
                </a:solidFill>
                <a:latin typeface="Open Sans Bold"/>
                <a:ea typeface="Open Sans Bold"/>
                <a:cs typeface="Open Sans Bold"/>
                <a:sym typeface="Open Sans Bold"/>
              </a:rPr>
              <a:t>4</a:t>
            </a:r>
          </a:p>
        </p:txBody>
      </p:sp>
      <p:sp>
        <p:nvSpPr>
          <p:cNvPr id="18" name="TextBox 18"/>
          <p:cNvSpPr txBox="1"/>
          <p:nvPr/>
        </p:nvSpPr>
        <p:spPr>
          <a:xfrm>
            <a:off x="2444517" y="5062171"/>
            <a:ext cx="9469879" cy="963930"/>
          </a:xfrm>
          <a:prstGeom prst="rect">
            <a:avLst/>
          </a:prstGeom>
        </p:spPr>
        <p:txBody>
          <a:bodyPr lIns="0" tIns="0" rIns="0" bIns="0" rtlCol="0" anchor="t">
            <a:spAutoFit/>
          </a:bodyPr>
          <a:lstStyle/>
          <a:p>
            <a:pPr marL="0" lvl="1" indent="0" algn="l">
              <a:lnSpc>
                <a:spcPts val="8400"/>
              </a:lnSpc>
              <a:spcBef>
                <a:spcPct val="0"/>
              </a:spcBef>
            </a:pPr>
            <a:r>
              <a:rPr lang="en-US" sz="4200">
                <a:solidFill>
                  <a:srgbClr val="3D2812"/>
                </a:solidFill>
                <a:latin typeface="Open Sans"/>
                <a:ea typeface="Open Sans"/>
                <a:cs typeface="Open Sans"/>
                <a:sym typeface="Open Sans"/>
              </a:rPr>
              <a:t>Solution Overview (What We Built)</a:t>
            </a:r>
          </a:p>
        </p:txBody>
      </p:sp>
      <p:sp>
        <p:nvSpPr>
          <p:cNvPr id="19" name="TextBox 19"/>
          <p:cNvSpPr txBox="1"/>
          <p:nvPr/>
        </p:nvSpPr>
        <p:spPr>
          <a:xfrm>
            <a:off x="1142094" y="5277743"/>
            <a:ext cx="545211" cy="669036"/>
          </a:xfrm>
          <a:prstGeom prst="rect">
            <a:avLst/>
          </a:prstGeom>
        </p:spPr>
        <p:txBody>
          <a:bodyPr lIns="0" tIns="0" rIns="0" bIns="0" rtlCol="0" anchor="t">
            <a:spAutoFit/>
          </a:bodyPr>
          <a:lstStyle/>
          <a:p>
            <a:pPr marL="0" lvl="1" indent="0" algn="ctr">
              <a:lnSpc>
                <a:spcPts val="5652"/>
              </a:lnSpc>
              <a:spcBef>
                <a:spcPct val="0"/>
              </a:spcBef>
            </a:pPr>
            <a:r>
              <a:rPr lang="en-US" sz="3600" b="1" u="none">
                <a:solidFill>
                  <a:srgbClr val="3D2812"/>
                </a:solidFill>
                <a:latin typeface="Open Sans Bold"/>
                <a:ea typeface="Open Sans Bold"/>
                <a:cs typeface="Open Sans Bold"/>
                <a:sym typeface="Open Sans Bold"/>
              </a:rPr>
              <a:t>3</a:t>
            </a:r>
          </a:p>
        </p:txBody>
      </p:sp>
      <p:sp>
        <p:nvSpPr>
          <p:cNvPr id="20" name="TextBox 20"/>
          <p:cNvSpPr txBox="1"/>
          <p:nvPr/>
        </p:nvSpPr>
        <p:spPr>
          <a:xfrm>
            <a:off x="1028700" y="1019175"/>
            <a:ext cx="5684700" cy="1038225"/>
          </a:xfrm>
          <a:prstGeom prst="rect">
            <a:avLst/>
          </a:prstGeom>
        </p:spPr>
        <p:txBody>
          <a:bodyPr lIns="0" tIns="0" rIns="0" bIns="0" rtlCol="0" anchor="t">
            <a:spAutoFit/>
          </a:bodyPr>
          <a:lstStyle/>
          <a:p>
            <a:pPr marL="0" lvl="0" indent="0" algn="l">
              <a:lnSpc>
                <a:spcPts val="8160"/>
              </a:lnSpc>
              <a:spcBef>
                <a:spcPct val="0"/>
              </a:spcBef>
            </a:pPr>
            <a:r>
              <a:rPr lang="en-US" sz="6800" b="1">
                <a:solidFill>
                  <a:srgbClr val="3D2812"/>
                </a:solidFill>
                <a:latin typeface="Open Sans Bold"/>
                <a:ea typeface="Open Sans Bold"/>
                <a:cs typeface="Open Sans Bold"/>
                <a:sym typeface="Open Sans Bold"/>
              </a:rPr>
              <a:t>Introduction</a:t>
            </a:r>
          </a:p>
        </p:txBody>
      </p:sp>
      <p:sp>
        <p:nvSpPr>
          <p:cNvPr id="21" name="TextBox 21"/>
          <p:cNvSpPr txBox="1"/>
          <p:nvPr/>
        </p:nvSpPr>
        <p:spPr>
          <a:xfrm>
            <a:off x="17646117" y="9676843"/>
            <a:ext cx="152400" cy="219075"/>
          </a:xfrm>
          <a:prstGeom prst="rect">
            <a:avLst/>
          </a:prstGeom>
        </p:spPr>
        <p:txBody>
          <a:bodyPr wrap="none" lIns="0" tIns="0" rIns="0" bIns="0" rtlCol="0" anchor="t">
            <a:spAutoFit/>
          </a:bodyPr>
          <a:lstStyle/>
          <a:p>
            <a:pPr algn="ctr">
              <a:lnSpc>
                <a:spcPts val="4405"/>
              </a:lnSpc>
              <a:spcBef>
                <a:spcPct val="0"/>
              </a:spcBef>
            </a:pPr>
            <a:r>
              <a:rPr lang="en-US" sz="3146">
                <a:solidFill>
                  <a:srgbClr val="1A1A1A"/>
                </a:solidFill>
                <a:latin typeface="Canva Sans"/>
                <a:ea typeface="Canva Sans"/>
                <a:cs typeface="Canva Sans"/>
                <a:sym typeface="Canva Sans"/>
              </a:rPr>
              <a:t>3</a:t>
            </a:r>
          </a:p>
        </p:txBody>
      </p:sp>
      <p:grpSp>
        <p:nvGrpSpPr>
          <p:cNvPr id="22" name="Group 22"/>
          <p:cNvGrpSpPr/>
          <p:nvPr/>
        </p:nvGrpSpPr>
        <p:grpSpPr>
          <a:xfrm>
            <a:off x="1142094" y="8121063"/>
            <a:ext cx="771999" cy="771999"/>
            <a:chOff x="0" y="0"/>
            <a:chExt cx="6350000" cy="6350000"/>
          </a:xfrm>
        </p:grpSpPr>
        <p:sp>
          <p:nvSpPr>
            <p:cNvPr id="23" name="Freeform 23"/>
            <p:cNvSpPr/>
            <p:nvPr/>
          </p:nvSpPr>
          <p:spPr>
            <a:xfrm>
              <a:off x="0" y="0"/>
              <a:ext cx="6350000" cy="6350000"/>
            </a:xfrm>
            <a:custGeom>
              <a:avLst/>
              <a:gdLst/>
              <a:ahLst/>
              <a:cxnLst/>
              <a:rect l="l" t="t" r="r" b="b"/>
              <a:pathLst>
                <a:path w="6350000" h="6350000">
                  <a:moveTo>
                    <a:pt x="3175000" y="0"/>
                  </a:moveTo>
                  <a:cubicBezTo>
                    <a:pt x="1421496" y="0"/>
                    <a:pt x="0" y="1421496"/>
                    <a:pt x="0" y="3175000"/>
                  </a:cubicBezTo>
                  <a:cubicBezTo>
                    <a:pt x="0" y="4928504"/>
                    <a:pt x="1421496" y="6350000"/>
                    <a:pt x="3175000" y="6350000"/>
                  </a:cubicBezTo>
                  <a:cubicBezTo>
                    <a:pt x="4928504" y="6350000"/>
                    <a:pt x="6350000" y="4928504"/>
                    <a:pt x="6350000" y="3175000"/>
                  </a:cubicBezTo>
                  <a:cubicBezTo>
                    <a:pt x="6350000" y="1421496"/>
                    <a:pt x="4928504" y="0"/>
                    <a:pt x="3175000" y="0"/>
                  </a:cubicBezTo>
                  <a:close/>
                </a:path>
              </a:pathLst>
            </a:custGeom>
            <a:solidFill>
              <a:srgbClr val="FEF2D4"/>
            </a:solidFill>
          </p:spPr>
          <p:txBody>
            <a:bodyPr/>
            <a:lstStyle/>
            <a:p>
              <a:endParaRPr lang="en-GB"/>
            </a:p>
          </p:txBody>
        </p:sp>
      </p:grpSp>
      <p:sp>
        <p:nvSpPr>
          <p:cNvPr id="24" name="TextBox 24"/>
          <p:cNvSpPr txBox="1"/>
          <p:nvPr/>
        </p:nvSpPr>
        <p:spPr>
          <a:xfrm>
            <a:off x="1255488" y="8110632"/>
            <a:ext cx="545211" cy="669036"/>
          </a:xfrm>
          <a:prstGeom prst="rect">
            <a:avLst/>
          </a:prstGeom>
        </p:spPr>
        <p:txBody>
          <a:bodyPr lIns="0" tIns="0" rIns="0" bIns="0" rtlCol="0" anchor="t">
            <a:spAutoFit/>
          </a:bodyPr>
          <a:lstStyle/>
          <a:p>
            <a:pPr marL="0" lvl="1" indent="0" algn="ctr">
              <a:lnSpc>
                <a:spcPts val="5652"/>
              </a:lnSpc>
              <a:spcBef>
                <a:spcPct val="0"/>
              </a:spcBef>
            </a:pPr>
            <a:r>
              <a:rPr lang="en-US" sz="3600" b="1" u="none">
                <a:solidFill>
                  <a:srgbClr val="3D2812"/>
                </a:solidFill>
                <a:latin typeface="Open Sans Bold"/>
                <a:ea typeface="Open Sans Bold"/>
                <a:cs typeface="Open Sans Bold"/>
                <a:sym typeface="Open Sans Bold"/>
              </a:rPr>
              <a:t>5</a:t>
            </a:r>
          </a:p>
        </p:txBody>
      </p:sp>
      <p:sp>
        <p:nvSpPr>
          <p:cNvPr id="25" name="TextBox 25"/>
          <p:cNvSpPr txBox="1"/>
          <p:nvPr/>
        </p:nvSpPr>
        <p:spPr>
          <a:xfrm>
            <a:off x="2444517" y="8586882"/>
            <a:ext cx="9198822" cy="541782"/>
          </a:xfrm>
          <a:prstGeom prst="rect">
            <a:avLst/>
          </a:prstGeom>
        </p:spPr>
        <p:txBody>
          <a:bodyPr lIns="0" tIns="0" rIns="0" bIns="0" rtlCol="0" anchor="t">
            <a:spAutoFit/>
          </a:bodyPr>
          <a:lstStyle/>
          <a:p>
            <a:pPr marL="0" lvl="1" indent="0" algn="l">
              <a:lnSpc>
                <a:spcPts val="4074"/>
              </a:lnSpc>
            </a:pPr>
            <a:r>
              <a:rPr lang="en-US" sz="4200">
                <a:solidFill>
                  <a:srgbClr val="3D2812"/>
                </a:solidFill>
                <a:latin typeface="Open Sans"/>
                <a:ea typeface="Open Sans"/>
                <a:cs typeface="Open Sans"/>
                <a:sym typeface="Open Sans"/>
              </a:rPr>
              <a:t>Commercialization / Impact </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0" y="9078426"/>
            <a:ext cx="5109349" cy="1208574"/>
          </a:xfrm>
          <a:custGeom>
            <a:avLst/>
            <a:gdLst/>
            <a:ahLst/>
            <a:cxnLst/>
            <a:rect l="l" t="t" r="r" b="b"/>
            <a:pathLst>
              <a:path w="5109349" h="1208574">
                <a:moveTo>
                  <a:pt x="0" y="0"/>
                </a:moveTo>
                <a:lnTo>
                  <a:pt x="5109349" y="0"/>
                </a:lnTo>
                <a:lnTo>
                  <a:pt x="5109349" y="1208574"/>
                </a:lnTo>
                <a:lnTo>
                  <a:pt x="0" y="1208574"/>
                </a:lnTo>
                <a:lnTo>
                  <a:pt x="0" y="0"/>
                </a:lnTo>
                <a:close/>
              </a:path>
            </a:pathLst>
          </a:custGeom>
          <a:blipFill>
            <a:blip r:embed="rId2"/>
            <a:stretch>
              <a:fillRect/>
            </a:stretch>
          </a:blipFill>
        </p:spPr>
        <p:txBody>
          <a:bodyPr/>
          <a:lstStyle/>
          <a:p>
            <a:endParaRPr lang="en-GB"/>
          </a:p>
        </p:txBody>
      </p:sp>
      <p:grpSp>
        <p:nvGrpSpPr>
          <p:cNvPr id="3" name="Group 3"/>
          <p:cNvGrpSpPr/>
          <p:nvPr/>
        </p:nvGrpSpPr>
        <p:grpSpPr>
          <a:xfrm>
            <a:off x="637046" y="1441584"/>
            <a:ext cx="17392995" cy="1762741"/>
            <a:chOff x="0" y="0"/>
            <a:chExt cx="3578805" cy="362704"/>
          </a:xfrm>
        </p:grpSpPr>
        <p:sp>
          <p:nvSpPr>
            <p:cNvPr id="4" name="Freeform 4"/>
            <p:cNvSpPr/>
            <p:nvPr/>
          </p:nvSpPr>
          <p:spPr>
            <a:xfrm>
              <a:off x="0" y="0"/>
              <a:ext cx="3578806" cy="362704"/>
            </a:xfrm>
            <a:custGeom>
              <a:avLst/>
              <a:gdLst/>
              <a:ahLst/>
              <a:cxnLst/>
              <a:rect l="l" t="t" r="r" b="b"/>
              <a:pathLst>
                <a:path w="3578806" h="362704">
                  <a:moveTo>
                    <a:pt x="8694" y="0"/>
                  </a:moveTo>
                  <a:lnTo>
                    <a:pt x="3570112" y="0"/>
                  </a:lnTo>
                  <a:cubicBezTo>
                    <a:pt x="3572418" y="0"/>
                    <a:pt x="3574629" y="916"/>
                    <a:pt x="3576259" y="2546"/>
                  </a:cubicBezTo>
                  <a:cubicBezTo>
                    <a:pt x="3577890" y="4177"/>
                    <a:pt x="3578806" y="6388"/>
                    <a:pt x="3578806" y="8694"/>
                  </a:cubicBezTo>
                  <a:lnTo>
                    <a:pt x="3578806" y="354010"/>
                  </a:lnTo>
                  <a:cubicBezTo>
                    <a:pt x="3578806" y="356316"/>
                    <a:pt x="3577890" y="358527"/>
                    <a:pt x="3576259" y="360157"/>
                  </a:cubicBezTo>
                  <a:cubicBezTo>
                    <a:pt x="3574629" y="361788"/>
                    <a:pt x="3572418" y="362704"/>
                    <a:pt x="3570112" y="362704"/>
                  </a:cubicBezTo>
                  <a:lnTo>
                    <a:pt x="8694" y="362704"/>
                  </a:lnTo>
                  <a:cubicBezTo>
                    <a:pt x="6388" y="362704"/>
                    <a:pt x="4177" y="361788"/>
                    <a:pt x="2546" y="360157"/>
                  </a:cubicBezTo>
                  <a:cubicBezTo>
                    <a:pt x="916" y="358527"/>
                    <a:pt x="0" y="356316"/>
                    <a:pt x="0" y="354010"/>
                  </a:cubicBezTo>
                  <a:lnTo>
                    <a:pt x="0" y="8694"/>
                  </a:lnTo>
                  <a:cubicBezTo>
                    <a:pt x="0" y="6388"/>
                    <a:pt x="916" y="4177"/>
                    <a:pt x="2546" y="2546"/>
                  </a:cubicBezTo>
                  <a:cubicBezTo>
                    <a:pt x="4177" y="916"/>
                    <a:pt x="6388" y="0"/>
                    <a:pt x="8694" y="0"/>
                  </a:cubicBezTo>
                  <a:close/>
                </a:path>
              </a:pathLst>
            </a:custGeom>
            <a:solidFill>
              <a:srgbClr val="000000">
                <a:alpha val="70980"/>
              </a:srgbClr>
            </a:solidFill>
          </p:spPr>
          <p:txBody>
            <a:bodyPr/>
            <a:lstStyle/>
            <a:p>
              <a:endParaRPr lang="en-GB"/>
            </a:p>
          </p:txBody>
        </p:sp>
        <p:sp>
          <p:nvSpPr>
            <p:cNvPr id="5" name="TextBox 5"/>
            <p:cNvSpPr txBox="1"/>
            <p:nvPr/>
          </p:nvSpPr>
          <p:spPr>
            <a:xfrm>
              <a:off x="0" y="-38100"/>
              <a:ext cx="3578805" cy="400804"/>
            </a:xfrm>
            <a:prstGeom prst="rect">
              <a:avLst/>
            </a:prstGeom>
          </p:spPr>
          <p:txBody>
            <a:bodyPr lIns="50800" tIns="50800" rIns="50800" bIns="50800" rtlCol="0" anchor="ctr"/>
            <a:lstStyle/>
            <a:p>
              <a:pPr algn="ctr">
                <a:lnSpc>
                  <a:spcPts val="2659"/>
                </a:lnSpc>
              </a:pPr>
              <a:endParaRPr/>
            </a:p>
          </p:txBody>
        </p:sp>
      </p:grpSp>
      <p:sp>
        <p:nvSpPr>
          <p:cNvPr id="6" name="TextBox 6"/>
          <p:cNvSpPr txBox="1"/>
          <p:nvPr/>
        </p:nvSpPr>
        <p:spPr>
          <a:xfrm>
            <a:off x="1028700" y="380864"/>
            <a:ext cx="14899310" cy="885825"/>
          </a:xfrm>
          <a:prstGeom prst="rect">
            <a:avLst/>
          </a:prstGeom>
        </p:spPr>
        <p:txBody>
          <a:bodyPr lIns="0" tIns="0" rIns="0" bIns="0" rtlCol="0" anchor="t">
            <a:spAutoFit/>
          </a:bodyPr>
          <a:lstStyle/>
          <a:p>
            <a:pPr marL="0" lvl="0" indent="0" algn="l">
              <a:lnSpc>
                <a:spcPts val="6960"/>
              </a:lnSpc>
              <a:spcBef>
                <a:spcPct val="0"/>
              </a:spcBef>
            </a:pPr>
            <a:r>
              <a:rPr lang="en-US" sz="5800" b="1">
                <a:solidFill>
                  <a:srgbClr val="3D2812"/>
                </a:solidFill>
                <a:latin typeface="Open Sans Bold"/>
                <a:ea typeface="Open Sans Bold"/>
                <a:cs typeface="Open Sans Bold"/>
                <a:sym typeface="Open Sans Bold"/>
              </a:rPr>
              <a:t>Problem Statement &amp; Stakeholders </a:t>
            </a:r>
          </a:p>
        </p:txBody>
      </p:sp>
      <p:sp>
        <p:nvSpPr>
          <p:cNvPr id="7" name="TextBox 7"/>
          <p:cNvSpPr txBox="1"/>
          <p:nvPr/>
        </p:nvSpPr>
        <p:spPr>
          <a:xfrm>
            <a:off x="17646117" y="9676843"/>
            <a:ext cx="152400" cy="219075"/>
          </a:xfrm>
          <a:prstGeom prst="rect">
            <a:avLst/>
          </a:prstGeom>
        </p:spPr>
        <p:txBody>
          <a:bodyPr wrap="none" lIns="0" tIns="0" rIns="0" bIns="0" rtlCol="0" anchor="t">
            <a:spAutoFit/>
          </a:bodyPr>
          <a:lstStyle/>
          <a:p>
            <a:pPr algn="ctr">
              <a:lnSpc>
                <a:spcPts val="4405"/>
              </a:lnSpc>
              <a:spcBef>
                <a:spcPct val="0"/>
              </a:spcBef>
            </a:pPr>
            <a:r>
              <a:rPr lang="en-US" sz="3146">
                <a:solidFill>
                  <a:srgbClr val="1A1A1A"/>
                </a:solidFill>
                <a:latin typeface="Canva Sans"/>
                <a:ea typeface="Canva Sans"/>
                <a:cs typeface="Canva Sans"/>
                <a:sym typeface="Canva Sans"/>
              </a:rPr>
              <a:t>4</a:t>
            </a:r>
          </a:p>
        </p:txBody>
      </p:sp>
      <p:sp>
        <p:nvSpPr>
          <p:cNvPr id="8" name="TextBox 8"/>
          <p:cNvSpPr txBox="1"/>
          <p:nvPr/>
        </p:nvSpPr>
        <p:spPr>
          <a:xfrm>
            <a:off x="380176" y="1743791"/>
            <a:ext cx="17004825" cy="1091652"/>
          </a:xfrm>
          <a:prstGeom prst="rect">
            <a:avLst/>
          </a:prstGeom>
        </p:spPr>
        <p:txBody>
          <a:bodyPr lIns="0" tIns="0" rIns="0" bIns="0" rtlCol="0" anchor="t">
            <a:spAutoFit/>
          </a:bodyPr>
          <a:lstStyle/>
          <a:p>
            <a:pPr marL="679342" lvl="1" indent="-339671" algn="l">
              <a:lnSpc>
                <a:spcPts val="4405"/>
              </a:lnSpc>
              <a:buFont typeface="Arial"/>
              <a:buChar char="•"/>
            </a:pPr>
            <a:r>
              <a:rPr lang="en-US" sz="3146" b="1">
                <a:solidFill>
                  <a:srgbClr val="FFFFFF"/>
                </a:solidFill>
                <a:latin typeface="Canva Sans Bold"/>
                <a:ea typeface="Canva Sans Bold"/>
                <a:cs typeface="Canva Sans Bold"/>
                <a:sym typeface="Canva Sans Bold"/>
              </a:rPr>
              <a:t>Context  :  Urban traffic management in smart city environments, with intelligent traffic control with real-time sensing and adaptive signal systems.</a:t>
            </a:r>
          </a:p>
        </p:txBody>
      </p:sp>
      <p:grpSp>
        <p:nvGrpSpPr>
          <p:cNvPr id="9" name="Group 9"/>
          <p:cNvGrpSpPr/>
          <p:nvPr/>
        </p:nvGrpSpPr>
        <p:grpSpPr>
          <a:xfrm>
            <a:off x="701437" y="3412620"/>
            <a:ext cx="17392995" cy="3234777"/>
            <a:chOff x="0" y="0"/>
            <a:chExt cx="3578805" cy="665592"/>
          </a:xfrm>
        </p:grpSpPr>
        <p:sp>
          <p:nvSpPr>
            <p:cNvPr id="10" name="Freeform 10"/>
            <p:cNvSpPr/>
            <p:nvPr/>
          </p:nvSpPr>
          <p:spPr>
            <a:xfrm>
              <a:off x="0" y="0"/>
              <a:ext cx="3578806" cy="665592"/>
            </a:xfrm>
            <a:custGeom>
              <a:avLst/>
              <a:gdLst/>
              <a:ahLst/>
              <a:cxnLst/>
              <a:rect l="l" t="t" r="r" b="b"/>
              <a:pathLst>
                <a:path w="3578806" h="665592">
                  <a:moveTo>
                    <a:pt x="8694" y="0"/>
                  </a:moveTo>
                  <a:lnTo>
                    <a:pt x="3570112" y="0"/>
                  </a:lnTo>
                  <a:cubicBezTo>
                    <a:pt x="3572418" y="0"/>
                    <a:pt x="3574629" y="916"/>
                    <a:pt x="3576259" y="2546"/>
                  </a:cubicBezTo>
                  <a:cubicBezTo>
                    <a:pt x="3577890" y="4177"/>
                    <a:pt x="3578806" y="6388"/>
                    <a:pt x="3578806" y="8694"/>
                  </a:cubicBezTo>
                  <a:lnTo>
                    <a:pt x="3578806" y="656898"/>
                  </a:lnTo>
                  <a:cubicBezTo>
                    <a:pt x="3578806" y="659204"/>
                    <a:pt x="3577890" y="661415"/>
                    <a:pt x="3576259" y="663046"/>
                  </a:cubicBezTo>
                  <a:cubicBezTo>
                    <a:pt x="3574629" y="664676"/>
                    <a:pt x="3572418" y="665592"/>
                    <a:pt x="3570112" y="665592"/>
                  </a:cubicBezTo>
                  <a:lnTo>
                    <a:pt x="8694" y="665592"/>
                  </a:lnTo>
                  <a:cubicBezTo>
                    <a:pt x="6388" y="665592"/>
                    <a:pt x="4177" y="664676"/>
                    <a:pt x="2546" y="663046"/>
                  </a:cubicBezTo>
                  <a:cubicBezTo>
                    <a:pt x="916" y="661415"/>
                    <a:pt x="0" y="659204"/>
                    <a:pt x="0" y="656898"/>
                  </a:cubicBezTo>
                  <a:lnTo>
                    <a:pt x="0" y="8694"/>
                  </a:lnTo>
                  <a:cubicBezTo>
                    <a:pt x="0" y="6388"/>
                    <a:pt x="916" y="4177"/>
                    <a:pt x="2546" y="2546"/>
                  </a:cubicBezTo>
                  <a:cubicBezTo>
                    <a:pt x="4177" y="916"/>
                    <a:pt x="6388" y="0"/>
                    <a:pt x="8694" y="0"/>
                  </a:cubicBezTo>
                  <a:close/>
                </a:path>
              </a:pathLst>
            </a:custGeom>
            <a:solidFill>
              <a:srgbClr val="000000">
                <a:alpha val="70980"/>
              </a:srgbClr>
            </a:solidFill>
          </p:spPr>
          <p:txBody>
            <a:bodyPr/>
            <a:lstStyle/>
            <a:p>
              <a:endParaRPr lang="en-GB"/>
            </a:p>
          </p:txBody>
        </p:sp>
        <p:sp>
          <p:nvSpPr>
            <p:cNvPr id="11" name="TextBox 11"/>
            <p:cNvSpPr txBox="1"/>
            <p:nvPr/>
          </p:nvSpPr>
          <p:spPr>
            <a:xfrm>
              <a:off x="0" y="-38100"/>
              <a:ext cx="3578805" cy="703692"/>
            </a:xfrm>
            <a:prstGeom prst="rect">
              <a:avLst/>
            </a:prstGeom>
          </p:spPr>
          <p:txBody>
            <a:bodyPr lIns="50800" tIns="50800" rIns="50800" bIns="50800" rtlCol="0" anchor="ctr"/>
            <a:lstStyle/>
            <a:p>
              <a:pPr algn="ctr">
                <a:lnSpc>
                  <a:spcPts val="2659"/>
                </a:lnSpc>
              </a:pPr>
              <a:endParaRPr/>
            </a:p>
          </p:txBody>
        </p:sp>
      </p:grpSp>
      <p:sp>
        <p:nvSpPr>
          <p:cNvPr id="12" name="TextBox 12"/>
          <p:cNvSpPr txBox="1"/>
          <p:nvPr/>
        </p:nvSpPr>
        <p:spPr>
          <a:xfrm>
            <a:off x="637046" y="3643592"/>
            <a:ext cx="18035515" cy="3301452"/>
          </a:xfrm>
          <a:prstGeom prst="rect">
            <a:avLst/>
          </a:prstGeom>
        </p:spPr>
        <p:txBody>
          <a:bodyPr lIns="0" tIns="0" rIns="0" bIns="0" rtlCol="0" anchor="t">
            <a:spAutoFit/>
          </a:bodyPr>
          <a:lstStyle/>
          <a:p>
            <a:pPr marL="679342" lvl="1" indent="-339671" algn="l">
              <a:lnSpc>
                <a:spcPts val="4405"/>
              </a:lnSpc>
              <a:buFont typeface="Arial"/>
              <a:buChar char="•"/>
            </a:pPr>
            <a:r>
              <a:rPr lang="en-US" sz="3146" b="1">
                <a:solidFill>
                  <a:srgbClr val="FFFFFF"/>
                </a:solidFill>
                <a:latin typeface="Canva Sans Bold"/>
                <a:ea typeface="Canva Sans Bold"/>
                <a:cs typeface="Canva Sans Bold"/>
                <a:sym typeface="Canva Sans Bold"/>
              </a:rPr>
              <a:t>Stakeholders:</a:t>
            </a:r>
          </a:p>
          <a:p>
            <a:pPr marL="679342" lvl="1" indent="-339671" algn="l">
              <a:lnSpc>
                <a:spcPts val="4405"/>
              </a:lnSpc>
              <a:buAutoNum type="arabicPeriod"/>
            </a:pPr>
            <a:r>
              <a:rPr lang="en-US" sz="3146" b="1">
                <a:solidFill>
                  <a:srgbClr val="FFFFFF"/>
                </a:solidFill>
                <a:latin typeface="Canva Sans Bold"/>
                <a:ea typeface="Canva Sans Bold"/>
                <a:cs typeface="Canva Sans Bold"/>
                <a:sym typeface="Canva Sans Bold"/>
              </a:rPr>
              <a:t>Primary users: Traffic control authorities, Emergency vehicle drivers </a:t>
            </a:r>
          </a:p>
          <a:p>
            <a:pPr marL="679342" lvl="1" indent="-339671" algn="l">
              <a:lnSpc>
                <a:spcPts val="4405"/>
              </a:lnSpc>
              <a:buAutoNum type="arabicPeriod"/>
            </a:pPr>
            <a:r>
              <a:rPr lang="en-US" sz="3146" b="1">
                <a:solidFill>
                  <a:srgbClr val="FFFFFF"/>
                </a:solidFill>
                <a:latin typeface="Canva Sans Bold"/>
                <a:ea typeface="Canva Sans Bold"/>
                <a:cs typeface="Canva Sans Bold"/>
                <a:sym typeface="Canva Sans Bold"/>
              </a:rPr>
              <a:t>Secondary users: Daily commuters, pedestrians, and public transport operators</a:t>
            </a:r>
          </a:p>
          <a:p>
            <a:pPr marL="679342" lvl="1" indent="-339671" algn="l">
              <a:lnSpc>
                <a:spcPts val="4405"/>
              </a:lnSpc>
              <a:buAutoNum type="arabicPeriod"/>
            </a:pPr>
            <a:r>
              <a:rPr lang="en-US" sz="3146" b="1">
                <a:solidFill>
                  <a:srgbClr val="FFFFFF"/>
                </a:solidFill>
                <a:latin typeface="Canva Sans Bold"/>
                <a:ea typeface="Canva Sans Bold"/>
                <a:cs typeface="Canva Sans Bold"/>
                <a:sym typeface="Canva Sans Bold"/>
              </a:rPr>
              <a:t>Decision makers: City traffic management departments, smart city planners, and municipal authorities</a:t>
            </a:r>
          </a:p>
          <a:p>
            <a:pPr algn="l">
              <a:lnSpc>
                <a:spcPts val="4405"/>
              </a:lnSpc>
            </a:pPr>
            <a:endParaRPr lang="en-US" sz="3146" b="1">
              <a:solidFill>
                <a:srgbClr val="FFFFFF"/>
              </a:solidFill>
              <a:latin typeface="Canva Sans Bold"/>
              <a:ea typeface="Canva Sans Bold"/>
              <a:cs typeface="Canva Sans Bold"/>
              <a:sym typeface="Canva Sans Bold"/>
            </a:endParaRPr>
          </a:p>
        </p:txBody>
      </p:sp>
      <p:grpSp>
        <p:nvGrpSpPr>
          <p:cNvPr id="13" name="Group 13"/>
          <p:cNvGrpSpPr/>
          <p:nvPr/>
        </p:nvGrpSpPr>
        <p:grpSpPr>
          <a:xfrm>
            <a:off x="701437" y="6924877"/>
            <a:ext cx="17392995" cy="2333423"/>
            <a:chOff x="0" y="0"/>
            <a:chExt cx="3578805" cy="480128"/>
          </a:xfrm>
        </p:grpSpPr>
        <p:sp>
          <p:nvSpPr>
            <p:cNvPr id="14" name="Freeform 14"/>
            <p:cNvSpPr/>
            <p:nvPr/>
          </p:nvSpPr>
          <p:spPr>
            <a:xfrm>
              <a:off x="0" y="0"/>
              <a:ext cx="3578806" cy="480128"/>
            </a:xfrm>
            <a:custGeom>
              <a:avLst/>
              <a:gdLst/>
              <a:ahLst/>
              <a:cxnLst/>
              <a:rect l="l" t="t" r="r" b="b"/>
              <a:pathLst>
                <a:path w="3578806" h="480128">
                  <a:moveTo>
                    <a:pt x="8694" y="0"/>
                  </a:moveTo>
                  <a:lnTo>
                    <a:pt x="3570112" y="0"/>
                  </a:lnTo>
                  <a:cubicBezTo>
                    <a:pt x="3572418" y="0"/>
                    <a:pt x="3574629" y="916"/>
                    <a:pt x="3576259" y="2546"/>
                  </a:cubicBezTo>
                  <a:cubicBezTo>
                    <a:pt x="3577890" y="4177"/>
                    <a:pt x="3578806" y="6388"/>
                    <a:pt x="3578806" y="8694"/>
                  </a:cubicBezTo>
                  <a:lnTo>
                    <a:pt x="3578806" y="471434"/>
                  </a:lnTo>
                  <a:cubicBezTo>
                    <a:pt x="3578806" y="473740"/>
                    <a:pt x="3577890" y="475951"/>
                    <a:pt x="3576259" y="477582"/>
                  </a:cubicBezTo>
                  <a:cubicBezTo>
                    <a:pt x="3574629" y="479212"/>
                    <a:pt x="3572418" y="480128"/>
                    <a:pt x="3570112" y="480128"/>
                  </a:cubicBezTo>
                  <a:lnTo>
                    <a:pt x="8694" y="480128"/>
                  </a:lnTo>
                  <a:cubicBezTo>
                    <a:pt x="6388" y="480128"/>
                    <a:pt x="4177" y="479212"/>
                    <a:pt x="2546" y="477582"/>
                  </a:cubicBezTo>
                  <a:cubicBezTo>
                    <a:pt x="916" y="475951"/>
                    <a:pt x="0" y="473740"/>
                    <a:pt x="0" y="471434"/>
                  </a:cubicBezTo>
                  <a:lnTo>
                    <a:pt x="0" y="8694"/>
                  </a:lnTo>
                  <a:cubicBezTo>
                    <a:pt x="0" y="6388"/>
                    <a:pt x="916" y="4177"/>
                    <a:pt x="2546" y="2546"/>
                  </a:cubicBezTo>
                  <a:cubicBezTo>
                    <a:pt x="4177" y="916"/>
                    <a:pt x="6388" y="0"/>
                    <a:pt x="8694" y="0"/>
                  </a:cubicBezTo>
                  <a:close/>
                </a:path>
              </a:pathLst>
            </a:custGeom>
            <a:solidFill>
              <a:srgbClr val="000000">
                <a:alpha val="70980"/>
              </a:srgbClr>
            </a:solidFill>
          </p:spPr>
          <p:txBody>
            <a:bodyPr/>
            <a:lstStyle/>
            <a:p>
              <a:endParaRPr lang="en-GB"/>
            </a:p>
          </p:txBody>
        </p:sp>
        <p:sp>
          <p:nvSpPr>
            <p:cNvPr id="15" name="TextBox 15"/>
            <p:cNvSpPr txBox="1"/>
            <p:nvPr/>
          </p:nvSpPr>
          <p:spPr>
            <a:xfrm>
              <a:off x="0" y="-38100"/>
              <a:ext cx="3578805" cy="518228"/>
            </a:xfrm>
            <a:prstGeom prst="rect">
              <a:avLst/>
            </a:prstGeom>
          </p:spPr>
          <p:txBody>
            <a:bodyPr lIns="50800" tIns="50800" rIns="50800" bIns="50800" rtlCol="0" anchor="ctr"/>
            <a:lstStyle/>
            <a:p>
              <a:pPr algn="ctr">
                <a:lnSpc>
                  <a:spcPts val="2659"/>
                </a:lnSpc>
              </a:pPr>
              <a:endParaRPr/>
            </a:p>
          </p:txBody>
        </p:sp>
      </p:grpSp>
      <p:sp>
        <p:nvSpPr>
          <p:cNvPr id="16" name="TextBox 16"/>
          <p:cNvSpPr txBox="1"/>
          <p:nvPr/>
        </p:nvSpPr>
        <p:spPr>
          <a:xfrm>
            <a:off x="701437" y="7154595"/>
            <a:ext cx="17071131" cy="1644102"/>
          </a:xfrm>
          <a:prstGeom prst="rect">
            <a:avLst/>
          </a:prstGeom>
        </p:spPr>
        <p:txBody>
          <a:bodyPr lIns="0" tIns="0" rIns="0" bIns="0" rtlCol="0" anchor="t">
            <a:spAutoFit/>
          </a:bodyPr>
          <a:lstStyle/>
          <a:p>
            <a:pPr marL="679342" lvl="1" indent="-339671" algn="l">
              <a:lnSpc>
                <a:spcPts val="4405"/>
              </a:lnSpc>
              <a:buFont typeface="Arial"/>
              <a:buChar char="•"/>
            </a:pPr>
            <a:r>
              <a:rPr lang="en-US" sz="3146" b="1">
                <a:solidFill>
                  <a:srgbClr val="FFFFFF"/>
                </a:solidFill>
                <a:latin typeface="Canva Sans Bold"/>
                <a:ea typeface="Canva Sans Bold"/>
                <a:cs typeface="Canva Sans Bold"/>
                <a:sym typeface="Canva Sans Bold"/>
              </a:rPr>
              <a:t>Observed issue : Traditional traffic signal systems rely on static timing plans, which cannot adapt to real-time traffic conditions, causing increased congestion, long vehicle waiting times, and delayed emergency vehicle movement at intersections.</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0" y="9078426"/>
            <a:ext cx="5109349" cy="1208574"/>
          </a:xfrm>
          <a:custGeom>
            <a:avLst/>
            <a:gdLst/>
            <a:ahLst/>
            <a:cxnLst/>
            <a:rect l="l" t="t" r="r" b="b"/>
            <a:pathLst>
              <a:path w="5109349" h="1208574">
                <a:moveTo>
                  <a:pt x="0" y="0"/>
                </a:moveTo>
                <a:lnTo>
                  <a:pt x="5109349" y="0"/>
                </a:lnTo>
                <a:lnTo>
                  <a:pt x="5109349" y="1208574"/>
                </a:lnTo>
                <a:lnTo>
                  <a:pt x="0" y="1208574"/>
                </a:lnTo>
                <a:lnTo>
                  <a:pt x="0" y="0"/>
                </a:lnTo>
                <a:close/>
              </a:path>
            </a:pathLst>
          </a:custGeom>
          <a:blipFill>
            <a:blip r:embed="rId2"/>
            <a:stretch>
              <a:fillRect/>
            </a:stretch>
          </a:blipFill>
        </p:spPr>
        <p:txBody>
          <a:bodyPr/>
          <a:lstStyle/>
          <a:p>
            <a:endParaRPr lang="en-GB"/>
          </a:p>
        </p:txBody>
      </p:sp>
      <p:sp>
        <p:nvSpPr>
          <p:cNvPr id="4" name="TextBox 4"/>
          <p:cNvSpPr txBox="1"/>
          <p:nvPr/>
        </p:nvSpPr>
        <p:spPr>
          <a:xfrm>
            <a:off x="17646117" y="9676843"/>
            <a:ext cx="152400" cy="219075"/>
          </a:xfrm>
          <a:prstGeom prst="rect">
            <a:avLst/>
          </a:prstGeom>
        </p:spPr>
        <p:txBody>
          <a:bodyPr wrap="none" lIns="0" tIns="0" rIns="0" bIns="0" rtlCol="0" anchor="t">
            <a:spAutoFit/>
          </a:bodyPr>
          <a:lstStyle/>
          <a:p>
            <a:pPr algn="ctr">
              <a:lnSpc>
                <a:spcPts val="4405"/>
              </a:lnSpc>
              <a:spcBef>
                <a:spcPct val="0"/>
              </a:spcBef>
            </a:pPr>
            <a:r>
              <a:rPr lang="en-US" sz="3146">
                <a:solidFill>
                  <a:srgbClr val="1A1A1A"/>
                </a:solidFill>
                <a:latin typeface="Canva Sans"/>
                <a:ea typeface="Canva Sans"/>
                <a:cs typeface="Canva Sans"/>
                <a:sym typeface="Canva Sans"/>
              </a:rPr>
              <a:t>5</a:t>
            </a:r>
          </a:p>
        </p:txBody>
      </p:sp>
      <p:sp>
        <p:nvSpPr>
          <p:cNvPr id="5" name="TextBox 4">
            <a:extLst>
              <a:ext uri="{FF2B5EF4-FFF2-40B4-BE49-F238E27FC236}">
                <a16:creationId xmlns:a16="http://schemas.microsoft.com/office/drawing/2014/main" id="{63243B9C-E62F-93CF-CDB2-A861F09DE9C9}"/>
              </a:ext>
            </a:extLst>
          </p:cNvPr>
          <p:cNvSpPr txBox="1"/>
          <p:nvPr/>
        </p:nvSpPr>
        <p:spPr>
          <a:xfrm>
            <a:off x="2438400" y="2095500"/>
            <a:ext cx="13182600" cy="4524315"/>
          </a:xfrm>
          <a:prstGeom prst="rect">
            <a:avLst/>
          </a:prstGeom>
          <a:noFill/>
        </p:spPr>
        <p:txBody>
          <a:bodyPr wrap="square" rtlCol="0">
            <a:spAutoFit/>
          </a:bodyPr>
          <a:lstStyle/>
          <a:p>
            <a:r>
              <a:rPr lang="en-GB" sz="4800" dirty="0"/>
              <a:t>Stakeholders details , Design excellence , Solution overview</a:t>
            </a:r>
          </a:p>
          <a:p>
            <a:endParaRPr lang="en-GB" sz="4800" dirty="0"/>
          </a:p>
          <a:p>
            <a:r>
              <a:rPr lang="en-GB" sz="4800" dirty="0"/>
              <a:t>Video Link - </a:t>
            </a:r>
            <a:r>
              <a:rPr lang="en-GB" sz="4800" dirty="0">
                <a:hlinkClick r:id="rId3"/>
              </a:rPr>
              <a:t>https://drive.google.com/file/d/1uqDFj2NN2vXGW4y0fyfxnS794WNUMJLP/view?usp=sharing</a:t>
            </a:r>
            <a:endParaRPr lang="en-GB" sz="48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0" y="9078426"/>
            <a:ext cx="5109349" cy="1208574"/>
          </a:xfrm>
          <a:custGeom>
            <a:avLst/>
            <a:gdLst/>
            <a:ahLst/>
            <a:cxnLst/>
            <a:rect l="l" t="t" r="r" b="b"/>
            <a:pathLst>
              <a:path w="5109349" h="1208574">
                <a:moveTo>
                  <a:pt x="0" y="0"/>
                </a:moveTo>
                <a:lnTo>
                  <a:pt x="5109349" y="0"/>
                </a:lnTo>
                <a:lnTo>
                  <a:pt x="5109349" y="1208574"/>
                </a:lnTo>
                <a:lnTo>
                  <a:pt x="0" y="1208574"/>
                </a:lnTo>
                <a:lnTo>
                  <a:pt x="0" y="0"/>
                </a:lnTo>
                <a:close/>
              </a:path>
            </a:pathLst>
          </a:custGeom>
          <a:blipFill>
            <a:blip r:embed="rId2"/>
            <a:stretch>
              <a:fillRect/>
            </a:stretch>
          </a:blipFill>
        </p:spPr>
        <p:txBody>
          <a:bodyPr/>
          <a:lstStyle/>
          <a:p>
            <a:endParaRPr lang="en-GB"/>
          </a:p>
        </p:txBody>
      </p:sp>
      <p:grpSp>
        <p:nvGrpSpPr>
          <p:cNvPr id="3" name="Group 3"/>
          <p:cNvGrpSpPr/>
          <p:nvPr/>
        </p:nvGrpSpPr>
        <p:grpSpPr>
          <a:xfrm>
            <a:off x="640345" y="1547821"/>
            <a:ext cx="16618955" cy="2036826"/>
            <a:chOff x="0" y="0"/>
            <a:chExt cx="3419538" cy="419100"/>
          </a:xfrm>
        </p:grpSpPr>
        <p:sp>
          <p:nvSpPr>
            <p:cNvPr id="4" name="Freeform 4"/>
            <p:cNvSpPr/>
            <p:nvPr/>
          </p:nvSpPr>
          <p:spPr>
            <a:xfrm>
              <a:off x="0" y="0"/>
              <a:ext cx="3419538" cy="419100"/>
            </a:xfrm>
            <a:custGeom>
              <a:avLst/>
              <a:gdLst/>
              <a:ahLst/>
              <a:cxnLst/>
              <a:rect l="l" t="t" r="r" b="b"/>
              <a:pathLst>
                <a:path w="3419538" h="419100">
                  <a:moveTo>
                    <a:pt x="9099" y="0"/>
                  </a:moveTo>
                  <a:lnTo>
                    <a:pt x="3410440" y="0"/>
                  </a:lnTo>
                  <a:cubicBezTo>
                    <a:pt x="3412853" y="0"/>
                    <a:pt x="3415167" y="959"/>
                    <a:pt x="3416873" y="2665"/>
                  </a:cubicBezTo>
                  <a:cubicBezTo>
                    <a:pt x="3418580" y="4371"/>
                    <a:pt x="3419538" y="6686"/>
                    <a:pt x="3419538" y="9099"/>
                  </a:cubicBezTo>
                  <a:lnTo>
                    <a:pt x="3419538" y="410001"/>
                  </a:lnTo>
                  <a:cubicBezTo>
                    <a:pt x="3419538" y="412415"/>
                    <a:pt x="3418580" y="414729"/>
                    <a:pt x="3416873" y="416435"/>
                  </a:cubicBezTo>
                  <a:cubicBezTo>
                    <a:pt x="3415167" y="418141"/>
                    <a:pt x="3412853" y="419100"/>
                    <a:pt x="3410440" y="419100"/>
                  </a:cubicBezTo>
                  <a:lnTo>
                    <a:pt x="9099" y="419100"/>
                  </a:lnTo>
                  <a:cubicBezTo>
                    <a:pt x="6686" y="419100"/>
                    <a:pt x="4371" y="418141"/>
                    <a:pt x="2665" y="416435"/>
                  </a:cubicBezTo>
                  <a:cubicBezTo>
                    <a:pt x="959" y="414729"/>
                    <a:pt x="0" y="412415"/>
                    <a:pt x="0" y="410001"/>
                  </a:cubicBezTo>
                  <a:lnTo>
                    <a:pt x="0" y="9099"/>
                  </a:lnTo>
                  <a:cubicBezTo>
                    <a:pt x="0" y="6686"/>
                    <a:pt x="959" y="4371"/>
                    <a:pt x="2665" y="2665"/>
                  </a:cubicBezTo>
                  <a:cubicBezTo>
                    <a:pt x="4371" y="959"/>
                    <a:pt x="6686" y="0"/>
                    <a:pt x="9099" y="0"/>
                  </a:cubicBezTo>
                  <a:close/>
                </a:path>
              </a:pathLst>
            </a:custGeom>
            <a:solidFill>
              <a:srgbClr val="000000">
                <a:alpha val="70980"/>
              </a:srgbClr>
            </a:solidFill>
          </p:spPr>
          <p:txBody>
            <a:bodyPr/>
            <a:lstStyle/>
            <a:p>
              <a:endParaRPr lang="en-GB"/>
            </a:p>
          </p:txBody>
        </p:sp>
        <p:sp>
          <p:nvSpPr>
            <p:cNvPr id="5" name="TextBox 5"/>
            <p:cNvSpPr txBox="1"/>
            <p:nvPr/>
          </p:nvSpPr>
          <p:spPr>
            <a:xfrm>
              <a:off x="0" y="-38100"/>
              <a:ext cx="3419538" cy="457200"/>
            </a:xfrm>
            <a:prstGeom prst="rect">
              <a:avLst/>
            </a:prstGeom>
          </p:spPr>
          <p:txBody>
            <a:bodyPr lIns="50800" tIns="50800" rIns="50800" bIns="50800" rtlCol="0" anchor="ctr"/>
            <a:lstStyle/>
            <a:p>
              <a:pPr algn="ctr">
                <a:lnSpc>
                  <a:spcPts val="2659"/>
                </a:lnSpc>
                <a:spcBef>
                  <a:spcPct val="0"/>
                </a:spcBef>
              </a:pPr>
              <a:endParaRPr/>
            </a:p>
          </p:txBody>
        </p:sp>
      </p:grpSp>
      <p:sp>
        <p:nvSpPr>
          <p:cNvPr id="6" name="TextBox 6"/>
          <p:cNvSpPr txBox="1"/>
          <p:nvPr/>
        </p:nvSpPr>
        <p:spPr>
          <a:xfrm>
            <a:off x="1028700" y="380864"/>
            <a:ext cx="14899310" cy="885825"/>
          </a:xfrm>
          <a:prstGeom prst="rect">
            <a:avLst/>
          </a:prstGeom>
        </p:spPr>
        <p:txBody>
          <a:bodyPr lIns="0" tIns="0" rIns="0" bIns="0" rtlCol="0" anchor="t">
            <a:spAutoFit/>
          </a:bodyPr>
          <a:lstStyle/>
          <a:p>
            <a:pPr marL="0" lvl="0" indent="0" algn="l">
              <a:lnSpc>
                <a:spcPts val="6960"/>
              </a:lnSpc>
              <a:spcBef>
                <a:spcPct val="0"/>
              </a:spcBef>
            </a:pPr>
            <a:r>
              <a:rPr lang="en-US" sz="5800" b="1">
                <a:solidFill>
                  <a:srgbClr val="3D2812"/>
                </a:solidFill>
                <a:latin typeface="Open Sans Bold"/>
                <a:ea typeface="Open Sans Bold"/>
                <a:cs typeface="Open Sans Bold"/>
                <a:sym typeface="Open Sans Bold"/>
              </a:rPr>
              <a:t>Research gap &amp; Objectives</a:t>
            </a:r>
          </a:p>
        </p:txBody>
      </p:sp>
      <p:sp>
        <p:nvSpPr>
          <p:cNvPr id="7" name="TextBox 7"/>
          <p:cNvSpPr txBox="1"/>
          <p:nvPr/>
        </p:nvSpPr>
        <p:spPr>
          <a:xfrm>
            <a:off x="17646117" y="9676843"/>
            <a:ext cx="152400" cy="219075"/>
          </a:xfrm>
          <a:prstGeom prst="rect">
            <a:avLst/>
          </a:prstGeom>
        </p:spPr>
        <p:txBody>
          <a:bodyPr wrap="none" lIns="0" tIns="0" rIns="0" bIns="0" rtlCol="0" anchor="t">
            <a:spAutoFit/>
          </a:bodyPr>
          <a:lstStyle/>
          <a:p>
            <a:pPr algn="ctr">
              <a:lnSpc>
                <a:spcPts val="4405"/>
              </a:lnSpc>
              <a:spcBef>
                <a:spcPct val="0"/>
              </a:spcBef>
            </a:pPr>
            <a:r>
              <a:rPr lang="en-US" sz="3146">
                <a:solidFill>
                  <a:srgbClr val="1A1A1A"/>
                </a:solidFill>
                <a:latin typeface="Canva Sans"/>
                <a:ea typeface="Canva Sans"/>
                <a:cs typeface="Canva Sans"/>
                <a:sym typeface="Canva Sans"/>
              </a:rPr>
              <a:t>6</a:t>
            </a:r>
          </a:p>
        </p:txBody>
      </p:sp>
      <p:sp>
        <p:nvSpPr>
          <p:cNvPr id="8" name="TextBox 8"/>
          <p:cNvSpPr txBox="1"/>
          <p:nvPr/>
        </p:nvSpPr>
        <p:spPr>
          <a:xfrm>
            <a:off x="857325" y="1953742"/>
            <a:ext cx="16230600" cy="1134351"/>
          </a:xfrm>
          <a:prstGeom prst="rect">
            <a:avLst/>
          </a:prstGeom>
        </p:spPr>
        <p:txBody>
          <a:bodyPr lIns="0" tIns="0" rIns="0" bIns="0" rtlCol="0" anchor="t">
            <a:spAutoFit/>
          </a:bodyPr>
          <a:lstStyle/>
          <a:p>
            <a:pPr algn="l">
              <a:lnSpc>
                <a:spcPts val="4593"/>
              </a:lnSpc>
            </a:pPr>
            <a:r>
              <a:rPr lang="en-US" sz="3146" b="1" spc="-9">
                <a:solidFill>
                  <a:srgbClr val="FF3131"/>
                </a:solidFill>
                <a:latin typeface="Canva Sans Bold"/>
                <a:ea typeface="Canva Sans Bold"/>
                <a:cs typeface="Canva Sans Bold"/>
                <a:sym typeface="Canva Sans Bold"/>
              </a:rPr>
              <a:t>Gap </a:t>
            </a:r>
            <a:r>
              <a:rPr lang="en-US" sz="3146" b="1" spc="-9">
                <a:solidFill>
                  <a:srgbClr val="FFFFFF"/>
                </a:solidFill>
                <a:latin typeface="Canva Sans Bold"/>
                <a:ea typeface="Canva Sans Bold"/>
                <a:cs typeface="Canva Sans Bold"/>
                <a:sym typeface="Canva Sans Bold"/>
              </a:rPr>
              <a:t>: Most traffic signal systems focus on single-intersection vehicle flow and rely on static or centralized control, which limits real-time adaptability and scalability.</a:t>
            </a:r>
          </a:p>
        </p:txBody>
      </p:sp>
      <p:grpSp>
        <p:nvGrpSpPr>
          <p:cNvPr id="9" name="Group 9"/>
          <p:cNvGrpSpPr/>
          <p:nvPr/>
        </p:nvGrpSpPr>
        <p:grpSpPr>
          <a:xfrm>
            <a:off x="640345" y="3851347"/>
            <a:ext cx="16618955" cy="2389251"/>
            <a:chOff x="0" y="0"/>
            <a:chExt cx="3419538" cy="491615"/>
          </a:xfrm>
        </p:grpSpPr>
        <p:sp>
          <p:nvSpPr>
            <p:cNvPr id="10" name="Freeform 10"/>
            <p:cNvSpPr/>
            <p:nvPr/>
          </p:nvSpPr>
          <p:spPr>
            <a:xfrm>
              <a:off x="0" y="0"/>
              <a:ext cx="3419538" cy="491615"/>
            </a:xfrm>
            <a:custGeom>
              <a:avLst/>
              <a:gdLst/>
              <a:ahLst/>
              <a:cxnLst/>
              <a:rect l="l" t="t" r="r" b="b"/>
              <a:pathLst>
                <a:path w="3419538" h="491615">
                  <a:moveTo>
                    <a:pt x="9099" y="0"/>
                  </a:moveTo>
                  <a:lnTo>
                    <a:pt x="3410440" y="0"/>
                  </a:lnTo>
                  <a:cubicBezTo>
                    <a:pt x="3412853" y="0"/>
                    <a:pt x="3415167" y="959"/>
                    <a:pt x="3416873" y="2665"/>
                  </a:cubicBezTo>
                  <a:cubicBezTo>
                    <a:pt x="3418580" y="4371"/>
                    <a:pt x="3419538" y="6686"/>
                    <a:pt x="3419538" y="9099"/>
                  </a:cubicBezTo>
                  <a:lnTo>
                    <a:pt x="3419538" y="482517"/>
                  </a:lnTo>
                  <a:cubicBezTo>
                    <a:pt x="3419538" y="484930"/>
                    <a:pt x="3418580" y="487244"/>
                    <a:pt x="3416873" y="488951"/>
                  </a:cubicBezTo>
                  <a:cubicBezTo>
                    <a:pt x="3415167" y="490657"/>
                    <a:pt x="3412853" y="491615"/>
                    <a:pt x="3410440" y="491615"/>
                  </a:cubicBezTo>
                  <a:lnTo>
                    <a:pt x="9099" y="491615"/>
                  </a:lnTo>
                  <a:cubicBezTo>
                    <a:pt x="6686" y="491615"/>
                    <a:pt x="4371" y="490657"/>
                    <a:pt x="2665" y="488951"/>
                  </a:cubicBezTo>
                  <a:cubicBezTo>
                    <a:pt x="959" y="487244"/>
                    <a:pt x="0" y="484930"/>
                    <a:pt x="0" y="482517"/>
                  </a:cubicBezTo>
                  <a:lnTo>
                    <a:pt x="0" y="9099"/>
                  </a:lnTo>
                  <a:cubicBezTo>
                    <a:pt x="0" y="6686"/>
                    <a:pt x="959" y="4371"/>
                    <a:pt x="2665" y="2665"/>
                  </a:cubicBezTo>
                  <a:cubicBezTo>
                    <a:pt x="4371" y="959"/>
                    <a:pt x="6686" y="0"/>
                    <a:pt x="9099" y="0"/>
                  </a:cubicBezTo>
                  <a:close/>
                </a:path>
              </a:pathLst>
            </a:custGeom>
            <a:solidFill>
              <a:srgbClr val="000000">
                <a:alpha val="70980"/>
              </a:srgbClr>
            </a:solidFill>
          </p:spPr>
          <p:txBody>
            <a:bodyPr/>
            <a:lstStyle/>
            <a:p>
              <a:endParaRPr lang="en-GB"/>
            </a:p>
          </p:txBody>
        </p:sp>
        <p:sp>
          <p:nvSpPr>
            <p:cNvPr id="11" name="TextBox 11"/>
            <p:cNvSpPr txBox="1"/>
            <p:nvPr/>
          </p:nvSpPr>
          <p:spPr>
            <a:xfrm>
              <a:off x="0" y="-38100"/>
              <a:ext cx="3419538" cy="529715"/>
            </a:xfrm>
            <a:prstGeom prst="rect">
              <a:avLst/>
            </a:prstGeom>
          </p:spPr>
          <p:txBody>
            <a:bodyPr lIns="50800" tIns="50800" rIns="50800" bIns="50800" rtlCol="0" anchor="ctr"/>
            <a:lstStyle/>
            <a:p>
              <a:pPr algn="ctr">
                <a:lnSpc>
                  <a:spcPts val="2659"/>
                </a:lnSpc>
                <a:spcBef>
                  <a:spcPct val="0"/>
                </a:spcBef>
              </a:pPr>
              <a:endParaRPr/>
            </a:p>
          </p:txBody>
        </p:sp>
      </p:grpSp>
      <p:sp>
        <p:nvSpPr>
          <p:cNvPr id="12" name="TextBox 12"/>
          <p:cNvSpPr txBox="1"/>
          <p:nvPr/>
        </p:nvSpPr>
        <p:spPr>
          <a:xfrm>
            <a:off x="857325" y="4150184"/>
            <a:ext cx="15242059" cy="1715376"/>
          </a:xfrm>
          <a:prstGeom prst="rect">
            <a:avLst/>
          </a:prstGeom>
        </p:spPr>
        <p:txBody>
          <a:bodyPr lIns="0" tIns="0" rIns="0" bIns="0" rtlCol="0" anchor="t">
            <a:spAutoFit/>
          </a:bodyPr>
          <a:lstStyle/>
          <a:p>
            <a:pPr algn="l">
              <a:lnSpc>
                <a:spcPts val="4593"/>
              </a:lnSpc>
            </a:pPr>
            <a:r>
              <a:rPr lang="en-US" sz="3146" b="1" spc="-9">
                <a:solidFill>
                  <a:srgbClr val="FFDE59"/>
                </a:solidFill>
                <a:latin typeface="Canva Sans Bold"/>
                <a:ea typeface="Canva Sans Bold"/>
                <a:cs typeface="Canva Sans Bold"/>
                <a:sym typeface="Canva Sans Bold"/>
              </a:rPr>
              <a:t>Gap </a:t>
            </a:r>
            <a:r>
              <a:rPr lang="en-US" sz="3146" b="1" spc="-9">
                <a:solidFill>
                  <a:srgbClr val="FFFFFF"/>
                </a:solidFill>
                <a:latin typeface="Canva Sans Bold"/>
                <a:ea typeface="Canva Sans Bold"/>
                <a:cs typeface="Canva Sans Bold"/>
                <a:sym typeface="Canva Sans Bold"/>
              </a:rPr>
              <a:t>: They also lack multi-modal emergency vehicle detection, intersection coordination, and adaptive pedestrian support needed for smarter citywide traffic management.</a:t>
            </a:r>
          </a:p>
        </p:txBody>
      </p:sp>
      <p:grpSp>
        <p:nvGrpSpPr>
          <p:cNvPr id="13" name="Group 13"/>
          <p:cNvGrpSpPr/>
          <p:nvPr/>
        </p:nvGrpSpPr>
        <p:grpSpPr>
          <a:xfrm>
            <a:off x="640345" y="6507298"/>
            <a:ext cx="16618955" cy="2334063"/>
            <a:chOff x="0" y="0"/>
            <a:chExt cx="3419538" cy="480260"/>
          </a:xfrm>
        </p:grpSpPr>
        <p:sp>
          <p:nvSpPr>
            <p:cNvPr id="14" name="Freeform 14"/>
            <p:cNvSpPr/>
            <p:nvPr/>
          </p:nvSpPr>
          <p:spPr>
            <a:xfrm>
              <a:off x="0" y="0"/>
              <a:ext cx="3419538" cy="480260"/>
            </a:xfrm>
            <a:custGeom>
              <a:avLst/>
              <a:gdLst/>
              <a:ahLst/>
              <a:cxnLst/>
              <a:rect l="l" t="t" r="r" b="b"/>
              <a:pathLst>
                <a:path w="3419538" h="480260">
                  <a:moveTo>
                    <a:pt x="9099" y="0"/>
                  </a:moveTo>
                  <a:lnTo>
                    <a:pt x="3410440" y="0"/>
                  </a:lnTo>
                  <a:cubicBezTo>
                    <a:pt x="3412853" y="0"/>
                    <a:pt x="3415167" y="959"/>
                    <a:pt x="3416873" y="2665"/>
                  </a:cubicBezTo>
                  <a:cubicBezTo>
                    <a:pt x="3418580" y="4371"/>
                    <a:pt x="3419538" y="6686"/>
                    <a:pt x="3419538" y="9099"/>
                  </a:cubicBezTo>
                  <a:lnTo>
                    <a:pt x="3419538" y="471161"/>
                  </a:lnTo>
                  <a:cubicBezTo>
                    <a:pt x="3419538" y="473574"/>
                    <a:pt x="3418580" y="475889"/>
                    <a:pt x="3416873" y="477595"/>
                  </a:cubicBezTo>
                  <a:cubicBezTo>
                    <a:pt x="3415167" y="479301"/>
                    <a:pt x="3412853" y="480260"/>
                    <a:pt x="3410440" y="480260"/>
                  </a:cubicBezTo>
                  <a:lnTo>
                    <a:pt x="9099" y="480260"/>
                  </a:lnTo>
                  <a:cubicBezTo>
                    <a:pt x="6686" y="480260"/>
                    <a:pt x="4371" y="479301"/>
                    <a:pt x="2665" y="477595"/>
                  </a:cubicBezTo>
                  <a:cubicBezTo>
                    <a:pt x="959" y="475889"/>
                    <a:pt x="0" y="473574"/>
                    <a:pt x="0" y="471161"/>
                  </a:cubicBezTo>
                  <a:lnTo>
                    <a:pt x="0" y="9099"/>
                  </a:lnTo>
                  <a:cubicBezTo>
                    <a:pt x="0" y="6686"/>
                    <a:pt x="959" y="4371"/>
                    <a:pt x="2665" y="2665"/>
                  </a:cubicBezTo>
                  <a:cubicBezTo>
                    <a:pt x="4371" y="959"/>
                    <a:pt x="6686" y="0"/>
                    <a:pt x="9099" y="0"/>
                  </a:cubicBezTo>
                  <a:close/>
                </a:path>
              </a:pathLst>
            </a:custGeom>
            <a:solidFill>
              <a:srgbClr val="000000">
                <a:alpha val="70980"/>
              </a:srgbClr>
            </a:solidFill>
          </p:spPr>
          <p:txBody>
            <a:bodyPr/>
            <a:lstStyle/>
            <a:p>
              <a:endParaRPr lang="en-GB"/>
            </a:p>
          </p:txBody>
        </p:sp>
        <p:sp>
          <p:nvSpPr>
            <p:cNvPr id="15" name="TextBox 15"/>
            <p:cNvSpPr txBox="1"/>
            <p:nvPr/>
          </p:nvSpPr>
          <p:spPr>
            <a:xfrm>
              <a:off x="0" y="-38100"/>
              <a:ext cx="3419538" cy="518360"/>
            </a:xfrm>
            <a:prstGeom prst="rect">
              <a:avLst/>
            </a:prstGeom>
          </p:spPr>
          <p:txBody>
            <a:bodyPr lIns="50800" tIns="50800" rIns="50800" bIns="50800" rtlCol="0" anchor="ctr"/>
            <a:lstStyle/>
            <a:p>
              <a:pPr algn="ctr">
                <a:lnSpc>
                  <a:spcPts val="2659"/>
                </a:lnSpc>
                <a:spcBef>
                  <a:spcPct val="0"/>
                </a:spcBef>
              </a:pPr>
              <a:endParaRPr/>
            </a:p>
          </p:txBody>
        </p:sp>
      </p:grpSp>
      <p:sp>
        <p:nvSpPr>
          <p:cNvPr id="16" name="TextBox 16"/>
          <p:cNvSpPr txBox="1"/>
          <p:nvPr/>
        </p:nvSpPr>
        <p:spPr>
          <a:xfrm>
            <a:off x="857325" y="6783523"/>
            <a:ext cx="16985940" cy="4039476"/>
          </a:xfrm>
          <a:prstGeom prst="rect">
            <a:avLst/>
          </a:prstGeom>
        </p:spPr>
        <p:txBody>
          <a:bodyPr lIns="0" tIns="0" rIns="0" bIns="0" rtlCol="0" anchor="t">
            <a:spAutoFit/>
          </a:bodyPr>
          <a:lstStyle/>
          <a:p>
            <a:pPr algn="l">
              <a:lnSpc>
                <a:spcPts val="4593"/>
              </a:lnSpc>
            </a:pPr>
            <a:r>
              <a:rPr lang="en-US" sz="3146" b="1" spc="-9">
                <a:solidFill>
                  <a:srgbClr val="00BF63"/>
                </a:solidFill>
                <a:latin typeface="Canva Sans Bold"/>
                <a:ea typeface="Canva Sans Bold"/>
                <a:cs typeface="Canva Sans Bold"/>
                <a:sym typeface="Canva Sans Bold"/>
              </a:rPr>
              <a:t>Main Objective </a:t>
            </a:r>
            <a:r>
              <a:rPr lang="en-US" sz="3146" b="1" spc="-9">
                <a:solidFill>
                  <a:srgbClr val="FFFFFF"/>
                </a:solidFill>
                <a:latin typeface="Canva Sans Bold"/>
                <a:ea typeface="Canva Sans Bold"/>
                <a:cs typeface="Canva Sans Bold"/>
                <a:sym typeface="Canva Sans Bold"/>
              </a:rPr>
              <a:t>: To develop an intelligent decentralized traffic signal control system using Multi-Agent Reinforcement Learning (MARL) that optimizes traffic flow in real time while prioritizing emergency vehicles and improving pedestrian safety.</a:t>
            </a:r>
          </a:p>
          <a:p>
            <a:pPr algn="l">
              <a:lnSpc>
                <a:spcPts val="4593"/>
              </a:lnSpc>
            </a:pPr>
            <a:endParaRPr lang="en-US" sz="3146" b="1" spc="-9">
              <a:solidFill>
                <a:srgbClr val="FFFFFF"/>
              </a:solidFill>
              <a:latin typeface="Canva Sans Bold"/>
              <a:ea typeface="Canva Sans Bold"/>
              <a:cs typeface="Canva Sans Bold"/>
              <a:sym typeface="Canva Sans Bold"/>
            </a:endParaRPr>
          </a:p>
          <a:p>
            <a:pPr algn="l">
              <a:lnSpc>
                <a:spcPts val="4593"/>
              </a:lnSpc>
            </a:pPr>
            <a:endParaRPr lang="en-US" sz="3146" b="1" spc="-9">
              <a:solidFill>
                <a:srgbClr val="FFFFFF"/>
              </a:solidFill>
              <a:latin typeface="Canva Sans Bold"/>
              <a:ea typeface="Canva Sans Bold"/>
              <a:cs typeface="Canva Sans Bold"/>
              <a:sym typeface="Canva Sans Bold"/>
            </a:endParaRPr>
          </a:p>
          <a:p>
            <a:pPr algn="l">
              <a:lnSpc>
                <a:spcPts val="4593"/>
              </a:lnSpc>
            </a:pPr>
            <a:endParaRPr lang="en-US" sz="3146" b="1" spc="-9">
              <a:solidFill>
                <a:srgbClr val="FFFFFF"/>
              </a:solidFill>
              <a:latin typeface="Canva Sans Bold"/>
              <a:ea typeface="Canva Sans Bold"/>
              <a:cs typeface="Canva Sans Bold"/>
              <a:sym typeface="Canva Sans Bold"/>
            </a:endParaRPr>
          </a:p>
          <a:p>
            <a:pPr algn="l">
              <a:lnSpc>
                <a:spcPts val="4593"/>
              </a:lnSpc>
            </a:pPr>
            <a:endParaRPr lang="en-US" sz="3146" b="1" spc="-9">
              <a:solidFill>
                <a:srgbClr val="FFFFFF"/>
              </a:solidFill>
              <a:latin typeface="Canva Sans Bold"/>
              <a:ea typeface="Canva Sans Bold"/>
              <a:cs typeface="Canva Sans Bold"/>
              <a:sym typeface="Canva Sans Bold"/>
            </a:endParaRP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a:off x="781565" y="1576357"/>
            <a:ext cx="771999" cy="771999"/>
            <a:chOff x="0" y="0"/>
            <a:chExt cx="6350000" cy="6350000"/>
          </a:xfrm>
        </p:grpSpPr>
        <p:sp>
          <p:nvSpPr>
            <p:cNvPr id="3" name="Freeform 3"/>
            <p:cNvSpPr/>
            <p:nvPr/>
          </p:nvSpPr>
          <p:spPr>
            <a:xfrm>
              <a:off x="0" y="0"/>
              <a:ext cx="6350000" cy="6350000"/>
            </a:xfrm>
            <a:custGeom>
              <a:avLst/>
              <a:gdLst/>
              <a:ahLst/>
              <a:cxnLst/>
              <a:rect l="l" t="t" r="r" b="b"/>
              <a:pathLst>
                <a:path w="6350000" h="6350000">
                  <a:moveTo>
                    <a:pt x="3175000" y="0"/>
                  </a:moveTo>
                  <a:cubicBezTo>
                    <a:pt x="1421496" y="0"/>
                    <a:pt x="0" y="1421496"/>
                    <a:pt x="0" y="3175000"/>
                  </a:cubicBezTo>
                  <a:cubicBezTo>
                    <a:pt x="0" y="4928504"/>
                    <a:pt x="1421496" y="6350000"/>
                    <a:pt x="3175000" y="6350000"/>
                  </a:cubicBezTo>
                  <a:cubicBezTo>
                    <a:pt x="4928504" y="6350000"/>
                    <a:pt x="6350000" y="4928504"/>
                    <a:pt x="6350000" y="3175000"/>
                  </a:cubicBezTo>
                  <a:cubicBezTo>
                    <a:pt x="6350000" y="1421496"/>
                    <a:pt x="4928504" y="0"/>
                    <a:pt x="3175000" y="0"/>
                  </a:cubicBezTo>
                  <a:close/>
                </a:path>
              </a:pathLst>
            </a:custGeom>
            <a:solidFill>
              <a:srgbClr val="FEF2D4"/>
            </a:solidFill>
          </p:spPr>
          <p:txBody>
            <a:bodyPr/>
            <a:lstStyle/>
            <a:p>
              <a:endParaRPr lang="en-GB"/>
            </a:p>
          </p:txBody>
        </p:sp>
      </p:grpSp>
      <p:grpSp>
        <p:nvGrpSpPr>
          <p:cNvPr id="4" name="Group 4"/>
          <p:cNvGrpSpPr/>
          <p:nvPr/>
        </p:nvGrpSpPr>
        <p:grpSpPr>
          <a:xfrm>
            <a:off x="781565" y="3783598"/>
            <a:ext cx="771999" cy="771999"/>
            <a:chOff x="0" y="0"/>
            <a:chExt cx="6350000" cy="6350000"/>
          </a:xfrm>
        </p:grpSpPr>
        <p:sp>
          <p:nvSpPr>
            <p:cNvPr id="5" name="Freeform 5"/>
            <p:cNvSpPr/>
            <p:nvPr/>
          </p:nvSpPr>
          <p:spPr>
            <a:xfrm>
              <a:off x="0" y="0"/>
              <a:ext cx="6350000" cy="6350000"/>
            </a:xfrm>
            <a:custGeom>
              <a:avLst/>
              <a:gdLst/>
              <a:ahLst/>
              <a:cxnLst/>
              <a:rect l="l" t="t" r="r" b="b"/>
              <a:pathLst>
                <a:path w="6350000" h="6350000">
                  <a:moveTo>
                    <a:pt x="3175000" y="0"/>
                  </a:moveTo>
                  <a:cubicBezTo>
                    <a:pt x="1421496" y="0"/>
                    <a:pt x="0" y="1421496"/>
                    <a:pt x="0" y="3175000"/>
                  </a:cubicBezTo>
                  <a:cubicBezTo>
                    <a:pt x="0" y="4928504"/>
                    <a:pt x="1421496" y="6350000"/>
                    <a:pt x="3175000" y="6350000"/>
                  </a:cubicBezTo>
                  <a:cubicBezTo>
                    <a:pt x="4928504" y="6350000"/>
                    <a:pt x="6350000" y="4928504"/>
                    <a:pt x="6350000" y="3175000"/>
                  </a:cubicBezTo>
                  <a:cubicBezTo>
                    <a:pt x="6350000" y="1421496"/>
                    <a:pt x="4928504" y="0"/>
                    <a:pt x="3175000" y="0"/>
                  </a:cubicBezTo>
                  <a:close/>
                </a:path>
              </a:pathLst>
            </a:custGeom>
            <a:solidFill>
              <a:srgbClr val="FEF2D4"/>
            </a:solidFill>
          </p:spPr>
          <p:txBody>
            <a:bodyPr/>
            <a:lstStyle/>
            <a:p>
              <a:endParaRPr lang="en-GB"/>
            </a:p>
          </p:txBody>
        </p:sp>
      </p:grpSp>
      <p:grpSp>
        <p:nvGrpSpPr>
          <p:cNvPr id="6" name="Group 6"/>
          <p:cNvGrpSpPr/>
          <p:nvPr/>
        </p:nvGrpSpPr>
        <p:grpSpPr>
          <a:xfrm>
            <a:off x="894959" y="7694629"/>
            <a:ext cx="771999" cy="771999"/>
            <a:chOff x="0" y="0"/>
            <a:chExt cx="6350000" cy="6350000"/>
          </a:xfrm>
        </p:grpSpPr>
        <p:sp>
          <p:nvSpPr>
            <p:cNvPr id="7" name="Freeform 7"/>
            <p:cNvSpPr/>
            <p:nvPr/>
          </p:nvSpPr>
          <p:spPr>
            <a:xfrm>
              <a:off x="0" y="0"/>
              <a:ext cx="6350000" cy="6350000"/>
            </a:xfrm>
            <a:custGeom>
              <a:avLst/>
              <a:gdLst/>
              <a:ahLst/>
              <a:cxnLst/>
              <a:rect l="l" t="t" r="r" b="b"/>
              <a:pathLst>
                <a:path w="6350000" h="6350000">
                  <a:moveTo>
                    <a:pt x="3175000" y="0"/>
                  </a:moveTo>
                  <a:cubicBezTo>
                    <a:pt x="1421496" y="0"/>
                    <a:pt x="0" y="1421496"/>
                    <a:pt x="0" y="3175000"/>
                  </a:cubicBezTo>
                  <a:cubicBezTo>
                    <a:pt x="0" y="4928504"/>
                    <a:pt x="1421496" y="6350000"/>
                    <a:pt x="3175000" y="6350000"/>
                  </a:cubicBezTo>
                  <a:cubicBezTo>
                    <a:pt x="4928504" y="6350000"/>
                    <a:pt x="6350000" y="4928504"/>
                    <a:pt x="6350000" y="3175000"/>
                  </a:cubicBezTo>
                  <a:cubicBezTo>
                    <a:pt x="6350000" y="1421496"/>
                    <a:pt x="4928504" y="0"/>
                    <a:pt x="3175000" y="0"/>
                  </a:cubicBezTo>
                  <a:close/>
                </a:path>
              </a:pathLst>
            </a:custGeom>
            <a:solidFill>
              <a:srgbClr val="FEF2D4"/>
            </a:solidFill>
          </p:spPr>
          <p:txBody>
            <a:bodyPr/>
            <a:lstStyle/>
            <a:p>
              <a:endParaRPr lang="en-GB"/>
            </a:p>
          </p:txBody>
        </p:sp>
      </p:grpSp>
      <p:sp>
        <p:nvSpPr>
          <p:cNvPr id="8" name="Freeform 8"/>
          <p:cNvSpPr/>
          <p:nvPr/>
        </p:nvSpPr>
        <p:spPr>
          <a:xfrm>
            <a:off x="0" y="9078426"/>
            <a:ext cx="5109349" cy="1208574"/>
          </a:xfrm>
          <a:custGeom>
            <a:avLst/>
            <a:gdLst/>
            <a:ahLst/>
            <a:cxnLst/>
            <a:rect l="l" t="t" r="r" b="b"/>
            <a:pathLst>
              <a:path w="5109349" h="1208574">
                <a:moveTo>
                  <a:pt x="0" y="0"/>
                </a:moveTo>
                <a:lnTo>
                  <a:pt x="5109349" y="0"/>
                </a:lnTo>
                <a:lnTo>
                  <a:pt x="5109349" y="1208574"/>
                </a:lnTo>
                <a:lnTo>
                  <a:pt x="0" y="1208574"/>
                </a:lnTo>
                <a:lnTo>
                  <a:pt x="0" y="0"/>
                </a:lnTo>
                <a:close/>
              </a:path>
            </a:pathLst>
          </a:custGeom>
          <a:blipFill>
            <a:blip r:embed="rId2"/>
            <a:stretch>
              <a:fillRect/>
            </a:stretch>
          </a:blipFill>
        </p:spPr>
        <p:txBody>
          <a:bodyPr/>
          <a:lstStyle/>
          <a:p>
            <a:endParaRPr lang="en-GB"/>
          </a:p>
        </p:txBody>
      </p:sp>
      <p:sp>
        <p:nvSpPr>
          <p:cNvPr id="9" name="TextBox 9"/>
          <p:cNvSpPr txBox="1"/>
          <p:nvPr/>
        </p:nvSpPr>
        <p:spPr>
          <a:xfrm>
            <a:off x="2197382" y="1466531"/>
            <a:ext cx="14814783" cy="1735074"/>
          </a:xfrm>
          <a:prstGeom prst="rect">
            <a:avLst/>
          </a:prstGeom>
        </p:spPr>
        <p:txBody>
          <a:bodyPr lIns="0" tIns="0" rIns="0" bIns="0" rtlCol="0" anchor="t">
            <a:spAutoFit/>
          </a:bodyPr>
          <a:lstStyle/>
          <a:p>
            <a:pPr algn="l">
              <a:lnSpc>
                <a:spcPts val="4608"/>
              </a:lnSpc>
            </a:pPr>
            <a:r>
              <a:rPr lang="en-US" sz="3600">
                <a:solidFill>
                  <a:srgbClr val="3D2812"/>
                </a:solidFill>
                <a:latin typeface="Open Sans"/>
                <a:ea typeface="Open Sans"/>
                <a:cs typeface="Open Sans"/>
                <a:sym typeface="Open Sans"/>
              </a:rPr>
              <a:t>An intelligent smart traffic management system using Multi-Agent Reinforcement Learning and real-time emergency vehicle detection to dynamically optimize traffic signals and improve urban traffic flow.</a:t>
            </a:r>
          </a:p>
        </p:txBody>
      </p:sp>
      <p:sp>
        <p:nvSpPr>
          <p:cNvPr id="10" name="TextBox 10"/>
          <p:cNvSpPr txBox="1"/>
          <p:nvPr/>
        </p:nvSpPr>
        <p:spPr>
          <a:xfrm>
            <a:off x="894959" y="1565925"/>
            <a:ext cx="545211" cy="669036"/>
          </a:xfrm>
          <a:prstGeom prst="rect">
            <a:avLst/>
          </a:prstGeom>
        </p:spPr>
        <p:txBody>
          <a:bodyPr lIns="0" tIns="0" rIns="0" bIns="0" rtlCol="0" anchor="t">
            <a:spAutoFit/>
          </a:bodyPr>
          <a:lstStyle/>
          <a:p>
            <a:pPr algn="ctr">
              <a:lnSpc>
                <a:spcPts val="5652"/>
              </a:lnSpc>
            </a:pPr>
            <a:r>
              <a:rPr lang="en-US" sz="3600" b="1">
                <a:solidFill>
                  <a:srgbClr val="3D2812"/>
                </a:solidFill>
                <a:latin typeface="Open Sans Bold"/>
                <a:ea typeface="Open Sans Bold"/>
                <a:cs typeface="Open Sans Bold"/>
                <a:sym typeface="Open Sans Bold"/>
              </a:rPr>
              <a:t>1</a:t>
            </a:r>
          </a:p>
        </p:txBody>
      </p:sp>
      <p:sp>
        <p:nvSpPr>
          <p:cNvPr id="11" name="TextBox 11"/>
          <p:cNvSpPr txBox="1"/>
          <p:nvPr/>
        </p:nvSpPr>
        <p:spPr>
          <a:xfrm>
            <a:off x="894959" y="3773167"/>
            <a:ext cx="545211" cy="669036"/>
          </a:xfrm>
          <a:prstGeom prst="rect">
            <a:avLst/>
          </a:prstGeom>
        </p:spPr>
        <p:txBody>
          <a:bodyPr lIns="0" tIns="0" rIns="0" bIns="0" rtlCol="0" anchor="t">
            <a:spAutoFit/>
          </a:bodyPr>
          <a:lstStyle/>
          <a:p>
            <a:pPr marL="0" lvl="1" indent="0" algn="ctr">
              <a:lnSpc>
                <a:spcPts val="5652"/>
              </a:lnSpc>
              <a:spcBef>
                <a:spcPct val="0"/>
              </a:spcBef>
            </a:pPr>
            <a:r>
              <a:rPr lang="en-US" sz="3600" b="1" u="none">
                <a:solidFill>
                  <a:srgbClr val="3D2812"/>
                </a:solidFill>
                <a:latin typeface="Open Sans Bold"/>
                <a:ea typeface="Open Sans Bold"/>
                <a:cs typeface="Open Sans Bold"/>
                <a:sym typeface="Open Sans Bold"/>
              </a:rPr>
              <a:t>2</a:t>
            </a:r>
          </a:p>
        </p:txBody>
      </p:sp>
      <p:sp>
        <p:nvSpPr>
          <p:cNvPr id="12" name="TextBox 12"/>
          <p:cNvSpPr txBox="1"/>
          <p:nvPr/>
        </p:nvSpPr>
        <p:spPr>
          <a:xfrm>
            <a:off x="1008353" y="7684198"/>
            <a:ext cx="545211" cy="669036"/>
          </a:xfrm>
          <a:prstGeom prst="rect">
            <a:avLst/>
          </a:prstGeom>
        </p:spPr>
        <p:txBody>
          <a:bodyPr lIns="0" tIns="0" rIns="0" bIns="0" rtlCol="0" anchor="t">
            <a:spAutoFit/>
          </a:bodyPr>
          <a:lstStyle/>
          <a:p>
            <a:pPr marL="0" lvl="1" indent="0" algn="ctr">
              <a:lnSpc>
                <a:spcPts val="5652"/>
              </a:lnSpc>
              <a:spcBef>
                <a:spcPct val="0"/>
              </a:spcBef>
            </a:pPr>
            <a:r>
              <a:rPr lang="en-US" sz="3600" b="1" u="none">
                <a:solidFill>
                  <a:srgbClr val="3D2812"/>
                </a:solidFill>
                <a:latin typeface="Open Sans Bold"/>
                <a:ea typeface="Open Sans Bold"/>
                <a:cs typeface="Open Sans Bold"/>
                <a:sym typeface="Open Sans Bold"/>
              </a:rPr>
              <a:t>3</a:t>
            </a:r>
          </a:p>
        </p:txBody>
      </p:sp>
      <p:sp>
        <p:nvSpPr>
          <p:cNvPr id="13" name="TextBox 13"/>
          <p:cNvSpPr txBox="1"/>
          <p:nvPr/>
        </p:nvSpPr>
        <p:spPr>
          <a:xfrm>
            <a:off x="1028700" y="399914"/>
            <a:ext cx="9179897" cy="885825"/>
          </a:xfrm>
          <a:prstGeom prst="rect">
            <a:avLst/>
          </a:prstGeom>
        </p:spPr>
        <p:txBody>
          <a:bodyPr lIns="0" tIns="0" rIns="0" bIns="0" rtlCol="0" anchor="t">
            <a:spAutoFit/>
          </a:bodyPr>
          <a:lstStyle/>
          <a:p>
            <a:pPr marL="0" lvl="0" indent="0" algn="l">
              <a:lnSpc>
                <a:spcPts val="7080"/>
              </a:lnSpc>
              <a:spcBef>
                <a:spcPct val="0"/>
              </a:spcBef>
            </a:pPr>
            <a:r>
              <a:rPr lang="en-US" sz="5900" b="1">
                <a:solidFill>
                  <a:srgbClr val="3D2812"/>
                </a:solidFill>
                <a:latin typeface="Open Sans Bold"/>
                <a:ea typeface="Open Sans Bold"/>
                <a:cs typeface="Open Sans Bold"/>
                <a:sym typeface="Open Sans Bold"/>
              </a:rPr>
              <a:t>Solution Overview </a:t>
            </a:r>
          </a:p>
        </p:txBody>
      </p:sp>
      <p:sp>
        <p:nvSpPr>
          <p:cNvPr id="14" name="TextBox 14"/>
          <p:cNvSpPr txBox="1"/>
          <p:nvPr/>
        </p:nvSpPr>
        <p:spPr>
          <a:xfrm>
            <a:off x="17646117" y="9676843"/>
            <a:ext cx="152400" cy="219075"/>
          </a:xfrm>
          <a:prstGeom prst="rect">
            <a:avLst/>
          </a:prstGeom>
        </p:spPr>
        <p:txBody>
          <a:bodyPr wrap="none" lIns="0" tIns="0" rIns="0" bIns="0" rtlCol="0" anchor="t">
            <a:spAutoFit/>
          </a:bodyPr>
          <a:lstStyle/>
          <a:p>
            <a:pPr algn="ctr">
              <a:lnSpc>
                <a:spcPts val="4405"/>
              </a:lnSpc>
              <a:spcBef>
                <a:spcPct val="0"/>
              </a:spcBef>
            </a:pPr>
            <a:r>
              <a:rPr lang="en-US" sz="3146">
                <a:solidFill>
                  <a:srgbClr val="1A1A1A"/>
                </a:solidFill>
                <a:latin typeface="Canva Sans"/>
                <a:ea typeface="Canva Sans"/>
                <a:cs typeface="Canva Sans"/>
                <a:sym typeface="Canva Sans"/>
              </a:rPr>
              <a:t>7</a:t>
            </a:r>
          </a:p>
        </p:txBody>
      </p:sp>
      <p:sp>
        <p:nvSpPr>
          <p:cNvPr id="15" name="TextBox 15"/>
          <p:cNvSpPr txBox="1"/>
          <p:nvPr/>
        </p:nvSpPr>
        <p:spPr>
          <a:xfrm>
            <a:off x="2197382" y="3764548"/>
            <a:ext cx="14814783" cy="3425190"/>
          </a:xfrm>
          <a:prstGeom prst="rect">
            <a:avLst/>
          </a:prstGeom>
        </p:spPr>
        <p:txBody>
          <a:bodyPr lIns="0" tIns="0" rIns="0" bIns="0" rtlCol="0" anchor="t">
            <a:spAutoFit/>
          </a:bodyPr>
          <a:lstStyle/>
          <a:p>
            <a:pPr algn="l">
              <a:lnSpc>
                <a:spcPts val="4500"/>
              </a:lnSpc>
            </a:pPr>
            <a:r>
              <a:rPr lang="en-US" sz="3600" b="1">
                <a:solidFill>
                  <a:srgbClr val="3D2812"/>
                </a:solidFill>
                <a:latin typeface="Open Sans Bold"/>
                <a:ea typeface="Open Sans Bold"/>
                <a:cs typeface="Open Sans Bold"/>
                <a:sym typeface="Open Sans Bold"/>
              </a:rPr>
              <a:t>FR1:</a:t>
            </a:r>
            <a:r>
              <a:rPr lang="en-US" sz="3600">
                <a:solidFill>
                  <a:srgbClr val="3D2812"/>
                </a:solidFill>
                <a:latin typeface="Open Sans"/>
                <a:ea typeface="Open Sans"/>
                <a:cs typeface="Open Sans"/>
                <a:sym typeface="Open Sans"/>
              </a:rPr>
              <a:t> Real-time emergency vehicle detection using audio and vision-based detection.</a:t>
            </a:r>
          </a:p>
          <a:p>
            <a:pPr algn="l">
              <a:lnSpc>
                <a:spcPts val="4500"/>
              </a:lnSpc>
            </a:pPr>
            <a:r>
              <a:rPr lang="en-US" sz="3600" b="1">
                <a:solidFill>
                  <a:srgbClr val="3D2812"/>
                </a:solidFill>
                <a:latin typeface="Open Sans Bold"/>
                <a:ea typeface="Open Sans Bold"/>
                <a:cs typeface="Open Sans Bold"/>
                <a:sym typeface="Open Sans Bold"/>
              </a:rPr>
              <a:t>FR2:</a:t>
            </a:r>
            <a:r>
              <a:rPr lang="en-US" sz="3600">
                <a:solidFill>
                  <a:srgbClr val="3D2812"/>
                </a:solidFill>
                <a:latin typeface="Open Sans"/>
                <a:ea typeface="Open Sans"/>
                <a:cs typeface="Open Sans"/>
                <a:sym typeface="Open Sans"/>
              </a:rPr>
              <a:t> Adaptive traffic signal control using Multi-Agent Reinforcement Learning to reduce congestion and waiting time.</a:t>
            </a:r>
          </a:p>
          <a:p>
            <a:pPr algn="l">
              <a:lnSpc>
                <a:spcPts val="4500"/>
              </a:lnSpc>
            </a:pPr>
            <a:r>
              <a:rPr lang="en-US" sz="3600" b="1">
                <a:solidFill>
                  <a:srgbClr val="3D2812"/>
                </a:solidFill>
                <a:latin typeface="Open Sans Bold"/>
                <a:ea typeface="Open Sans Bold"/>
                <a:cs typeface="Open Sans Bold"/>
                <a:sym typeface="Open Sans Bold"/>
              </a:rPr>
              <a:t>FR3:</a:t>
            </a:r>
            <a:r>
              <a:rPr lang="en-US" sz="3600">
                <a:solidFill>
                  <a:srgbClr val="3D2812"/>
                </a:solidFill>
                <a:latin typeface="Open Sans"/>
                <a:ea typeface="Open Sans"/>
                <a:cs typeface="Open Sans"/>
                <a:sym typeface="Open Sans"/>
              </a:rPr>
              <a:t> Smart pedestrian assistance system with adaptive crossing signals.</a:t>
            </a:r>
          </a:p>
        </p:txBody>
      </p:sp>
      <p:sp>
        <p:nvSpPr>
          <p:cNvPr id="16" name="TextBox 16"/>
          <p:cNvSpPr txBox="1"/>
          <p:nvPr/>
        </p:nvSpPr>
        <p:spPr>
          <a:xfrm>
            <a:off x="2197382" y="7675579"/>
            <a:ext cx="16090618" cy="1134618"/>
          </a:xfrm>
          <a:prstGeom prst="rect">
            <a:avLst/>
          </a:prstGeom>
        </p:spPr>
        <p:txBody>
          <a:bodyPr lIns="0" tIns="0" rIns="0" bIns="0" rtlCol="0" anchor="t">
            <a:spAutoFit/>
          </a:bodyPr>
          <a:lstStyle/>
          <a:p>
            <a:pPr algn="l">
              <a:lnSpc>
                <a:spcPts val="4536"/>
              </a:lnSpc>
            </a:pPr>
            <a:r>
              <a:rPr lang="en-US" sz="3600">
                <a:solidFill>
                  <a:srgbClr val="000000"/>
                </a:solidFill>
                <a:latin typeface="Open Sans"/>
                <a:ea typeface="Open Sans"/>
                <a:cs typeface="Open Sans"/>
                <a:sym typeface="Open Sans"/>
              </a:rPr>
              <a:t>System implementation, simulation integration, and dashboard visualization are completed, with the project currently at ~90% completion.</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0" y="9078426"/>
            <a:ext cx="5109349" cy="1208574"/>
          </a:xfrm>
          <a:custGeom>
            <a:avLst/>
            <a:gdLst/>
            <a:ahLst/>
            <a:cxnLst/>
            <a:rect l="l" t="t" r="r" b="b"/>
            <a:pathLst>
              <a:path w="5109349" h="1208574">
                <a:moveTo>
                  <a:pt x="0" y="0"/>
                </a:moveTo>
                <a:lnTo>
                  <a:pt x="5109349" y="0"/>
                </a:lnTo>
                <a:lnTo>
                  <a:pt x="5109349" y="1208574"/>
                </a:lnTo>
                <a:lnTo>
                  <a:pt x="0" y="1208574"/>
                </a:lnTo>
                <a:lnTo>
                  <a:pt x="0" y="0"/>
                </a:lnTo>
                <a:close/>
              </a:path>
            </a:pathLst>
          </a:custGeom>
          <a:blipFill>
            <a:blip r:embed="rId2"/>
            <a:stretch>
              <a:fillRect/>
            </a:stretch>
          </a:blipFill>
        </p:spPr>
        <p:txBody>
          <a:bodyPr/>
          <a:lstStyle/>
          <a:p>
            <a:endParaRPr lang="en-GB"/>
          </a:p>
        </p:txBody>
      </p:sp>
      <p:sp>
        <p:nvSpPr>
          <p:cNvPr id="4" name="TextBox 4"/>
          <p:cNvSpPr txBox="1"/>
          <p:nvPr/>
        </p:nvSpPr>
        <p:spPr>
          <a:xfrm>
            <a:off x="17646117" y="9676843"/>
            <a:ext cx="152400" cy="219075"/>
          </a:xfrm>
          <a:prstGeom prst="rect">
            <a:avLst/>
          </a:prstGeom>
        </p:spPr>
        <p:txBody>
          <a:bodyPr wrap="none" lIns="0" tIns="0" rIns="0" bIns="0" rtlCol="0" anchor="t">
            <a:spAutoFit/>
          </a:bodyPr>
          <a:lstStyle/>
          <a:p>
            <a:pPr algn="ctr">
              <a:lnSpc>
                <a:spcPts val="4405"/>
              </a:lnSpc>
              <a:spcBef>
                <a:spcPct val="0"/>
              </a:spcBef>
            </a:pPr>
            <a:r>
              <a:rPr lang="en-US" sz="3146">
                <a:solidFill>
                  <a:srgbClr val="1A1A1A"/>
                </a:solidFill>
                <a:latin typeface="Canva Sans"/>
                <a:ea typeface="Canva Sans"/>
                <a:cs typeface="Canva Sans"/>
                <a:sym typeface="Canva Sans"/>
              </a:rPr>
              <a:t>8</a:t>
            </a:r>
          </a:p>
        </p:txBody>
      </p:sp>
      <p:sp>
        <p:nvSpPr>
          <p:cNvPr id="5" name="TextBox 4">
            <a:extLst>
              <a:ext uri="{FF2B5EF4-FFF2-40B4-BE49-F238E27FC236}">
                <a16:creationId xmlns:a16="http://schemas.microsoft.com/office/drawing/2014/main" id="{358F086E-8AD6-5741-29E7-5B537E66B230}"/>
              </a:ext>
            </a:extLst>
          </p:cNvPr>
          <p:cNvSpPr txBox="1"/>
          <p:nvPr/>
        </p:nvSpPr>
        <p:spPr>
          <a:xfrm>
            <a:off x="2743200" y="1943100"/>
            <a:ext cx="13106400" cy="3785652"/>
          </a:xfrm>
          <a:prstGeom prst="rect">
            <a:avLst/>
          </a:prstGeom>
          <a:noFill/>
        </p:spPr>
        <p:txBody>
          <a:bodyPr wrap="square" rtlCol="0">
            <a:spAutoFit/>
          </a:bodyPr>
          <a:lstStyle/>
          <a:p>
            <a:r>
              <a:rPr lang="en-GB" sz="4800" dirty="0"/>
              <a:t>Solution Overview</a:t>
            </a:r>
          </a:p>
          <a:p>
            <a:endParaRPr lang="en-GB" sz="4800" dirty="0"/>
          </a:p>
          <a:p>
            <a:r>
              <a:rPr lang="en-GB" sz="4800" dirty="0"/>
              <a:t>Video Link - </a:t>
            </a:r>
            <a:r>
              <a:rPr lang="en-GB" sz="4800" dirty="0">
                <a:hlinkClick r:id="rId3"/>
              </a:rPr>
              <a:t>https://drive.google.com/file/d/1FmF1OFh5o4AlMhmpVAbuuwQxp4s63HQe/view?usp=sharing</a:t>
            </a:r>
            <a:endParaRPr lang="en-GB" sz="48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gradFill rotWithShape="1">
          <a:gsLst>
            <a:gs pos="0">
              <a:srgbClr val="FFFFFF">
                <a:alpha val="100000"/>
              </a:srgbClr>
            </a:gs>
            <a:gs pos="100000">
              <a:srgbClr val="E6E6E6">
                <a:alpha val="100000"/>
              </a:srgbClr>
            </a:gs>
          </a:gsLst>
          <a:lin ang="0"/>
        </a:gradFill>
        <a:effectLst/>
      </p:bgPr>
    </p:bg>
    <p:spTree>
      <p:nvGrpSpPr>
        <p:cNvPr id="1" name=""/>
        <p:cNvGrpSpPr/>
        <p:nvPr/>
      </p:nvGrpSpPr>
      <p:grpSpPr>
        <a:xfrm>
          <a:off x="0" y="0"/>
          <a:ext cx="0" cy="0"/>
          <a:chOff x="0" y="0"/>
          <a:chExt cx="0" cy="0"/>
        </a:xfrm>
      </p:grpSpPr>
      <p:sp>
        <p:nvSpPr>
          <p:cNvPr id="2" name="Freeform 2"/>
          <p:cNvSpPr/>
          <p:nvPr/>
        </p:nvSpPr>
        <p:spPr>
          <a:xfrm>
            <a:off x="11593056" y="1718447"/>
            <a:ext cx="1623490" cy="1449333"/>
          </a:xfrm>
          <a:custGeom>
            <a:avLst/>
            <a:gdLst/>
            <a:ahLst/>
            <a:cxnLst/>
            <a:rect l="l" t="t" r="r" b="b"/>
            <a:pathLst>
              <a:path w="1623490" h="1449333">
                <a:moveTo>
                  <a:pt x="0" y="0"/>
                </a:moveTo>
                <a:lnTo>
                  <a:pt x="1623489" y="0"/>
                </a:lnTo>
                <a:lnTo>
                  <a:pt x="1623489" y="1449334"/>
                </a:lnTo>
                <a:lnTo>
                  <a:pt x="0" y="1449334"/>
                </a:lnTo>
                <a:lnTo>
                  <a:pt x="0" y="0"/>
                </a:lnTo>
                <a:close/>
              </a:path>
            </a:pathLst>
          </a:custGeom>
          <a:blipFill>
            <a:blip>
              <a:extLst>
                <a:ext uri="{96DAC541-7B7A-43D3-8B79-37D633B846F1}">
                  <asvg:svgBlip xmlns:asvg="http://schemas.microsoft.com/office/drawing/2016/SVG/main" r:embed="rId3"/>
                </a:ext>
              </a:extLst>
            </a:blip>
            <a:stretch>
              <a:fillRect/>
            </a:stretch>
          </a:blipFill>
        </p:spPr>
        <p:txBody>
          <a:bodyPr/>
          <a:lstStyle/>
          <a:p>
            <a:endParaRPr lang="en-GB"/>
          </a:p>
        </p:txBody>
      </p:sp>
      <p:sp>
        <p:nvSpPr>
          <p:cNvPr id="3" name="Freeform 3"/>
          <p:cNvSpPr/>
          <p:nvPr/>
        </p:nvSpPr>
        <p:spPr>
          <a:xfrm>
            <a:off x="9704151" y="1718447"/>
            <a:ext cx="1623490" cy="1449333"/>
          </a:xfrm>
          <a:custGeom>
            <a:avLst/>
            <a:gdLst/>
            <a:ahLst/>
            <a:cxnLst/>
            <a:rect l="l" t="t" r="r" b="b"/>
            <a:pathLst>
              <a:path w="1623490" h="1449333">
                <a:moveTo>
                  <a:pt x="0" y="0"/>
                </a:moveTo>
                <a:lnTo>
                  <a:pt x="1623490" y="0"/>
                </a:lnTo>
                <a:lnTo>
                  <a:pt x="1623490" y="1449334"/>
                </a:lnTo>
                <a:lnTo>
                  <a:pt x="0" y="1449334"/>
                </a:lnTo>
                <a:lnTo>
                  <a:pt x="0" y="0"/>
                </a:lnTo>
                <a:close/>
              </a:path>
            </a:pathLst>
          </a:custGeom>
          <a:blipFill>
            <a:blip>
              <a:extLst>
                <a:ext uri="{96DAC541-7B7A-43D3-8B79-37D633B846F1}">
                  <asvg:svgBlip xmlns:asvg="http://schemas.microsoft.com/office/drawing/2016/SVG/main" r:embed="rId3"/>
                </a:ext>
              </a:extLst>
            </a:blip>
            <a:stretch>
              <a:fillRect/>
            </a:stretch>
          </a:blipFill>
        </p:spPr>
        <p:txBody>
          <a:bodyPr/>
          <a:lstStyle/>
          <a:p>
            <a:endParaRPr lang="en-GB"/>
          </a:p>
        </p:txBody>
      </p:sp>
      <p:grpSp>
        <p:nvGrpSpPr>
          <p:cNvPr id="4" name="Group 4"/>
          <p:cNvGrpSpPr/>
          <p:nvPr/>
        </p:nvGrpSpPr>
        <p:grpSpPr>
          <a:xfrm>
            <a:off x="9496359" y="1156094"/>
            <a:ext cx="3884436" cy="2149570"/>
            <a:chOff x="0" y="0"/>
            <a:chExt cx="1074395" cy="594549"/>
          </a:xfrm>
        </p:grpSpPr>
        <p:sp>
          <p:nvSpPr>
            <p:cNvPr id="5" name="Freeform 5"/>
            <p:cNvSpPr/>
            <p:nvPr/>
          </p:nvSpPr>
          <p:spPr>
            <a:xfrm>
              <a:off x="0" y="0"/>
              <a:ext cx="1074395" cy="594549"/>
            </a:xfrm>
            <a:custGeom>
              <a:avLst/>
              <a:gdLst/>
              <a:ahLst/>
              <a:cxnLst/>
              <a:rect l="l" t="t" r="r" b="b"/>
              <a:pathLst>
                <a:path w="1074395" h="594549">
                  <a:moveTo>
                    <a:pt x="0" y="0"/>
                  </a:moveTo>
                  <a:lnTo>
                    <a:pt x="1074395" y="0"/>
                  </a:lnTo>
                  <a:lnTo>
                    <a:pt x="1074395" y="594549"/>
                  </a:lnTo>
                  <a:lnTo>
                    <a:pt x="0" y="594549"/>
                  </a:lnTo>
                  <a:close/>
                </a:path>
              </a:pathLst>
            </a:custGeom>
            <a:ln w="9525" cap="sq">
              <a:solidFill>
                <a:srgbClr val="000000"/>
              </a:solidFill>
              <a:prstDash val="solid"/>
              <a:miter/>
            </a:ln>
          </p:spPr>
          <p:txBody>
            <a:bodyPr/>
            <a:lstStyle/>
            <a:p>
              <a:endParaRPr lang="en-GB"/>
            </a:p>
          </p:txBody>
        </p:sp>
        <p:sp>
          <p:nvSpPr>
            <p:cNvPr id="6" name="TextBox 6"/>
            <p:cNvSpPr txBox="1"/>
            <p:nvPr/>
          </p:nvSpPr>
          <p:spPr>
            <a:xfrm>
              <a:off x="0" y="-171450"/>
              <a:ext cx="1074395" cy="765999"/>
            </a:xfrm>
            <a:prstGeom prst="rect">
              <a:avLst/>
            </a:prstGeom>
          </p:spPr>
          <p:txBody>
            <a:bodyPr lIns="48373" tIns="48373" rIns="48373" bIns="48373" rtlCol="0" anchor="ctr"/>
            <a:lstStyle/>
            <a:p>
              <a:pPr algn="ctr">
                <a:lnSpc>
                  <a:spcPts val="4875"/>
                </a:lnSpc>
              </a:pPr>
              <a:endParaRPr/>
            </a:p>
          </p:txBody>
        </p:sp>
      </p:grpSp>
      <p:grpSp>
        <p:nvGrpSpPr>
          <p:cNvPr id="7" name="Group 7"/>
          <p:cNvGrpSpPr/>
          <p:nvPr/>
        </p:nvGrpSpPr>
        <p:grpSpPr>
          <a:xfrm>
            <a:off x="14511906" y="5143500"/>
            <a:ext cx="3100403" cy="2339749"/>
            <a:chOff x="0" y="0"/>
            <a:chExt cx="857540" cy="647150"/>
          </a:xfrm>
        </p:grpSpPr>
        <p:sp>
          <p:nvSpPr>
            <p:cNvPr id="8" name="Freeform 8"/>
            <p:cNvSpPr/>
            <p:nvPr/>
          </p:nvSpPr>
          <p:spPr>
            <a:xfrm>
              <a:off x="0" y="0"/>
              <a:ext cx="857540" cy="647150"/>
            </a:xfrm>
            <a:custGeom>
              <a:avLst/>
              <a:gdLst/>
              <a:ahLst/>
              <a:cxnLst/>
              <a:rect l="l" t="t" r="r" b="b"/>
              <a:pathLst>
                <a:path w="857540" h="647150">
                  <a:moveTo>
                    <a:pt x="0" y="0"/>
                  </a:moveTo>
                  <a:lnTo>
                    <a:pt x="857540" y="0"/>
                  </a:lnTo>
                  <a:lnTo>
                    <a:pt x="857540" y="647150"/>
                  </a:lnTo>
                  <a:lnTo>
                    <a:pt x="0" y="647150"/>
                  </a:lnTo>
                  <a:close/>
                </a:path>
              </a:pathLst>
            </a:custGeom>
            <a:ln w="9525" cap="sq">
              <a:solidFill>
                <a:srgbClr val="000000"/>
              </a:solidFill>
              <a:prstDash val="solid"/>
              <a:miter/>
            </a:ln>
          </p:spPr>
          <p:txBody>
            <a:bodyPr/>
            <a:lstStyle/>
            <a:p>
              <a:endParaRPr lang="en-GB"/>
            </a:p>
          </p:txBody>
        </p:sp>
        <p:sp>
          <p:nvSpPr>
            <p:cNvPr id="9" name="TextBox 9"/>
            <p:cNvSpPr txBox="1"/>
            <p:nvPr/>
          </p:nvSpPr>
          <p:spPr>
            <a:xfrm>
              <a:off x="0" y="-171450"/>
              <a:ext cx="857540" cy="818600"/>
            </a:xfrm>
            <a:prstGeom prst="rect">
              <a:avLst/>
            </a:prstGeom>
          </p:spPr>
          <p:txBody>
            <a:bodyPr lIns="48373" tIns="48373" rIns="48373" bIns="48373" rtlCol="0" anchor="ctr"/>
            <a:lstStyle/>
            <a:p>
              <a:pPr algn="ctr">
                <a:lnSpc>
                  <a:spcPts val="4875"/>
                </a:lnSpc>
              </a:pPr>
              <a:endParaRPr/>
            </a:p>
          </p:txBody>
        </p:sp>
      </p:grpSp>
      <p:sp>
        <p:nvSpPr>
          <p:cNvPr id="10" name="Freeform 10"/>
          <p:cNvSpPr/>
          <p:nvPr/>
        </p:nvSpPr>
        <p:spPr>
          <a:xfrm>
            <a:off x="14695240" y="5421095"/>
            <a:ext cx="2740404" cy="2062154"/>
          </a:xfrm>
          <a:custGeom>
            <a:avLst/>
            <a:gdLst/>
            <a:ahLst/>
            <a:cxnLst/>
            <a:rect l="l" t="t" r="r" b="b"/>
            <a:pathLst>
              <a:path w="2740404" h="2062154">
                <a:moveTo>
                  <a:pt x="0" y="0"/>
                </a:moveTo>
                <a:lnTo>
                  <a:pt x="2740403" y="0"/>
                </a:lnTo>
                <a:lnTo>
                  <a:pt x="2740403" y="2062154"/>
                </a:lnTo>
                <a:lnTo>
                  <a:pt x="0" y="2062154"/>
                </a:lnTo>
                <a:lnTo>
                  <a:pt x="0" y="0"/>
                </a:lnTo>
                <a:close/>
              </a:path>
            </a:pathLst>
          </a:custGeom>
          <a:blipFill>
            <a:blip>
              <a:extLst>
                <a:ext uri="{96DAC541-7B7A-43D3-8B79-37D633B846F1}">
                  <asvg:svgBlip xmlns:asvg="http://schemas.microsoft.com/office/drawing/2016/SVG/main" r:embed="rId4"/>
                </a:ext>
              </a:extLst>
            </a:blip>
            <a:stretch>
              <a:fillRect/>
            </a:stretch>
          </a:blipFill>
        </p:spPr>
        <p:txBody>
          <a:bodyPr/>
          <a:lstStyle/>
          <a:p>
            <a:endParaRPr lang="en-GB"/>
          </a:p>
        </p:txBody>
      </p:sp>
      <p:sp>
        <p:nvSpPr>
          <p:cNvPr id="11" name="TextBox 11"/>
          <p:cNvSpPr txBox="1"/>
          <p:nvPr/>
        </p:nvSpPr>
        <p:spPr>
          <a:xfrm>
            <a:off x="14497251" y="5107791"/>
            <a:ext cx="3115058" cy="430066"/>
          </a:xfrm>
          <a:prstGeom prst="rect">
            <a:avLst/>
          </a:prstGeom>
        </p:spPr>
        <p:txBody>
          <a:bodyPr lIns="0" tIns="0" rIns="0" bIns="0" rtlCol="0" anchor="t">
            <a:spAutoFit/>
          </a:bodyPr>
          <a:lstStyle/>
          <a:p>
            <a:pPr algn="ctr">
              <a:lnSpc>
                <a:spcPts val="3738"/>
              </a:lnSpc>
              <a:spcBef>
                <a:spcPct val="0"/>
              </a:spcBef>
            </a:pPr>
            <a:r>
              <a:rPr lang="en-US" sz="1967" b="1" spc="29">
                <a:solidFill>
                  <a:srgbClr val="000000"/>
                </a:solidFill>
                <a:latin typeface="Canva Sans Bold"/>
                <a:ea typeface="Canva Sans Bold"/>
                <a:cs typeface="Canva Sans Bold"/>
                <a:sym typeface="Canva Sans Bold"/>
              </a:rPr>
              <a:t>Agent control on laptop</a:t>
            </a:r>
          </a:p>
        </p:txBody>
      </p:sp>
      <p:grpSp>
        <p:nvGrpSpPr>
          <p:cNvPr id="12" name="Group 12"/>
          <p:cNvGrpSpPr/>
          <p:nvPr/>
        </p:nvGrpSpPr>
        <p:grpSpPr>
          <a:xfrm>
            <a:off x="15607429" y="1718699"/>
            <a:ext cx="1845251" cy="1508342"/>
            <a:chOff x="0" y="0"/>
            <a:chExt cx="1063739" cy="869520"/>
          </a:xfrm>
        </p:grpSpPr>
        <p:sp>
          <p:nvSpPr>
            <p:cNvPr id="13" name="Freeform 13"/>
            <p:cNvSpPr/>
            <p:nvPr/>
          </p:nvSpPr>
          <p:spPr>
            <a:xfrm>
              <a:off x="0" y="0"/>
              <a:ext cx="1063739" cy="869520"/>
            </a:xfrm>
            <a:custGeom>
              <a:avLst/>
              <a:gdLst/>
              <a:ahLst/>
              <a:cxnLst/>
              <a:rect l="l" t="t" r="r" b="b"/>
              <a:pathLst>
                <a:path w="1063739" h="869520">
                  <a:moveTo>
                    <a:pt x="0" y="0"/>
                  </a:moveTo>
                  <a:lnTo>
                    <a:pt x="1063739" y="0"/>
                  </a:lnTo>
                  <a:lnTo>
                    <a:pt x="1063739" y="869520"/>
                  </a:lnTo>
                  <a:lnTo>
                    <a:pt x="0" y="869520"/>
                  </a:lnTo>
                  <a:close/>
                </a:path>
              </a:pathLst>
            </a:custGeom>
            <a:ln w="9525" cap="sq">
              <a:solidFill>
                <a:srgbClr val="000000"/>
              </a:solidFill>
              <a:prstDash val="solid"/>
              <a:miter/>
            </a:ln>
          </p:spPr>
          <p:txBody>
            <a:bodyPr/>
            <a:lstStyle/>
            <a:p>
              <a:endParaRPr lang="en-GB"/>
            </a:p>
          </p:txBody>
        </p:sp>
        <p:sp>
          <p:nvSpPr>
            <p:cNvPr id="14" name="TextBox 14"/>
            <p:cNvSpPr txBox="1"/>
            <p:nvPr/>
          </p:nvSpPr>
          <p:spPr>
            <a:xfrm>
              <a:off x="0" y="-171450"/>
              <a:ext cx="1063739" cy="1040970"/>
            </a:xfrm>
            <a:prstGeom prst="rect">
              <a:avLst/>
            </a:prstGeom>
          </p:spPr>
          <p:txBody>
            <a:bodyPr lIns="48373" tIns="48373" rIns="48373" bIns="48373" rtlCol="0" anchor="ctr"/>
            <a:lstStyle/>
            <a:p>
              <a:pPr algn="ctr">
                <a:lnSpc>
                  <a:spcPts val="4875"/>
                </a:lnSpc>
              </a:pPr>
              <a:endParaRPr/>
            </a:p>
          </p:txBody>
        </p:sp>
      </p:grpSp>
      <p:sp>
        <p:nvSpPr>
          <p:cNvPr id="15" name="Freeform 15"/>
          <p:cNvSpPr/>
          <p:nvPr/>
        </p:nvSpPr>
        <p:spPr>
          <a:xfrm>
            <a:off x="15702349" y="1817688"/>
            <a:ext cx="1660844" cy="1328675"/>
          </a:xfrm>
          <a:custGeom>
            <a:avLst/>
            <a:gdLst/>
            <a:ahLst/>
            <a:cxnLst/>
            <a:rect l="l" t="t" r="r" b="b"/>
            <a:pathLst>
              <a:path w="1660844" h="1328675">
                <a:moveTo>
                  <a:pt x="0" y="0"/>
                </a:moveTo>
                <a:lnTo>
                  <a:pt x="1660844" y="0"/>
                </a:lnTo>
                <a:lnTo>
                  <a:pt x="1660844" y="1328675"/>
                </a:lnTo>
                <a:lnTo>
                  <a:pt x="0" y="1328675"/>
                </a:lnTo>
                <a:lnTo>
                  <a:pt x="0" y="0"/>
                </a:lnTo>
                <a:close/>
              </a:path>
            </a:pathLst>
          </a:custGeom>
          <a:blipFill>
            <a:blip r:embed="rId5"/>
            <a:stretch>
              <a:fillRect/>
            </a:stretch>
          </a:blipFill>
        </p:spPr>
        <p:txBody>
          <a:bodyPr/>
          <a:lstStyle/>
          <a:p>
            <a:endParaRPr lang="en-GB"/>
          </a:p>
        </p:txBody>
      </p:sp>
      <p:sp>
        <p:nvSpPr>
          <p:cNvPr id="16" name="TextBox 16"/>
          <p:cNvSpPr txBox="1"/>
          <p:nvPr/>
        </p:nvSpPr>
        <p:spPr>
          <a:xfrm>
            <a:off x="15472949" y="1328058"/>
            <a:ext cx="2083425" cy="311367"/>
          </a:xfrm>
          <a:prstGeom prst="rect">
            <a:avLst/>
          </a:prstGeom>
        </p:spPr>
        <p:txBody>
          <a:bodyPr lIns="0" tIns="0" rIns="0" bIns="0" rtlCol="0" anchor="t">
            <a:spAutoFit/>
          </a:bodyPr>
          <a:lstStyle/>
          <a:p>
            <a:pPr algn="ctr">
              <a:lnSpc>
                <a:spcPts val="2722"/>
              </a:lnSpc>
              <a:spcBef>
                <a:spcPct val="0"/>
              </a:spcBef>
            </a:pPr>
            <a:r>
              <a:rPr lang="en-US" sz="1433" b="1" spc="21">
                <a:solidFill>
                  <a:srgbClr val="000000"/>
                </a:solidFill>
                <a:latin typeface="Canva Sans Bold"/>
                <a:ea typeface="Canva Sans Bold"/>
                <a:cs typeface="Canva Sans Bold"/>
                <a:sym typeface="Canva Sans Bold"/>
              </a:rPr>
              <a:t>SUMO Environment</a:t>
            </a:r>
          </a:p>
        </p:txBody>
      </p:sp>
      <p:grpSp>
        <p:nvGrpSpPr>
          <p:cNvPr id="17" name="Group 17"/>
          <p:cNvGrpSpPr/>
          <p:nvPr/>
        </p:nvGrpSpPr>
        <p:grpSpPr>
          <a:xfrm>
            <a:off x="14488181" y="1304452"/>
            <a:ext cx="1013549" cy="828494"/>
            <a:chOff x="0" y="0"/>
            <a:chExt cx="1063739" cy="869520"/>
          </a:xfrm>
        </p:grpSpPr>
        <p:sp>
          <p:nvSpPr>
            <p:cNvPr id="18" name="Freeform 18"/>
            <p:cNvSpPr/>
            <p:nvPr/>
          </p:nvSpPr>
          <p:spPr>
            <a:xfrm>
              <a:off x="0" y="0"/>
              <a:ext cx="1063739" cy="869520"/>
            </a:xfrm>
            <a:custGeom>
              <a:avLst/>
              <a:gdLst/>
              <a:ahLst/>
              <a:cxnLst/>
              <a:rect l="l" t="t" r="r" b="b"/>
              <a:pathLst>
                <a:path w="1063739" h="869520">
                  <a:moveTo>
                    <a:pt x="0" y="0"/>
                  </a:moveTo>
                  <a:lnTo>
                    <a:pt x="1063739" y="0"/>
                  </a:lnTo>
                  <a:lnTo>
                    <a:pt x="1063739" y="869520"/>
                  </a:lnTo>
                  <a:lnTo>
                    <a:pt x="0" y="869520"/>
                  </a:lnTo>
                  <a:close/>
                </a:path>
              </a:pathLst>
            </a:custGeom>
            <a:ln w="9525" cap="sq">
              <a:solidFill>
                <a:srgbClr val="000000"/>
              </a:solidFill>
              <a:prstDash val="solid"/>
              <a:miter/>
            </a:ln>
          </p:spPr>
          <p:txBody>
            <a:bodyPr/>
            <a:lstStyle/>
            <a:p>
              <a:endParaRPr lang="en-GB"/>
            </a:p>
          </p:txBody>
        </p:sp>
        <p:sp>
          <p:nvSpPr>
            <p:cNvPr id="19" name="TextBox 19"/>
            <p:cNvSpPr txBox="1"/>
            <p:nvPr/>
          </p:nvSpPr>
          <p:spPr>
            <a:xfrm>
              <a:off x="0" y="-171450"/>
              <a:ext cx="1063739" cy="1040970"/>
            </a:xfrm>
            <a:prstGeom prst="rect">
              <a:avLst/>
            </a:prstGeom>
          </p:spPr>
          <p:txBody>
            <a:bodyPr lIns="26570" tIns="26570" rIns="26570" bIns="26570" rtlCol="0" anchor="ctr"/>
            <a:lstStyle/>
            <a:p>
              <a:pPr algn="ctr">
                <a:lnSpc>
                  <a:spcPts val="4875"/>
                </a:lnSpc>
              </a:pPr>
              <a:endParaRPr/>
            </a:p>
          </p:txBody>
        </p:sp>
      </p:grpSp>
      <p:sp>
        <p:nvSpPr>
          <p:cNvPr id="20" name="Freeform 20"/>
          <p:cNvSpPr/>
          <p:nvPr/>
        </p:nvSpPr>
        <p:spPr>
          <a:xfrm>
            <a:off x="14540318" y="1358824"/>
            <a:ext cx="912259" cy="729807"/>
          </a:xfrm>
          <a:custGeom>
            <a:avLst/>
            <a:gdLst/>
            <a:ahLst/>
            <a:cxnLst/>
            <a:rect l="l" t="t" r="r" b="b"/>
            <a:pathLst>
              <a:path w="912259" h="729807">
                <a:moveTo>
                  <a:pt x="0" y="0"/>
                </a:moveTo>
                <a:lnTo>
                  <a:pt x="912260" y="0"/>
                </a:lnTo>
                <a:lnTo>
                  <a:pt x="912260" y="729807"/>
                </a:lnTo>
                <a:lnTo>
                  <a:pt x="0" y="729807"/>
                </a:lnTo>
                <a:lnTo>
                  <a:pt x="0" y="0"/>
                </a:lnTo>
                <a:close/>
              </a:path>
            </a:pathLst>
          </a:custGeom>
          <a:blipFill>
            <a:blip r:embed="rId5"/>
            <a:stretch>
              <a:fillRect/>
            </a:stretch>
          </a:blipFill>
        </p:spPr>
        <p:txBody>
          <a:bodyPr/>
          <a:lstStyle/>
          <a:p>
            <a:endParaRPr lang="en-GB"/>
          </a:p>
        </p:txBody>
      </p:sp>
      <p:grpSp>
        <p:nvGrpSpPr>
          <p:cNvPr id="21" name="Group 21"/>
          <p:cNvGrpSpPr/>
          <p:nvPr/>
        </p:nvGrpSpPr>
        <p:grpSpPr>
          <a:xfrm>
            <a:off x="14488181" y="2235898"/>
            <a:ext cx="1013549" cy="828494"/>
            <a:chOff x="0" y="0"/>
            <a:chExt cx="1063739" cy="869520"/>
          </a:xfrm>
        </p:grpSpPr>
        <p:sp>
          <p:nvSpPr>
            <p:cNvPr id="22" name="Freeform 22"/>
            <p:cNvSpPr/>
            <p:nvPr/>
          </p:nvSpPr>
          <p:spPr>
            <a:xfrm>
              <a:off x="0" y="0"/>
              <a:ext cx="1063739" cy="869520"/>
            </a:xfrm>
            <a:custGeom>
              <a:avLst/>
              <a:gdLst/>
              <a:ahLst/>
              <a:cxnLst/>
              <a:rect l="l" t="t" r="r" b="b"/>
              <a:pathLst>
                <a:path w="1063739" h="869520">
                  <a:moveTo>
                    <a:pt x="0" y="0"/>
                  </a:moveTo>
                  <a:lnTo>
                    <a:pt x="1063739" y="0"/>
                  </a:lnTo>
                  <a:lnTo>
                    <a:pt x="1063739" y="869520"/>
                  </a:lnTo>
                  <a:lnTo>
                    <a:pt x="0" y="869520"/>
                  </a:lnTo>
                  <a:close/>
                </a:path>
              </a:pathLst>
            </a:custGeom>
            <a:ln w="9525" cap="sq">
              <a:solidFill>
                <a:srgbClr val="000000"/>
              </a:solidFill>
              <a:prstDash val="solid"/>
              <a:miter/>
            </a:ln>
          </p:spPr>
          <p:txBody>
            <a:bodyPr/>
            <a:lstStyle/>
            <a:p>
              <a:endParaRPr lang="en-GB"/>
            </a:p>
          </p:txBody>
        </p:sp>
        <p:sp>
          <p:nvSpPr>
            <p:cNvPr id="23" name="TextBox 23"/>
            <p:cNvSpPr txBox="1"/>
            <p:nvPr/>
          </p:nvSpPr>
          <p:spPr>
            <a:xfrm>
              <a:off x="0" y="-171450"/>
              <a:ext cx="1063739" cy="1040970"/>
            </a:xfrm>
            <a:prstGeom prst="rect">
              <a:avLst/>
            </a:prstGeom>
          </p:spPr>
          <p:txBody>
            <a:bodyPr lIns="26570" tIns="26570" rIns="26570" bIns="26570" rtlCol="0" anchor="ctr"/>
            <a:lstStyle/>
            <a:p>
              <a:pPr algn="ctr">
                <a:lnSpc>
                  <a:spcPts val="4875"/>
                </a:lnSpc>
              </a:pPr>
              <a:endParaRPr/>
            </a:p>
          </p:txBody>
        </p:sp>
      </p:grpSp>
      <p:sp>
        <p:nvSpPr>
          <p:cNvPr id="24" name="Freeform 24"/>
          <p:cNvSpPr/>
          <p:nvPr/>
        </p:nvSpPr>
        <p:spPr>
          <a:xfrm>
            <a:off x="14540318" y="2290270"/>
            <a:ext cx="912259" cy="729807"/>
          </a:xfrm>
          <a:custGeom>
            <a:avLst/>
            <a:gdLst/>
            <a:ahLst/>
            <a:cxnLst/>
            <a:rect l="l" t="t" r="r" b="b"/>
            <a:pathLst>
              <a:path w="912259" h="729807">
                <a:moveTo>
                  <a:pt x="0" y="0"/>
                </a:moveTo>
                <a:lnTo>
                  <a:pt x="912260" y="0"/>
                </a:lnTo>
                <a:lnTo>
                  <a:pt x="912260" y="729807"/>
                </a:lnTo>
                <a:lnTo>
                  <a:pt x="0" y="729807"/>
                </a:lnTo>
                <a:lnTo>
                  <a:pt x="0" y="0"/>
                </a:lnTo>
                <a:close/>
              </a:path>
            </a:pathLst>
          </a:custGeom>
          <a:blipFill>
            <a:blip r:embed="rId5"/>
            <a:stretch>
              <a:fillRect/>
            </a:stretch>
          </a:blipFill>
        </p:spPr>
        <p:txBody>
          <a:bodyPr/>
          <a:lstStyle/>
          <a:p>
            <a:endParaRPr lang="en-GB"/>
          </a:p>
        </p:txBody>
      </p:sp>
      <p:sp>
        <p:nvSpPr>
          <p:cNvPr id="25" name="Freeform 25"/>
          <p:cNvSpPr/>
          <p:nvPr/>
        </p:nvSpPr>
        <p:spPr>
          <a:xfrm flipH="1">
            <a:off x="1639226" y="1868122"/>
            <a:ext cx="1333667" cy="1151955"/>
          </a:xfrm>
          <a:custGeom>
            <a:avLst/>
            <a:gdLst/>
            <a:ahLst/>
            <a:cxnLst/>
            <a:rect l="l" t="t" r="r" b="b"/>
            <a:pathLst>
              <a:path w="1333667" h="1151955">
                <a:moveTo>
                  <a:pt x="1333667" y="0"/>
                </a:moveTo>
                <a:lnTo>
                  <a:pt x="0" y="0"/>
                </a:lnTo>
                <a:lnTo>
                  <a:pt x="0" y="1151955"/>
                </a:lnTo>
                <a:lnTo>
                  <a:pt x="1333667" y="1151955"/>
                </a:lnTo>
                <a:lnTo>
                  <a:pt x="1333667" y="0"/>
                </a:lnTo>
                <a:close/>
              </a:path>
            </a:pathLst>
          </a:custGeom>
          <a:blipFill>
            <a:blip r:embed="rId6"/>
            <a:stretch>
              <a:fillRect/>
            </a:stretch>
          </a:blipFill>
        </p:spPr>
        <p:txBody>
          <a:bodyPr/>
          <a:lstStyle/>
          <a:p>
            <a:endParaRPr lang="en-GB"/>
          </a:p>
        </p:txBody>
      </p:sp>
      <p:grpSp>
        <p:nvGrpSpPr>
          <p:cNvPr id="26" name="Group 26"/>
          <p:cNvGrpSpPr/>
          <p:nvPr/>
        </p:nvGrpSpPr>
        <p:grpSpPr>
          <a:xfrm>
            <a:off x="10595700" y="7196461"/>
            <a:ext cx="2863092" cy="2872149"/>
            <a:chOff x="0" y="0"/>
            <a:chExt cx="791902" cy="794407"/>
          </a:xfrm>
        </p:grpSpPr>
        <p:sp>
          <p:nvSpPr>
            <p:cNvPr id="27" name="Freeform 27"/>
            <p:cNvSpPr/>
            <p:nvPr/>
          </p:nvSpPr>
          <p:spPr>
            <a:xfrm>
              <a:off x="0" y="0"/>
              <a:ext cx="791902" cy="794407"/>
            </a:xfrm>
            <a:custGeom>
              <a:avLst/>
              <a:gdLst/>
              <a:ahLst/>
              <a:cxnLst/>
              <a:rect l="l" t="t" r="r" b="b"/>
              <a:pathLst>
                <a:path w="791902" h="794407">
                  <a:moveTo>
                    <a:pt x="0" y="0"/>
                  </a:moveTo>
                  <a:lnTo>
                    <a:pt x="791902" y="0"/>
                  </a:lnTo>
                  <a:lnTo>
                    <a:pt x="791902" y="794407"/>
                  </a:lnTo>
                  <a:lnTo>
                    <a:pt x="0" y="794407"/>
                  </a:lnTo>
                  <a:close/>
                </a:path>
              </a:pathLst>
            </a:custGeom>
            <a:ln w="9525" cap="sq">
              <a:solidFill>
                <a:srgbClr val="000000"/>
              </a:solidFill>
              <a:prstDash val="solid"/>
              <a:miter/>
            </a:ln>
          </p:spPr>
          <p:txBody>
            <a:bodyPr/>
            <a:lstStyle/>
            <a:p>
              <a:endParaRPr lang="en-GB"/>
            </a:p>
          </p:txBody>
        </p:sp>
        <p:sp>
          <p:nvSpPr>
            <p:cNvPr id="28" name="TextBox 28"/>
            <p:cNvSpPr txBox="1"/>
            <p:nvPr/>
          </p:nvSpPr>
          <p:spPr>
            <a:xfrm>
              <a:off x="0" y="-171450"/>
              <a:ext cx="791902" cy="965857"/>
            </a:xfrm>
            <a:prstGeom prst="rect">
              <a:avLst/>
            </a:prstGeom>
          </p:spPr>
          <p:txBody>
            <a:bodyPr lIns="48373" tIns="48373" rIns="48373" bIns="48373" rtlCol="0" anchor="ctr"/>
            <a:lstStyle/>
            <a:p>
              <a:pPr algn="ctr">
                <a:lnSpc>
                  <a:spcPts val="4875"/>
                </a:lnSpc>
              </a:pPr>
              <a:endParaRPr/>
            </a:p>
          </p:txBody>
        </p:sp>
      </p:grpSp>
      <p:sp>
        <p:nvSpPr>
          <p:cNvPr id="29" name="Freeform 29"/>
          <p:cNvSpPr/>
          <p:nvPr/>
        </p:nvSpPr>
        <p:spPr>
          <a:xfrm>
            <a:off x="10652706" y="7631631"/>
            <a:ext cx="2749079" cy="2284235"/>
          </a:xfrm>
          <a:custGeom>
            <a:avLst/>
            <a:gdLst/>
            <a:ahLst/>
            <a:cxnLst/>
            <a:rect l="l" t="t" r="r" b="b"/>
            <a:pathLst>
              <a:path w="2749079" h="2284235">
                <a:moveTo>
                  <a:pt x="0" y="0"/>
                </a:moveTo>
                <a:lnTo>
                  <a:pt x="2749079" y="0"/>
                </a:lnTo>
                <a:lnTo>
                  <a:pt x="2749079" y="2284235"/>
                </a:lnTo>
                <a:lnTo>
                  <a:pt x="0" y="2284235"/>
                </a:lnTo>
                <a:lnTo>
                  <a:pt x="0" y="0"/>
                </a:lnTo>
                <a:close/>
              </a:path>
            </a:pathLst>
          </a:custGeom>
          <a:blipFill>
            <a:blip r:embed="rId7"/>
            <a:stretch>
              <a:fillRect/>
            </a:stretch>
          </a:blipFill>
        </p:spPr>
        <p:txBody>
          <a:bodyPr/>
          <a:lstStyle/>
          <a:p>
            <a:endParaRPr lang="en-GB"/>
          </a:p>
        </p:txBody>
      </p:sp>
      <p:sp>
        <p:nvSpPr>
          <p:cNvPr id="30" name="TextBox 30"/>
          <p:cNvSpPr txBox="1"/>
          <p:nvPr/>
        </p:nvSpPr>
        <p:spPr>
          <a:xfrm>
            <a:off x="10359286" y="7077353"/>
            <a:ext cx="3115058" cy="430066"/>
          </a:xfrm>
          <a:prstGeom prst="rect">
            <a:avLst/>
          </a:prstGeom>
        </p:spPr>
        <p:txBody>
          <a:bodyPr lIns="0" tIns="0" rIns="0" bIns="0" rtlCol="0" anchor="t">
            <a:spAutoFit/>
          </a:bodyPr>
          <a:lstStyle/>
          <a:p>
            <a:pPr algn="ctr">
              <a:lnSpc>
                <a:spcPts val="3738"/>
              </a:lnSpc>
              <a:spcBef>
                <a:spcPct val="0"/>
              </a:spcBef>
            </a:pPr>
            <a:r>
              <a:rPr lang="en-US" sz="1967" b="1" spc="29">
                <a:solidFill>
                  <a:srgbClr val="000000"/>
                </a:solidFill>
                <a:latin typeface="Canva Sans Bold"/>
                <a:ea typeface="Canva Sans Bold"/>
                <a:cs typeface="Canva Sans Bold"/>
                <a:sym typeface="Canva Sans Bold"/>
              </a:rPr>
              <a:t>Live Dashboard</a:t>
            </a:r>
          </a:p>
        </p:txBody>
      </p:sp>
      <p:sp>
        <p:nvSpPr>
          <p:cNvPr id="31" name="TextBox 31"/>
          <p:cNvSpPr txBox="1"/>
          <p:nvPr/>
        </p:nvSpPr>
        <p:spPr>
          <a:xfrm>
            <a:off x="16209948" y="4006393"/>
            <a:ext cx="1534570" cy="554660"/>
          </a:xfrm>
          <a:prstGeom prst="rect">
            <a:avLst/>
          </a:prstGeom>
        </p:spPr>
        <p:txBody>
          <a:bodyPr lIns="0" tIns="0" rIns="0" bIns="0" rtlCol="0" anchor="t">
            <a:spAutoFit/>
          </a:bodyPr>
          <a:lstStyle/>
          <a:p>
            <a:pPr algn="ctr">
              <a:lnSpc>
                <a:spcPts val="2203"/>
              </a:lnSpc>
            </a:pPr>
            <a:r>
              <a:rPr lang="en-US" sz="1967" b="1" spc="29">
                <a:solidFill>
                  <a:srgbClr val="000000"/>
                </a:solidFill>
                <a:latin typeface="Canva Sans Bold"/>
                <a:ea typeface="Canva Sans Bold"/>
                <a:cs typeface="Canva Sans Bold"/>
                <a:sym typeface="Canva Sans Bold"/>
              </a:rPr>
              <a:t>States via Traci</a:t>
            </a:r>
          </a:p>
        </p:txBody>
      </p:sp>
      <p:sp>
        <p:nvSpPr>
          <p:cNvPr id="32" name="TextBox 32"/>
          <p:cNvSpPr txBox="1"/>
          <p:nvPr/>
        </p:nvSpPr>
        <p:spPr>
          <a:xfrm>
            <a:off x="14236216" y="3601525"/>
            <a:ext cx="2099437" cy="677436"/>
          </a:xfrm>
          <a:prstGeom prst="rect">
            <a:avLst/>
          </a:prstGeom>
        </p:spPr>
        <p:txBody>
          <a:bodyPr lIns="0" tIns="0" rIns="0" bIns="0" rtlCol="0" anchor="t">
            <a:spAutoFit/>
          </a:bodyPr>
          <a:lstStyle/>
          <a:p>
            <a:pPr algn="ctr">
              <a:lnSpc>
                <a:spcPts val="2754"/>
              </a:lnSpc>
            </a:pPr>
            <a:r>
              <a:rPr lang="en-US" sz="1967" b="1" spc="29">
                <a:solidFill>
                  <a:srgbClr val="000000"/>
                </a:solidFill>
                <a:latin typeface="Canva Sans Bold"/>
                <a:ea typeface="Canva Sans Bold"/>
                <a:cs typeface="Canva Sans Bold"/>
                <a:sym typeface="Canva Sans Bold"/>
              </a:rPr>
              <a:t>Decisions via Traci</a:t>
            </a:r>
          </a:p>
        </p:txBody>
      </p:sp>
      <p:sp>
        <p:nvSpPr>
          <p:cNvPr id="33" name="TextBox 33"/>
          <p:cNvSpPr txBox="1"/>
          <p:nvPr/>
        </p:nvSpPr>
        <p:spPr>
          <a:xfrm>
            <a:off x="14362358" y="8148050"/>
            <a:ext cx="3194016" cy="430066"/>
          </a:xfrm>
          <a:prstGeom prst="rect">
            <a:avLst/>
          </a:prstGeom>
        </p:spPr>
        <p:txBody>
          <a:bodyPr lIns="0" tIns="0" rIns="0" bIns="0" rtlCol="0" anchor="t">
            <a:spAutoFit/>
          </a:bodyPr>
          <a:lstStyle/>
          <a:p>
            <a:pPr algn="ctr">
              <a:lnSpc>
                <a:spcPts val="3738"/>
              </a:lnSpc>
              <a:spcBef>
                <a:spcPct val="0"/>
              </a:spcBef>
            </a:pPr>
            <a:r>
              <a:rPr lang="en-US" sz="1967" b="1" spc="29">
                <a:solidFill>
                  <a:srgbClr val="000000"/>
                </a:solidFill>
                <a:latin typeface="Canva Sans Bold"/>
                <a:ea typeface="Canva Sans Bold"/>
                <a:cs typeface="Canva Sans Bold"/>
                <a:sym typeface="Canva Sans Bold"/>
              </a:rPr>
              <a:t>Live data  via sockets</a:t>
            </a:r>
          </a:p>
        </p:txBody>
      </p:sp>
      <p:sp>
        <p:nvSpPr>
          <p:cNvPr id="34" name="AutoShape 34"/>
          <p:cNvSpPr/>
          <p:nvPr/>
        </p:nvSpPr>
        <p:spPr>
          <a:xfrm flipV="1">
            <a:off x="11396604" y="3446413"/>
            <a:ext cx="0" cy="3426199"/>
          </a:xfrm>
          <a:prstGeom prst="line">
            <a:avLst/>
          </a:prstGeom>
          <a:ln w="47625" cap="flat">
            <a:solidFill>
              <a:srgbClr val="5CE1E6"/>
            </a:solidFill>
            <a:prstDash val="solid"/>
            <a:headEnd type="arrow" w="med" len="sm"/>
            <a:tailEnd type="none" w="sm" len="sm"/>
          </a:ln>
        </p:spPr>
        <p:txBody>
          <a:bodyPr/>
          <a:lstStyle/>
          <a:p>
            <a:endParaRPr lang="en-GB"/>
          </a:p>
        </p:txBody>
      </p:sp>
      <p:sp>
        <p:nvSpPr>
          <p:cNvPr id="35" name="AutoShape 35"/>
          <p:cNvSpPr/>
          <p:nvPr/>
        </p:nvSpPr>
        <p:spPr>
          <a:xfrm flipH="1" flipV="1">
            <a:off x="16217355" y="3227041"/>
            <a:ext cx="0" cy="1687122"/>
          </a:xfrm>
          <a:prstGeom prst="line">
            <a:avLst/>
          </a:prstGeom>
          <a:ln w="47625" cap="flat">
            <a:solidFill>
              <a:srgbClr val="FF3131"/>
            </a:solidFill>
            <a:prstDash val="solid"/>
            <a:headEnd type="arrow" w="med" len="sm"/>
            <a:tailEnd type="arrow" w="med" len="sm"/>
          </a:ln>
        </p:spPr>
        <p:txBody>
          <a:bodyPr/>
          <a:lstStyle/>
          <a:p>
            <a:endParaRPr lang="en-GB"/>
          </a:p>
        </p:txBody>
      </p:sp>
      <p:sp>
        <p:nvSpPr>
          <p:cNvPr id="36" name="AutoShape 36"/>
          <p:cNvSpPr/>
          <p:nvPr/>
        </p:nvSpPr>
        <p:spPr>
          <a:xfrm flipV="1">
            <a:off x="13681191" y="7742009"/>
            <a:ext cx="1604744" cy="1101853"/>
          </a:xfrm>
          <a:prstGeom prst="line">
            <a:avLst/>
          </a:prstGeom>
          <a:ln w="47625" cap="flat">
            <a:solidFill>
              <a:srgbClr val="5CE1E6"/>
            </a:solidFill>
            <a:prstDash val="solid"/>
            <a:headEnd type="arrow" w="med" len="sm"/>
            <a:tailEnd type="arrow" w="med" len="sm"/>
          </a:ln>
        </p:spPr>
        <p:txBody>
          <a:bodyPr/>
          <a:lstStyle/>
          <a:p>
            <a:endParaRPr lang="en-GB"/>
          </a:p>
        </p:txBody>
      </p:sp>
      <p:sp>
        <p:nvSpPr>
          <p:cNvPr id="37" name="AutoShape 37"/>
          <p:cNvSpPr/>
          <p:nvPr/>
        </p:nvSpPr>
        <p:spPr>
          <a:xfrm flipH="1" flipV="1">
            <a:off x="12984091" y="3369696"/>
            <a:ext cx="1375025" cy="2382714"/>
          </a:xfrm>
          <a:prstGeom prst="line">
            <a:avLst/>
          </a:prstGeom>
          <a:ln w="47625" cap="flat">
            <a:solidFill>
              <a:srgbClr val="FF3131"/>
            </a:solidFill>
            <a:prstDash val="solid"/>
            <a:headEnd type="arrow" w="med" len="sm"/>
            <a:tailEnd type="arrow" w="med" len="sm"/>
          </a:ln>
        </p:spPr>
        <p:txBody>
          <a:bodyPr/>
          <a:lstStyle/>
          <a:p>
            <a:endParaRPr lang="en-GB"/>
          </a:p>
        </p:txBody>
      </p:sp>
      <p:grpSp>
        <p:nvGrpSpPr>
          <p:cNvPr id="38" name="Group 38"/>
          <p:cNvGrpSpPr/>
          <p:nvPr/>
        </p:nvGrpSpPr>
        <p:grpSpPr>
          <a:xfrm>
            <a:off x="7605039" y="6742461"/>
            <a:ext cx="1686360" cy="1705437"/>
            <a:chOff x="0" y="0"/>
            <a:chExt cx="740472" cy="748848"/>
          </a:xfrm>
        </p:grpSpPr>
        <p:sp>
          <p:nvSpPr>
            <p:cNvPr id="39" name="Freeform 39"/>
            <p:cNvSpPr/>
            <p:nvPr/>
          </p:nvSpPr>
          <p:spPr>
            <a:xfrm>
              <a:off x="0" y="0"/>
              <a:ext cx="740472" cy="748848"/>
            </a:xfrm>
            <a:custGeom>
              <a:avLst/>
              <a:gdLst/>
              <a:ahLst/>
              <a:cxnLst/>
              <a:rect l="l" t="t" r="r" b="b"/>
              <a:pathLst>
                <a:path w="740472" h="748848">
                  <a:moveTo>
                    <a:pt x="0" y="0"/>
                  </a:moveTo>
                  <a:lnTo>
                    <a:pt x="740472" y="0"/>
                  </a:lnTo>
                  <a:lnTo>
                    <a:pt x="740472" y="748848"/>
                  </a:lnTo>
                  <a:lnTo>
                    <a:pt x="0" y="748848"/>
                  </a:lnTo>
                  <a:close/>
                </a:path>
              </a:pathLst>
            </a:custGeom>
            <a:ln w="9525" cap="sq">
              <a:solidFill>
                <a:srgbClr val="000000"/>
              </a:solidFill>
              <a:prstDash val="solid"/>
              <a:miter/>
            </a:ln>
          </p:spPr>
          <p:txBody>
            <a:bodyPr/>
            <a:lstStyle/>
            <a:p>
              <a:endParaRPr lang="en-GB"/>
            </a:p>
          </p:txBody>
        </p:sp>
        <p:sp>
          <p:nvSpPr>
            <p:cNvPr id="40" name="TextBox 40"/>
            <p:cNvSpPr txBox="1"/>
            <p:nvPr/>
          </p:nvSpPr>
          <p:spPr>
            <a:xfrm>
              <a:off x="0" y="-171450"/>
              <a:ext cx="740472" cy="920298"/>
            </a:xfrm>
            <a:prstGeom prst="rect">
              <a:avLst/>
            </a:prstGeom>
          </p:spPr>
          <p:txBody>
            <a:bodyPr lIns="30470" tIns="30470" rIns="30470" bIns="30470" rtlCol="0" anchor="ctr"/>
            <a:lstStyle/>
            <a:p>
              <a:pPr algn="ctr">
                <a:lnSpc>
                  <a:spcPts val="4875"/>
                </a:lnSpc>
              </a:pPr>
              <a:endParaRPr/>
            </a:p>
          </p:txBody>
        </p:sp>
      </p:grpSp>
      <p:sp>
        <p:nvSpPr>
          <p:cNvPr id="41" name="Freeform 41"/>
          <p:cNvSpPr/>
          <p:nvPr/>
        </p:nvSpPr>
        <p:spPr>
          <a:xfrm>
            <a:off x="7675839" y="7029652"/>
            <a:ext cx="1529106" cy="1418246"/>
          </a:xfrm>
          <a:custGeom>
            <a:avLst/>
            <a:gdLst/>
            <a:ahLst/>
            <a:cxnLst/>
            <a:rect l="l" t="t" r="r" b="b"/>
            <a:pathLst>
              <a:path w="1529106" h="1418246">
                <a:moveTo>
                  <a:pt x="0" y="0"/>
                </a:moveTo>
                <a:lnTo>
                  <a:pt x="1529106" y="0"/>
                </a:lnTo>
                <a:lnTo>
                  <a:pt x="1529106" y="1418246"/>
                </a:lnTo>
                <a:lnTo>
                  <a:pt x="0" y="1418246"/>
                </a:lnTo>
                <a:lnTo>
                  <a:pt x="0" y="0"/>
                </a:lnTo>
                <a:close/>
              </a:path>
            </a:pathLst>
          </a:custGeom>
          <a:blipFill>
            <a:blip>
              <a:extLst>
                <a:ext uri="{96DAC541-7B7A-43D3-8B79-37D633B846F1}">
                  <asvg:svgBlip xmlns:asvg="http://schemas.microsoft.com/office/drawing/2016/SVG/main" r:embed="rId8"/>
                </a:ext>
              </a:extLst>
            </a:blip>
            <a:stretch>
              <a:fillRect/>
            </a:stretch>
          </a:blipFill>
        </p:spPr>
        <p:txBody>
          <a:bodyPr/>
          <a:lstStyle/>
          <a:p>
            <a:endParaRPr lang="en-GB"/>
          </a:p>
        </p:txBody>
      </p:sp>
      <p:sp>
        <p:nvSpPr>
          <p:cNvPr id="42" name="TextBox 42"/>
          <p:cNvSpPr txBox="1"/>
          <p:nvPr/>
        </p:nvSpPr>
        <p:spPr>
          <a:xfrm>
            <a:off x="7605039" y="6609111"/>
            <a:ext cx="1639307" cy="430066"/>
          </a:xfrm>
          <a:prstGeom prst="rect">
            <a:avLst/>
          </a:prstGeom>
        </p:spPr>
        <p:txBody>
          <a:bodyPr lIns="0" tIns="0" rIns="0" bIns="0" rtlCol="0" anchor="t">
            <a:spAutoFit/>
          </a:bodyPr>
          <a:lstStyle/>
          <a:p>
            <a:pPr algn="ctr">
              <a:lnSpc>
                <a:spcPts val="3738"/>
              </a:lnSpc>
              <a:spcBef>
                <a:spcPct val="0"/>
              </a:spcBef>
            </a:pPr>
            <a:r>
              <a:rPr lang="en-US" sz="1967" b="1" spc="29">
                <a:solidFill>
                  <a:srgbClr val="000000"/>
                </a:solidFill>
                <a:latin typeface="Canva Sans Bold"/>
                <a:ea typeface="Canva Sans Bold"/>
                <a:cs typeface="Canva Sans Bold"/>
                <a:sym typeface="Canva Sans Bold"/>
              </a:rPr>
              <a:t>IoT</a:t>
            </a:r>
          </a:p>
        </p:txBody>
      </p:sp>
      <p:sp>
        <p:nvSpPr>
          <p:cNvPr id="43" name="AutoShape 43"/>
          <p:cNvSpPr/>
          <p:nvPr/>
        </p:nvSpPr>
        <p:spPr>
          <a:xfrm flipV="1">
            <a:off x="8883321" y="3451234"/>
            <a:ext cx="955116" cy="3110693"/>
          </a:xfrm>
          <a:prstGeom prst="line">
            <a:avLst/>
          </a:prstGeom>
          <a:ln w="47625" cap="flat">
            <a:solidFill>
              <a:srgbClr val="00BF63"/>
            </a:solidFill>
            <a:prstDash val="solid"/>
            <a:headEnd type="arrow" w="med" len="sm"/>
            <a:tailEnd type="arrow" w="med" len="sm"/>
          </a:ln>
        </p:spPr>
        <p:txBody>
          <a:bodyPr/>
          <a:lstStyle/>
          <a:p>
            <a:endParaRPr lang="en-GB"/>
          </a:p>
        </p:txBody>
      </p:sp>
      <p:sp>
        <p:nvSpPr>
          <p:cNvPr id="44" name="Freeform 44"/>
          <p:cNvSpPr/>
          <p:nvPr/>
        </p:nvSpPr>
        <p:spPr>
          <a:xfrm>
            <a:off x="2141988" y="5311265"/>
            <a:ext cx="594081" cy="787414"/>
          </a:xfrm>
          <a:custGeom>
            <a:avLst/>
            <a:gdLst/>
            <a:ahLst/>
            <a:cxnLst/>
            <a:rect l="l" t="t" r="r" b="b"/>
            <a:pathLst>
              <a:path w="594081" h="787414">
                <a:moveTo>
                  <a:pt x="0" y="0"/>
                </a:moveTo>
                <a:lnTo>
                  <a:pt x="594082" y="0"/>
                </a:lnTo>
                <a:lnTo>
                  <a:pt x="594082" y="787414"/>
                </a:lnTo>
                <a:lnTo>
                  <a:pt x="0" y="787414"/>
                </a:lnTo>
                <a:lnTo>
                  <a:pt x="0" y="0"/>
                </a:lnTo>
                <a:close/>
              </a:path>
            </a:pathLst>
          </a:custGeom>
          <a:blipFill>
            <a:blip r:embed="rId9"/>
            <a:stretch>
              <a:fillRect/>
            </a:stretch>
          </a:blipFill>
        </p:spPr>
        <p:txBody>
          <a:bodyPr/>
          <a:lstStyle/>
          <a:p>
            <a:endParaRPr lang="en-GB"/>
          </a:p>
        </p:txBody>
      </p:sp>
      <p:sp>
        <p:nvSpPr>
          <p:cNvPr id="45" name="Freeform 45"/>
          <p:cNvSpPr/>
          <p:nvPr/>
        </p:nvSpPr>
        <p:spPr>
          <a:xfrm>
            <a:off x="1122557" y="4390145"/>
            <a:ext cx="2632945" cy="2629654"/>
          </a:xfrm>
          <a:custGeom>
            <a:avLst/>
            <a:gdLst/>
            <a:ahLst/>
            <a:cxnLst/>
            <a:rect l="l" t="t" r="r" b="b"/>
            <a:pathLst>
              <a:path w="2632945" h="2629654">
                <a:moveTo>
                  <a:pt x="0" y="0"/>
                </a:moveTo>
                <a:lnTo>
                  <a:pt x="2632945" y="0"/>
                </a:lnTo>
                <a:lnTo>
                  <a:pt x="2632945" y="2629654"/>
                </a:lnTo>
                <a:lnTo>
                  <a:pt x="0" y="2629654"/>
                </a:lnTo>
                <a:lnTo>
                  <a:pt x="0" y="0"/>
                </a:lnTo>
                <a:close/>
              </a:path>
            </a:pathLst>
          </a:custGeom>
          <a:blipFill>
            <a:blip r:embed="rId10"/>
            <a:stretch>
              <a:fillRect/>
            </a:stretch>
          </a:blipFill>
        </p:spPr>
        <p:txBody>
          <a:bodyPr/>
          <a:lstStyle/>
          <a:p>
            <a:endParaRPr lang="en-GB"/>
          </a:p>
        </p:txBody>
      </p:sp>
      <p:sp>
        <p:nvSpPr>
          <p:cNvPr id="46" name="Freeform 46"/>
          <p:cNvSpPr/>
          <p:nvPr/>
        </p:nvSpPr>
        <p:spPr>
          <a:xfrm>
            <a:off x="1711104" y="7019799"/>
            <a:ext cx="1455850" cy="1455850"/>
          </a:xfrm>
          <a:custGeom>
            <a:avLst/>
            <a:gdLst/>
            <a:ahLst/>
            <a:cxnLst/>
            <a:rect l="l" t="t" r="r" b="b"/>
            <a:pathLst>
              <a:path w="1455850" h="1455850">
                <a:moveTo>
                  <a:pt x="0" y="0"/>
                </a:moveTo>
                <a:lnTo>
                  <a:pt x="1455850" y="0"/>
                </a:lnTo>
                <a:lnTo>
                  <a:pt x="1455850" y="1455851"/>
                </a:lnTo>
                <a:lnTo>
                  <a:pt x="0" y="1455851"/>
                </a:lnTo>
                <a:lnTo>
                  <a:pt x="0" y="0"/>
                </a:lnTo>
                <a:close/>
              </a:path>
            </a:pathLst>
          </a:custGeom>
          <a:blipFill>
            <a:blip>
              <a:extLst>
                <a:ext uri="{96DAC541-7B7A-43D3-8B79-37D633B846F1}">
                  <asvg:svgBlip xmlns:asvg="http://schemas.microsoft.com/office/drawing/2016/SVG/main" r:embed="rId11"/>
                </a:ext>
              </a:extLst>
            </a:blip>
            <a:stretch>
              <a:fillRect/>
            </a:stretch>
          </a:blipFill>
        </p:spPr>
        <p:txBody>
          <a:bodyPr/>
          <a:lstStyle/>
          <a:p>
            <a:endParaRPr lang="en-GB"/>
          </a:p>
        </p:txBody>
      </p:sp>
      <p:sp>
        <p:nvSpPr>
          <p:cNvPr id="47" name="Freeform 47"/>
          <p:cNvSpPr/>
          <p:nvPr/>
        </p:nvSpPr>
        <p:spPr>
          <a:xfrm>
            <a:off x="2276118" y="8461620"/>
            <a:ext cx="921007" cy="1301776"/>
          </a:xfrm>
          <a:custGeom>
            <a:avLst/>
            <a:gdLst/>
            <a:ahLst/>
            <a:cxnLst/>
            <a:rect l="l" t="t" r="r" b="b"/>
            <a:pathLst>
              <a:path w="921007" h="1301776">
                <a:moveTo>
                  <a:pt x="0" y="0"/>
                </a:moveTo>
                <a:lnTo>
                  <a:pt x="921007" y="0"/>
                </a:lnTo>
                <a:lnTo>
                  <a:pt x="921007" y="1301777"/>
                </a:lnTo>
                <a:lnTo>
                  <a:pt x="0" y="1301777"/>
                </a:lnTo>
                <a:lnTo>
                  <a:pt x="0" y="0"/>
                </a:lnTo>
                <a:close/>
              </a:path>
            </a:pathLst>
          </a:custGeom>
          <a:blipFill>
            <a:blip>
              <a:extLst>
                <a:ext uri="{96DAC541-7B7A-43D3-8B79-37D633B846F1}">
                  <asvg:svgBlip xmlns:asvg="http://schemas.microsoft.com/office/drawing/2016/SVG/main" r:embed="rId12"/>
                </a:ext>
              </a:extLst>
            </a:blip>
            <a:stretch>
              <a:fillRect/>
            </a:stretch>
          </a:blipFill>
        </p:spPr>
        <p:txBody>
          <a:bodyPr/>
          <a:lstStyle/>
          <a:p>
            <a:endParaRPr lang="en-GB"/>
          </a:p>
        </p:txBody>
      </p:sp>
      <p:sp>
        <p:nvSpPr>
          <p:cNvPr id="48" name="Freeform 48"/>
          <p:cNvSpPr/>
          <p:nvPr/>
        </p:nvSpPr>
        <p:spPr>
          <a:xfrm>
            <a:off x="2110299" y="7272325"/>
            <a:ext cx="594081" cy="787414"/>
          </a:xfrm>
          <a:custGeom>
            <a:avLst/>
            <a:gdLst/>
            <a:ahLst/>
            <a:cxnLst/>
            <a:rect l="l" t="t" r="r" b="b"/>
            <a:pathLst>
              <a:path w="594081" h="787414">
                <a:moveTo>
                  <a:pt x="0" y="0"/>
                </a:moveTo>
                <a:lnTo>
                  <a:pt x="594081" y="0"/>
                </a:lnTo>
                <a:lnTo>
                  <a:pt x="594081" y="787414"/>
                </a:lnTo>
                <a:lnTo>
                  <a:pt x="0" y="787414"/>
                </a:lnTo>
                <a:lnTo>
                  <a:pt x="0" y="0"/>
                </a:lnTo>
                <a:close/>
              </a:path>
            </a:pathLst>
          </a:custGeom>
          <a:blipFill>
            <a:blip r:embed="rId9"/>
            <a:stretch>
              <a:fillRect/>
            </a:stretch>
          </a:blipFill>
        </p:spPr>
        <p:txBody>
          <a:bodyPr/>
          <a:lstStyle/>
          <a:p>
            <a:endParaRPr lang="en-GB"/>
          </a:p>
        </p:txBody>
      </p:sp>
      <p:sp>
        <p:nvSpPr>
          <p:cNvPr id="49" name="Freeform 49"/>
          <p:cNvSpPr/>
          <p:nvPr/>
        </p:nvSpPr>
        <p:spPr>
          <a:xfrm>
            <a:off x="2142540" y="8667090"/>
            <a:ext cx="594081" cy="787414"/>
          </a:xfrm>
          <a:custGeom>
            <a:avLst/>
            <a:gdLst/>
            <a:ahLst/>
            <a:cxnLst/>
            <a:rect l="l" t="t" r="r" b="b"/>
            <a:pathLst>
              <a:path w="594081" h="787414">
                <a:moveTo>
                  <a:pt x="0" y="0"/>
                </a:moveTo>
                <a:lnTo>
                  <a:pt x="594082" y="0"/>
                </a:lnTo>
                <a:lnTo>
                  <a:pt x="594082" y="787414"/>
                </a:lnTo>
                <a:lnTo>
                  <a:pt x="0" y="787414"/>
                </a:lnTo>
                <a:lnTo>
                  <a:pt x="0" y="0"/>
                </a:lnTo>
                <a:close/>
              </a:path>
            </a:pathLst>
          </a:custGeom>
          <a:blipFill>
            <a:blip r:embed="rId9"/>
            <a:stretch>
              <a:fillRect/>
            </a:stretch>
          </a:blipFill>
        </p:spPr>
        <p:txBody>
          <a:bodyPr/>
          <a:lstStyle/>
          <a:p>
            <a:endParaRPr lang="en-GB"/>
          </a:p>
        </p:txBody>
      </p:sp>
      <p:sp>
        <p:nvSpPr>
          <p:cNvPr id="50" name="TextBox 50"/>
          <p:cNvSpPr txBox="1"/>
          <p:nvPr/>
        </p:nvSpPr>
        <p:spPr>
          <a:xfrm>
            <a:off x="884336" y="3825942"/>
            <a:ext cx="3115058" cy="430066"/>
          </a:xfrm>
          <a:prstGeom prst="rect">
            <a:avLst/>
          </a:prstGeom>
        </p:spPr>
        <p:txBody>
          <a:bodyPr lIns="0" tIns="0" rIns="0" bIns="0" rtlCol="0" anchor="t">
            <a:spAutoFit/>
          </a:bodyPr>
          <a:lstStyle/>
          <a:p>
            <a:pPr algn="ctr">
              <a:lnSpc>
                <a:spcPts val="3738"/>
              </a:lnSpc>
              <a:spcBef>
                <a:spcPct val="0"/>
              </a:spcBef>
            </a:pPr>
            <a:r>
              <a:rPr lang="en-US" sz="1967" b="1" spc="29">
                <a:solidFill>
                  <a:srgbClr val="000000"/>
                </a:solidFill>
                <a:latin typeface="Canva Sans Bold"/>
                <a:ea typeface="Canva Sans Bold"/>
                <a:cs typeface="Canva Sans Bold"/>
                <a:sym typeface="Canva Sans Bold"/>
              </a:rPr>
              <a:t>Physical demo</a:t>
            </a:r>
          </a:p>
        </p:txBody>
      </p:sp>
      <p:grpSp>
        <p:nvGrpSpPr>
          <p:cNvPr id="51" name="Group 51"/>
          <p:cNvGrpSpPr/>
          <p:nvPr/>
        </p:nvGrpSpPr>
        <p:grpSpPr>
          <a:xfrm>
            <a:off x="1046598" y="3959292"/>
            <a:ext cx="2790533" cy="5963463"/>
            <a:chOff x="0" y="0"/>
            <a:chExt cx="771833" cy="1649433"/>
          </a:xfrm>
        </p:grpSpPr>
        <p:sp>
          <p:nvSpPr>
            <p:cNvPr id="52" name="Freeform 52"/>
            <p:cNvSpPr/>
            <p:nvPr/>
          </p:nvSpPr>
          <p:spPr>
            <a:xfrm>
              <a:off x="0" y="0"/>
              <a:ext cx="771833" cy="1649433"/>
            </a:xfrm>
            <a:custGeom>
              <a:avLst/>
              <a:gdLst/>
              <a:ahLst/>
              <a:cxnLst/>
              <a:rect l="l" t="t" r="r" b="b"/>
              <a:pathLst>
                <a:path w="771833" h="1649433">
                  <a:moveTo>
                    <a:pt x="0" y="0"/>
                  </a:moveTo>
                  <a:lnTo>
                    <a:pt x="771833" y="0"/>
                  </a:lnTo>
                  <a:lnTo>
                    <a:pt x="771833" y="1649433"/>
                  </a:lnTo>
                  <a:lnTo>
                    <a:pt x="0" y="1649433"/>
                  </a:lnTo>
                  <a:close/>
                </a:path>
              </a:pathLst>
            </a:custGeom>
            <a:ln w="9525" cap="sq">
              <a:solidFill>
                <a:srgbClr val="000000"/>
              </a:solidFill>
              <a:prstDash val="solid"/>
              <a:miter/>
            </a:ln>
          </p:spPr>
          <p:txBody>
            <a:bodyPr/>
            <a:lstStyle/>
            <a:p>
              <a:endParaRPr lang="en-GB"/>
            </a:p>
          </p:txBody>
        </p:sp>
        <p:sp>
          <p:nvSpPr>
            <p:cNvPr id="53" name="TextBox 53"/>
            <p:cNvSpPr txBox="1"/>
            <p:nvPr/>
          </p:nvSpPr>
          <p:spPr>
            <a:xfrm>
              <a:off x="0" y="-171450"/>
              <a:ext cx="771833" cy="1820883"/>
            </a:xfrm>
            <a:prstGeom prst="rect">
              <a:avLst/>
            </a:prstGeom>
          </p:spPr>
          <p:txBody>
            <a:bodyPr lIns="48373" tIns="48373" rIns="48373" bIns="48373" rtlCol="0" anchor="ctr"/>
            <a:lstStyle/>
            <a:p>
              <a:pPr algn="ctr">
                <a:lnSpc>
                  <a:spcPts val="4875"/>
                </a:lnSpc>
              </a:pPr>
              <a:endParaRPr/>
            </a:p>
          </p:txBody>
        </p:sp>
      </p:grpSp>
      <p:sp>
        <p:nvSpPr>
          <p:cNvPr id="54" name="Freeform 54"/>
          <p:cNvSpPr/>
          <p:nvPr/>
        </p:nvSpPr>
        <p:spPr>
          <a:xfrm rot="2700000" flipH="1" flipV="1">
            <a:off x="4635624" y="7319060"/>
            <a:ext cx="2274067" cy="2908691"/>
          </a:xfrm>
          <a:custGeom>
            <a:avLst/>
            <a:gdLst/>
            <a:ahLst/>
            <a:cxnLst/>
            <a:rect l="l" t="t" r="r" b="b"/>
            <a:pathLst>
              <a:path w="2274067" h="2908691">
                <a:moveTo>
                  <a:pt x="2274067" y="2908691"/>
                </a:moveTo>
                <a:lnTo>
                  <a:pt x="0" y="2908691"/>
                </a:lnTo>
                <a:lnTo>
                  <a:pt x="0" y="0"/>
                </a:lnTo>
                <a:lnTo>
                  <a:pt x="2274067" y="0"/>
                </a:lnTo>
                <a:lnTo>
                  <a:pt x="2274067" y="2908691"/>
                </a:lnTo>
                <a:close/>
              </a:path>
            </a:pathLst>
          </a:custGeom>
          <a:blipFill>
            <a:blip>
              <a:extLst>
                <a:ext uri="{96DAC541-7B7A-43D3-8B79-37D633B846F1}">
                  <asvg:svgBlip xmlns:asvg="http://schemas.microsoft.com/office/drawing/2016/SVG/main" r:embed="rId13"/>
                </a:ext>
              </a:extLst>
            </a:blip>
            <a:stretch>
              <a:fillRect/>
            </a:stretch>
          </a:blipFill>
          <a:ln cap="sq">
            <a:noFill/>
            <a:prstDash val="solid"/>
            <a:miter/>
          </a:ln>
        </p:spPr>
        <p:txBody>
          <a:bodyPr/>
          <a:lstStyle/>
          <a:p>
            <a:endParaRPr lang="en-GB"/>
          </a:p>
        </p:txBody>
      </p:sp>
      <p:sp>
        <p:nvSpPr>
          <p:cNvPr id="55" name="AutoShape 55"/>
          <p:cNvSpPr/>
          <p:nvPr/>
        </p:nvSpPr>
        <p:spPr>
          <a:xfrm>
            <a:off x="7759227" y="2375226"/>
            <a:ext cx="1569046" cy="0"/>
          </a:xfrm>
          <a:prstGeom prst="line">
            <a:avLst/>
          </a:prstGeom>
          <a:ln w="47625" cap="flat">
            <a:solidFill>
              <a:srgbClr val="004AAD"/>
            </a:solidFill>
            <a:prstDash val="solid"/>
            <a:headEnd type="none" w="sm" len="sm"/>
            <a:tailEnd type="arrow" w="med" len="sm"/>
          </a:ln>
        </p:spPr>
        <p:txBody>
          <a:bodyPr/>
          <a:lstStyle/>
          <a:p>
            <a:endParaRPr lang="en-GB"/>
          </a:p>
        </p:txBody>
      </p:sp>
      <p:sp>
        <p:nvSpPr>
          <p:cNvPr id="56" name="AutoShape 56"/>
          <p:cNvSpPr/>
          <p:nvPr/>
        </p:nvSpPr>
        <p:spPr>
          <a:xfrm flipV="1">
            <a:off x="2994065" y="1868122"/>
            <a:ext cx="1569046" cy="425122"/>
          </a:xfrm>
          <a:prstGeom prst="line">
            <a:avLst/>
          </a:prstGeom>
          <a:ln w="47625" cap="flat">
            <a:solidFill>
              <a:srgbClr val="004AAD"/>
            </a:solidFill>
            <a:prstDash val="solid"/>
            <a:headEnd type="none" w="sm" len="sm"/>
            <a:tailEnd type="arrow" w="med" len="sm"/>
          </a:ln>
        </p:spPr>
        <p:txBody>
          <a:bodyPr/>
          <a:lstStyle/>
          <a:p>
            <a:endParaRPr lang="en-GB"/>
          </a:p>
        </p:txBody>
      </p:sp>
      <p:grpSp>
        <p:nvGrpSpPr>
          <p:cNvPr id="57" name="Group 57"/>
          <p:cNvGrpSpPr/>
          <p:nvPr/>
        </p:nvGrpSpPr>
        <p:grpSpPr>
          <a:xfrm>
            <a:off x="4715211" y="1019175"/>
            <a:ext cx="2889828" cy="5267768"/>
            <a:chOff x="0" y="0"/>
            <a:chExt cx="799297" cy="1457011"/>
          </a:xfrm>
        </p:grpSpPr>
        <p:sp>
          <p:nvSpPr>
            <p:cNvPr id="58" name="Freeform 58"/>
            <p:cNvSpPr/>
            <p:nvPr/>
          </p:nvSpPr>
          <p:spPr>
            <a:xfrm>
              <a:off x="0" y="0"/>
              <a:ext cx="799297" cy="1457011"/>
            </a:xfrm>
            <a:custGeom>
              <a:avLst/>
              <a:gdLst/>
              <a:ahLst/>
              <a:cxnLst/>
              <a:rect l="l" t="t" r="r" b="b"/>
              <a:pathLst>
                <a:path w="799297" h="1457011">
                  <a:moveTo>
                    <a:pt x="0" y="0"/>
                  </a:moveTo>
                  <a:lnTo>
                    <a:pt x="799297" y="0"/>
                  </a:lnTo>
                  <a:lnTo>
                    <a:pt x="799297" y="1457011"/>
                  </a:lnTo>
                  <a:lnTo>
                    <a:pt x="0" y="1457011"/>
                  </a:lnTo>
                  <a:close/>
                </a:path>
              </a:pathLst>
            </a:custGeom>
            <a:ln w="9525" cap="sq">
              <a:solidFill>
                <a:srgbClr val="000000"/>
              </a:solidFill>
              <a:prstDash val="solid"/>
              <a:miter/>
            </a:ln>
          </p:spPr>
          <p:txBody>
            <a:bodyPr/>
            <a:lstStyle/>
            <a:p>
              <a:endParaRPr lang="en-GB"/>
            </a:p>
          </p:txBody>
        </p:sp>
        <p:sp>
          <p:nvSpPr>
            <p:cNvPr id="59" name="TextBox 59"/>
            <p:cNvSpPr txBox="1"/>
            <p:nvPr/>
          </p:nvSpPr>
          <p:spPr>
            <a:xfrm>
              <a:off x="0" y="-171450"/>
              <a:ext cx="799297" cy="1628461"/>
            </a:xfrm>
            <a:prstGeom prst="rect">
              <a:avLst/>
            </a:prstGeom>
          </p:spPr>
          <p:txBody>
            <a:bodyPr lIns="48373" tIns="48373" rIns="48373" bIns="48373" rtlCol="0" anchor="ctr"/>
            <a:lstStyle/>
            <a:p>
              <a:pPr algn="ctr">
                <a:lnSpc>
                  <a:spcPts val="4875"/>
                </a:lnSpc>
              </a:pPr>
              <a:endParaRPr/>
            </a:p>
          </p:txBody>
        </p:sp>
      </p:grpSp>
      <p:sp>
        <p:nvSpPr>
          <p:cNvPr id="60" name="Freeform 60"/>
          <p:cNvSpPr/>
          <p:nvPr/>
        </p:nvSpPr>
        <p:spPr>
          <a:xfrm>
            <a:off x="5376031" y="3256380"/>
            <a:ext cx="1476206" cy="1476206"/>
          </a:xfrm>
          <a:custGeom>
            <a:avLst/>
            <a:gdLst/>
            <a:ahLst/>
            <a:cxnLst/>
            <a:rect l="l" t="t" r="r" b="b"/>
            <a:pathLst>
              <a:path w="1476206" h="1476206">
                <a:moveTo>
                  <a:pt x="0" y="0"/>
                </a:moveTo>
                <a:lnTo>
                  <a:pt x="1476206" y="0"/>
                </a:lnTo>
                <a:lnTo>
                  <a:pt x="1476206" y="1476205"/>
                </a:lnTo>
                <a:lnTo>
                  <a:pt x="0" y="1476205"/>
                </a:lnTo>
                <a:lnTo>
                  <a:pt x="0" y="0"/>
                </a:lnTo>
                <a:close/>
              </a:path>
            </a:pathLst>
          </a:custGeom>
          <a:blipFill>
            <a:blip r:embed="rId14"/>
            <a:stretch>
              <a:fillRect/>
            </a:stretch>
          </a:blipFill>
        </p:spPr>
        <p:txBody>
          <a:bodyPr/>
          <a:lstStyle/>
          <a:p>
            <a:endParaRPr lang="en-GB"/>
          </a:p>
        </p:txBody>
      </p:sp>
      <p:sp>
        <p:nvSpPr>
          <p:cNvPr id="61" name="Freeform 61"/>
          <p:cNvSpPr/>
          <p:nvPr/>
        </p:nvSpPr>
        <p:spPr>
          <a:xfrm>
            <a:off x="5333016" y="1394448"/>
            <a:ext cx="1745968" cy="1453916"/>
          </a:xfrm>
          <a:custGeom>
            <a:avLst/>
            <a:gdLst/>
            <a:ahLst/>
            <a:cxnLst/>
            <a:rect l="l" t="t" r="r" b="b"/>
            <a:pathLst>
              <a:path w="1745968" h="1453916">
                <a:moveTo>
                  <a:pt x="0" y="0"/>
                </a:moveTo>
                <a:lnTo>
                  <a:pt x="1745968" y="0"/>
                </a:lnTo>
                <a:lnTo>
                  <a:pt x="1745968" y="1453915"/>
                </a:lnTo>
                <a:lnTo>
                  <a:pt x="0" y="1453915"/>
                </a:lnTo>
                <a:lnTo>
                  <a:pt x="0" y="0"/>
                </a:lnTo>
                <a:close/>
              </a:path>
            </a:pathLst>
          </a:custGeom>
          <a:blipFill>
            <a:blip>
              <a:extLst>
                <a:ext uri="{96DAC541-7B7A-43D3-8B79-37D633B846F1}">
                  <asvg:svgBlip xmlns:asvg="http://schemas.microsoft.com/office/drawing/2016/SVG/main" r:embed="rId15"/>
                </a:ext>
              </a:extLst>
            </a:blip>
            <a:stretch>
              <a:fillRect/>
            </a:stretch>
          </a:blipFill>
        </p:spPr>
        <p:txBody>
          <a:bodyPr/>
          <a:lstStyle/>
          <a:p>
            <a:endParaRPr lang="en-GB"/>
          </a:p>
        </p:txBody>
      </p:sp>
      <p:sp>
        <p:nvSpPr>
          <p:cNvPr id="62" name="Freeform 62"/>
          <p:cNvSpPr/>
          <p:nvPr/>
        </p:nvSpPr>
        <p:spPr>
          <a:xfrm>
            <a:off x="4877827" y="5167227"/>
            <a:ext cx="2619016" cy="1070523"/>
          </a:xfrm>
          <a:custGeom>
            <a:avLst/>
            <a:gdLst/>
            <a:ahLst/>
            <a:cxnLst/>
            <a:rect l="l" t="t" r="r" b="b"/>
            <a:pathLst>
              <a:path w="2619016" h="1070523">
                <a:moveTo>
                  <a:pt x="0" y="0"/>
                </a:moveTo>
                <a:lnTo>
                  <a:pt x="2619016" y="0"/>
                </a:lnTo>
                <a:lnTo>
                  <a:pt x="2619016" y="1070523"/>
                </a:lnTo>
                <a:lnTo>
                  <a:pt x="0" y="1070523"/>
                </a:lnTo>
                <a:lnTo>
                  <a:pt x="0" y="0"/>
                </a:lnTo>
                <a:close/>
              </a:path>
            </a:pathLst>
          </a:custGeom>
          <a:blipFill>
            <a:blip r:embed="rId16"/>
            <a:stretch>
              <a:fillRect/>
            </a:stretch>
          </a:blipFill>
        </p:spPr>
        <p:txBody>
          <a:bodyPr/>
          <a:lstStyle/>
          <a:p>
            <a:endParaRPr lang="en-GB"/>
          </a:p>
        </p:txBody>
      </p:sp>
      <p:sp>
        <p:nvSpPr>
          <p:cNvPr id="63" name="TextBox 63"/>
          <p:cNvSpPr txBox="1"/>
          <p:nvPr/>
        </p:nvSpPr>
        <p:spPr>
          <a:xfrm>
            <a:off x="3012973" y="885825"/>
            <a:ext cx="6202323" cy="430066"/>
          </a:xfrm>
          <a:prstGeom prst="rect">
            <a:avLst/>
          </a:prstGeom>
        </p:spPr>
        <p:txBody>
          <a:bodyPr lIns="0" tIns="0" rIns="0" bIns="0" rtlCol="0" anchor="t">
            <a:spAutoFit/>
          </a:bodyPr>
          <a:lstStyle/>
          <a:p>
            <a:pPr algn="ctr">
              <a:lnSpc>
                <a:spcPts val="3738"/>
              </a:lnSpc>
              <a:spcBef>
                <a:spcPct val="0"/>
              </a:spcBef>
            </a:pPr>
            <a:r>
              <a:rPr lang="en-US" sz="1967" b="1" spc="29">
                <a:solidFill>
                  <a:srgbClr val="000000"/>
                </a:solidFill>
                <a:latin typeface="Canva Sans Bold"/>
                <a:ea typeface="Canva Sans Bold"/>
                <a:cs typeface="Canva Sans Bold"/>
                <a:sym typeface="Canva Sans Bold"/>
              </a:rPr>
              <a:t>Emergency vehicles</a:t>
            </a:r>
          </a:p>
        </p:txBody>
      </p:sp>
      <p:sp>
        <p:nvSpPr>
          <p:cNvPr id="64" name="TextBox 64"/>
          <p:cNvSpPr txBox="1"/>
          <p:nvPr/>
        </p:nvSpPr>
        <p:spPr>
          <a:xfrm>
            <a:off x="9823017" y="1022744"/>
            <a:ext cx="3231120" cy="430066"/>
          </a:xfrm>
          <a:prstGeom prst="rect">
            <a:avLst/>
          </a:prstGeom>
        </p:spPr>
        <p:txBody>
          <a:bodyPr lIns="0" tIns="0" rIns="0" bIns="0" rtlCol="0" anchor="t">
            <a:spAutoFit/>
          </a:bodyPr>
          <a:lstStyle/>
          <a:p>
            <a:pPr algn="ctr">
              <a:lnSpc>
                <a:spcPts val="3738"/>
              </a:lnSpc>
              <a:spcBef>
                <a:spcPct val="0"/>
              </a:spcBef>
            </a:pPr>
            <a:r>
              <a:rPr lang="en-US" sz="1967" b="1" spc="29">
                <a:solidFill>
                  <a:srgbClr val="000000"/>
                </a:solidFill>
                <a:latin typeface="Canva Sans Bold"/>
                <a:ea typeface="Canva Sans Bold"/>
                <a:cs typeface="Canva Sans Bold"/>
                <a:sym typeface="Canva Sans Bold"/>
              </a:rPr>
              <a:t>Databases</a:t>
            </a:r>
          </a:p>
        </p:txBody>
      </p:sp>
      <p:sp>
        <p:nvSpPr>
          <p:cNvPr id="65" name="TextBox 65"/>
          <p:cNvSpPr txBox="1"/>
          <p:nvPr/>
        </p:nvSpPr>
        <p:spPr>
          <a:xfrm rot="-5399999">
            <a:off x="9717464" y="4740127"/>
            <a:ext cx="2650811" cy="430066"/>
          </a:xfrm>
          <a:prstGeom prst="rect">
            <a:avLst/>
          </a:prstGeom>
        </p:spPr>
        <p:txBody>
          <a:bodyPr lIns="0" tIns="0" rIns="0" bIns="0" rtlCol="0" anchor="t">
            <a:spAutoFit/>
          </a:bodyPr>
          <a:lstStyle/>
          <a:p>
            <a:pPr algn="ctr">
              <a:lnSpc>
                <a:spcPts val="3738"/>
              </a:lnSpc>
              <a:spcBef>
                <a:spcPct val="0"/>
              </a:spcBef>
            </a:pPr>
            <a:r>
              <a:rPr lang="en-US" sz="1967" b="1" spc="29">
                <a:solidFill>
                  <a:srgbClr val="000000"/>
                </a:solidFill>
                <a:latin typeface="Canva Sans Bold"/>
                <a:ea typeface="Canva Sans Bold"/>
                <a:cs typeface="Canva Sans Bold"/>
                <a:sym typeface="Canva Sans Bold"/>
              </a:rPr>
              <a:t>Analytics</a:t>
            </a:r>
          </a:p>
        </p:txBody>
      </p:sp>
      <p:sp>
        <p:nvSpPr>
          <p:cNvPr id="66" name="AutoShape 66"/>
          <p:cNvSpPr/>
          <p:nvPr/>
        </p:nvSpPr>
        <p:spPr>
          <a:xfrm>
            <a:off x="2972893" y="2444100"/>
            <a:ext cx="1590219" cy="861565"/>
          </a:xfrm>
          <a:prstGeom prst="line">
            <a:avLst/>
          </a:prstGeom>
          <a:ln w="47625" cap="flat">
            <a:solidFill>
              <a:srgbClr val="004AAD"/>
            </a:solidFill>
            <a:prstDash val="solid"/>
            <a:headEnd type="none" w="sm" len="sm"/>
            <a:tailEnd type="arrow" w="med" len="sm"/>
          </a:ln>
        </p:spPr>
        <p:txBody>
          <a:bodyPr/>
          <a:lstStyle/>
          <a:p>
            <a:endParaRPr lang="en-GB"/>
          </a:p>
        </p:txBody>
      </p:sp>
      <p:sp>
        <p:nvSpPr>
          <p:cNvPr id="67" name="AutoShape 67"/>
          <p:cNvSpPr/>
          <p:nvPr/>
        </p:nvSpPr>
        <p:spPr>
          <a:xfrm>
            <a:off x="2972893" y="2614694"/>
            <a:ext cx="1590219" cy="2131204"/>
          </a:xfrm>
          <a:prstGeom prst="line">
            <a:avLst/>
          </a:prstGeom>
          <a:ln w="47625" cap="flat">
            <a:solidFill>
              <a:srgbClr val="004AAD"/>
            </a:solidFill>
            <a:prstDash val="solid"/>
            <a:headEnd type="none" w="sm" len="sm"/>
            <a:tailEnd type="arrow" w="med" len="sm"/>
          </a:ln>
        </p:spPr>
        <p:txBody>
          <a:bodyPr/>
          <a:lstStyle/>
          <a:p>
            <a:endParaRPr lang="en-GB"/>
          </a:p>
        </p:txBody>
      </p:sp>
      <p:sp>
        <p:nvSpPr>
          <p:cNvPr id="68" name="TextBox 68"/>
          <p:cNvSpPr txBox="1"/>
          <p:nvPr/>
        </p:nvSpPr>
        <p:spPr>
          <a:xfrm>
            <a:off x="17744518" y="9676843"/>
            <a:ext cx="152400" cy="219075"/>
          </a:xfrm>
          <a:prstGeom prst="rect">
            <a:avLst/>
          </a:prstGeom>
        </p:spPr>
        <p:txBody>
          <a:bodyPr wrap="none" lIns="0" tIns="0" rIns="0" bIns="0" rtlCol="0" anchor="t">
            <a:spAutoFit/>
          </a:bodyPr>
          <a:lstStyle/>
          <a:p>
            <a:pPr algn="ctr">
              <a:lnSpc>
                <a:spcPts val="4405"/>
              </a:lnSpc>
              <a:spcBef>
                <a:spcPct val="0"/>
              </a:spcBef>
            </a:pPr>
            <a:r>
              <a:rPr lang="en-US" sz="3146">
                <a:solidFill>
                  <a:srgbClr val="1A1A1A"/>
                </a:solidFill>
                <a:latin typeface="Canva Sans"/>
                <a:ea typeface="Canva Sans"/>
                <a:cs typeface="Canva Sans"/>
                <a:sym typeface="Canva Sans"/>
              </a:rPr>
              <a:t>9</a:t>
            </a:r>
          </a:p>
        </p:txBody>
      </p:sp>
      <p:sp>
        <p:nvSpPr>
          <p:cNvPr id="69" name="TextBox 69"/>
          <p:cNvSpPr txBox="1"/>
          <p:nvPr/>
        </p:nvSpPr>
        <p:spPr>
          <a:xfrm>
            <a:off x="1522352" y="0"/>
            <a:ext cx="14899310" cy="714375"/>
          </a:xfrm>
          <a:prstGeom prst="rect">
            <a:avLst/>
          </a:prstGeom>
        </p:spPr>
        <p:txBody>
          <a:bodyPr lIns="0" tIns="0" rIns="0" bIns="0" rtlCol="0" anchor="t">
            <a:spAutoFit/>
          </a:bodyPr>
          <a:lstStyle/>
          <a:p>
            <a:pPr marL="0" lvl="0" indent="0" algn="ctr">
              <a:lnSpc>
                <a:spcPts val="5640"/>
              </a:lnSpc>
              <a:spcBef>
                <a:spcPct val="0"/>
              </a:spcBef>
            </a:pPr>
            <a:r>
              <a:rPr lang="en-US" sz="4700" b="1">
                <a:solidFill>
                  <a:srgbClr val="000000"/>
                </a:solidFill>
                <a:latin typeface="Open Sans Bold"/>
                <a:ea typeface="Open Sans Bold"/>
                <a:cs typeface="Open Sans Bold"/>
                <a:sym typeface="Open Sans Bold"/>
              </a:rPr>
              <a:t>System Architecture &amp; Integration</a:t>
            </a:r>
          </a:p>
        </p:txBody>
      </p:sp>
      <p:sp>
        <p:nvSpPr>
          <p:cNvPr id="70" name="TextBox 70"/>
          <p:cNvSpPr txBox="1"/>
          <p:nvPr/>
        </p:nvSpPr>
        <p:spPr>
          <a:xfrm>
            <a:off x="5376031" y="2810263"/>
            <a:ext cx="1481138" cy="425156"/>
          </a:xfrm>
          <a:prstGeom prst="rect">
            <a:avLst/>
          </a:prstGeom>
        </p:spPr>
        <p:txBody>
          <a:bodyPr lIns="0" tIns="0" rIns="0" bIns="0" rtlCol="0" anchor="t">
            <a:spAutoFit/>
          </a:bodyPr>
          <a:lstStyle/>
          <a:p>
            <a:pPr algn="ctr">
              <a:lnSpc>
                <a:spcPts val="3738"/>
              </a:lnSpc>
              <a:spcBef>
                <a:spcPct val="0"/>
              </a:spcBef>
            </a:pPr>
            <a:r>
              <a:rPr lang="en-US" sz="1967" b="1" spc="29">
                <a:solidFill>
                  <a:srgbClr val="000000"/>
                </a:solidFill>
                <a:latin typeface="Canva Sans Bold"/>
                <a:ea typeface="Canva Sans Bold"/>
                <a:cs typeface="Canva Sans Bold"/>
                <a:sym typeface="Canva Sans Bold"/>
              </a:rPr>
              <a:t>Pedestrians</a:t>
            </a:r>
          </a:p>
        </p:txBody>
      </p:sp>
      <p:sp>
        <p:nvSpPr>
          <p:cNvPr id="71" name="TextBox 71"/>
          <p:cNvSpPr txBox="1"/>
          <p:nvPr/>
        </p:nvSpPr>
        <p:spPr>
          <a:xfrm>
            <a:off x="5427788" y="4727328"/>
            <a:ext cx="1114723" cy="425156"/>
          </a:xfrm>
          <a:prstGeom prst="rect">
            <a:avLst/>
          </a:prstGeom>
        </p:spPr>
        <p:txBody>
          <a:bodyPr lIns="0" tIns="0" rIns="0" bIns="0" rtlCol="0" anchor="t">
            <a:spAutoFit/>
          </a:bodyPr>
          <a:lstStyle/>
          <a:p>
            <a:pPr algn="ctr">
              <a:lnSpc>
                <a:spcPts val="3738"/>
              </a:lnSpc>
              <a:spcBef>
                <a:spcPct val="0"/>
              </a:spcBef>
            </a:pPr>
            <a:r>
              <a:rPr lang="en-US" sz="1967" b="1" spc="29">
                <a:solidFill>
                  <a:srgbClr val="000000"/>
                </a:solidFill>
                <a:latin typeface="Canva Sans Bold"/>
                <a:ea typeface="Canva Sans Bold"/>
                <a:cs typeface="Canva Sans Bold"/>
                <a:sym typeface="Canva Sans Bold"/>
              </a:rPr>
              <a:t> Vehicles</a:t>
            </a: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gradFill rotWithShape="1">
          <a:gsLst>
            <a:gs pos="0">
              <a:srgbClr val="FFFFFF">
                <a:alpha val="100000"/>
              </a:srgbClr>
            </a:gs>
            <a:gs pos="100000">
              <a:srgbClr val="E6E6E6">
                <a:alpha val="100000"/>
              </a:srgbClr>
            </a:gs>
          </a:gsLst>
          <a:lin ang="0"/>
        </a:gradFill>
        <a:effectLst/>
      </p:bgPr>
    </p:bg>
    <p:spTree>
      <p:nvGrpSpPr>
        <p:cNvPr id="1" name=""/>
        <p:cNvGrpSpPr/>
        <p:nvPr/>
      </p:nvGrpSpPr>
      <p:grpSpPr>
        <a:xfrm>
          <a:off x="0" y="0"/>
          <a:ext cx="0" cy="0"/>
          <a:chOff x="0" y="0"/>
          <a:chExt cx="0" cy="0"/>
        </a:xfrm>
      </p:grpSpPr>
      <p:sp>
        <p:nvSpPr>
          <p:cNvPr id="2" name="Freeform 2"/>
          <p:cNvSpPr/>
          <p:nvPr/>
        </p:nvSpPr>
        <p:spPr>
          <a:xfrm>
            <a:off x="13881788" y="1028700"/>
            <a:ext cx="3377512" cy="4343215"/>
          </a:xfrm>
          <a:custGeom>
            <a:avLst/>
            <a:gdLst/>
            <a:ahLst/>
            <a:cxnLst/>
            <a:rect l="l" t="t" r="r" b="b"/>
            <a:pathLst>
              <a:path w="3377512" h="4343215">
                <a:moveTo>
                  <a:pt x="0" y="0"/>
                </a:moveTo>
                <a:lnTo>
                  <a:pt x="3377512" y="0"/>
                </a:lnTo>
                <a:lnTo>
                  <a:pt x="3377512" y="4343215"/>
                </a:lnTo>
                <a:lnTo>
                  <a:pt x="0" y="4343215"/>
                </a:lnTo>
                <a:lnTo>
                  <a:pt x="0" y="0"/>
                </a:lnTo>
                <a:close/>
              </a:path>
            </a:pathLst>
          </a:custGeom>
          <a:blipFill>
            <a:blip r:embed="rId2"/>
            <a:stretch>
              <a:fillRect/>
            </a:stretch>
          </a:blipFill>
        </p:spPr>
        <p:txBody>
          <a:bodyPr/>
          <a:lstStyle/>
          <a:p>
            <a:endParaRPr lang="en-GB"/>
          </a:p>
        </p:txBody>
      </p:sp>
      <p:sp>
        <p:nvSpPr>
          <p:cNvPr id="3" name="TextBox 3"/>
          <p:cNvSpPr txBox="1"/>
          <p:nvPr/>
        </p:nvSpPr>
        <p:spPr>
          <a:xfrm>
            <a:off x="1181100" y="3895217"/>
            <a:ext cx="12025716" cy="2287017"/>
          </a:xfrm>
          <a:prstGeom prst="rect">
            <a:avLst/>
          </a:prstGeom>
        </p:spPr>
        <p:txBody>
          <a:bodyPr lIns="0" tIns="0" rIns="0" bIns="0" rtlCol="0" anchor="t">
            <a:spAutoFit/>
          </a:bodyPr>
          <a:lstStyle/>
          <a:p>
            <a:pPr marL="0" lvl="0" indent="0" algn="just">
              <a:lnSpc>
                <a:spcPts val="9321"/>
              </a:lnSpc>
            </a:pPr>
            <a:r>
              <a:rPr lang="en-US" sz="5899" b="1" spc="88">
                <a:solidFill>
                  <a:srgbClr val="3D2812"/>
                </a:solidFill>
                <a:latin typeface="Canva Sans Bold"/>
                <a:ea typeface="Canva Sans Bold"/>
                <a:cs typeface="Canva Sans Bold"/>
                <a:sym typeface="Canva Sans Bold"/>
              </a:rPr>
              <a:t>IT22920218   |   Krushanth A</a:t>
            </a:r>
          </a:p>
          <a:p>
            <a:pPr marL="0" lvl="0" indent="0" algn="just">
              <a:lnSpc>
                <a:spcPts val="9321"/>
              </a:lnSpc>
            </a:pPr>
            <a:r>
              <a:rPr lang="en-US" sz="5899" b="1" spc="88">
                <a:solidFill>
                  <a:srgbClr val="3D2812"/>
                </a:solidFill>
                <a:latin typeface="Canva Sans Bold"/>
                <a:ea typeface="Canva Sans Bold"/>
                <a:cs typeface="Canva Sans Bold"/>
                <a:sym typeface="Canva Sans Bold"/>
              </a:rPr>
              <a:t>Software Engineering</a:t>
            </a:r>
          </a:p>
        </p:txBody>
      </p:sp>
      <p:sp>
        <p:nvSpPr>
          <p:cNvPr id="4" name="TextBox 4"/>
          <p:cNvSpPr txBox="1"/>
          <p:nvPr/>
        </p:nvSpPr>
        <p:spPr>
          <a:xfrm>
            <a:off x="1181100" y="6677594"/>
            <a:ext cx="14083673" cy="1582534"/>
          </a:xfrm>
          <a:prstGeom prst="rect">
            <a:avLst/>
          </a:prstGeom>
        </p:spPr>
        <p:txBody>
          <a:bodyPr lIns="0" tIns="0" rIns="0" bIns="0" rtlCol="0" anchor="t">
            <a:spAutoFit/>
          </a:bodyPr>
          <a:lstStyle/>
          <a:p>
            <a:pPr marL="0" lvl="0" indent="0" algn="l">
              <a:lnSpc>
                <a:spcPts val="5998"/>
              </a:lnSpc>
            </a:pPr>
            <a:r>
              <a:rPr lang="en-US" sz="4614" b="1" spc="69">
                <a:solidFill>
                  <a:srgbClr val="3D2812"/>
                </a:solidFill>
                <a:latin typeface="The Seasons Bold"/>
                <a:ea typeface="The Seasons Bold"/>
                <a:cs typeface="The Seasons Bold"/>
                <a:sym typeface="The Seasons Bold"/>
              </a:rPr>
              <a:t>Vehicle Detection and Traffic State Generation Module</a:t>
            </a:r>
          </a:p>
        </p:txBody>
      </p:sp>
      <p:sp>
        <p:nvSpPr>
          <p:cNvPr id="5" name="TextBox 5"/>
          <p:cNvSpPr txBox="1"/>
          <p:nvPr/>
        </p:nvSpPr>
        <p:spPr>
          <a:xfrm>
            <a:off x="17646117" y="9676843"/>
            <a:ext cx="152400" cy="219075"/>
          </a:xfrm>
          <a:prstGeom prst="rect">
            <a:avLst/>
          </a:prstGeom>
        </p:spPr>
        <p:txBody>
          <a:bodyPr wrap="none" lIns="0" tIns="0" rIns="0" bIns="0" rtlCol="0" anchor="t">
            <a:spAutoFit/>
          </a:bodyPr>
          <a:lstStyle/>
          <a:p>
            <a:pPr algn="ctr">
              <a:lnSpc>
                <a:spcPts val="4405"/>
              </a:lnSpc>
              <a:spcBef>
                <a:spcPct val="0"/>
              </a:spcBef>
            </a:pPr>
            <a:r>
              <a:rPr lang="en-US" sz="3146">
                <a:solidFill>
                  <a:srgbClr val="1A1A1A"/>
                </a:solidFill>
                <a:latin typeface="Canva Sans"/>
                <a:ea typeface="Canva Sans"/>
                <a:cs typeface="Canva Sans"/>
                <a:sym typeface="Canva Sans"/>
              </a:rPr>
              <a:t>10</a:t>
            </a:r>
          </a:p>
        </p:txBody>
      </p:sp>
      <p:grpSp>
        <p:nvGrpSpPr>
          <p:cNvPr id="6" name="Group 6"/>
          <p:cNvGrpSpPr/>
          <p:nvPr/>
        </p:nvGrpSpPr>
        <p:grpSpPr>
          <a:xfrm>
            <a:off x="161925" y="9322212"/>
            <a:ext cx="16965984" cy="964788"/>
            <a:chOff x="0" y="0"/>
            <a:chExt cx="22621312" cy="1286384"/>
          </a:xfrm>
        </p:grpSpPr>
        <p:sp>
          <p:nvSpPr>
            <p:cNvPr id="7" name="Freeform 7"/>
            <p:cNvSpPr/>
            <p:nvPr/>
          </p:nvSpPr>
          <p:spPr>
            <a:xfrm>
              <a:off x="0" y="0"/>
              <a:ext cx="5438298" cy="1286384"/>
            </a:xfrm>
            <a:custGeom>
              <a:avLst/>
              <a:gdLst/>
              <a:ahLst/>
              <a:cxnLst/>
              <a:rect l="l" t="t" r="r" b="b"/>
              <a:pathLst>
                <a:path w="5438298" h="1286384">
                  <a:moveTo>
                    <a:pt x="0" y="0"/>
                  </a:moveTo>
                  <a:lnTo>
                    <a:pt x="5438298" y="0"/>
                  </a:lnTo>
                  <a:lnTo>
                    <a:pt x="5438298" y="1286384"/>
                  </a:lnTo>
                  <a:lnTo>
                    <a:pt x="0" y="1286384"/>
                  </a:lnTo>
                  <a:lnTo>
                    <a:pt x="0" y="0"/>
                  </a:lnTo>
                  <a:close/>
                </a:path>
              </a:pathLst>
            </a:custGeom>
            <a:blipFill>
              <a:blip r:embed="rId3"/>
              <a:stretch>
                <a:fillRect/>
              </a:stretch>
            </a:blipFill>
          </p:spPr>
          <p:txBody>
            <a:bodyPr/>
            <a:lstStyle/>
            <a:p>
              <a:endParaRPr lang="en-GB"/>
            </a:p>
          </p:txBody>
        </p:sp>
        <p:sp>
          <p:nvSpPr>
            <p:cNvPr id="8" name="TextBox 8"/>
            <p:cNvSpPr txBox="1"/>
            <p:nvPr/>
          </p:nvSpPr>
          <p:spPr>
            <a:xfrm>
              <a:off x="5939922" y="435762"/>
              <a:ext cx="16681390" cy="685332"/>
            </a:xfrm>
            <a:prstGeom prst="rect">
              <a:avLst/>
            </a:prstGeom>
          </p:spPr>
          <p:txBody>
            <a:bodyPr lIns="0" tIns="0" rIns="0" bIns="0" rtlCol="0" anchor="t">
              <a:spAutoFit/>
            </a:bodyPr>
            <a:lstStyle/>
            <a:p>
              <a:pPr algn="ctr">
                <a:lnSpc>
                  <a:spcPts val="4586"/>
                </a:lnSpc>
              </a:pPr>
              <a:r>
                <a:rPr lang="en-US" sz="2866" spc="-171">
                  <a:solidFill>
                    <a:srgbClr val="000000"/>
                  </a:solidFill>
                  <a:latin typeface="Canva Sans"/>
                  <a:ea typeface="Canva Sans"/>
                  <a:cs typeface="Canva Sans"/>
                  <a:sym typeface="Canva Sans"/>
                </a:rPr>
                <a:t>IT22920218      |       Krushanth A      |       25-26J-473        |       Date: 06/01/2026</a:t>
              </a:r>
            </a:p>
          </p:txBody>
        </p:sp>
      </p:grpSp>
    </p:spTree>
  </p:cSld>
  <p:clrMapOvr>
    <a:masterClrMapping/>
  </p:clrMapOvr>
  <p:transition>
    <p:fade/>
  </p:transition>
</p:sld>
</file>

<file path=ppt/slides/slide11.xml><?xml version="1.0" encoding="utf-8"?>
<p:sld xmlns:a="http://schemas.openxmlformats.org/drawingml/2006/main" xmlns:r="http://schemas.openxmlformats.org/officeDocument/2006/relationships" xmlns:p="http://schemas.openxmlformats.org/presentationml/2006/main">
  <p:cSld>
    <p:bg>
      <p:bgPr>
        <a:gradFill rotWithShape="1">
          <a:gsLst>
            <a:gs pos="0">
              <a:srgbClr val="FFFFFF">
                <a:alpha val="100000"/>
              </a:srgbClr>
            </a:gs>
            <a:gs pos="100000">
              <a:srgbClr val="E6E6E6">
                <a:alpha val="100000"/>
              </a:srgbClr>
            </a:gs>
          </a:gsLst>
          <a:lin ang="0"/>
        </a:gradFill>
        <a:effectLst/>
      </p:bgPr>
    </p:bg>
    <p:spTree>
      <p:nvGrpSpPr>
        <p:cNvPr id="1" name=""/>
        <p:cNvGrpSpPr/>
        <p:nvPr/>
      </p:nvGrpSpPr>
      <p:grpSpPr>
        <a:xfrm>
          <a:off x="0" y="0"/>
          <a:ext cx="0" cy="0"/>
          <a:chOff x="0" y="0"/>
          <a:chExt cx="0" cy="0"/>
        </a:xfrm>
      </p:grpSpPr>
      <p:sp>
        <p:nvSpPr>
          <p:cNvPr id="2" name="TextBox 2"/>
          <p:cNvSpPr txBox="1"/>
          <p:nvPr/>
        </p:nvSpPr>
        <p:spPr>
          <a:xfrm>
            <a:off x="17744518" y="9676843"/>
            <a:ext cx="152400" cy="219075"/>
          </a:xfrm>
          <a:prstGeom prst="rect">
            <a:avLst/>
          </a:prstGeom>
        </p:spPr>
        <p:txBody>
          <a:bodyPr wrap="none" lIns="0" tIns="0" rIns="0" bIns="0" rtlCol="0" anchor="t">
            <a:spAutoFit/>
          </a:bodyPr>
          <a:lstStyle/>
          <a:p>
            <a:pPr algn="ctr">
              <a:lnSpc>
                <a:spcPts val="4405"/>
              </a:lnSpc>
              <a:spcBef>
                <a:spcPct val="0"/>
              </a:spcBef>
            </a:pPr>
            <a:r>
              <a:rPr lang="en-US" sz="3146">
                <a:solidFill>
                  <a:srgbClr val="1A1A1A"/>
                </a:solidFill>
                <a:latin typeface="Canva Sans"/>
                <a:ea typeface="Canva Sans"/>
                <a:cs typeface="Canva Sans"/>
                <a:sym typeface="Canva Sans"/>
              </a:rPr>
              <a:t>11</a:t>
            </a:r>
          </a:p>
        </p:txBody>
      </p:sp>
      <p:sp>
        <p:nvSpPr>
          <p:cNvPr id="3" name="Freeform 3"/>
          <p:cNvSpPr/>
          <p:nvPr/>
        </p:nvSpPr>
        <p:spPr>
          <a:xfrm>
            <a:off x="1477880" y="1684084"/>
            <a:ext cx="7305221" cy="2170259"/>
          </a:xfrm>
          <a:custGeom>
            <a:avLst/>
            <a:gdLst/>
            <a:ahLst/>
            <a:cxnLst/>
            <a:rect l="l" t="t" r="r" b="b"/>
            <a:pathLst>
              <a:path w="7305221" h="2170259">
                <a:moveTo>
                  <a:pt x="0" y="0"/>
                </a:moveTo>
                <a:lnTo>
                  <a:pt x="7305221" y="0"/>
                </a:lnTo>
                <a:lnTo>
                  <a:pt x="7305221" y="2170259"/>
                </a:lnTo>
                <a:lnTo>
                  <a:pt x="0" y="2170259"/>
                </a:lnTo>
                <a:lnTo>
                  <a:pt x="0" y="0"/>
                </a:lnTo>
                <a:close/>
              </a:path>
            </a:pathLst>
          </a:custGeom>
          <a:blipFill>
            <a:blip r:embed="rId2"/>
            <a:stretch>
              <a:fillRect/>
            </a:stretch>
          </a:blipFill>
        </p:spPr>
        <p:txBody>
          <a:bodyPr/>
          <a:lstStyle/>
          <a:p>
            <a:endParaRPr lang="en-GB"/>
          </a:p>
        </p:txBody>
      </p:sp>
      <p:sp>
        <p:nvSpPr>
          <p:cNvPr id="4" name="TextBox 4"/>
          <p:cNvSpPr txBox="1"/>
          <p:nvPr/>
        </p:nvSpPr>
        <p:spPr>
          <a:xfrm>
            <a:off x="9197812" y="1332699"/>
            <a:ext cx="8546706" cy="2806354"/>
          </a:xfrm>
          <a:prstGeom prst="rect">
            <a:avLst/>
          </a:prstGeom>
        </p:spPr>
        <p:txBody>
          <a:bodyPr lIns="0" tIns="0" rIns="0" bIns="0" rtlCol="0" anchor="t">
            <a:spAutoFit/>
          </a:bodyPr>
          <a:lstStyle/>
          <a:p>
            <a:pPr algn="l">
              <a:lnSpc>
                <a:spcPts val="3617"/>
              </a:lnSpc>
            </a:pPr>
            <a:r>
              <a:rPr lang="en-US" sz="2583" b="1" i="1" spc="258">
                <a:solidFill>
                  <a:srgbClr val="16130D"/>
                </a:solidFill>
                <a:latin typeface="Times New Roman Bold Italics"/>
                <a:ea typeface="Times New Roman Bold Italics"/>
                <a:cs typeface="Times New Roman Bold Italics"/>
                <a:sym typeface="Times New Roman Bold Italics"/>
              </a:rPr>
              <a:t>How it works</a:t>
            </a:r>
          </a:p>
          <a:p>
            <a:pPr algn="l">
              <a:lnSpc>
                <a:spcPts val="2077"/>
              </a:lnSpc>
            </a:pPr>
            <a:r>
              <a:rPr lang="en-US" sz="1483" b="1" spc="148">
                <a:solidFill>
                  <a:srgbClr val="16130D"/>
                </a:solidFill>
                <a:latin typeface="Times New Roman Bold"/>
                <a:ea typeface="Times New Roman Bold"/>
                <a:cs typeface="Times New Roman Bold"/>
                <a:sym typeface="Times New Roman Bold"/>
              </a:rPr>
              <a:t> </a:t>
            </a:r>
          </a:p>
          <a:p>
            <a:pPr marL="557827" lvl="1" indent="-278913" algn="l">
              <a:lnSpc>
                <a:spcPts val="3617"/>
              </a:lnSpc>
              <a:buFont typeface="Arial"/>
              <a:buChar char="•"/>
            </a:pPr>
            <a:r>
              <a:rPr lang="en-US" sz="2583" spc="258">
                <a:solidFill>
                  <a:srgbClr val="16130D"/>
                </a:solidFill>
                <a:latin typeface="Times New Roman"/>
                <a:ea typeface="Times New Roman"/>
                <a:cs typeface="Times New Roman"/>
                <a:sym typeface="Times New Roman"/>
              </a:rPr>
              <a:t>Vehicles detected using YOLO model</a:t>
            </a:r>
          </a:p>
          <a:p>
            <a:pPr marL="557827" lvl="1" indent="-278913" algn="l">
              <a:lnSpc>
                <a:spcPts val="3617"/>
              </a:lnSpc>
              <a:buFont typeface="Arial"/>
              <a:buChar char="•"/>
            </a:pPr>
            <a:r>
              <a:rPr lang="en-US" sz="2583" spc="258">
                <a:solidFill>
                  <a:srgbClr val="16130D"/>
                </a:solidFill>
                <a:latin typeface="Times New Roman"/>
                <a:ea typeface="Times New Roman"/>
                <a:cs typeface="Times New Roman"/>
                <a:sym typeface="Times New Roman"/>
              </a:rPr>
              <a:t>Vehicles classified (car, bike, bus, truck, auto)</a:t>
            </a:r>
          </a:p>
          <a:p>
            <a:pPr marL="557827" lvl="1" indent="-278913" algn="l">
              <a:lnSpc>
                <a:spcPts val="3617"/>
              </a:lnSpc>
              <a:buFont typeface="Arial"/>
              <a:buChar char="•"/>
            </a:pPr>
            <a:r>
              <a:rPr lang="en-US" sz="2583" spc="258">
                <a:solidFill>
                  <a:srgbClr val="16130D"/>
                </a:solidFill>
                <a:latin typeface="Times New Roman"/>
                <a:ea typeface="Times New Roman"/>
                <a:cs typeface="Times New Roman"/>
                <a:sym typeface="Times New Roman"/>
              </a:rPr>
              <a:t>Queue length calculated for each road</a:t>
            </a:r>
          </a:p>
          <a:p>
            <a:pPr marL="557827" lvl="1" indent="-278913" algn="l">
              <a:lnSpc>
                <a:spcPts val="3617"/>
              </a:lnSpc>
              <a:buFont typeface="Arial"/>
              <a:buChar char="•"/>
            </a:pPr>
            <a:r>
              <a:rPr lang="en-US" sz="2583" spc="258">
                <a:solidFill>
                  <a:srgbClr val="16130D"/>
                </a:solidFill>
                <a:latin typeface="Times New Roman"/>
                <a:ea typeface="Times New Roman"/>
                <a:cs typeface="Times New Roman"/>
                <a:sym typeface="Times New Roman"/>
              </a:rPr>
              <a:t>Traffic features converted into DQ state values</a:t>
            </a:r>
          </a:p>
          <a:p>
            <a:pPr algn="just">
              <a:lnSpc>
                <a:spcPts val="2020"/>
              </a:lnSpc>
            </a:pPr>
            <a:r>
              <a:rPr lang="en-US" sz="1443" spc="144">
                <a:solidFill>
                  <a:srgbClr val="16130D"/>
                </a:solidFill>
                <a:latin typeface="Times New Roman"/>
                <a:ea typeface="Times New Roman"/>
                <a:cs typeface="Times New Roman"/>
                <a:sym typeface="Times New Roman"/>
              </a:rPr>
              <a:t>               </a:t>
            </a:r>
          </a:p>
        </p:txBody>
      </p:sp>
      <p:sp>
        <p:nvSpPr>
          <p:cNvPr id="5" name="TextBox 5"/>
          <p:cNvSpPr txBox="1"/>
          <p:nvPr/>
        </p:nvSpPr>
        <p:spPr>
          <a:xfrm>
            <a:off x="2706235" y="106593"/>
            <a:ext cx="14122252" cy="657428"/>
          </a:xfrm>
          <a:prstGeom prst="rect">
            <a:avLst/>
          </a:prstGeom>
        </p:spPr>
        <p:txBody>
          <a:bodyPr lIns="0" tIns="0" rIns="0" bIns="0" rtlCol="0" anchor="t">
            <a:spAutoFit/>
          </a:bodyPr>
          <a:lstStyle/>
          <a:p>
            <a:pPr algn="l">
              <a:lnSpc>
                <a:spcPts val="5238"/>
              </a:lnSpc>
            </a:pPr>
            <a:r>
              <a:rPr lang="en-US" sz="3742" b="1">
                <a:solidFill>
                  <a:srgbClr val="16130D"/>
                </a:solidFill>
                <a:latin typeface="Times New Roman Bold"/>
                <a:ea typeface="Times New Roman Bold"/>
                <a:cs typeface="Times New Roman Bold"/>
                <a:sym typeface="Times New Roman Bold"/>
              </a:rPr>
              <a:t>Vehicle Detection and Traffic State Generation Module</a:t>
            </a:r>
          </a:p>
        </p:txBody>
      </p:sp>
      <p:sp>
        <p:nvSpPr>
          <p:cNvPr id="6" name="TextBox 6"/>
          <p:cNvSpPr txBox="1"/>
          <p:nvPr/>
        </p:nvSpPr>
        <p:spPr>
          <a:xfrm>
            <a:off x="9290400" y="3606861"/>
            <a:ext cx="8454118" cy="2297966"/>
          </a:xfrm>
          <a:prstGeom prst="rect">
            <a:avLst/>
          </a:prstGeom>
        </p:spPr>
        <p:txBody>
          <a:bodyPr lIns="0" tIns="0" rIns="0" bIns="0" rtlCol="0" anchor="t">
            <a:spAutoFit/>
          </a:bodyPr>
          <a:lstStyle/>
          <a:p>
            <a:pPr algn="l">
              <a:lnSpc>
                <a:spcPts val="3022"/>
              </a:lnSpc>
            </a:pPr>
            <a:endParaRPr/>
          </a:p>
          <a:p>
            <a:pPr algn="l">
              <a:lnSpc>
                <a:spcPts val="3022"/>
              </a:lnSpc>
            </a:pPr>
            <a:r>
              <a:rPr lang="en-US" sz="2158" b="1" i="1" spc="215">
                <a:solidFill>
                  <a:srgbClr val="16130D"/>
                </a:solidFill>
                <a:latin typeface="Times New Roman Bold Italics"/>
                <a:ea typeface="Times New Roman Bold Italics"/>
                <a:cs typeface="Times New Roman Bold Italics"/>
                <a:sym typeface="Times New Roman Bold Italics"/>
              </a:rPr>
              <a:t>Output</a:t>
            </a:r>
          </a:p>
          <a:p>
            <a:pPr algn="l">
              <a:lnSpc>
                <a:spcPts val="922"/>
              </a:lnSpc>
            </a:pPr>
            <a:r>
              <a:rPr lang="en-US" sz="658" b="1" spc="65">
                <a:solidFill>
                  <a:srgbClr val="16130D"/>
                </a:solidFill>
                <a:latin typeface="Times New Roman Bold"/>
                <a:ea typeface="Times New Roman Bold"/>
                <a:cs typeface="Times New Roman Bold"/>
                <a:sym typeface="Times New Roman Bold"/>
              </a:rPr>
              <a:t> </a:t>
            </a:r>
          </a:p>
          <a:p>
            <a:pPr marL="466078" lvl="1" indent="-233039" algn="l">
              <a:lnSpc>
                <a:spcPts val="3022"/>
              </a:lnSpc>
              <a:buFont typeface="Arial"/>
              <a:buChar char="•"/>
            </a:pPr>
            <a:r>
              <a:rPr lang="en-US" sz="2158" spc="215">
                <a:solidFill>
                  <a:srgbClr val="16130D"/>
                </a:solidFill>
                <a:latin typeface="Times New Roman"/>
                <a:ea typeface="Times New Roman"/>
                <a:cs typeface="Times New Roman"/>
                <a:sym typeface="Times New Roman"/>
              </a:rPr>
              <a:t>Generates structured traffic state data</a:t>
            </a:r>
          </a:p>
          <a:p>
            <a:pPr marL="466078" lvl="1" indent="-233039" algn="l">
              <a:lnSpc>
                <a:spcPts val="3022"/>
              </a:lnSpc>
              <a:buFont typeface="Arial"/>
              <a:buChar char="•"/>
            </a:pPr>
            <a:r>
              <a:rPr lang="en-US" sz="2158" spc="215">
                <a:solidFill>
                  <a:srgbClr val="16130D"/>
                </a:solidFill>
                <a:latin typeface="Times New Roman"/>
                <a:ea typeface="Times New Roman"/>
                <a:cs typeface="Times New Roman"/>
                <a:sym typeface="Times New Roman"/>
              </a:rPr>
              <a:t>Sends state vector to Reinforcement Learning agent</a:t>
            </a:r>
          </a:p>
          <a:p>
            <a:pPr algn="l">
              <a:lnSpc>
                <a:spcPts val="3022"/>
              </a:lnSpc>
            </a:pPr>
            <a:endParaRPr lang="en-US" sz="2158" spc="215">
              <a:solidFill>
                <a:srgbClr val="16130D"/>
              </a:solidFill>
              <a:latin typeface="Times New Roman"/>
              <a:ea typeface="Times New Roman"/>
              <a:cs typeface="Times New Roman"/>
              <a:sym typeface="Times New Roman"/>
            </a:endParaRPr>
          </a:p>
          <a:p>
            <a:pPr algn="just">
              <a:lnSpc>
                <a:spcPts val="2042"/>
              </a:lnSpc>
            </a:pPr>
            <a:r>
              <a:rPr lang="en-US" sz="1458" spc="145">
                <a:solidFill>
                  <a:srgbClr val="16130D"/>
                </a:solidFill>
                <a:latin typeface="Times New Roman"/>
                <a:ea typeface="Times New Roman"/>
                <a:cs typeface="Times New Roman"/>
                <a:sym typeface="Times New Roman"/>
              </a:rPr>
              <a:t>               </a:t>
            </a:r>
          </a:p>
        </p:txBody>
      </p:sp>
      <p:sp>
        <p:nvSpPr>
          <p:cNvPr id="7" name="Freeform 7"/>
          <p:cNvSpPr/>
          <p:nvPr/>
        </p:nvSpPr>
        <p:spPr>
          <a:xfrm>
            <a:off x="10490715" y="6270195"/>
            <a:ext cx="6337772" cy="3129275"/>
          </a:xfrm>
          <a:custGeom>
            <a:avLst/>
            <a:gdLst/>
            <a:ahLst/>
            <a:cxnLst/>
            <a:rect l="l" t="t" r="r" b="b"/>
            <a:pathLst>
              <a:path w="6337772" h="3129275">
                <a:moveTo>
                  <a:pt x="0" y="0"/>
                </a:moveTo>
                <a:lnTo>
                  <a:pt x="6337772" y="0"/>
                </a:lnTo>
                <a:lnTo>
                  <a:pt x="6337772" y="3129275"/>
                </a:lnTo>
                <a:lnTo>
                  <a:pt x="0" y="3129275"/>
                </a:lnTo>
                <a:lnTo>
                  <a:pt x="0" y="0"/>
                </a:lnTo>
                <a:close/>
              </a:path>
            </a:pathLst>
          </a:custGeom>
          <a:blipFill>
            <a:blip r:embed="rId3"/>
            <a:stretch>
              <a:fillRect/>
            </a:stretch>
          </a:blipFill>
        </p:spPr>
        <p:txBody>
          <a:bodyPr/>
          <a:lstStyle/>
          <a:p>
            <a:endParaRPr lang="en-GB"/>
          </a:p>
        </p:txBody>
      </p:sp>
      <p:sp>
        <p:nvSpPr>
          <p:cNvPr id="8" name="TextBox 8"/>
          <p:cNvSpPr txBox="1"/>
          <p:nvPr/>
        </p:nvSpPr>
        <p:spPr>
          <a:xfrm>
            <a:off x="1150066" y="6311842"/>
            <a:ext cx="9109746" cy="657428"/>
          </a:xfrm>
          <a:prstGeom prst="rect">
            <a:avLst/>
          </a:prstGeom>
        </p:spPr>
        <p:txBody>
          <a:bodyPr lIns="0" tIns="0" rIns="0" bIns="0" rtlCol="0" anchor="t">
            <a:spAutoFit/>
          </a:bodyPr>
          <a:lstStyle/>
          <a:p>
            <a:pPr algn="l">
              <a:lnSpc>
                <a:spcPts val="5238"/>
              </a:lnSpc>
            </a:pPr>
            <a:r>
              <a:rPr lang="en-US" sz="3742" b="1">
                <a:solidFill>
                  <a:srgbClr val="16130D"/>
                </a:solidFill>
                <a:latin typeface="Times New Roman Bold"/>
                <a:ea typeface="Times New Roman Bold"/>
                <a:cs typeface="Times New Roman Bold"/>
                <a:sym typeface="Times New Roman Bold"/>
              </a:rPr>
              <a:t>Real-Time Accident Detection Using YOLO</a:t>
            </a:r>
          </a:p>
        </p:txBody>
      </p:sp>
      <p:grpSp>
        <p:nvGrpSpPr>
          <p:cNvPr id="9" name="Group 9"/>
          <p:cNvGrpSpPr/>
          <p:nvPr/>
        </p:nvGrpSpPr>
        <p:grpSpPr>
          <a:xfrm>
            <a:off x="152400" y="9322212"/>
            <a:ext cx="16965984" cy="964788"/>
            <a:chOff x="0" y="0"/>
            <a:chExt cx="22621312" cy="1286384"/>
          </a:xfrm>
        </p:grpSpPr>
        <p:sp>
          <p:nvSpPr>
            <p:cNvPr id="10" name="Freeform 10"/>
            <p:cNvSpPr/>
            <p:nvPr/>
          </p:nvSpPr>
          <p:spPr>
            <a:xfrm>
              <a:off x="0" y="0"/>
              <a:ext cx="5438298" cy="1286384"/>
            </a:xfrm>
            <a:custGeom>
              <a:avLst/>
              <a:gdLst/>
              <a:ahLst/>
              <a:cxnLst/>
              <a:rect l="l" t="t" r="r" b="b"/>
              <a:pathLst>
                <a:path w="5438298" h="1286384">
                  <a:moveTo>
                    <a:pt x="0" y="0"/>
                  </a:moveTo>
                  <a:lnTo>
                    <a:pt x="5438298" y="0"/>
                  </a:lnTo>
                  <a:lnTo>
                    <a:pt x="5438298" y="1286384"/>
                  </a:lnTo>
                  <a:lnTo>
                    <a:pt x="0" y="1286384"/>
                  </a:lnTo>
                  <a:lnTo>
                    <a:pt x="0" y="0"/>
                  </a:lnTo>
                  <a:close/>
                </a:path>
              </a:pathLst>
            </a:custGeom>
            <a:blipFill>
              <a:blip r:embed="rId4"/>
              <a:stretch>
                <a:fillRect/>
              </a:stretch>
            </a:blipFill>
          </p:spPr>
          <p:txBody>
            <a:bodyPr/>
            <a:lstStyle/>
            <a:p>
              <a:endParaRPr lang="en-GB"/>
            </a:p>
          </p:txBody>
        </p:sp>
        <p:sp>
          <p:nvSpPr>
            <p:cNvPr id="11" name="TextBox 11"/>
            <p:cNvSpPr txBox="1"/>
            <p:nvPr/>
          </p:nvSpPr>
          <p:spPr>
            <a:xfrm>
              <a:off x="5939922" y="435762"/>
              <a:ext cx="16681390" cy="685332"/>
            </a:xfrm>
            <a:prstGeom prst="rect">
              <a:avLst/>
            </a:prstGeom>
          </p:spPr>
          <p:txBody>
            <a:bodyPr lIns="0" tIns="0" rIns="0" bIns="0" rtlCol="0" anchor="t">
              <a:spAutoFit/>
            </a:bodyPr>
            <a:lstStyle/>
            <a:p>
              <a:pPr algn="ctr">
                <a:lnSpc>
                  <a:spcPts val="4586"/>
                </a:lnSpc>
              </a:pPr>
              <a:r>
                <a:rPr lang="en-US" sz="2866" spc="-171">
                  <a:solidFill>
                    <a:srgbClr val="000000"/>
                  </a:solidFill>
                  <a:latin typeface="Canva Sans"/>
                  <a:ea typeface="Canva Sans"/>
                  <a:cs typeface="Canva Sans"/>
                  <a:sym typeface="Canva Sans"/>
                </a:rPr>
                <a:t>IT22920218      |       Krushanth A      |       25-26J-473        |       Date: 06/01/2026</a:t>
              </a:r>
            </a:p>
          </p:txBody>
        </p:sp>
      </p:gr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gradFill rotWithShape="1">
          <a:gsLst>
            <a:gs pos="0">
              <a:srgbClr val="FFFFFF">
                <a:alpha val="100000"/>
              </a:srgbClr>
            </a:gs>
            <a:gs pos="100000">
              <a:srgbClr val="E6E6E6">
                <a:alpha val="100000"/>
              </a:srgbClr>
            </a:gs>
          </a:gsLst>
          <a:lin ang="0"/>
        </a:gradFill>
        <a:effectLst/>
      </p:bgPr>
    </p:bg>
    <p:spTree>
      <p:nvGrpSpPr>
        <p:cNvPr id="1" name=""/>
        <p:cNvGrpSpPr/>
        <p:nvPr/>
      </p:nvGrpSpPr>
      <p:grpSpPr>
        <a:xfrm>
          <a:off x="0" y="0"/>
          <a:ext cx="0" cy="0"/>
          <a:chOff x="0" y="0"/>
          <a:chExt cx="0" cy="0"/>
        </a:xfrm>
      </p:grpSpPr>
      <p:sp>
        <p:nvSpPr>
          <p:cNvPr id="2" name="Freeform 2"/>
          <p:cNvSpPr/>
          <p:nvPr/>
        </p:nvSpPr>
        <p:spPr>
          <a:xfrm>
            <a:off x="0" y="9322212"/>
            <a:ext cx="4078723" cy="964788"/>
          </a:xfrm>
          <a:custGeom>
            <a:avLst/>
            <a:gdLst/>
            <a:ahLst/>
            <a:cxnLst/>
            <a:rect l="l" t="t" r="r" b="b"/>
            <a:pathLst>
              <a:path w="4078723" h="964788">
                <a:moveTo>
                  <a:pt x="0" y="0"/>
                </a:moveTo>
                <a:lnTo>
                  <a:pt x="4078723" y="0"/>
                </a:lnTo>
                <a:lnTo>
                  <a:pt x="4078723" y="964788"/>
                </a:lnTo>
                <a:lnTo>
                  <a:pt x="0" y="964788"/>
                </a:lnTo>
                <a:lnTo>
                  <a:pt x="0" y="0"/>
                </a:lnTo>
                <a:close/>
              </a:path>
            </a:pathLst>
          </a:custGeom>
          <a:blipFill>
            <a:blip r:embed="rId2"/>
            <a:stretch>
              <a:fillRect/>
            </a:stretch>
          </a:blipFill>
        </p:spPr>
        <p:txBody>
          <a:bodyPr/>
          <a:lstStyle/>
          <a:p>
            <a:endParaRPr lang="en-GB"/>
          </a:p>
        </p:txBody>
      </p:sp>
      <p:sp>
        <p:nvSpPr>
          <p:cNvPr id="3" name="TextBox 3"/>
          <p:cNvSpPr txBox="1"/>
          <p:nvPr/>
        </p:nvSpPr>
        <p:spPr>
          <a:xfrm>
            <a:off x="1028700" y="2608456"/>
            <a:ext cx="13415210" cy="2287017"/>
          </a:xfrm>
          <a:prstGeom prst="rect">
            <a:avLst/>
          </a:prstGeom>
        </p:spPr>
        <p:txBody>
          <a:bodyPr lIns="0" tIns="0" rIns="0" bIns="0" rtlCol="0" anchor="t">
            <a:spAutoFit/>
          </a:bodyPr>
          <a:lstStyle/>
          <a:p>
            <a:pPr marL="0" lvl="0" indent="0" algn="just">
              <a:lnSpc>
                <a:spcPts val="9321"/>
              </a:lnSpc>
            </a:pPr>
            <a:r>
              <a:rPr lang="en-US" sz="5899" b="1" spc="88">
                <a:solidFill>
                  <a:srgbClr val="3D2812"/>
                </a:solidFill>
                <a:latin typeface="Canva Sans Bold"/>
                <a:ea typeface="Canva Sans Bold"/>
                <a:cs typeface="Canva Sans Bold"/>
                <a:sym typeface="Canva Sans Bold"/>
              </a:rPr>
              <a:t>IT22000576   |   Fernandopulle S N</a:t>
            </a:r>
          </a:p>
          <a:p>
            <a:pPr marL="0" lvl="0" indent="0" algn="just">
              <a:lnSpc>
                <a:spcPts val="9321"/>
              </a:lnSpc>
            </a:pPr>
            <a:r>
              <a:rPr lang="en-US" sz="5899" b="1" spc="88">
                <a:solidFill>
                  <a:srgbClr val="3D2812"/>
                </a:solidFill>
                <a:latin typeface="Canva Sans Bold"/>
                <a:ea typeface="Canva Sans Bold"/>
                <a:cs typeface="Canva Sans Bold"/>
                <a:sym typeface="Canva Sans Bold"/>
              </a:rPr>
              <a:t>Software Engineering</a:t>
            </a:r>
          </a:p>
        </p:txBody>
      </p:sp>
      <p:sp>
        <p:nvSpPr>
          <p:cNvPr id="4" name="TextBox 4"/>
          <p:cNvSpPr txBox="1"/>
          <p:nvPr/>
        </p:nvSpPr>
        <p:spPr>
          <a:xfrm>
            <a:off x="775248" y="5486618"/>
            <a:ext cx="15809684" cy="3118894"/>
          </a:xfrm>
          <a:prstGeom prst="rect">
            <a:avLst/>
          </a:prstGeom>
        </p:spPr>
        <p:txBody>
          <a:bodyPr lIns="0" tIns="0" rIns="0" bIns="0" rtlCol="0" anchor="t">
            <a:spAutoFit/>
          </a:bodyPr>
          <a:lstStyle/>
          <a:p>
            <a:pPr marL="0" lvl="0" indent="0" algn="l">
              <a:lnSpc>
                <a:spcPts val="5998"/>
              </a:lnSpc>
            </a:pPr>
            <a:r>
              <a:rPr lang="en-US" sz="4614" b="1" spc="69">
                <a:solidFill>
                  <a:srgbClr val="3D2812"/>
                </a:solidFill>
                <a:latin typeface="The Seasons Bold"/>
                <a:ea typeface="The Seasons Bold"/>
                <a:cs typeface="The Seasons Bold"/>
                <a:sym typeface="The Seasons Bold"/>
              </a:rPr>
              <a:t>CENTRALIZED TRAINING AND DECENTRALIZED </a:t>
            </a:r>
          </a:p>
          <a:p>
            <a:pPr marL="0" lvl="0" indent="0" algn="l">
              <a:lnSpc>
                <a:spcPts val="5998"/>
              </a:lnSpc>
            </a:pPr>
            <a:r>
              <a:rPr lang="en-US" sz="4614" b="1" spc="69">
                <a:solidFill>
                  <a:srgbClr val="3D2812"/>
                </a:solidFill>
                <a:latin typeface="The Seasons Bold"/>
                <a:ea typeface="The Seasons Bold"/>
                <a:cs typeface="The Seasons Bold"/>
                <a:sym typeface="The Seasons Bold"/>
              </a:rPr>
              <a:t>EXECUTION OF MULTI-AGENT REINFORCEMENT LEARNING SYSTEM FOR COOPERATIVE TRAFFIC SIGNAL CONTROL</a:t>
            </a:r>
          </a:p>
        </p:txBody>
      </p:sp>
      <p:sp>
        <p:nvSpPr>
          <p:cNvPr id="5" name="Freeform 5"/>
          <p:cNvSpPr/>
          <p:nvPr/>
        </p:nvSpPr>
        <p:spPr>
          <a:xfrm>
            <a:off x="14596310" y="2070606"/>
            <a:ext cx="2843498" cy="3572266"/>
          </a:xfrm>
          <a:custGeom>
            <a:avLst/>
            <a:gdLst/>
            <a:ahLst/>
            <a:cxnLst/>
            <a:rect l="l" t="t" r="r" b="b"/>
            <a:pathLst>
              <a:path w="2843498" h="3572266">
                <a:moveTo>
                  <a:pt x="0" y="0"/>
                </a:moveTo>
                <a:lnTo>
                  <a:pt x="2843499" y="0"/>
                </a:lnTo>
                <a:lnTo>
                  <a:pt x="2843499" y="3572266"/>
                </a:lnTo>
                <a:lnTo>
                  <a:pt x="0" y="3572266"/>
                </a:lnTo>
                <a:lnTo>
                  <a:pt x="0" y="0"/>
                </a:lnTo>
                <a:close/>
              </a:path>
            </a:pathLst>
          </a:custGeom>
          <a:blipFill>
            <a:blip r:embed="rId3"/>
            <a:stretch>
              <a:fillRect l="-5040" r="-5040"/>
            </a:stretch>
          </a:blipFill>
        </p:spPr>
        <p:txBody>
          <a:bodyPr/>
          <a:lstStyle/>
          <a:p>
            <a:endParaRPr lang="en-GB"/>
          </a:p>
        </p:txBody>
      </p:sp>
      <p:sp>
        <p:nvSpPr>
          <p:cNvPr id="6" name="TextBox 6"/>
          <p:cNvSpPr txBox="1"/>
          <p:nvPr/>
        </p:nvSpPr>
        <p:spPr>
          <a:xfrm>
            <a:off x="17646117" y="9676843"/>
            <a:ext cx="152400" cy="219075"/>
          </a:xfrm>
          <a:prstGeom prst="rect">
            <a:avLst/>
          </a:prstGeom>
        </p:spPr>
        <p:txBody>
          <a:bodyPr wrap="none" lIns="0" tIns="0" rIns="0" bIns="0" rtlCol="0" anchor="t">
            <a:spAutoFit/>
          </a:bodyPr>
          <a:lstStyle/>
          <a:p>
            <a:pPr algn="ctr">
              <a:lnSpc>
                <a:spcPts val="4405"/>
              </a:lnSpc>
              <a:spcBef>
                <a:spcPct val="0"/>
              </a:spcBef>
            </a:pPr>
            <a:r>
              <a:rPr lang="en-US" sz="3146">
                <a:solidFill>
                  <a:srgbClr val="1A1A1A"/>
                </a:solidFill>
                <a:latin typeface="Canva Sans"/>
                <a:ea typeface="Canva Sans"/>
                <a:cs typeface="Canva Sans"/>
                <a:sym typeface="Canva Sans"/>
              </a:rPr>
              <a:t>12</a:t>
            </a:r>
          </a:p>
        </p:txBody>
      </p:sp>
      <p:grpSp>
        <p:nvGrpSpPr>
          <p:cNvPr id="7" name="Group 7"/>
          <p:cNvGrpSpPr/>
          <p:nvPr/>
        </p:nvGrpSpPr>
        <p:grpSpPr>
          <a:xfrm>
            <a:off x="152400" y="9322212"/>
            <a:ext cx="16965984" cy="964788"/>
            <a:chOff x="0" y="0"/>
            <a:chExt cx="22621312" cy="1286384"/>
          </a:xfrm>
        </p:grpSpPr>
        <p:sp>
          <p:nvSpPr>
            <p:cNvPr id="8" name="Freeform 8"/>
            <p:cNvSpPr/>
            <p:nvPr/>
          </p:nvSpPr>
          <p:spPr>
            <a:xfrm>
              <a:off x="0" y="0"/>
              <a:ext cx="5438298" cy="1286384"/>
            </a:xfrm>
            <a:custGeom>
              <a:avLst/>
              <a:gdLst/>
              <a:ahLst/>
              <a:cxnLst/>
              <a:rect l="l" t="t" r="r" b="b"/>
              <a:pathLst>
                <a:path w="5438298" h="1286384">
                  <a:moveTo>
                    <a:pt x="0" y="0"/>
                  </a:moveTo>
                  <a:lnTo>
                    <a:pt x="5438298" y="0"/>
                  </a:lnTo>
                  <a:lnTo>
                    <a:pt x="5438298" y="1286384"/>
                  </a:lnTo>
                  <a:lnTo>
                    <a:pt x="0" y="1286384"/>
                  </a:lnTo>
                  <a:lnTo>
                    <a:pt x="0" y="0"/>
                  </a:lnTo>
                  <a:close/>
                </a:path>
              </a:pathLst>
            </a:custGeom>
            <a:blipFill>
              <a:blip r:embed="rId2"/>
              <a:stretch>
                <a:fillRect/>
              </a:stretch>
            </a:blipFill>
          </p:spPr>
          <p:txBody>
            <a:bodyPr/>
            <a:lstStyle/>
            <a:p>
              <a:endParaRPr lang="en-GB"/>
            </a:p>
          </p:txBody>
        </p:sp>
        <p:sp>
          <p:nvSpPr>
            <p:cNvPr id="9" name="TextBox 9"/>
            <p:cNvSpPr txBox="1"/>
            <p:nvPr/>
          </p:nvSpPr>
          <p:spPr>
            <a:xfrm>
              <a:off x="5939922" y="435762"/>
              <a:ext cx="16681390" cy="685332"/>
            </a:xfrm>
            <a:prstGeom prst="rect">
              <a:avLst/>
            </a:prstGeom>
          </p:spPr>
          <p:txBody>
            <a:bodyPr lIns="0" tIns="0" rIns="0" bIns="0" rtlCol="0" anchor="t">
              <a:spAutoFit/>
            </a:bodyPr>
            <a:lstStyle/>
            <a:p>
              <a:pPr algn="ctr">
                <a:lnSpc>
                  <a:spcPts val="4586"/>
                </a:lnSpc>
              </a:pPr>
              <a:r>
                <a:rPr lang="en-US" sz="2866" spc="-171">
                  <a:solidFill>
                    <a:srgbClr val="000000"/>
                  </a:solidFill>
                  <a:latin typeface="Canva Sans"/>
                  <a:ea typeface="Canva Sans"/>
                  <a:cs typeface="Canva Sans"/>
                  <a:sym typeface="Canva Sans"/>
                </a:rPr>
                <a:t>IT22000576     |       Fernandopulle S N     |       25-26J-473        |       Date: 11/03/2026</a:t>
              </a:r>
            </a:p>
          </p:txBody>
        </p:sp>
      </p:grpSp>
      <p:sp>
        <p:nvSpPr>
          <p:cNvPr id="10" name="TextBox 10"/>
          <p:cNvSpPr txBox="1"/>
          <p:nvPr/>
        </p:nvSpPr>
        <p:spPr>
          <a:xfrm>
            <a:off x="76200" y="86677"/>
            <a:ext cx="18032177" cy="669925"/>
          </a:xfrm>
          <a:prstGeom prst="rect">
            <a:avLst/>
          </a:prstGeom>
        </p:spPr>
        <p:txBody>
          <a:bodyPr lIns="0" tIns="0" rIns="0" bIns="0" rtlCol="0" anchor="t">
            <a:spAutoFit/>
          </a:bodyPr>
          <a:lstStyle/>
          <a:p>
            <a:pPr marL="0" lvl="0" indent="0" algn="l">
              <a:lnSpc>
                <a:spcPts val="2599"/>
              </a:lnSpc>
            </a:pPr>
            <a:r>
              <a:rPr lang="en-US" sz="1999" spc="29">
                <a:solidFill>
                  <a:srgbClr val="3D2812"/>
                </a:solidFill>
                <a:latin typeface="The Seasons"/>
                <a:ea typeface="The Seasons"/>
                <a:cs typeface="The Seasons"/>
                <a:sym typeface="The Seasons"/>
              </a:rPr>
              <a:t>COMPONENT 1 : CENTRALIZED TRAINING AND DECENTRALIZED EXECUTION OF REINFORCEMENT LEARNING AGENT SYSTEM FOR COOPERATIVE TRAFFIC SIGNAL CONTROL</a:t>
            </a: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gradFill rotWithShape="1">
          <a:gsLst>
            <a:gs pos="0">
              <a:srgbClr val="FFFFFF">
                <a:alpha val="100000"/>
              </a:srgbClr>
            </a:gs>
            <a:gs pos="100000">
              <a:srgbClr val="E6E6E6">
                <a:alpha val="100000"/>
              </a:srgbClr>
            </a:gs>
          </a:gsLst>
          <a:lin ang="0"/>
        </a:gradFill>
        <a:effectLst/>
      </p:bgPr>
    </p:bg>
    <p:spTree>
      <p:nvGrpSpPr>
        <p:cNvPr id="1" name=""/>
        <p:cNvGrpSpPr/>
        <p:nvPr/>
      </p:nvGrpSpPr>
      <p:grpSpPr>
        <a:xfrm>
          <a:off x="0" y="0"/>
          <a:ext cx="0" cy="0"/>
          <a:chOff x="0" y="0"/>
          <a:chExt cx="0" cy="0"/>
        </a:xfrm>
      </p:grpSpPr>
      <p:sp>
        <p:nvSpPr>
          <p:cNvPr id="2" name="TextBox 2"/>
          <p:cNvSpPr txBox="1"/>
          <p:nvPr/>
        </p:nvSpPr>
        <p:spPr>
          <a:xfrm>
            <a:off x="17744518" y="9676843"/>
            <a:ext cx="152400" cy="219075"/>
          </a:xfrm>
          <a:prstGeom prst="rect">
            <a:avLst/>
          </a:prstGeom>
        </p:spPr>
        <p:txBody>
          <a:bodyPr wrap="none" lIns="0" tIns="0" rIns="0" bIns="0" rtlCol="0" anchor="t">
            <a:spAutoFit/>
          </a:bodyPr>
          <a:lstStyle/>
          <a:p>
            <a:pPr algn="ctr">
              <a:lnSpc>
                <a:spcPts val="4405"/>
              </a:lnSpc>
              <a:spcBef>
                <a:spcPct val="0"/>
              </a:spcBef>
            </a:pPr>
            <a:r>
              <a:rPr lang="en-US" sz="3146">
                <a:solidFill>
                  <a:srgbClr val="1A1A1A"/>
                </a:solidFill>
                <a:latin typeface="Canva Sans"/>
                <a:ea typeface="Canva Sans"/>
                <a:cs typeface="Canva Sans"/>
                <a:sym typeface="Canva Sans"/>
              </a:rPr>
              <a:t>13</a:t>
            </a:r>
          </a:p>
        </p:txBody>
      </p:sp>
      <p:grpSp>
        <p:nvGrpSpPr>
          <p:cNvPr id="3" name="Group 3"/>
          <p:cNvGrpSpPr/>
          <p:nvPr/>
        </p:nvGrpSpPr>
        <p:grpSpPr>
          <a:xfrm>
            <a:off x="152400" y="9322212"/>
            <a:ext cx="16965984" cy="964788"/>
            <a:chOff x="0" y="0"/>
            <a:chExt cx="22621312" cy="1286384"/>
          </a:xfrm>
        </p:grpSpPr>
        <p:sp>
          <p:nvSpPr>
            <p:cNvPr id="4" name="Freeform 4"/>
            <p:cNvSpPr/>
            <p:nvPr/>
          </p:nvSpPr>
          <p:spPr>
            <a:xfrm>
              <a:off x="0" y="0"/>
              <a:ext cx="5438298" cy="1286384"/>
            </a:xfrm>
            <a:custGeom>
              <a:avLst/>
              <a:gdLst/>
              <a:ahLst/>
              <a:cxnLst/>
              <a:rect l="l" t="t" r="r" b="b"/>
              <a:pathLst>
                <a:path w="5438298" h="1286384">
                  <a:moveTo>
                    <a:pt x="0" y="0"/>
                  </a:moveTo>
                  <a:lnTo>
                    <a:pt x="5438298" y="0"/>
                  </a:lnTo>
                  <a:lnTo>
                    <a:pt x="5438298" y="1286384"/>
                  </a:lnTo>
                  <a:lnTo>
                    <a:pt x="0" y="1286384"/>
                  </a:lnTo>
                  <a:lnTo>
                    <a:pt x="0" y="0"/>
                  </a:lnTo>
                  <a:close/>
                </a:path>
              </a:pathLst>
            </a:custGeom>
            <a:blipFill>
              <a:blip r:embed="rId2"/>
              <a:stretch>
                <a:fillRect/>
              </a:stretch>
            </a:blipFill>
          </p:spPr>
          <p:txBody>
            <a:bodyPr/>
            <a:lstStyle/>
            <a:p>
              <a:endParaRPr lang="en-GB"/>
            </a:p>
          </p:txBody>
        </p:sp>
        <p:sp>
          <p:nvSpPr>
            <p:cNvPr id="5" name="TextBox 5"/>
            <p:cNvSpPr txBox="1"/>
            <p:nvPr/>
          </p:nvSpPr>
          <p:spPr>
            <a:xfrm>
              <a:off x="5939922" y="435762"/>
              <a:ext cx="16681390" cy="685332"/>
            </a:xfrm>
            <a:prstGeom prst="rect">
              <a:avLst/>
            </a:prstGeom>
          </p:spPr>
          <p:txBody>
            <a:bodyPr lIns="0" tIns="0" rIns="0" bIns="0" rtlCol="0" anchor="t">
              <a:spAutoFit/>
            </a:bodyPr>
            <a:lstStyle/>
            <a:p>
              <a:pPr algn="ctr">
                <a:lnSpc>
                  <a:spcPts val="4586"/>
                </a:lnSpc>
              </a:pPr>
              <a:r>
                <a:rPr lang="en-US" sz="2866" spc="-171">
                  <a:solidFill>
                    <a:srgbClr val="000000"/>
                  </a:solidFill>
                  <a:latin typeface="Canva Sans"/>
                  <a:ea typeface="Canva Sans"/>
                  <a:cs typeface="Canva Sans"/>
                  <a:sym typeface="Canva Sans"/>
                </a:rPr>
                <a:t>IT22000576     |      Fernandopulle S N     |       25-26J-473        |       Date: 11/03/2026</a:t>
              </a:r>
            </a:p>
          </p:txBody>
        </p:sp>
      </p:grpSp>
      <p:grpSp>
        <p:nvGrpSpPr>
          <p:cNvPr id="6" name="Group 6"/>
          <p:cNvGrpSpPr/>
          <p:nvPr/>
        </p:nvGrpSpPr>
        <p:grpSpPr>
          <a:xfrm>
            <a:off x="11587890" y="3109848"/>
            <a:ext cx="6156627" cy="2603468"/>
            <a:chOff x="0" y="0"/>
            <a:chExt cx="8208836" cy="3471291"/>
          </a:xfrm>
        </p:grpSpPr>
        <p:grpSp>
          <p:nvGrpSpPr>
            <p:cNvPr id="7" name="Group 7"/>
            <p:cNvGrpSpPr/>
            <p:nvPr/>
          </p:nvGrpSpPr>
          <p:grpSpPr>
            <a:xfrm>
              <a:off x="1042077" y="113878"/>
              <a:ext cx="1850970" cy="3132299"/>
              <a:chOff x="0" y="0"/>
              <a:chExt cx="721945" cy="1221710"/>
            </a:xfrm>
          </p:grpSpPr>
          <p:sp>
            <p:nvSpPr>
              <p:cNvPr id="8" name="Freeform 8"/>
              <p:cNvSpPr/>
              <p:nvPr/>
            </p:nvSpPr>
            <p:spPr>
              <a:xfrm>
                <a:off x="0" y="0"/>
                <a:ext cx="721945" cy="1221710"/>
              </a:xfrm>
              <a:custGeom>
                <a:avLst/>
                <a:gdLst/>
                <a:ahLst/>
                <a:cxnLst/>
                <a:rect l="l" t="t" r="r" b="b"/>
                <a:pathLst>
                  <a:path w="721945" h="1221710">
                    <a:moveTo>
                      <a:pt x="144042" y="0"/>
                    </a:moveTo>
                    <a:lnTo>
                      <a:pt x="577904" y="0"/>
                    </a:lnTo>
                    <a:cubicBezTo>
                      <a:pt x="657456" y="0"/>
                      <a:pt x="721945" y="64490"/>
                      <a:pt x="721945" y="144042"/>
                    </a:cubicBezTo>
                    <a:lnTo>
                      <a:pt x="721945" y="1077668"/>
                    </a:lnTo>
                    <a:cubicBezTo>
                      <a:pt x="721945" y="1157220"/>
                      <a:pt x="657456" y="1221710"/>
                      <a:pt x="577904" y="1221710"/>
                    </a:cubicBezTo>
                    <a:lnTo>
                      <a:pt x="144042" y="1221710"/>
                    </a:lnTo>
                    <a:cubicBezTo>
                      <a:pt x="64490" y="1221710"/>
                      <a:pt x="0" y="1157220"/>
                      <a:pt x="0" y="1077668"/>
                    </a:cubicBezTo>
                    <a:lnTo>
                      <a:pt x="0" y="144042"/>
                    </a:lnTo>
                    <a:cubicBezTo>
                      <a:pt x="0" y="64490"/>
                      <a:pt x="64490" y="0"/>
                      <a:pt x="144042" y="0"/>
                    </a:cubicBezTo>
                    <a:close/>
                  </a:path>
                </a:pathLst>
              </a:custGeom>
              <a:solidFill>
                <a:srgbClr val="5CE1E6"/>
              </a:solidFill>
            </p:spPr>
            <p:txBody>
              <a:bodyPr/>
              <a:lstStyle/>
              <a:p>
                <a:endParaRPr lang="en-GB"/>
              </a:p>
            </p:txBody>
          </p:sp>
          <p:sp>
            <p:nvSpPr>
              <p:cNvPr id="9" name="TextBox 9"/>
              <p:cNvSpPr txBox="1"/>
              <p:nvPr/>
            </p:nvSpPr>
            <p:spPr>
              <a:xfrm>
                <a:off x="0" y="-171450"/>
                <a:ext cx="721945" cy="1393160"/>
              </a:xfrm>
              <a:prstGeom prst="rect">
                <a:avLst/>
              </a:prstGeom>
            </p:spPr>
            <p:txBody>
              <a:bodyPr lIns="50800" tIns="50800" rIns="50800" bIns="50800" rtlCol="0" anchor="ctr"/>
              <a:lstStyle/>
              <a:p>
                <a:pPr algn="ctr">
                  <a:lnSpc>
                    <a:spcPts val="4875"/>
                  </a:lnSpc>
                </a:pPr>
                <a:endParaRPr/>
              </a:p>
            </p:txBody>
          </p:sp>
        </p:grpSp>
        <p:grpSp>
          <p:nvGrpSpPr>
            <p:cNvPr id="10" name="Group 10"/>
            <p:cNvGrpSpPr/>
            <p:nvPr/>
          </p:nvGrpSpPr>
          <p:grpSpPr>
            <a:xfrm>
              <a:off x="1132529" y="720835"/>
              <a:ext cx="1676904" cy="2382931"/>
              <a:chOff x="0" y="0"/>
              <a:chExt cx="654053" cy="929429"/>
            </a:xfrm>
          </p:grpSpPr>
          <p:sp>
            <p:nvSpPr>
              <p:cNvPr id="11" name="Freeform 11"/>
              <p:cNvSpPr/>
              <p:nvPr/>
            </p:nvSpPr>
            <p:spPr>
              <a:xfrm>
                <a:off x="0" y="0"/>
                <a:ext cx="654053" cy="929429"/>
              </a:xfrm>
              <a:custGeom>
                <a:avLst/>
                <a:gdLst/>
                <a:ahLst/>
                <a:cxnLst/>
                <a:rect l="l" t="t" r="r" b="b"/>
                <a:pathLst>
                  <a:path w="654053" h="929429">
                    <a:moveTo>
                      <a:pt x="158994" y="0"/>
                    </a:moveTo>
                    <a:lnTo>
                      <a:pt x="495060" y="0"/>
                    </a:lnTo>
                    <a:cubicBezTo>
                      <a:pt x="537227" y="0"/>
                      <a:pt x="577668" y="16751"/>
                      <a:pt x="607485" y="46568"/>
                    </a:cubicBezTo>
                    <a:cubicBezTo>
                      <a:pt x="637302" y="76385"/>
                      <a:pt x="654053" y="116826"/>
                      <a:pt x="654053" y="158994"/>
                    </a:cubicBezTo>
                    <a:lnTo>
                      <a:pt x="654053" y="770436"/>
                    </a:lnTo>
                    <a:cubicBezTo>
                      <a:pt x="654053" y="812603"/>
                      <a:pt x="637302" y="853044"/>
                      <a:pt x="607485" y="882861"/>
                    </a:cubicBezTo>
                    <a:cubicBezTo>
                      <a:pt x="577668" y="912678"/>
                      <a:pt x="537227" y="929429"/>
                      <a:pt x="495060" y="929429"/>
                    </a:cubicBezTo>
                    <a:lnTo>
                      <a:pt x="158994" y="929429"/>
                    </a:lnTo>
                    <a:cubicBezTo>
                      <a:pt x="116826" y="929429"/>
                      <a:pt x="76385" y="912678"/>
                      <a:pt x="46568" y="882861"/>
                    </a:cubicBezTo>
                    <a:cubicBezTo>
                      <a:pt x="16751" y="853044"/>
                      <a:pt x="0" y="812603"/>
                      <a:pt x="0" y="770436"/>
                    </a:cubicBezTo>
                    <a:lnTo>
                      <a:pt x="0" y="158994"/>
                    </a:lnTo>
                    <a:cubicBezTo>
                      <a:pt x="0" y="116826"/>
                      <a:pt x="16751" y="76385"/>
                      <a:pt x="46568" y="46568"/>
                    </a:cubicBezTo>
                    <a:cubicBezTo>
                      <a:pt x="76385" y="16751"/>
                      <a:pt x="116826" y="0"/>
                      <a:pt x="158994" y="0"/>
                    </a:cubicBezTo>
                    <a:close/>
                  </a:path>
                </a:pathLst>
              </a:custGeom>
              <a:solidFill>
                <a:srgbClr val="C1FF72"/>
              </a:solidFill>
            </p:spPr>
            <p:txBody>
              <a:bodyPr/>
              <a:lstStyle/>
              <a:p>
                <a:endParaRPr lang="en-GB"/>
              </a:p>
            </p:txBody>
          </p:sp>
          <p:sp>
            <p:nvSpPr>
              <p:cNvPr id="12" name="TextBox 12"/>
              <p:cNvSpPr txBox="1"/>
              <p:nvPr/>
            </p:nvSpPr>
            <p:spPr>
              <a:xfrm>
                <a:off x="0" y="-171450"/>
                <a:ext cx="654053" cy="1100879"/>
              </a:xfrm>
              <a:prstGeom prst="rect">
                <a:avLst/>
              </a:prstGeom>
            </p:spPr>
            <p:txBody>
              <a:bodyPr lIns="50800" tIns="50800" rIns="50800" bIns="50800" rtlCol="0" anchor="ctr"/>
              <a:lstStyle/>
              <a:p>
                <a:pPr algn="ctr">
                  <a:lnSpc>
                    <a:spcPts val="4875"/>
                  </a:lnSpc>
                </a:pPr>
                <a:endParaRPr/>
              </a:p>
            </p:txBody>
          </p:sp>
        </p:grpSp>
        <p:grpSp>
          <p:nvGrpSpPr>
            <p:cNvPr id="13" name="Group 13"/>
            <p:cNvGrpSpPr/>
            <p:nvPr/>
          </p:nvGrpSpPr>
          <p:grpSpPr>
            <a:xfrm>
              <a:off x="1156748" y="1785427"/>
              <a:ext cx="204697" cy="204697"/>
              <a:chOff x="0" y="0"/>
              <a:chExt cx="812800" cy="812800"/>
            </a:xfrm>
          </p:grpSpPr>
          <p:sp>
            <p:nvSpPr>
              <p:cNvPr id="14" name="Freeform 14"/>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282B30"/>
              </a:solidFill>
            </p:spPr>
            <p:txBody>
              <a:bodyPr/>
              <a:lstStyle/>
              <a:p>
                <a:endParaRPr lang="en-GB"/>
              </a:p>
            </p:txBody>
          </p:sp>
          <p:sp>
            <p:nvSpPr>
              <p:cNvPr id="15" name="TextBox 15"/>
              <p:cNvSpPr txBox="1"/>
              <p:nvPr/>
            </p:nvSpPr>
            <p:spPr>
              <a:xfrm>
                <a:off x="76200" y="-95250"/>
                <a:ext cx="660400" cy="831850"/>
              </a:xfrm>
              <a:prstGeom prst="rect">
                <a:avLst/>
              </a:prstGeom>
            </p:spPr>
            <p:txBody>
              <a:bodyPr lIns="50800" tIns="50800" rIns="50800" bIns="50800" rtlCol="0" anchor="ctr"/>
              <a:lstStyle/>
              <a:p>
                <a:pPr algn="ctr">
                  <a:lnSpc>
                    <a:spcPts val="4875"/>
                  </a:lnSpc>
                </a:pPr>
                <a:endParaRPr/>
              </a:p>
            </p:txBody>
          </p:sp>
        </p:grpSp>
        <p:grpSp>
          <p:nvGrpSpPr>
            <p:cNvPr id="16" name="Group 16"/>
            <p:cNvGrpSpPr/>
            <p:nvPr/>
          </p:nvGrpSpPr>
          <p:grpSpPr>
            <a:xfrm>
              <a:off x="1156748" y="2371022"/>
              <a:ext cx="204697" cy="204697"/>
              <a:chOff x="0" y="0"/>
              <a:chExt cx="812800" cy="812800"/>
            </a:xfrm>
          </p:grpSpPr>
          <p:sp>
            <p:nvSpPr>
              <p:cNvPr id="17" name="Freeform 17"/>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282B30"/>
              </a:solidFill>
            </p:spPr>
            <p:txBody>
              <a:bodyPr/>
              <a:lstStyle/>
              <a:p>
                <a:endParaRPr lang="en-GB"/>
              </a:p>
            </p:txBody>
          </p:sp>
          <p:sp>
            <p:nvSpPr>
              <p:cNvPr id="18" name="TextBox 18"/>
              <p:cNvSpPr txBox="1"/>
              <p:nvPr/>
            </p:nvSpPr>
            <p:spPr>
              <a:xfrm>
                <a:off x="76200" y="-95250"/>
                <a:ext cx="660400" cy="831850"/>
              </a:xfrm>
              <a:prstGeom prst="rect">
                <a:avLst/>
              </a:prstGeom>
            </p:spPr>
            <p:txBody>
              <a:bodyPr lIns="50800" tIns="50800" rIns="50800" bIns="50800" rtlCol="0" anchor="ctr"/>
              <a:lstStyle/>
              <a:p>
                <a:pPr algn="ctr">
                  <a:lnSpc>
                    <a:spcPts val="4875"/>
                  </a:lnSpc>
                </a:pPr>
                <a:endParaRPr/>
              </a:p>
            </p:txBody>
          </p:sp>
        </p:grpSp>
        <p:grpSp>
          <p:nvGrpSpPr>
            <p:cNvPr id="19" name="Group 19"/>
            <p:cNvGrpSpPr/>
            <p:nvPr/>
          </p:nvGrpSpPr>
          <p:grpSpPr>
            <a:xfrm>
              <a:off x="1911249" y="1511624"/>
              <a:ext cx="204697" cy="204697"/>
              <a:chOff x="0" y="0"/>
              <a:chExt cx="812800" cy="812800"/>
            </a:xfrm>
          </p:grpSpPr>
          <p:sp>
            <p:nvSpPr>
              <p:cNvPr id="20" name="Freeform 20"/>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282B30"/>
              </a:solidFill>
            </p:spPr>
            <p:txBody>
              <a:bodyPr/>
              <a:lstStyle/>
              <a:p>
                <a:endParaRPr lang="en-GB"/>
              </a:p>
            </p:txBody>
          </p:sp>
          <p:sp>
            <p:nvSpPr>
              <p:cNvPr id="21" name="TextBox 21"/>
              <p:cNvSpPr txBox="1"/>
              <p:nvPr/>
            </p:nvSpPr>
            <p:spPr>
              <a:xfrm>
                <a:off x="76200" y="-95250"/>
                <a:ext cx="660400" cy="831850"/>
              </a:xfrm>
              <a:prstGeom prst="rect">
                <a:avLst/>
              </a:prstGeom>
            </p:spPr>
            <p:txBody>
              <a:bodyPr lIns="50800" tIns="50800" rIns="50800" bIns="50800" rtlCol="0" anchor="ctr"/>
              <a:lstStyle/>
              <a:p>
                <a:pPr algn="ctr">
                  <a:lnSpc>
                    <a:spcPts val="4875"/>
                  </a:lnSpc>
                </a:pPr>
                <a:endParaRPr/>
              </a:p>
            </p:txBody>
          </p:sp>
        </p:grpSp>
        <p:grpSp>
          <p:nvGrpSpPr>
            <p:cNvPr id="22" name="Group 22"/>
            <p:cNvGrpSpPr/>
            <p:nvPr/>
          </p:nvGrpSpPr>
          <p:grpSpPr>
            <a:xfrm>
              <a:off x="1911249" y="1941211"/>
              <a:ext cx="204697" cy="204697"/>
              <a:chOff x="0" y="0"/>
              <a:chExt cx="812800" cy="812800"/>
            </a:xfrm>
          </p:grpSpPr>
          <p:sp>
            <p:nvSpPr>
              <p:cNvPr id="23" name="Freeform 23"/>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282B30"/>
              </a:solidFill>
            </p:spPr>
            <p:txBody>
              <a:bodyPr/>
              <a:lstStyle/>
              <a:p>
                <a:endParaRPr lang="en-GB"/>
              </a:p>
            </p:txBody>
          </p:sp>
          <p:sp>
            <p:nvSpPr>
              <p:cNvPr id="24" name="TextBox 24"/>
              <p:cNvSpPr txBox="1"/>
              <p:nvPr/>
            </p:nvSpPr>
            <p:spPr>
              <a:xfrm>
                <a:off x="76200" y="-95250"/>
                <a:ext cx="660400" cy="831850"/>
              </a:xfrm>
              <a:prstGeom prst="rect">
                <a:avLst/>
              </a:prstGeom>
            </p:spPr>
            <p:txBody>
              <a:bodyPr lIns="50800" tIns="50800" rIns="50800" bIns="50800" rtlCol="0" anchor="ctr"/>
              <a:lstStyle/>
              <a:p>
                <a:pPr algn="ctr">
                  <a:lnSpc>
                    <a:spcPts val="4875"/>
                  </a:lnSpc>
                </a:pPr>
                <a:endParaRPr/>
              </a:p>
            </p:txBody>
          </p:sp>
        </p:grpSp>
        <p:grpSp>
          <p:nvGrpSpPr>
            <p:cNvPr id="25" name="Group 25"/>
            <p:cNvGrpSpPr/>
            <p:nvPr/>
          </p:nvGrpSpPr>
          <p:grpSpPr>
            <a:xfrm>
              <a:off x="1906174" y="2371022"/>
              <a:ext cx="204697" cy="204697"/>
              <a:chOff x="0" y="0"/>
              <a:chExt cx="812800" cy="812800"/>
            </a:xfrm>
          </p:grpSpPr>
          <p:sp>
            <p:nvSpPr>
              <p:cNvPr id="26" name="Freeform 26"/>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282B30"/>
              </a:solidFill>
            </p:spPr>
            <p:txBody>
              <a:bodyPr/>
              <a:lstStyle/>
              <a:p>
                <a:endParaRPr lang="en-GB"/>
              </a:p>
            </p:txBody>
          </p:sp>
          <p:sp>
            <p:nvSpPr>
              <p:cNvPr id="27" name="TextBox 27"/>
              <p:cNvSpPr txBox="1"/>
              <p:nvPr/>
            </p:nvSpPr>
            <p:spPr>
              <a:xfrm>
                <a:off x="76200" y="-95250"/>
                <a:ext cx="660400" cy="831850"/>
              </a:xfrm>
              <a:prstGeom prst="rect">
                <a:avLst/>
              </a:prstGeom>
            </p:spPr>
            <p:txBody>
              <a:bodyPr lIns="50800" tIns="50800" rIns="50800" bIns="50800" rtlCol="0" anchor="ctr"/>
              <a:lstStyle/>
              <a:p>
                <a:pPr algn="ctr">
                  <a:lnSpc>
                    <a:spcPts val="4875"/>
                  </a:lnSpc>
                </a:pPr>
                <a:endParaRPr/>
              </a:p>
            </p:txBody>
          </p:sp>
        </p:grpSp>
        <p:grpSp>
          <p:nvGrpSpPr>
            <p:cNvPr id="28" name="Group 28"/>
            <p:cNvGrpSpPr/>
            <p:nvPr/>
          </p:nvGrpSpPr>
          <p:grpSpPr>
            <a:xfrm>
              <a:off x="1911249" y="2800832"/>
              <a:ext cx="204697" cy="204697"/>
              <a:chOff x="0" y="0"/>
              <a:chExt cx="812800" cy="812800"/>
            </a:xfrm>
          </p:grpSpPr>
          <p:sp>
            <p:nvSpPr>
              <p:cNvPr id="29" name="Freeform 29"/>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282B30"/>
              </a:solidFill>
            </p:spPr>
            <p:txBody>
              <a:bodyPr/>
              <a:lstStyle/>
              <a:p>
                <a:endParaRPr lang="en-GB"/>
              </a:p>
            </p:txBody>
          </p:sp>
          <p:sp>
            <p:nvSpPr>
              <p:cNvPr id="30" name="TextBox 30"/>
              <p:cNvSpPr txBox="1"/>
              <p:nvPr/>
            </p:nvSpPr>
            <p:spPr>
              <a:xfrm>
                <a:off x="76200" y="-95250"/>
                <a:ext cx="660400" cy="831850"/>
              </a:xfrm>
              <a:prstGeom prst="rect">
                <a:avLst/>
              </a:prstGeom>
            </p:spPr>
            <p:txBody>
              <a:bodyPr lIns="50800" tIns="50800" rIns="50800" bIns="50800" rtlCol="0" anchor="ctr"/>
              <a:lstStyle/>
              <a:p>
                <a:pPr algn="ctr">
                  <a:lnSpc>
                    <a:spcPts val="4875"/>
                  </a:lnSpc>
                </a:pPr>
                <a:endParaRPr/>
              </a:p>
            </p:txBody>
          </p:sp>
        </p:grpSp>
        <p:grpSp>
          <p:nvGrpSpPr>
            <p:cNvPr id="31" name="Group 31"/>
            <p:cNvGrpSpPr/>
            <p:nvPr/>
          </p:nvGrpSpPr>
          <p:grpSpPr>
            <a:xfrm>
              <a:off x="2572049" y="1785427"/>
              <a:ext cx="204697" cy="204697"/>
              <a:chOff x="0" y="0"/>
              <a:chExt cx="812800" cy="812800"/>
            </a:xfrm>
          </p:grpSpPr>
          <p:sp>
            <p:nvSpPr>
              <p:cNvPr id="32" name="Freeform 32"/>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282B30"/>
              </a:solidFill>
            </p:spPr>
            <p:txBody>
              <a:bodyPr/>
              <a:lstStyle/>
              <a:p>
                <a:endParaRPr lang="en-GB"/>
              </a:p>
            </p:txBody>
          </p:sp>
          <p:sp>
            <p:nvSpPr>
              <p:cNvPr id="33" name="TextBox 33"/>
              <p:cNvSpPr txBox="1"/>
              <p:nvPr/>
            </p:nvSpPr>
            <p:spPr>
              <a:xfrm>
                <a:off x="76200" y="-95250"/>
                <a:ext cx="660400" cy="831850"/>
              </a:xfrm>
              <a:prstGeom prst="rect">
                <a:avLst/>
              </a:prstGeom>
            </p:spPr>
            <p:txBody>
              <a:bodyPr lIns="50800" tIns="50800" rIns="50800" bIns="50800" rtlCol="0" anchor="ctr"/>
              <a:lstStyle/>
              <a:p>
                <a:pPr algn="ctr">
                  <a:lnSpc>
                    <a:spcPts val="4875"/>
                  </a:lnSpc>
                </a:pPr>
                <a:endParaRPr/>
              </a:p>
            </p:txBody>
          </p:sp>
        </p:grpSp>
        <p:grpSp>
          <p:nvGrpSpPr>
            <p:cNvPr id="34" name="Group 34"/>
            <p:cNvGrpSpPr/>
            <p:nvPr/>
          </p:nvGrpSpPr>
          <p:grpSpPr>
            <a:xfrm>
              <a:off x="2572049" y="2371022"/>
              <a:ext cx="204697" cy="204697"/>
              <a:chOff x="0" y="0"/>
              <a:chExt cx="812800" cy="812800"/>
            </a:xfrm>
          </p:grpSpPr>
          <p:sp>
            <p:nvSpPr>
              <p:cNvPr id="35" name="Freeform 35"/>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282B30"/>
              </a:solidFill>
            </p:spPr>
            <p:txBody>
              <a:bodyPr/>
              <a:lstStyle/>
              <a:p>
                <a:endParaRPr lang="en-GB"/>
              </a:p>
            </p:txBody>
          </p:sp>
          <p:sp>
            <p:nvSpPr>
              <p:cNvPr id="36" name="TextBox 36"/>
              <p:cNvSpPr txBox="1"/>
              <p:nvPr/>
            </p:nvSpPr>
            <p:spPr>
              <a:xfrm>
                <a:off x="76200" y="-95250"/>
                <a:ext cx="660400" cy="831850"/>
              </a:xfrm>
              <a:prstGeom prst="rect">
                <a:avLst/>
              </a:prstGeom>
            </p:spPr>
            <p:txBody>
              <a:bodyPr lIns="50800" tIns="50800" rIns="50800" bIns="50800" rtlCol="0" anchor="ctr"/>
              <a:lstStyle/>
              <a:p>
                <a:pPr algn="ctr">
                  <a:lnSpc>
                    <a:spcPts val="4875"/>
                  </a:lnSpc>
                </a:pPr>
                <a:endParaRPr/>
              </a:p>
            </p:txBody>
          </p:sp>
        </p:grpSp>
        <p:sp>
          <p:nvSpPr>
            <p:cNvPr id="37" name="AutoShape 37"/>
            <p:cNvSpPr/>
            <p:nvPr/>
          </p:nvSpPr>
          <p:spPr>
            <a:xfrm flipV="1">
              <a:off x="1361445" y="1653603"/>
              <a:ext cx="557759" cy="234173"/>
            </a:xfrm>
            <a:prstGeom prst="line">
              <a:avLst/>
            </a:prstGeom>
            <a:ln w="12864" cap="flat">
              <a:solidFill>
                <a:srgbClr val="000000"/>
              </a:solidFill>
              <a:prstDash val="solid"/>
              <a:headEnd type="none" w="sm" len="sm"/>
              <a:tailEnd type="none" w="sm" len="sm"/>
            </a:ln>
          </p:spPr>
          <p:txBody>
            <a:bodyPr/>
            <a:lstStyle/>
            <a:p>
              <a:endParaRPr lang="en-GB"/>
            </a:p>
          </p:txBody>
        </p:sp>
        <p:sp>
          <p:nvSpPr>
            <p:cNvPr id="38" name="AutoShape 38"/>
            <p:cNvSpPr/>
            <p:nvPr/>
          </p:nvSpPr>
          <p:spPr>
            <a:xfrm>
              <a:off x="1359350" y="1908475"/>
              <a:ext cx="553993" cy="114384"/>
            </a:xfrm>
            <a:prstGeom prst="line">
              <a:avLst/>
            </a:prstGeom>
            <a:ln w="12864" cap="flat">
              <a:solidFill>
                <a:srgbClr val="000000"/>
              </a:solidFill>
              <a:prstDash val="solid"/>
              <a:headEnd type="none" w="sm" len="sm"/>
              <a:tailEnd type="none" w="sm" len="sm"/>
            </a:ln>
          </p:spPr>
          <p:txBody>
            <a:bodyPr/>
            <a:lstStyle/>
            <a:p>
              <a:endParaRPr lang="en-GB"/>
            </a:p>
          </p:txBody>
        </p:sp>
        <p:sp>
          <p:nvSpPr>
            <p:cNvPr id="39" name="AutoShape 39"/>
            <p:cNvSpPr/>
            <p:nvPr/>
          </p:nvSpPr>
          <p:spPr>
            <a:xfrm>
              <a:off x="1339747" y="1950796"/>
              <a:ext cx="588124" cy="459554"/>
            </a:xfrm>
            <a:prstGeom prst="line">
              <a:avLst/>
            </a:prstGeom>
            <a:ln w="12864" cap="flat">
              <a:solidFill>
                <a:srgbClr val="000000"/>
              </a:solidFill>
              <a:prstDash val="solid"/>
              <a:headEnd type="none" w="sm" len="sm"/>
              <a:tailEnd type="none" w="sm" len="sm"/>
            </a:ln>
          </p:spPr>
          <p:txBody>
            <a:bodyPr/>
            <a:lstStyle/>
            <a:p>
              <a:endParaRPr lang="en-GB"/>
            </a:p>
          </p:txBody>
        </p:sp>
        <p:sp>
          <p:nvSpPr>
            <p:cNvPr id="40" name="AutoShape 40"/>
            <p:cNvSpPr/>
            <p:nvPr/>
          </p:nvSpPr>
          <p:spPr>
            <a:xfrm>
              <a:off x="1320143" y="1969933"/>
              <a:ext cx="632407" cy="851091"/>
            </a:xfrm>
            <a:prstGeom prst="line">
              <a:avLst/>
            </a:prstGeom>
            <a:ln w="12864" cap="flat">
              <a:solidFill>
                <a:srgbClr val="000000"/>
              </a:solidFill>
              <a:prstDash val="solid"/>
              <a:headEnd type="none" w="sm" len="sm"/>
              <a:tailEnd type="none" w="sm" len="sm"/>
            </a:ln>
          </p:spPr>
          <p:txBody>
            <a:bodyPr/>
            <a:lstStyle/>
            <a:p>
              <a:endParaRPr lang="en-GB"/>
            </a:p>
          </p:txBody>
        </p:sp>
        <p:sp>
          <p:nvSpPr>
            <p:cNvPr id="41" name="AutoShape 41"/>
            <p:cNvSpPr/>
            <p:nvPr/>
          </p:nvSpPr>
          <p:spPr>
            <a:xfrm flipV="1">
              <a:off x="1326622" y="1690886"/>
              <a:ext cx="619449" cy="705570"/>
            </a:xfrm>
            <a:prstGeom prst="line">
              <a:avLst/>
            </a:prstGeom>
            <a:ln w="12864" cap="flat">
              <a:solidFill>
                <a:srgbClr val="000000"/>
              </a:solidFill>
              <a:prstDash val="solid"/>
              <a:headEnd type="none" w="sm" len="sm"/>
              <a:tailEnd type="none" w="sm" len="sm"/>
            </a:ln>
          </p:spPr>
          <p:txBody>
            <a:bodyPr/>
            <a:lstStyle/>
            <a:p>
              <a:endParaRPr lang="en-GB"/>
            </a:p>
          </p:txBody>
        </p:sp>
        <p:sp>
          <p:nvSpPr>
            <p:cNvPr id="42" name="AutoShape 42"/>
            <p:cNvSpPr/>
            <p:nvPr/>
          </p:nvSpPr>
          <p:spPr>
            <a:xfrm flipV="1">
              <a:off x="1361445" y="2099888"/>
              <a:ext cx="566685" cy="373482"/>
            </a:xfrm>
            <a:prstGeom prst="line">
              <a:avLst/>
            </a:prstGeom>
            <a:ln w="12864" cap="flat">
              <a:solidFill>
                <a:srgbClr val="000000"/>
              </a:solidFill>
              <a:prstDash val="solid"/>
              <a:headEnd type="none" w="sm" len="sm"/>
              <a:tailEnd type="none" w="sm" len="sm"/>
            </a:ln>
          </p:spPr>
          <p:txBody>
            <a:bodyPr/>
            <a:lstStyle/>
            <a:p>
              <a:endParaRPr lang="en-GB"/>
            </a:p>
          </p:txBody>
        </p:sp>
        <p:sp>
          <p:nvSpPr>
            <p:cNvPr id="43" name="AutoShape 43"/>
            <p:cNvSpPr/>
            <p:nvPr/>
          </p:nvSpPr>
          <p:spPr>
            <a:xfrm>
              <a:off x="1361445" y="2473370"/>
              <a:ext cx="544729" cy="0"/>
            </a:xfrm>
            <a:prstGeom prst="line">
              <a:avLst/>
            </a:prstGeom>
            <a:ln w="12864" cap="flat">
              <a:solidFill>
                <a:srgbClr val="000000"/>
              </a:solidFill>
              <a:prstDash val="solid"/>
              <a:headEnd type="none" w="sm" len="sm"/>
              <a:tailEnd type="none" w="sm" len="sm"/>
            </a:ln>
          </p:spPr>
          <p:txBody>
            <a:bodyPr/>
            <a:lstStyle/>
            <a:p>
              <a:endParaRPr lang="en-GB"/>
            </a:p>
          </p:txBody>
        </p:sp>
        <p:sp>
          <p:nvSpPr>
            <p:cNvPr id="44" name="AutoShape 44"/>
            <p:cNvSpPr/>
            <p:nvPr/>
          </p:nvSpPr>
          <p:spPr>
            <a:xfrm>
              <a:off x="1348043" y="2524039"/>
              <a:ext cx="576608" cy="328472"/>
            </a:xfrm>
            <a:prstGeom prst="line">
              <a:avLst/>
            </a:prstGeom>
            <a:ln w="12864" cap="flat">
              <a:solidFill>
                <a:srgbClr val="000000"/>
              </a:solidFill>
              <a:prstDash val="solid"/>
              <a:headEnd type="none" w="sm" len="sm"/>
              <a:tailEnd type="none" w="sm" len="sm"/>
            </a:ln>
          </p:spPr>
          <p:txBody>
            <a:bodyPr/>
            <a:lstStyle/>
            <a:p>
              <a:endParaRPr lang="en-GB"/>
            </a:p>
          </p:txBody>
        </p:sp>
        <p:sp>
          <p:nvSpPr>
            <p:cNvPr id="45" name="AutoShape 45"/>
            <p:cNvSpPr/>
            <p:nvPr/>
          </p:nvSpPr>
          <p:spPr>
            <a:xfrm>
              <a:off x="2108175" y="1653161"/>
              <a:ext cx="471645" cy="195426"/>
            </a:xfrm>
            <a:prstGeom prst="line">
              <a:avLst/>
            </a:prstGeom>
            <a:ln w="12864" cap="flat">
              <a:solidFill>
                <a:srgbClr val="000000"/>
              </a:solidFill>
              <a:prstDash val="solid"/>
              <a:headEnd type="none" w="sm" len="sm"/>
              <a:tailEnd type="none" w="sm" len="sm"/>
            </a:ln>
          </p:spPr>
          <p:txBody>
            <a:bodyPr/>
            <a:lstStyle/>
            <a:p>
              <a:endParaRPr lang="en-GB"/>
            </a:p>
          </p:txBody>
        </p:sp>
        <p:sp>
          <p:nvSpPr>
            <p:cNvPr id="46" name="AutoShape 46"/>
            <p:cNvSpPr/>
            <p:nvPr/>
          </p:nvSpPr>
          <p:spPr>
            <a:xfrm>
              <a:off x="2075987" y="1695113"/>
              <a:ext cx="536021" cy="697117"/>
            </a:xfrm>
            <a:prstGeom prst="line">
              <a:avLst/>
            </a:prstGeom>
            <a:ln w="12864" cap="flat">
              <a:solidFill>
                <a:srgbClr val="000000"/>
              </a:solidFill>
              <a:prstDash val="solid"/>
              <a:headEnd type="none" w="sm" len="sm"/>
              <a:tailEnd type="none" w="sm" len="sm"/>
            </a:ln>
          </p:spPr>
          <p:txBody>
            <a:bodyPr/>
            <a:lstStyle/>
            <a:p>
              <a:endParaRPr lang="en-GB"/>
            </a:p>
          </p:txBody>
        </p:sp>
        <p:sp>
          <p:nvSpPr>
            <p:cNvPr id="47" name="AutoShape 47"/>
            <p:cNvSpPr/>
            <p:nvPr/>
          </p:nvSpPr>
          <p:spPr>
            <a:xfrm flipH="1">
              <a:off x="2112207" y="1887776"/>
              <a:ext cx="459842" cy="128276"/>
            </a:xfrm>
            <a:prstGeom prst="line">
              <a:avLst/>
            </a:prstGeom>
            <a:ln w="12864" cap="flat">
              <a:solidFill>
                <a:srgbClr val="000000"/>
              </a:solidFill>
              <a:prstDash val="solid"/>
              <a:headEnd type="none" w="sm" len="sm"/>
              <a:tailEnd type="none" w="sm" len="sm"/>
            </a:ln>
          </p:spPr>
          <p:txBody>
            <a:bodyPr/>
            <a:lstStyle/>
            <a:p>
              <a:endParaRPr lang="en-GB"/>
            </a:p>
          </p:txBody>
        </p:sp>
        <p:sp>
          <p:nvSpPr>
            <p:cNvPr id="48" name="AutoShape 48"/>
            <p:cNvSpPr/>
            <p:nvPr/>
          </p:nvSpPr>
          <p:spPr>
            <a:xfrm>
              <a:off x="2110871" y="2473370"/>
              <a:ext cx="461178" cy="0"/>
            </a:xfrm>
            <a:prstGeom prst="line">
              <a:avLst/>
            </a:prstGeom>
            <a:ln w="12864" cap="flat">
              <a:solidFill>
                <a:srgbClr val="000000"/>
              </a:solidFill>
              <a:prstDash val="solid"/>
              <a:headEnd type="none" w="sm" len="sm"/>
              <a:tailEnd type="none" w="sm" len="sm"/>
            </a:ln>
          </p:spPr>
          <p:txBody>
            <a:bodyPr/>
            <a:lstStyle/>
            <a:p>
              <a:endParaRPr lang="en-GB"/>
            </a:p>
          </p:txBody>
        </p:sp>
        <p:sp>
          <p:nvSpPr>
            <p:cNvPr id="49" name="AutoShape 49"/>
            <p:cNvSpPr/>
            <p:nvPr/>
          </p:nvSpPr>
          <p:spPr>
            <a:xfrm flipV="1">
              <a:off x="2069429" y="1973569"/>
              <a:ext cx="549136" cy="843819"/>
            </a:xfrm>
            <a:prstGeom prst="line">
              <a:avLst/>
            </a:prstGeom>
            <a:ln w="12864" cap="flat">
              <a:solidFill>
                <a:srgbClr val="000000"/>
              </a:solidFill>
              <a:prstDash val="solid"/>
              <a:headEnd type="none" w="sm" len="sm"/>
              <a:tailEnd type="none" w="sm" len="sm"/>
            </a:ln>
          </p:spPr>
          <p:txBody>
            <a:bodyPr/>
            <a:lstStyle/>
            <a:p>
              <a:endParaRPr lang="en-GB"/>
            </a:p>
          </p:txBody>
        </p:sp>
        <p:sp>
          <p:nvSpPr>
            <p:cNvPr id="50" name="AutoShape 50"/>
            <p:cNvSpPr/>
            <p:nvPr/>
          </p:nvSpPr>
          <p:spPr>
            <a:xfrm flipV="1">
              <a:off x="2085379" y="1955366"/>
              <a:ext cx="512161" cy="450413"/>
            </a:xfrm>
            <a:prstGeom prst="line">
              <a:avLst/>
            </a:prstGeom>
            <a:ln w="12864" cap="flat">
              <a:solidFill>
                <a:srgbClr val="000000"/>
              </a:solidFill>
              <a:prstDash val="solid"/>
              <a:headEnd type="none" w="sm" len="sm"/>
              <a:tailEnd type="none" w="sm" len="sm"/>
            </a:ln>
          </p:spPr>
          <p:txBody>
            <a:bodyPr/>
            <a:lstStyle/>
            <a:p>
              <a:endParaRPr lang="en-GB"/>
            </a:p>
          </p:txBody>
        </p:sp>
        <p:sp>
          <p:nvSpPr>
            <p:cNvPr id="51" name="AutoShape 51"/>
            <p:cNvSpPr/>
            <p:nvPr/>
          </p:nvSpPr>
          <p:spPr>
            <a:xfrm>
              <a:off x="2099403" y="2099371"/>
              <a:ext cx="489188" cy="318187"/>
            </a:xfrm>
            <a:prstGeom prst="line">
              <a:avLst/>
            </a:prstGeom>
            <a:ln w="12864" cap="flat">
              <a:solidFill>
                <a:srgbClr val="000000"/>
              </a:solidFill>
              <a:prstDash val="solid"/>
              <a:headEnd type="none" w="sm" len="sm"/>
              <a:tailEnd type="none" w="sm" len="sm"/>
            </a:ln>
          </p:spPr>
          <p:txBody>
            <a:bodyPr/>
            <a:lstStyle/>
            <a:p>
              <a:endParaRPr lang="en-GB"/>
            </a:p>
          </p:txBody>
        </p:sp>
        <p:sp>
          <p:nvSpPr>
            <p:cNvPr id="52" name="AutoShape 52"/>
            <p:cNvSpPr/>
            <p:nvPr/>
          </p:nvSpPr>
          <p:spPr>
            <a:xfrm flipV="1">
              <a:off x="2013597" y="2473370"/>
              <a:ext cx="558452" cy="532159"/>
            </a:xfrm>
            <a:prstGeom prst="line">
              <a:avLst/>
            </a:prstGeom>
            <a:ln w="12864" cap="flat">
              <a:solidFill>
                <a:srgbClr val="000000"/>
              </a:solidFill>
              <a:prstDash val="solid"/>
              <a:headEnd type="none" w="sm" len="sm"/>
              <a:tailEnd type="none" w="sm" len="sm"/>
            </a:ln>
          </p:spPr>
          <p:txBody>
            <a:bodyPr/>
            <a:lstStyle/>
            <a:p>
              <a:endParaRPr lang="en-GB"/>
            </a:p>
          </p:txBody>
        </p:sp>
        <p:sp>
          <p:nvSpPr>
            <p:cNvPr id="53" name="TextBox 53"/>
            <p:cNvSpPr txBox="1"/>
            <p:nvPr/>
          </p:nvSpPr>
          <p:spPr>
            <a:xfrm>
              <a:off x="0" y="892420"/>
              <a:ext cx="3923990" cy="495762"/>
            </a:xfrm>
            <a:prstGeom prst="rect">
              <a:avLst/>
            </a:prstGeom>
          </p:spPr>
          <p:txBody>
            <a:bodyPr lIns="0" tIns="0" rIns="0" bIns="0" rtlCol="0" anchor="t">
              <a:spAutoFit/>
            </a:bodyPr>
            <a:lstStyle/>
            <a:p>
              <a:pPr algn="ctr">
                <a:lnSpc>
                  <a:spcPts val="1442"/>
                </a:lnSpc>
              </a:pPr>
              <a:r>
                <a:rPr lang="en-US" sz="1299" b="1" spc="19">
                  <a:solidFill>
                    <a:srgbClr val="000000"/>
                  </a:solidFill>
                  <a:latin typeface="Canva Sans Bold"/>
                  <a:ea typeface="Canva Sans Bold"/>
                  <a:cs typeface="Canva Sans Bold"/>
                  <a:sym typeface="Canva Sans Bold"/>
                </a:rPr>
                <a:t>Value </a:t>
              </a:r>
            </a:p>
            <a:p>
              <a:pPr algn="ctr">
                <a:lnSpc>
                  <a:spcPts val="1442"/>
                </a:lnSpc>
              </a:pPr>
              <a:r>
                <a:rPr lang="en-US" sz="1299" b="1" spc="19">
                  <a:solidFill>
                    <a:srgbClr val="000000"/>
                  </a:solidFill>
                  <a:latin typeface="Canva Sans Bold"/>
                  <a:ea typeface="Canva Sans Bold"/>
                  <a:cs typeface="Canva Sans Bold"/>
                  <a:sym typeface="Canva Sans Bold"/>
                </a:rPr>
                <a:t>Decomposition</a:t>
              </a:r>
            </a:p>
          </p:txBody>
        </p:sp>
        <p:grpSp>
          <p:nvGrpSpPr>
            <p:cNvPr id="54" name="Group 54"/>
            <p:cNvGrpSpPr/>
            <p:nvPr/>
          </p:nvGrpSpPr>
          <p:grpSpPr>
            <a:xfrm>
              <a:off x="5767717" y="18153"/>
              <a:ext cx="669123" cy="3437320"/>
              <a:chOff x="0" y="0"/>
              <a:chExt cx="678082" cy="3483343"/>
            </a:xfrm>
          </p:grpSpPr>
          <p:sp>
            <p:nvSpPr>
              <p:cNvPr id="55" name="Freeform 55"/>
              <p:cNvSpPr/>
              <p:nvPr/>
            </p:nvSpPr>
            <p:spPr>
              <a:xfrm>
                <a:off x="0" y="0"/>
                <a:ext cx="678082" cy="3483343"/>
              </a:xfrm>
              <a:custGeom>
                <a:avLst/>
                <a:gdLst/>
                <a:ahLst/>
                <a:cxnLst/>
                <a:rect l="l" t="t" r="r" b="b"/>
                <a:pathLst>
                  <a:path w="678082" h="3483343">
                    <a:moveTo>
                      <a:pt x="0" y="0"/>
                    </a:moveTo>
                    <a:lnTo>
                      <a:pt x="678082" y="0"/>
                    </a:lnTo>
                    <a:lnTo>
                      <a:pt x="678082" y="3483343"/>
                    </a:lnTo>
                    <a:lnTo>
                      <a:pt x="0" y="3483343"/>
                    </a:lnTo>
                    <a:close/>
                  </a:path>
                </a:pathLst>
              </a:custGeom>
              <a:solidFill>
                <a:srgbClr val="737373"/>
              </a:solidFill>
            </p:spPr>
            <p:txBody>
              <a:bodyPr/>
              <a:lstStyle/>
              <a:p>
                <a:endParaRPr lang="en-GB"/>
              </a:p>
            </p:txBody>
          </p:sp>
          <p:sp>
            <p:nvSpPr>
              <p:cNvPr id="56" name="TextBox 56"/>
              <p:cNvSpPr txBox="1"/>
              <p:nvPr/>
            </p:nvSpPr>
            <p:spPr>
              <a:xfrm>
                <a:off x="0" y="-171450"/>
                <a:ext cx="678082" cy="3654793"/>
              </a:xfrm>
              <a:prstGeom prst="rect">
                <a:avLst/>
              </a:prstGeom>
            </p:spPr>
            <p:txBody>
              <a:bodyPr lIns="50800" tIns="50800" rIns="50800" bIns="50800" rtlCol="0" anchor="ctr"/>
              <a:lstStyle/>
              <a:p>
                <a:pPr algn="ctr">
                  <a:lnSpc>
                    <a:spcPts val="4875"/>
                  </a:lnSpc>
                </a:pPr>
                <a:endParaRPr/>
              </a:p>
            </p:txBody>
          </p:sp>
        </p:grpSp>
        <p:grpSp>
          <p:nvGrpSpPr>
            <p:cNvPr id="57" name="Group 57"/>
            <p:cNvGrpSpPr/>
            <p:nvPr/>
          </p:nvGrpSpPr>
          <p:grpSpPr>
            <a:xfrm rot="5400000">
              <a:off x="6625534" y="-486142"/>
              <a:ext cx="325169" cy="2841436"/>
              <a:chOff x="0" y="0"/>
              <a:chExt cx="336713" cy="2942308"/>
            </a:xfrm>
          </p:grpSpPr>
          <p:sp>
            <p:nvSpPr>
              <p:cNvPr id="58" name="Freeform 58"/>
              <p:cNvSpPr/>
              <p:nvPr/>
            </p:nvSpPr>
            <p:spPr>
              <a:xfrm>
                <a:off x="0" y="0"/>
                <a:ext cx="336713" cy="2942309"/>
              </a:xfrm>
              <a:custGeom>
                <a:avLst/>
                <a:gdLst/>
                <a:ahLst/>
                <a:cxnLst/>
                <a:rect l="l" t="t" r="r" b="b"/>
                <a:pathLst>
                  <a:path w="336713" h="2942309">
                    <a:moveTo>
                      <a:pt x="0" y="0"/>
                    </a:moveTo>
                    <a:lnTo>
                      <a:pt x="336713" y="0"/>
                    </a:lnTo>
                    <a:lnTo>
                      <a:pt x="336713" y="2942309"/>
                    </a:lnTo>
                    <a:lnTo>
                      <a:pt x="0" y="2942309"/>
                    </a:lnTo>
                    <a:close/>
                  </a:path>
                </a:pathLst>
              </a:custGeom>
              <a:solidFill>
                <a:srgbClr val="737373"/>
              </a:solidFill>
            </p:spPr>
            <p:txBody>
              <a:bodyPr/>
              <a:lstStyle/>
              <a:p>
                <a:endParaRPr lang="en-GB"/>
              </a:p>
            </p:txBody>
          </p:sp>
          <p:sp>
            <p:nvSpPr>
              <p:cNvPr id="59" name="TextBox 59"/>
              <p:cNvSpPr txBox="1"/>
              <p:nvPr/>
            </p:nvSpPr>
            <p:spPr>
              <a:xfrm>
                <a:off x="0" y="-171450"/>
                <a:ext cx="336713" cy="3113758"/>
              </a:xfrm>
              <a:prstGeom prst="rect">
                <a:avLst/>
              </a:prstGeom>
            </p:spPr>
            <p:txBody>
              <a:bodyPr lIns="50800" tIns="50800" rIns="50800" bIns="50800" rtlCol="0" anchor="ctr"/>
              <a:lstStyle/>
              <a:p>
                <a:pPr algn="ctr">
                  <a:lnSpc>
                    <a:spcPts val="4875"/>
                  </a:lnSpc>
                </a:pPr>
                <a:endParaRPr/>
              </a:p>
            </p:txBody>
          </p:sp>
        </p:grpSp>
        <p:grpSp>
          <p:nvGrpSpPr>
            <p:cNvPr id="60" name="Group 60"/>
            <p:cNvGrpSpPr/>
            <p:nvPr/>
          </p:nvGrpSpPr>
          <p:grpSpPr>
            <a:xfrm rot="5400000">
              <a:off x="6586067" y="909923"/>
              <a:ext cx="325169" cy="2920371"/>
              <a:chOff x="0" y="0"/>
              <a:chExt cx="336713" cy="3024045"/>
            </a:xfrm>
          </p:grpSpPr>
          <p:sp>
            <p:nvSpPr>
              <p:cNvPr id="61" name="Freeform 61"/>
              <p:cNvSpPr/>
              <p:nvPr/>
            </p:nvSpPr>
            <p:spPr>
              <a:xfrm>
                <a:off x="0" y="0"/>
                <a:ext cx="336713" cy="3024045"/>
              </a:xfrm>
              <a:custGeom>
                <a:avLst/>
                <a:gdLst/>
                <a:ahLst/>
                <a:cxnLst/>
                <a:rect l="l" t="t" r="r" b="b"/>
                <a:pathLst>
                  <a:path w="336713" h="3024045">
                    <a:moveTo>
                      <a:pt x="0" y="0"/>
                    </a:moveTo>
                    <a:lnTo>
                      <a:pt x="336713" y="0"/>
                    </a:lnTo>
                    <a:lnTo>
                      <a:pt x="336713" y="3024045"/>
                    </a:lnTo>
                    <a:lnTo>
                      <a:pt x="0" y="3024045"/>
                    </a:lnTo>
                    <a:close/>
                  </a:path>
                </a:pathLst>
              </a:custGeom>
              <a:solidFill>
                <a:srgbClr val="737373"/>
              </a:solidFill>
            </p:spPr>
            <p:txBody>
              <a:bodyPr/>
              <a:lstStyle/>
              <a:p>
                <a:endParaRPr lang="en-GB"/>
              </a:p>
            </p:txBody>
          </p:sp>
          <p:sp>
            <p:nvSpPr>
              <p:cNvPr id="62" name="TextBox 62"/>
              <p:cNvSpPr txBox="1"/>
              <p:nvPr/>
            </p:nvSpPr>
            <p:spPr>
              <a:xfrm>
                <a:off x="0" y="-171450"/>
                <a:ext cx="336713" cy="3195495"/>
              </a:xfrm>
              <a:prstGeom prst="rect">
                <a:avLst/>
              </a:prstGeom>
            </p:spPr>
            <p:txBody>
              <a:bodyPr lIns="50800" tIns="50800" rIns="50800" bIns="50800" rtlCol="0" anchor="ctr"/>
              <a:lstStyle/>
              <a:p>
                <a:pPr algn="ctr">
                  <a:lnSpc>
                    <a:spcPts val="4875"/>
                  </a:lnSpc>
                </a:pPr>
                <a:endParaRPr/>
              </a:p>
            </p:txBody>
          </p:sp>
        </p:grpSp>
        <p:sp>
          <p:nvSpPr>
            <p:cNvPr id="63" name="Freeform 63"/>
            <p:cNvSpPr/>
            <p:nvPr/>
          </p:nvSpPr>
          <p:spPr>
            <a:xfrm>
              <a:off x="5880634" y="2539257"/>
              <a:ext cx="115731" cy="245584"/>
            </a:xfrm>
            <a:custGeom>
              <a:avLst/>
              <a:gdLst/>
              <a:ahLst/>
              <a:cxnLst/>
              <a:rect l="l" t="t" r="r" b="b"/>
              <a:pathLst>
                <a:path w="115731" h="245584">
                  <a:moveTo>
                    <a:pt x="0" y="0"/>
                  </a:moveTo>
                  <a:lnTo>
                    <a:pt x="115731" y="0"/>
                  </a:lnTo>
                  <a:lnTo>
                    <a:pt x="115731" y="245584"/>
                  </a:lnTo>
                  <a:lnTo>
                    <a:pt x="0" y="245584"/>
                  </a:lnTo>
                  <a:lnTo>
                    <a:pt x="0" y="0"/>
                  </a:lnTo>
                  <a:close/>
                </a:path>
              </a:pathLst>
            </a:custGeom>
            <a:blipFill>
              <a:blip>
                <a:alphaModFix amt="77000"/>
                <a:extLst>
                  <a:ext uri="{96DAC541-7B7A-43D3-8B79-37D633B846F1}">
                    <asvg:svgBlip xmlns:asvg="http://schemas.microsoft.com/office/drawing/2016/SVG/main" r:embed="rId3"/>
                  </a:ext>
                </a:extLst>
              </a:blip>
              <a:stretch>
                <a:fillRect/>
              </a:stretch>
            </a:blipFill>
          </p:spPr>
          <p:txBody>
            <a:bodyPr/>
            <a:lstStyle/>
            <a:p>
              <a:endParaRPr lang="en-GB"/>
            </a:p>
          </p:txBody>
        </p:sp>
        <p:sp>
          <p:nvSpPr>
            <p:cNvPr id="64" name="Freeform 64"/>
            <p:cNvSpPr/>
            <p:nvPr/>
          </p:nvSpPr>
          <p:spPr>
            <a:xfrm rot="-10800000">
              <a:off x="5872323" y="2837355"/>
              <a:ext cx="124042" cy="245022"/>
            </a:xfrm>
            <a:custGeom>
              <a:avLst/>
              <a:gdLst/>
              <a:ahLst/>
              <a:cxnLst/>
              <a:rect l="l" t="t" r="r" b="b"/>
              <a:pathLst>
                <a:path w="124042" h="245022">
                  <a:moveTo>
                    <a:pt x="0" y="0"/>
                  </a:moveTo>
                  <a:lnTo>
                    <a:pt x="124042" y="0"/>
                  </a:lnTo>
                  <a:lnTo>
                    <a:pt x="124042" y="245022"/>
                  </a:lnTo>
                  <a:lnTo>
                    <a:pt x="0" y="245022"/>
                  </a:lnTo>
                  <a:lnTo>
                    <a:pt x="0" y="0"/>
                  </a:lnTo>
                  <a:close/>
                </a:path>
              </a:pathLst>
            </a:custGeom>
            <a:blipFill>
              <a:blip r:embed="rId4">
                <a:alphaModFix amt="77000"/>
              </a:blip>
              <a:stretch>
                <a:fillRect/>
              </a:stretch>
            </a:blipFill>
          </p:spPr>
          <p:txBody>
            <a:bodyPr/>
            <a:lstStyle/>
            <a:p>
              <a:endParaRPr lang="en-GB"/>
            </a:p>
          </p:txBody>
        </p:sp>
        <p:sp>
          <p:nvSpPr>
            <p:cNvPr id="65" name="Freeform 65"/>
            <p:cNvSpPr/>
            <p:nvPr/>
          </p:nvSpPr>
          <p:spPr>
            <a:xfrm rot="-10800000">
              <a:off x="6230146" y="1999928"/>
              <a:ext cx="112354" cy="245584"/>
            </a:xfrm>
            <a:custGeom>
              <a:avLst/>
              <a:gdLst/>
              <a:ahLst/>
              <a:cxnLst/>
              <a:rect l="l" t="t" r="r" b="b"/>
              <a:pathLst>
                <a:path w="112354" h="245584">
                  <a:moveTo>
                    <a:pt x="0" y="0"/>
                  </a:moveTo>
                  <a:lnTo>
                    <a:pt x="112354" y="0"/>
                  </a:lnTo>
                  <a:lnTo>
                    <a:pt x="112354" y="245584"/>
                  </a:lnTo>
                  <a:lnTo>
                    <a:pt x="0" y="245584"/>
                  </a:lnTo>
                  <a:lnTo>
                    <a:pt x="0" y="0"/>
                  </a:lnTo>
                  <a:close/>
                </a:path>
              </a:pathLst>
            </a:custGeom>
            <a:blipFill>
              <a:blip>
                <a:alphaModFix amt="77000"/>
                <a:extLst>
                  <a:ext uri="{96DAC541-7B7A-43D3-8B79-37D633B846F1}">
                    <asvg:svgBlip xmlns:asvg="http://schemas.microsoft.com/office/drawing/2016/SVG/main" r:embed="rId5"/>
                  </a:ext>
                </a:extLst>
              </a:blip>
              <a:stretch>
                <a:fillRect/>
              </a:stretch>
            </a:blipFill>
          </p:spPr>
          <p:txBody>
            <a:bodyPr/>
            <a:lstStyle/>
            <a:p>
              <a:endParaRPr lang="en-GB"/>
            </a:p>
          </p:txBody>
        </p:sp>
        <p:sp>
          <p:nvSpPr>
            <p:cNvPr id="66" name="Freeform 66"/>
            <p:cNvSpPr/>
            <p:nvPr/>
          </p:nvSpPr>
          <p:spPr>
            <a:xfrm rot="-10800000">
              <a:off x="6224302" y="1729472"/>
              <a:ext cx="115731" cy="245584"/>
            </a:xfrm>
            <a:custGeom>
              <a:avLst/>
              <a:gdLst/>
              <a:ahLst/>
              <a:cxnLst/>
              <a:rect l="l" t="t" r="r" b="b"/>
              <a:pathLst>
                <a:path w="115731" h="245584">
                  <a:moveTo>
                    <a:pt x="0" y="0"/>
                  </a:moveTo>
                  <a:lnTo>
                    <a:pt x="115731" y="0"/>
                  </a:lnTo>
                  <a:lnTo>
                    <a:pt x="115731" y="245583"/>
                  </a:lnTo>
                  <a:lnTo>
                    <a:pt x="0" y="245583"/>
                  </a:lnTo>
                  <a:lnTo>
                    <a:pt x="0" y="0"/>
                  </a:lnTo>
                  <a:close/>
                </a:path>
              </a:pathLst>
            </a:custGeom>
            <a:blipFill>
              <a:blip>
                <a:alphaModFix amt="77000"/>
                <a:extLst>
                  <a:ext uri="{96DAC541-7B7A-43D3-8B79-37D633B846F1}">
                    <asvg:svgBlip xmlns:asvg="http://schemas.microsoft.com/office/drawing/2016/SVG/main" r:embed="rId3"/>
                  </a:ext>
                </a:extLst>
              </a:blip>
              <a:stretch>
                <a:fillRect/>
              </a:stretch>
            </a:blipFill>
          </p:spPr>
          <p:txBody>
            <a:bodyPr/>
            <a:lstStyle/>
            <a:p>
              <a:endParaRPr lang="en-GB"/>
            </a:p>
          </p:txBody>
        </p:sp>
        <p:sp>
          <p:nvSpPr>
            <p:cNvPr id="67" name="Freeform 67"/>
            <p:cNvSpPr/>
            <p:nvPr/>
          </p:nvSpPr>
          <p:spPr>
            <a:xfrm>
              <a:off x="6215990" y="1458193"/>
              <a:ext cx="124042" cy="245022"/>
            </a:xfrm>
            <a:custGeom>
              <a:avLst/>
              <a:gdLst/>
              <a:ahLst/>
              <a:cxnLst/>
              <a:rect l="l" t="t" r="r" b="b"/>
              <a:pathLst>
                <a:path w="124042" h="245022">
                  <a:moveTo>
                    <a:pt x="0" y="0"/>
                  </a:moveTo>
                  <a:lnTo>
                    <a:pt x="124043" y="0"/>
                  </a:lnTo>
                  <a:lnTo>
                    <a:pt x="124043" y="245022"/>
                  </a:lnTo>
                  <a:lnTo>
                    <a:pt x="0" y="245022"/>
                  </a:lnTo>
                  <a:lnTo>
                    <a:pt x="0" y="0"/>
                  </a:lnTo>
                  <a:close/>
                </a:path>
              </a:pathLst>
            </a:custGeom>
            <a:blipFill>
              <a:blip r:embed="rId4">
                <a:alphaModFix amt="77000"/>
              </a:blip>
              <a:stretch>
                <a:fillRect/>
              </a:stretch>
            </a:blipFill>
          </p:spPr>
          <p:txBody>
            <a:bodyPr/>
            <a:lstStyle/>
            <a:p>
              <a:endParaRPr lang="en-GB"/>
            </a:p>
          </p:txBody>
        </p:sp>
        <p:sp>
          <p:nvSpPr>
            <p:cNvPr id="68" name="Freeform 68"/>
            <p:cNvSpPr/>
            <p:nvPr/>
          </p:nvSpPr>
          <p:spPr>
            <a:xfrm>
              <a:off x="6215990" y="526408"/>
              <a:ext cx="115731" cy="245584"/>
            </a:xfrm>
            <a:custGeom>
              <a:avLst/>
              <a:gdLst/>
              <a:ahLst/>
              <a:cxnLst/>
              <a:rect l="l" t="t" r="r" b="b"/>
              <a:pathLst>
                <a:path w="115731" h="245584">
                  <a:moveTo>
                    <a:pt x="0" y="0"/>
                  </a:moveTo>
                  <a:lnTo>
                    <a:pt x="115732" y="0"/>
                  </a:lnTo>
                  <a:lnTo>
                    <a:pt x="115732" y="245583"/>
                  </a:lnTo>
                  <a:lnTo>
                    <a:pt x="0" y="245583"/>
                  </a:lnTo>
                  <a:lnTo>
                    <a:pt x="0" y="0"/>
                  </a:lnTo>
                  <a:close/>
                </a:path>
              </a:pathLst>
            </a:custGeom>
            <a:blipFill>
              <a:blip>
                <a:alphaModFix amt="77000"/>
                <a:extLst>
                  <a:ext uri="{96DAC541-7B7A-43D3-8B79-37D633B846F1}">
                    <asvg:svgBlip xmlns:asvg="http://schemas.microsoft.com/office/drawing/2016/SVG/main" r:embed="rId3"/>
                  </a:ext>
                </a:extLst>
              </a:blip>
              <a:stretch>
                <a:fillRect/>
              </a:stretch>
            </a:blipFill>
          </p:spPr>
          <p:txBody>
            <a:bodyPr/>
            <a:lstStyle/>
            <a:p>
              <a:endParaRPr lang="en-GB"/>
            </a:p>
          </p:txBody>
        </p:sp>
        <p:sp>
          <p:nvSpPr>
            <p:cNvPr id="69" name="Freeform 69"/>
            <p:cNvSpPr/>
            <p:nvPr/>
          </p:nvSpPr>
          <p:spPr>
            <a:xfrm>
              <a:off x="5895043" y="1065534"/>
              <a:ext cx="112354" cy="245584"/>
            </a:xfrm>
            <a:custGeom>
              <a:avLst/>
              <a:gdLst/>
              <a:ahLst/>
              <a:cxnLst/>
              <a:rect l="l" t="t" r="r" b="b"/>
              <a:pathLst>
                <a:path w="112354" h="245584">
                  <a:moveTo>
                    <a:pt x="0" y="0"/>
                  </a:moveTo>
                  <a:lnTo>
                    <a:pt x="112355" y="0"/>
                  </a:lnTo>
                  <a:lnTo>
                    <a:pt x="112355" y="245584"/>
                  </a:lnTo>
                  <a:lnTo>
                    <a:pt x="0" y="245584"/>
                  </a:lnTo>
                  <a:lnTo>
                    <a:pt x="0" y="0"/>
                  </a:lnTo>
                  <a:close/>
                </a:path>
              </a:pathLst>
            </a:custGeom>
            <a:blipFill>
              <a:blip>
                <a:alphaModFix amt="77000"/>
                <a:extLst>
                  <a:ext uri="{96DAC541-7B7A-43D3-8B79-37D633B846F1}">
                    <asvg:svgBlip xmlns:asvg="http://schemas.microsoft.com/office/drawing/2016/SVG/main" r:embed="rId5"/>
                  </a:ext>
                </a:extLst>
              </a:blip>
              <a:stretch>
                <a:fillRect/>
              </a:stretch>
            </a:blipFill>
          </p:spPr>
          <p:txBody>
            <a:bodyPr/>
            <a:lstStyle/>
            <a:p>
              <a:endParaRPr lang="en-GB"/>
            </a:p>
          </p:txBody>
        </p:sp>
        <p:grpSp>
          <p:nvGrpSpPr>
            <p:cNvPr id="70" name="Group 70"/>
            <p:cNvGrpSpPr/>
            <p:nvPr/>
          </p:nvGrpSpPr>
          <p:grpSpPr>
            <a:xfrm>
              <a:off x="7086699" y="42798"/>
              <a:ext cx="654835" cy="3428493"/>
              <a:chOff x="0" y="0"/>
              <a:chExt cx="678082" cy="3550206"/>
            </a:xfrm>
          </p:grpSpPr>
          <p:sp>
            <p:nvSpPr>
              <p:cNvPr id="71" name="Freeform 71"/>
              <p:cNvSpPr/>
              <p:nvPr/>
            </p:nvSpPr>
            <p:spPr>
              <a:xfrm>
                <a:off x="0" y="0"/>
                <a:ext cx="678082" cy="3550206"/>
              </a:xfrm>
              <a:custGeom>
                <a:avLst/>
                <a:gdLst/>
                <a:ahLst/>
                <a:cxnLst/>
                <a:rect l="l" t="t" r="r" b="b"/>
                <a:pathLst>
                  <a:path w="678082" h="3550206">
                    <a:moveTo>
                      <a:pt x="0" y="0"/>
                    </a:moveTo>
                    <a:lnTo>
                      <a:pt x="678082" y="0"/>
                    </a:lnTo>
                    <a:lnTo>
                      <a:pt x="678082" y="3550206"/>
                    </a:lnTo>
                    <a:lnTo>
                      <a:pt x="0" y="3550206"/>
                    </a:lnTo>
                    <a:close/>
                  </a:path>
                </a:pathLst>
              </a:custGeom>
              <a:solidFill>
                <a:srgbClr val="737373"/>
              </a:solidFill>
            </p:spPr>
            <p:txBody>
              <a:bodyPr/>
              <a:lstStyle/>
              <a:p>
                <a:endParaRPr lang="en-GB"/>
              </a:p>
            </p:txBody>
          </p:sp>
          <p:sp>
            <p:nvSpPr>
              <p:cNvPr id="72" name="TextBox 72"/>
              <p:cNvSpPr txBox="1"/>
              <p:nvPr/>
            </p:nvSpPr>
            <p:spPr>
              <a:xfrm>
                <a:off x="0" y="-171450"/>
                <a:ext cx="678082" cy="3721656"/>
              </a:xfrm>
              <a:prstGeom prst="rect">
                <a:avLst/>
              </a:prstGeom>
            </p:spPr>
            <p:txBody>
              <a:bodyPr lIns="50800" tIns="50800" rIns="50800" bIns="50800" rtlCol="0" anchor="ctr"/>
              <a:lstStyle/>
              <a:p>
                <a:pPr algn="ctr">
                  <a:lnSpc>
                    <a:spcPts val="4875"/>
                  </a:lnSpc>
                </a:pPr>
                <a:endParaRPr/>
              </a:p>
            </p:txBody>
          </p:sp>
        </p:grpSp>
        <p:sp>
          <p:nvSpPr>
            <p:cNvPr id="73" name="AutoShape 73"/>
            <p:cNvSpPr/>
            <p:nvPr/>
          </p:nvSpPr>
          <p:spPr>
            <a:xfrm flipV="1">
              <a:off x="7414116" y="42798"/>
              <a:ext cx="0" cy="3428493"/>
            </a:xfrm>
            <a:prstGeom prst="line">
              <a:avLst/>
            </a:prstGeom>
            <a:ln w="19295" cap="flat">
              <a:solidFill>
                <a:srgbClr val="FFFFFF"/>
              </a:solidFill>
              <a:prstDash val="solid"/>
              <a:headEnd type="none" w="sm" len="sm"/>
              <a:tailEnd type="none" w="sm" len="sm"/>
            </a:ln>
          </p:spPr>
          <p:txBody>
            <a:bodyPr/>
            <a:lstStyle/>
            <a:p>
              <a:endParaRPr lang="en-GB"/>
            </a:p>
          </p:txBody>
        </p:sp>
        <p:sp>
          <p:nvSpPr>
            <p:cNvPr id="74" name="Freeform 74"/>
            <p:cNvSpPr/>
            <p:nvPr/>
          </p:nvSpPr>
          <p:spPr>
            <a:xfrm rot="5400000">
              <a:off x="6841403" y="794863"/>
              <a:ext cx="140350" cy="304281"/>
            </a:xfrm>
            <a:custGeom>
              <a:avLst/>
              <a:gdLst/>
              <a:ahLst/>
              <a:cxnLst/>
              <a:rect l="l" t="t" r="r" b="b"/>
              <a:pathLst>
                <a:path w="140350" h="304281">
                  <a:moveTo>
                    <a:pt x="0" y="0"/>
                  </a:moveTo>
                  <a:lnTo>
                    <a:pt x="140349" y="0"/>
                  </a:lnTo>
                  <a:lnTo>
                    <a:pt x="140349" y="304281"/>
                  </a:lnTo>
                  <a:lnTo>
                    <a:pt x="0" y="304281"/>
                  </a:lnTo>
                  <a:lnTo>
                    <a:pt x="0" y="0"/>
                  </a:lnTo>
                  <a:close/>
                </a:path>
              </a:pathLst>
            </a:custGeom>
            <a:blipFill>
              <a:blip>
                <a:alphaModFix amt="77000"/>
                <a:extLst>
                  <a:ext uri="{96DAC541-7B7A-43D3-8B79-37D633B846F1}">
                    <asvg:svgBlip xmlns:asvg="http://schemas.microsoft.com/office/drawing/2016/SVG/main" r:embed="rId6"/>
                  </a:ext>
                </a:extLst>
              </a:blip>
              <a:stretch>
                <a:fillRect/>
              </a:stretch>
            </a:blipFill>
          </p:spPr>
          <p:txBody>
            <a:bodyPr/>
            <a:lstStyle/>
            <a:p>
              <a:endParaRPr lang="en-GB"/>
            </a:p>
          </p:txBody>
        </p:sp>
        <p:sp>
          <p:nvSpPr>
            <p:cNvPr id="75" name="Freeform 75"/>
            <p:cNvSpPr/>
            <p:nvPr/>
          </p:nvSpPr>
          <p:spPr>
            <a:xfrm>
              <a:off x="5885905" y="1343580"/>
              <a:ext cx="130630" cy="291097"/>
            </a:xfrm>
            <a:custGeom>
              <a:avLst/>
              <a:gdLst/>
              <a:ahLst/>
              <a:cxnLst/>
              <a:rect l="l" t="t" r="r" b="b"/>
              <a:pathLst>
                <a:path w="130630" h="291097">
                  <a:moveTo>
                    <a:pt x="0" y="0"/>
                  </a:moveTo>
                  <a:lnTo>
                    <a:pt x="130630" y="0"/>
                  </a:lnTo>
                  <a:lnTo>
                    <a:pt x="130630" y="291097"/>
                  </a:lnTo>
                  <a:lnTo>
                    <a:pt x="0" y="291097"/>
                  </a:lnTo>
                  <a:lnTo>
                    <a:pt x="0" y="0"/>
                  </a:lnTo>
                  <a:close/>
                </a:path>
              </a:pathLst>
            </a:custGeom>
            <a:blipFill>
              <a:blip>
                <a:alphaModFix amt="77000"/>
                <a:extLst>
                  <a:ext uri="{96DAC541-7B7A-43D3-8B79-37D633B846F1}">
                    <asvg:svgBlip xmlns:asvg="http://schemas.microsoft.com/office/drawing/2016/SVG/main" r:embed="rId7"/>
                  </a:ext>
                </a:extLst>
              </a:blip>
              <a:stretch>
                <a:fillRect/>
              </a:stretch>
            </a:blipFill>
          </p:spPr>
          <p:txBody>
            <a:bodyPr/>
            <a:lstStyle/>
            <a:p>
              <a:endParaRPr lang="en-GB"/>
            </a:p>
          </p:txBody>
        </p:sp>
        <p:sp>
          <p:nvSpPr>
            <p:cNvPr id="76" name="Freeform 76"/>
            <p:cNvSpPr/>
            <p:nvPr/>
          </p:nvSpPr>
          <p:spPr>
            <a:xfrm rot="-10800000">
              <a:off x="7543145" y="541736"/>
              <a:ext cx="112354" cy="245584"/>
            </a:xfrm>
            <a:custGeom>
              <a:avLst/>
              <a:gdLst/>
              <a:ahLst/>
              <a:cxnLst/>
              <a:rect l="l" t="t" r="r" b="b"/>
              <a:pathLst>
                <a:path w="112354" h="245584">
                  <a:moveTo>
                    <a:pt x="0" y="0"/>
                  </a:moveTo>
                  <a:lnTo>
                    <a:pt x="112355" y="0"/>
                  </a:lnTo>
                  <a:lnTo>
                    <a:pt x="112355" y="245583"/>
                  </a:lnTo>
                  <a:lnTo>
                    <a:pt x="0" y="245583"/>
                  </a:lnTo>
                  <a:lnTo>
                    <a:pt x="0" y="0"/>
                  </a:lnTo>
                  <a:close/>
                </a:path>
              </a:pathLst>
            </a:custGeom>
            <a:blipFill>
              <a:blip>
                <a:alphaModFix amt="77000"/>
                <a:extLst>
                  <a:ext uri="{96DAC541-7B7A-43D3-8B79-37D633B846F1}">
                    <asvg:svgBlip xmlns:asvg="http://schemas.microsoft.com/office/drawing/2016/SVG/main" r:embed="rId5"/>
                  </a:ext>
                </a:extLst>
              </a:blip>
              <a:stretch>
                <a:fillRect/>
              </a:stretch>
            </a:blipFill>
          </p:spPr>
          <p:txBody>
            <a:bodyPr/>
            <a:lstStyle/>
            <a:p>
              <a:endParaRPr lang="en-GB"/>
            </a:p>
          </p:txBody>
        </p:sp>
        <p:sp>
          <p:nvSpPr>
            <p:cNvPr id="77" name="Freeform 77"/>
            <p:cNvSpPr/>
            <p:nvPr/>
          </p:nvSpPr>
          <p:spPr>
            <a:xfrm rot="-10800000">
              <a:off x="7537302" y="271279"/>
              <a:ext cx="115731" cy="245584"/>
            </a:xfrm>
            <a:custGeom>
              <a:avLst/>
              <a:gdLst/>
              <a:ahLst/>
              <a:cxnLst/>
              <a:rect l="l" t="t" r="r" b="b"/>
              <a:pathLst>
                <a:path w="115731" h="245584">
                  <a:moveTo>
                    <a:pt x="0" y="0"/>
                  </a:moveTo>
                  <a:lnTo>
                    <a:pt x="115731" y="0"/>
                  </a:lnTo>
                  <a:lnTo>
                    <a:pt x="115731" y="245583"/>
                  </a:lnTo>
                  <a:lnTo>
                    <a:pt x="0" y="245583"/>
                  </a:lnTo>
                  <a:lnTo>
                    <a:pt x="0" y="0"/>
                  </a:lnTo>
                  <a:close/>
                </a:path>
              </a:pathLst>
            </a:custGeom>
            <a:blipFill>
              <a:blip>
                <a:alphaModFix amt="77000"/>
                <a:extLst>
                  <a:ext uri="{96DAC541-7B7A-43D3-8B79-37D633B846F1}">
                    <asvg:svgBlip xmlns:asvg="http://schemas.microsoft.com/office/drawing/2016/SVG/main" r:embed="rId3"/>
                  </a:ext>
                </a:extLst>
              </a:blip>
              <a:stretch>
                <a:fillRect/>
              </a:stretch>
            </a:blipFill>
          </p:spPr>
          <p:txBody>
            <a:bodyPr/>
            <a:lstStyle/>
            <a:p>
              <a:endParaRPr lang="en-GB"/>
            </a:p>
          </p:txBody>
        </p:sp>
        <p:sp>
          <p:nvSpPr>
            <p:cNvPr id="78" name="Freeform 78"/>
            <p:cNvSpPr/>
            <p:nvPr/>
          </p:nvSpPr>
          <p:spPr>
            <a:xfrm rot="5400000">
              <a:off x="6850380" y="2245295"/>
              <a:ext cx="140350" cy="304281"/>
            </a:xfrm>
            <a:custGeom>
              <a:avLst/>
              <a:gdLst/>
              <a:ahLst/>
              <a:cxnLst/>
              <a:rect l="l" t="t" r="r" b="b"/>
              <a:pathLst>
                <a:path w="140350" h="304281">
                  <a:moveTo>
                    <a:pt x="0" y="0"/>
                  </a:moveTo>
                  <a:lnTo>
                    <a:pt x="140350" y="0"/>
                  </a:lnTo>
                  <a:lnTo>
                    <a:pt x="140350" y="304281"/>
                  </a:lnTo>
                  <a:lnTo>
                    <a:pt x="0" y="304281"/>
                  </a:lnTo>
                  <a:lnTo>
                    <a:pt x="0" y="0"/>
                  </a:lnTo>
                  <a:close/>
                </a:path>
              </a:pathLst>
            </a:custGeom>
            <a:blipFill>
              <a:blip>
                <a:alphaModFix amt="77000"/>
                <a:extLst>
                  <a:ext uri="{96DAC541-7B7A-43D3-8B79-37D633B846F1}">
                    <asvg:svgBlip xmlns:asvg="http://schemas.microsoft.com/office/drawing/2016/SVG/main" r:embed="rId6"/>
                  </a:ext>
                </a:extLst>
              </a:blip>
              <a:stretch>
                <a:fillRect/>
              </a:stretch>
            </a:blipFill>
          </p:spPr>
          <p:txBody>
            <a:bodyPr/>
            <a:lstStyle/>
            <a:p>
              <a:endParaRPr lang="en-GB"/>
            </a:p>
          </p:txBody>
        </p:sp>
        <p:sp>
          <p:nvSpPr>
            <p:cNvPr id="79" name="Freeform 79"/>
            <p:cNvSpPr/>
            <p:nvPr/>
          </p:nvSpPr>
          <p:spPr>
            <a:xfrm rot="5400000">
              <a:off x="6518806" y="2245295"/>
              <a:ext cx="140350" cy="304281"/>
            </a:xfrm>
            <a:custGeom>
              <a:avLst/>
              <a:gdLst/>
              <a:ahLst/>
              <a:cxnLst/>
              <a:rect l="l" t="t" r="r" b="b"/>
              <a:pathLst>
                <a:path w="140350" h="304281">
                  <a:moveTo>
                    <a:pt x="0" y="0"/>
                  </a:moveTo>
                  <a:lnTo>
                    <a:pt x="140350" y="0"/>
                  </a:lnTo>
                  <a:lnTo>
                    <a:pt x="140350" y="304281"/>
                  </a:lnTo>
                  <a:lnTo>
                    <a:pt x="0" y="304281"/>
                  </a:lnTo>
                  <a:lnTo>
                    <a:pt x="0" y="0"/>
                  </a:lnTo>
                  <a:close/>
                </a:path>
              </a:pathLst>
            </a:custGeom>
            <a:blipFill>
              <a:blip>
                <a:alphaModFix amt="77000"/>
                <a:extLst>
                  <a:ext uri="{96DAC541-7B7A-43D3-8B79-37D633B846F1}">
                    <asvg:svgBlip xmlns:asvg="http://schemas.microsoft.com/office/drawing/2016/SVG/main" r:embed="rId6"/>
                  </a:ext>
                </a:extLst>
              </a:blip>
              <a:stretch>
                <a:fillRect/>
              </a:stretch>
            </a:blipFill>
          </p:spPr>
          <p:txBody>
            <a:bodyPr/>
            <a:lstStyle/>
            <a:p>
              <a:endParaRPr lang="en-GB"/>
            </a:p>
          </p:txBody>
        </p:sp>
        <p:sp>
          <p:nvSpPr>
            <p:cNvPr id="80" name="Freeform 80"/>
            <p:cNvSpPr/>
            <p:nvPr/>
          </p:nvSpPr>
          <p:spPr>
            <a:xfrm>
              <a:off x="7218554" y="2546258"/>
              <a:ext cx="130630" cy="291097"/>
            </a:xfrm>
            <a:custGeom>
              <a:avLst/>
              <a:gdLst/>
              <a:ahLst/>
              <a:cxnLst/>
              <a:rect l="l" t="t" r="r" b="b"/>
              <a:pathLst>
                <a:path w="130630" h="291097">
                  <a:moveTo>
                    <a:pt x="0" y="0"/>
                  </a:moveTo>
                  <a:lnTo>
                    <a:pt x="130629" y="0"/>
                  </a:lnTo>
                  <a:lnTo>
                    <a:pt x="130629" y="291097"/>
                  </a:lnTo>
                  <a:lnTo>
                    <a:pt x="0" y="291097"/>
                  </a:lnTo>
                  <a:lnTo>
                    <a:pt x="0" y="0"/>
                  </a:lnTo>
                  <a:close/>
                </a:path>
              </a:pathLst>
            </a:custGeom>
            <a:blipFill>
              <a:blip>
                <a:extLst>
                  <a:ext uri="{96DAC541-7B7A-43D3-8B79-37D633B846F1}">
                    <asvg:svgBlip xmlns:asvg="http://schemas.microsoft.com/office/drawing/2016/SVG/main" r:embed="rId7"/>
                  </a:ext>
                </a:extLst>
              </a:blip>
              <a:stretch>
                <a:fillRect/>
              </a:stretch>
            </a:blipFill>
          </p:spPr>
          <p:txBody>
            <a:bodyPr/>
            <a:lstStyle/>
            <a:p>
              <a:endParaRPr lang="en-GB"/>
            </a:p>
          </p:txBody>
        </p:sp>
        <p:sp>
          <p:nvSpPr>
            <p:cNvPr id="81" name="Freeform 81"/>
            <p:cNvSpPr/>
            <p:nvPr/>
          </p:nvSpPr>
          <p:spPr>
            <a:xfrm>
              <a:off x="7236829" y="2870284"/>
              <a:ext cx="112354" cy="245584"/>
            </a:xfrm>
            <a:custGeom>
              <a:avLst/>
              <a:gdLst/>
              <a:ahLst/>
              <a:cxnLst/>
              <a:rect l="l" t="t" r="r" b="b"/>
              <a:pathLst>
                <a:path w="112354" h="245584">
                  <a:moveTo>
                    <a:pt x="0" y="0"/>
                  </a:moveTo>
                  <a:lnTo>
                    <a:pt x="112354" y="0"/>
                  </a:lnTo>
                  <a:lnTo>
                    <a:pt x="112354" y="245584"/>
                  </a:lnTo>
                  <a:lnTo>
                    <a:pt x="0" y="245584"/>
                  </a:lnTo>
                  <a:lnTo>
                    <a:pt x="0" y="0"/>
                  </a:lnTo>
                  <a:close/>
                </a:path>
              </a:pathLst>
            </a:custGeom>
            <a:blipFill>
              <a:blip>
                <a:alphaModFix amt="77000"/>
                <a:extLst>
                  <a:ext uri="{96DAC541-7B7A-43D3-8B79-37D633B846F1}">
                    <asvg:svgBlip xmlns:asvg="http://schemas.microsoft.com/office/drawing/2016/SVG/main" r:embed="rId5"/>
                  </a:ext>
                </a:extLst>
              </a:blip>
              <a:stretch>
                <a:fillRect/>
              </a:stretch>
            </a:blipFill>
          </p:spPr>
          <p:txBody>
            <a:bodyPr/>
            <a:lstStyle/>
            <a:p>
              <a:endParaRPr lang="en-GB"/>
            </a:p>
          </p:txBody>
        </p:sp>
        <p:sp>
          <p:nvSpPr>
            <p:cNvPr id="82" name="Freeform 82"/>
            <p:cNvSpPr/>
            <p:nvPr/>
          </p:nvSpPr>
          <p:spPr>
            <a:xfrm rot="-10800000">
              <a:off x="7535555" y="1937381"/>
              <a:ext cx="112354" cy="245584"/>
            </a:xfrm>
            <a:custGeom>
              <a:avLst/>
              <a:gdLst/>
              <a:ahLst/>
              <a:cxnLst/>
              <a:rect l="l" t="t" r="r" b="b"/>
              <a:pathLst>
                <a:path w="112354" h="245584">
                  <a:moveTo>
                    <a:pt x="0" y="0"/>
                  </a:moveTo>
                  <a:lnTo>
                    <a:pt x="112354" y="0"/>
                  </a:lnTo>
                  <a:lnTo>
                    <a:pt x="112354" y="245584"/>
                  </a:lnTo>
                  <a:lnTo>
                    <a:pt x="0" y="245584"/>
                  </a:lnTo>
                  <a:lnTo>
                    <a:pt x="0" y="0"/>
                  </a:lnTo>
                  <a:close/>
                </a:path>
              </a:pathLst>
            </a:custGeom>
            <a:blipFill>
              <a:blip>
                <a:alphaModFix amt="77000"/>
                <a:extLst>
                  <a:ext uri="{96DAC541-7B7A-43D3-8B79-37D633B846F1}">
                    <asvg:svgBlip xmlns:asvg="http://schemas.microsoft.com/office/drawing/2016/SVG/main" r:embed="rId5"/>
                  </a:ext>
                </a:extLst>
              </a:blip>
              <a:stretch>
                <a:fillRect/>
              </a:stretch>
            </a:blipFill>
          </p:spPr>
          <p:txBody>
            <a:bodyPr/>
            <a:lstStyle/>
            <a:p>
              <a:endParaRPr lang="en-GB"/>
            </a:p>
          </p:txBody>
        </p:sp>
        <p:sp>
          <p:nvSpPr>
            <p:cNvPr id="83" name="Freeform 83"/>
            <p:cNvSpPr/>
            <p:nvPr/>
          </p:nvSpPr>
          <p:spPr>
            <a:xfrm>
              <a:off x="5932081" y="750683"/>
              <a:ext cx="207236" cy="286832"/>
            </a:xfrm>
            <a:custGeom>
              <a:avLst/>
              <a:gdLst/>
              <a:ahLst/>
              <a:cxnLst/>
              <a:rect l="l" t="t" r="r" b="b"/>
              <a:pathLst>
                <a:path w="207236" h="286832">
                  <a:moveTo>
                    <a:pt x="0" y="0"/>
                  </a:moveTo>
                  <a:lnTo>
                    <a:pt x="207236" y="0"/>
                  </a:lnTo>
                  <a:lnTo>
                    <a:pt x="207236" y="286832"/>
                  </a:lnTo>
                  <a:lnTo>
                    <a:pt x="0" y="286832"/>
                  </a:lnTo>
                  <a:lnTo>
                    <a:pt x="0" y="0"/>
                  </a:lnTo>
                  <a:close/>
                </a:path>
              </a:pathLst>
            </a:custGeom>
            <a:blipFill>
              <a:blip>
                <a:extLst>
                  <a:ext uri="{96DAC541-7B7A-43D3-8B79-37D633B846F1}">
                    <asvg:svgBlip xmlns:asvg="http://schemas.microsoft.com/office/drawing/2016/SVG/main" r:embed="rId8"/>
                  </a:ext>
                </a:extLst>
              </a:blip>
              <a:stretch>
                <a:fillRect/>
              </a:stretch>
            </a:blipFill>
          </p:spPr>
          <p:txBody>
            <a:bodyPr/>
            <a:lstStyle/>
            <a:p>
              <a:endParaRPr lang="en-GB"/>
            </a:p>
          </p:txBody>
        </p:sp>
        <p:sp>
          <p:nvSpPr>
            <p:cNvPr id="84" name="Freeform 84"/>
            <p:cNvSpPr/>
            <p:nvPr/>
          </p:nvSpPr>
          <p:spPr>
            <a:xfrm>
              <a:off x="7299570" y="733413"/>
              <a:ext cx="207236" cy="286832"/>
            </a:xfrm>
            <a:custGeom>
              <a:avLst/>
              <a:gdLst/>
              <a:ahLst/>
              <a:cxnLst/>
              <a:rect l="l" t="t" r="r" b="b"/>
              <a:pathLst>
                <a:path w="207236" h="286832">
                  <a:moveTo>
                    <a:pt x="0" y="0"/>
                  </a:moveTo>
                  <a:lnTo>
                    <a:pt x="207236" y="0"/>
                  </a:lnTo>
                  <a:lnTo>
                    <a:pt x="207236" y="286832"/>
                  </a:lnTo>
                  <a:lnTo>
                    <a:pt x="0" y="286832"/>
                  </a:lnTo>
                  <a:lnTo>
                    <a:pt x="0" y="0"/>
                  </a:lnTo>
                  <a:close/>
                </a:path>
              </a:pathLst>
            </a:custGeom>
            <a:blipFill>
              <a:blip>
                <a:extLst>
                  <a:ext uri="{96DAC541-7B7A-43D3-8B79-37D633B846F1}">
                    <asvg:svgBlip xmlns:asvg="http://schemas.microsoft.com/office/drawing/2016/SVG/main" r:embed="rId8"/>
                  </a:ext>
                </a:extLst>
              </a:blip>
              <a:stretch>
                <a:fillRect/>
              </a:stretch>
            </a:blipFill>
          </p:spPr>
          <p:txBody>
            <a:bodyPr/>
            <a:lstStyle/>
            <a:p>
              <a:endParaRPr lang="en-GB"/>
            </a:p>
          </p:txBody>
        </p:sp>
        <p:sp>
          <p:nvSpPr>
            <p:cNvPr id="85" name="Freeform 85"/>
            <p:cNvSpPr/>
            <p:nvPr/>
          </p:nvSpPr>
          <p:spPr>
            <a:xfrm>
              <a:off x="5996365" y="2226693"/>
              <a:ext cx="207236" cy="286832"/>
            </a:xfrm>
            <a:custGeom>
              <a:avLst/>
              <a:gdLst/>
              <a:ahLst/>
              <a:cxnLst/>
              <a:rect l="l" t="t" r="r" b="b"/>
              <a:pathLst>
                <a:path w="207236" h="286832">
                  <a:moveTo>
                    <a:pt x="0" y="0"/>
                  </a:moveTo>
                  <a:lnTo>
                    <a:pt x="207236" y="0"/>
                  </a:lnTo>
                  <a:lnTo>
                    <a:pt x="207236" y="286832"/>
                  </a:lnTo>
                  <a:lnTo>
                    <a:pt x="0" y="286832"/>
                  </a:lnTo>
                  <a:lnTo>
                    <a:pt x="0" y="0"/>
                  </a:lnTo>
                  <a:close/>
                </a:path>
              </a:pathLst>
            </a:custGeom>
            <a:blipFill>
              <a:blip>
                <a:extLst>
                  <a:ext uri="{96DAC541-7B7A-43D3-8B79-37D633B846F1}">
                    <asvg:svgBlip xmlns:asvg="http://schemas.microsoft.com/office/drawing/2016/SVG/main" r:embed="rId8"/>
                  </a:ext>
                </a:extLst>
              </a:blip>
              <a:stretch>
                <a:fillRect/>
              </a:stretch>
            </a:blipFill>
          </p:spPr>
          <p:txBody>
            <a:bodyPr/>
            <a:lstStyle/>
            <a:p>
              <a:endParaRPr lang="en-GB"/>
            </a:p>
          </p:txBody>
        </p:sp>
        <p:sp>
          <p:nvSpPr>
            <p:cNvPr id="86" name="Freeform 86"/>
            <p:cNvSpPr/>
            <p:nvPr/>
          </p:nvSpPr>
          <p:spPr>
            <a:xfrm>
              <a:off x="7310498" y="2207524"/>
              <a:ext cx="207236" cy="286832"/>
            </a:xfrm>
            <a:custGeom>
              <a:avLst/>
              <a:gdLst/>
              <a:ahLst/>
              <a:cxnLst/>
              <a:rect l="l" t="t" r="r" b="b"/>
              <a:pathLst>
                <a:path w="207236" h="286832">
                  <a:moveTo>
                    <a:pt x="0" y="0"/>
                  </a:moveTo>
                  <a:lnTo>
                    <a:pt x="207236" y="0"/>
                  </a:lnTo>
                  <a:lnTo>
                    <a:pt x="207236" y="286832"/>
                  </a:lnTo>
                  <a:lnTo>
                    <a:pt x="0" y="286832"/>
                  </a:lnTo>
                  <a:lnTo>
                    <a:pt x="0" y="0"/>
                  </a:lnTo>
                  <a:close/>
                </a:path>
              </a:pathLst>
            </a:custGeom>
            <a:blipFill>
              <a:blip>
                <a:extLst>
                  <a:ext uri="{96DAC541-7B7A-43D3-8B79-37D633B846F1}">
                    <asvg:svgBlip xmlns:asvg="http://schemas.microsoft.com/office/drawing/2016/SVG/main" r:embed="rId8"/>
                  </a:ext>
                </a:extLst>
              </a:blip>
              <a:stretch>
                <a:fillRect/>
              </a:stretch>
            </a:blipFill>
          </p:spPr>
          <p:txBody>
            <a:bodyPr/>
            <a:lstStyle/>
            <a:p>
              <a:endParaRPr lang="en-GB"/>
            </a:p>
          </p:txBody>
        </p:sp>
        <p:sp>
          <p:nvSpPr>
            <p:cNvPr id="87" name="Freeform 87"/>
            <p:cNvSpPr/>
            <p:nvPr/>
          </p:nvSpPr>
          <p:spPr>
            <a:xfrm>
              <a:off x="7528990" y="0"/>
              <a:ext cx="124042" cy="245022"/>
            </a:xfrm>
            <a:custGeom>
              <a:avLst/>
              <a:gdLst/>
              <a:ahLst/>
              <a:cxnLst/>
              <a:rect l="l" t="t" r="r" b="b"/>
              <a:pathLst>
                <a:path w="124042" h="245022">
                  <a:moveTo>
                    <a:pt x="0" y="0"/>
                  </a:moveTo>
                  <a:lnTo>
                    <a:pt x="124043" y="0"/>
                  </a:lnTo>
                  <a:lnTo>
                    <a:pt x="124043" y="245022"/>
                  </a:lnTo>
                  <a:lnTo>
                    <a:pt x="0" y="245022"/>
                  </a:lnTo>
                  <a:lnTo>
                    <a:pt x="0" y="0"/>
                  </a:lnTo>
                  <a:close/>
                </a:path>
              </a:pathLst>
            </a:custGeom>
            <a:blipFill>
              <a:blip r:embed="rId4">
                <a:alphaModFix amt="77000"/>
              </a:blip>
              <a:stretch>
                <a:fillRect/>
              </a:stretch>
            </a:blipFill>
          </p:spPr>
          <p:txBody>
            <a:bodyPr/>
            <a:lstStyle/>
            <a:p>
              <a:endParaRPr lang="en-GB"/>
            </a:p>
          </p:txBody>
        </p:sp>
        <p:sp>
          <p:nvSpPr>
            <p:cNvPr id="88" name="TextBox 88"/>
            <p:cNvSpPr txBox="1"/>
            <p:nvPr/>
          </p:nvSpPr>
          <p:spPr>
            <a:xfrm>
              <a:off x="8986" y="236201"/>
              <a:ext cx="3923990" cy="434021"/>
            </a:xfrm>
            <a:prstGeom prst="rect">
              <a:avLst/>
            </a:prstGeom>
          </p:spPr>
          <p:txBody>
            <a:bodyPr lIns="0" tIns="0" rIns="0" bIns="0" rtlCol="0" anchor="t">
              <a:spAutoFit/>
            </a:bodyPr>
            <a:lstStyle/>
            <a:p>
              <a:pPr algn="ctr">
                <a:lnSpc>
                  <a:spcPts val="1182"/>
                </a:lnSpc>
              </a:pPr>
              <a:r>
                <a:rPr lang="en-US" sz="1299" b="1" spc="19">
                  <a:solidFill>
                    <a:srgbClr val="000000"/>
                  </a:solidFill>
                  <a:latin typeface="Canva Sans Bold"/>
                  <a:ea typeface="Canva Sans Bold"/>
                  <a:cs typeface="Canva Sans Bold"/>
                  <a:sym typeface="Canva Sans Bold"/>
                </a:rPr>
                <a:t>VDN </a:t>
              </a:r>
            </a:p>
            <a:p>
              <a:pPr algn="ctr">
                <a:lnSpc>
                  <a:spcPts val="1182"/>
                </a:lnSpc>
              </a:pPr>
              <a:r>
                <a:rPr lang="en-US" sz="1299" b="1" spc="19">
                  <a:solidFill>
                    <a:srgbClr val="000000"/>
                  </a:solidFill>
                  <a:latin typeface="Canva Sans Bold"/>
                  <a:ea typeface="Canva Sans Bold"/>
                  <a:cs typeface="Canva Sans Bold"/>
                  <a:sym typeface="Canva Sans Bold"/>
                </a:rPr>
                <a:t>Framework</a:t>
              </a:r>
            </a:p>
          </p:txBody>
        </p:sp>
        <p:sp>
          <p:nvSpPr>
            <p:cNvPr id="89" name="AutoShape 89"/>
            <p:cNvSpPr/>
            <p:nvPr/>
          </p:nvSpPr>
          <p:spPr>
            <a:xfrm flipV="1">
              <a:off x="6102279" y="18153"/>
              <a:ext cx="0" cy="3437320"/>
            </a:xfrm>
            <a:prstGeom prst="line">
              <a:avLst/>
            </a:prstGeom>
            <a:ln w="19295" cap="flat">
              <a:solidFill>
                <a:srgbClr val="FFFFFF"/>
              </a:solidFill>
              <a:prstDash val="solid"/>
              <a:headEnd type="none" w="sm" len="sm"/>
              <a:tailEnd type="none" w="sm" len="sm"/>
            </a:ln>
          </p:spPr>
          <p:txBody>
            <a:bodyPr/>
            <a:lstStyle/>
            <a:p>
              <a:endParaRPr lang="en-GB"/>
            </a:p>
          </p:txBody>
        </p:sp>
        <p:sp>
          <p:nvSpPr>
            <p:cNvPr id="90" name="AutoShape 90"/>
            <p:cNvSpPr/>
            <p:nvPr/>
          </p:nvSpPr>
          <p:spPr>
            <a:xfrm flipV="1">
              <a:off x="4794530" y="883322"/>
              <a:ext cx="689189" cy="327608"/>
            </a:xfrm>
            <a:prstGeom prst="line">
              <a:avLst/>
            </a:prstGeom>
            <a:ln w="25727" cap="flat">
              <a:solidFill>
                <a:srgbClr val="00D8FF"/>
              </a:solidFill>
              <a:prstDash val="sysDash"/>
              <a:headEnd type="none" w="sm" len="sm"/>
              <a:tailEnd type="none" w="sm" len="sm"/>
            </a:ln>
          </p:spPr>
          <p:txBody>
            <a:bodyPr/>
            <a:lstStyle/>
            <a:p>
              <a:endParaRPr lang="en-GB"/>
            </a:p>
          </p:txBody>
        </p:sp>
        <p:sp>
          <p:nvSpPr>
            <p:cNvPr id="91" name="AutoShape 91"/>
            <p:cNvSpPr/>
            <p:nvPr/>
          </p:nvSpPr>
          <p:spPr>
            <a:xfrm>
              <a:off x="4794530" y="1210931"/>
              <a:ext cx="698142" cy="84555"/>
            </a:xfrm>
            <a:prstGeom prst="line">
              <a:avLst/>
            </a:prstGeom>
            <a:ln w="25727" cap="flat">
              <a:solidFill>
                <a:srgbClr val="00D8FF"/>
              </a:solidFill>
              <a:prstDash val="sysDash"/>
              <a:headEnd type="none" w="sm" len="sm"/>
              <a:tailEnd type="none" w="sm" len="sm"/>
            </a:ln>
          </p:spPr>
          <p:txBody>
            <a:bodyPr/>
            <a:lstStyle/>
            <a:p>
              <a:endParaRPr lang="en-GB"/>
            </a:p>
          </p:txBody>
        </p:sp>
        <p:sp>
          <p:nvSpPr>
            <p:cNvPr id="92" name="AutoShape 92"/>
            <p:cNvSpPr/>
            <p:nvPr/>
          </p:nvSpPr>
          <p:spPr>
            <a:xfrm>
              <a:off x="4794530" y="1210931"/>
              <a:ext cx="593800" cy="1168241"/>
            </a:xfrm>
            <a:prstGeom prst="line">
              <a:avLst/>
            </a:prstGeom>
            <a:ln w="25727" cap="flat">
              <a:solidFill>
                <a:srgbClr val="00D8FF"/>
              </a:solidFill>
              <a:prstDash val="sysDash"/>
              <a:headEnd type="none" w="sm" len="sm"/>
              <a:tailEnd type="none" w="sm" len="sm"/>
            </a:ln>
          </p:spPr>
          <p:txBody>
            <a:bodyPr/>
            <a:lstStyle/>
            <a:p>
              <a:endParaRPr lang="en-GB"/>
            </a:p>
          </p:txBody>
        </p:sp>
        <p:sp>
          <p:nvSpPr>
            <p:cNvPr id="93" name="AutoShape 93"/>
            <p:cNvSpPr/>
            <p:nvPr/>
          </p:nvSpPr>
          <p:spPr>
            <a:xfrm>
              <a:off x="4794530" y="1210931"/>
              <a:ext cx="689189" cy="685342"/>
            </a:xfrm>
            <a:prstGeom prst="line">
              <a:avLst/>
            </a:prstGeom>
            <a:ln w="25727" cap="flat">
              <a:solidFill>
                <a:srgbClr val="00D8FF"/>
              </a:solidFill>
              <a:prstDash val="sysDash"/>
              <a:headEnd type="none" w="sm" len="sm"/>
              <a:tailEnd type="none" w="sm" len="sm"/>
            </a:ln>
          </p:spPr>
          <p:txBody>
            <a:bodyPr/>
            <a:lstStyle/>
            <a:p>
              <a:endParaRPr lang="en-GB"/>
            </a:p>
          </p:txBody>
        </p:sp>
        <p:grpSp>
          <p:nvGrpSpPr>
            <p:cNvPr id="94" name="Group 94"/>
            <p:cNvGrpSpPr/>
            <p:nvPr/>
          </p:nvGrpSpPr>
          <p:grpSpPr>
            <a:xfrm rot="-10800000">
              <a:off x="3212847" y="1097160"/>
              <a:ext cx="384543" cy="303980"/>
              <a:chOff x="0" y="0"/>
              <a:chExt cx="668990" cy="528834"/>
            </a:xfrm>
          </p:grpSpPr>
          <p:sp>
            <p:nvSpPr>
              <p:cNvPr id="95" name="Freeform 95"/>
              <p:cNvSpPr/>
              <p:nvPr/>
            </p:nvSpPr>
            <p:spPr>
              <a:xfrm>
                <a:off x="0" y="0"/>
                <a:ext cx="668990" cy="528834"/>
              </a:xfrm>
              <a:custGeom>
                <a:avLst/>
                <a:gdLst/>
                <a:ahLst/>
                <a:cxnLst/>
                <a:rect l="l" t="t" r="r" b="b"/>
                <a:pathLst>
                  <a:path w="668990" h="528834">
                    <a:moveTo>
                      <a:pt x="668990" y="264417"/>
                    </a:moveTo>
                    <a:lnTo>
                      <a:pt x="262590" y="0"/>
                    </a:lnTo>
                    <a:lnTo>
                      <a:pt x="262590" y="203200"/>
                    </a:lnTo>
                    <a:lnTo>
                      <a:pt x="0" y="203200"/>
                    </a:lnTo>
                    <a:lnTo>
                      <a:pt x="0" y="325634"/>
                    </a:lnTo>
                    <a:lnTo>
                      <a:pt x="262590" y="325634"/>
                    </a:lnTo>
                    <a:lnTo>
                      <a:pt x="262590" y="528834"/>
                    </a:lnTo>
                    <a:lnTo>
                      <a:pt x="668990" y="264417"/>
                    </a:lnTo>
                    <a:close/>
                  </a:path>
                </a:pathLst>
              </a:custGeom>
              <a:solidFill>
                <a:srgbClr val="00D8FF"/>
              </a:solidFill>
            </p:spPr>
            <p:txBody>
              <a:bodyPr/>
              <a:lstStyle/>
              <a:p>
                <a:endParaRPr lang="en-GB"/>
              </a:p>
            </p:txBody>
          </p:sp>
          <p:sp>
            <p:nvSpPr>
              <p:cNvPr id="96" name="TextBox 96"/>
              <p:cNvSpPr txBox="1"/>
              <p:nvPr/>
            </p:nvSpPr>
            <p:spPr>
              <a:xfrm>
                <a:off x="0" y="31750"/>
                <a:ext cx="567390" cy="293884"/>
              </a:xfrm>
              <a:prstGeom prst="rect">
                <a:avLst/>
              </a:prstGeom>
            </p:spPr>
            <p:txBody>
              <a:bodyPr lIns="50800" tIns="50800" rIns="50800" bIns="50800" rtlCol="0" anchor="ctr"/>
              <a:lstStyle/>
              <a:p>
                <a:pPr algn="ctr">
                  <a:lnSpc>
                    <a:spcPts val="4875"/>
                  </a:lnSpc>
                </a:pPr>
                <a:endParaRPr/>
              </a:p>
            </p:txBody>
          </p:sp>
        </p:grpSp>
        <p:grpSp>
          <p:nvGrpSpPr>
            <p:cNvPr id="97" name="Group 97"/>
            <p:cNvGrpSpPr/>
            <p:nvPr/>
          </p:nvGrpSpPr>
          <p:grpSpPr>
            <a:xfrm rot="-1230195">
              <a:off x="4454807" y="1642954"/>
              <a:ext cx="317203" cy="212376"/>
              <a:chOff x="0" y="0"/>
              <a:chExt cx="789863" cy="528834"/>
            </a:xfrm>
          </p:grpSpPr>
          <p:sp>
            <p:nvSpPr>
              <p:cNvPr id="98" name="Freeform 98"/>
              <p:cNvSpPr/>
              <p:nvPr/>
            </p:nvSpPr>
            <p:spPr>
              <a:xfrm>
                <a:off x="0" y="0"/>
                <a:ext cx="789863" cy="528834"/>
              </a:xfrm>
              <a:custGeom>
                <a:avLst/>
                <a:gdLst/>
                <a:ahLst/>
                <a:cxnLst/>
                <a:rect l="l" t="t" r="r" b="b"/>
                <a:pathLst>
                  <a:path w="789863" h="528834">
                    <a:moveTo>
                      <a:pt x="789863" y="264417"/>
                    </a:moveTo>
                    <a:lnTo>
                      <a:pt x="383463" y="0"/>
                    </a:lnTo>
                    <a:lnTo>
                      <a:pt x="383463" y="203200"/>
                    </a:lnTo>
                    <a:lnTo>
                      <a:pt x="0" y="203200"/>
                    </a:lnTo>
                    <a:lnTo>
                      <a:pt x="0" y="325634"/>
                    </a:lnTo>
                    <a:lnTo>
                      <a:pt x="383463" y="325634"/>
                    </a:lnTo>
                    <a:lnTo>
                      <a:pt x="383463" y="528834"/>
                    </a:lnTo>
                    <a:lnTo>
                      <a:pt x="789863" y="264417"/>
                    </a:lnTo>
                    <a:close/>
                  </a:path>
                </a:pathLst>
              </a:custGeom>
              <a:solidFill>
                <a:srgbClr val="F03C2E"/>
              </a:solidFill>
            </p:spPr>
            <p:txBody>
              <a:bodyPr/>
              <a:lstStyle/>
              <a:p>
                <a:endParaRPr lang="en-GB"/>
              </a:p>
            </p:txBody>
          </p:sp>
          <p:sp>
            <p:nvSpPr>
              <p:cNvPr id="99" name="TextBox 99"/>
              <p:cNvSpPr txBox="1"/>
              <p:nvPr/>
            </p:nvSpPr>
            <p:spPr>
              <a:xfrm>
                <a:off x="0" y="31750"/>
                <a:ext cx="688263" cy="293884"/>
              </a:xfrm>
              <a:prstGeom prst="rect">
                <a:avLst/>
              </a:prstGeom>
            </p:spPr>
            <p:txBody>
              <a:bodyPr lIns="50800" tIns="50800" rIns="50800" bIns="50800" rtlCol="0" anchor="ctr"/>
              <a:lstStyle/>
              <a:p>
                <a:pPr algn="ctr">
                  <a:lnSpc>
                    <a:spcPts val="4875"/>
                  </a:lnSpc>
                </a:pPr>
                <a:endParaRPr/>
              </a:p>
            </p:txBody>
          </p:sp>
        </p:grpSp>
        <p:grpSp>
          <p:nvGrpSpPr>
            <p:cNvPr id="100" name="Group 100"/>
            <p:cNvGrpSpPr/>
            <p:nvPr/>
          </p:nvGrpSpPr>
          <p:grpSpPr>
            <a:xfrm rot="-719382">
              <a:off x="4572504" y="1990567"/>
              <a:ext cx="365561" cy="212376"/>
              <a:chOff x="0" y="0"/>
              <a:chExt cx="910277" cy="528834"/>
            </a:xfrm>
          </p:grpSpPr>
          <p:sp>
            <p:nvSpPr>
              <p:cNvPr id="101" name="Freeform 101"/>
              <p:cNvSpPr/>
              <p:nvPr/>
            </p:nvSpPr>
            <p:spPr>
              <a:xfrm>
                <a:off x="0" y="0"/>
                <a:ext cx="910277" cy="528834"/>
              </a:xfrm>
              <a:custGeom>
                <a:avLst/>
                <a:gdLst/>
                <a:ahLst/>
                <a:cxnLst/>
                <a:rect l="l" t="t" r="r" b="b"/>
                <a:pathLst>
                  <a:path w="910277" h="528834">
                    <a:moveTo>
                      <a:pt x="910277" y="264417"/>
                    </a:moveTo>
                    <a:lnTo>
                      <a:pt x="503877" y="0"/>
                    </a:lnTo>
                    <a:lnTo>
                      <a:pt x="503877" y="203200"/>
                    </a:lnTo>
                    <a:lnTo>
                      <a:pt x="0" y="203200"/>
                    </a:lnTo>
                    <a:lnTo>
                      <a:pt x="0" y="325634"/>
                    </a:lnTo>
                    <a:lnTo>
                      <a:pt x="503877" y="325634"/>
                    </a:lnTo>
                    <a:lnTo>
                      <a:pt x="503877" y="528834"/>
                    </a:lnTo>
                    <a:lnTo>
                      <a:pt x="910277" y="264417"/>
                    </a:lnTo>
                    <a:close/>
                  </a:path>
                </a:pathLst>
              </a:custGeom>
              <a:solidFill>
                <a:srgbClr val="F03C2E"/>
              </a:solidFill>
            </p:spPr>
            <p:txBody>
              <a:bodyPr/>
              <a:lstStyle/>
              <a:p>
                <a:endParaRPr lang="en-GB"/>
              </a:p>
            </p:txBody>
          </p:sp>
          <p:sp>
            <p:nvSpPr>
              <p:cNvPr id="102" name="TextBox 102"/>
              <p:cNvSpPr txBox="1"/>
              <p:nvPr/>
            </p:nvSpPr>
            <p:spPr>
              <a:xfrm>
                <a:off x="0" y="31750"/>
                <a:ext cx="808677" cy="293884"/>
              </a:xfrm>
              <a:prstGeom prst="rect">
                <a:avLst/>
              </a:prstGeom>
            </p:spPr>
            <p:txBody>
              <a:bodyPr lIns="50800" tIns="50800" rIns="50800" bIns="50800" rtlCol="0" anchor="ctr"/>
              <a:lstStyle/>
              <a:p>
                <a:pPr algn="ctr">
                  <a:lnSpc>
                    <a:spcPts val="4875"/>
                  </a:lnSpc>
                </a:pPr>
                <a:endParaRPr/>
              </a:p>
            </p:txBody>
          </p:sp>
        </p:grpSp>
        <p:grpSp>
          <p:nvGrpSpPr>
            <p:cNvPr id="103" name="Group 103"/>
            <p:cNvGrpSpPr/>
            <p:nvPr/>
          </p:nvGrpSpPr>
          <p:grpSpPr>
            <a:xfrm rot="-412662">
              <a:off x="4624759" y="2335803"/>
              <a:ext cx="379532" cy="212376"/>
              <a:chOff x="0" y="0"/>
              <a:chExt cx="945067" cy="528834"/>
            </a:xfrm>
          </p:grpSpPr>
          <p:sp>
            <p:nvSpPr>
              <p:cNvPr id="104" name="Freeform 104"/>
              <p:cNvSpPr/>
              <p:nvPr/>
            </p:nvSpPr>
            <p:spPr>
              <a:xfrm>
                <a:off x="0" y="0"/>
                <a:ext cx="945067" cy="528834"/>
              </a:xfrm>
              <a:custGeom>
                <a:avLst/>
                <a:gdLst/>
                <a:ahLst/>
                <a:cxnLst/>
                <a:rect l="l" t="t" r="r" b="b"/>
                <a:pathLst>
                  <a:path w="945067" h="528834">
                    <a:moveTo>
                      <a:pt x="945067" y="264417"/>
                    </a:moveTo>
                    <a:lnTo>
                      <a:pt x="538667" y="0"/>
                    </a:lnTo>
                    <a:lnTo>
                      <a:pt x="538667" y="203200"/>
                    </a:lnTo>
                    <a:lnTo>
                      <a:pt x="0" y="203200"/>
                    </a:lnTo>
                    <a:lnTo>
                      <a:pt x="0" y="325634"/>
                    </a:lnTo>
                    <a:lnTo>
                      <a:pt x="538667" y="325634"/>
                    </a:lnTo>
                    <a:lnTo>
                      <a:pt x="538667" y="528834"/>
                    </a:lnTo>
                    <a:lnTo>
                      <a:pt x="945067" y="264417"/>
                    </a:lnTo>
                    <a:close/>
                  </a:path>
                </a:pathLst>
              </a:custGeom>
              <a:solidFill>
                <a:srgbClr val="F03C2E"/>
              </a:solidFill>
            </p:spPr>
            <p:txBody>
              <a:bodyPr/>
              <a:lstStyle/>
              <a:p>
                <a:endParaRPr lang="en-GB"/>
              </a:p>
            </p:txBody>
          </p:sp>
          <p:sp>
            <p:nvSpPr>
              <p:cNvPr id="105" name="TextBox 105"/>
              <p:cNvSpPr txBox="1"/>
              <p:nvPr/>
            </p:nvSpPr>
            <p:spPr>
              <a:xfrm>
                <a:off x="0" y="31750"/>
                <a:ext cx="843467" cy="293884"/>
              </a:xfrm>
              <a:prstGeom prst="rect">
                <a:avLst/>
              </a:prstGeom>
            </p:spPr>
            <p:txBody>
              <a:bodyPr lIns="50800" tIns="50800" rIns="50800" bIns="50800" rtlCol="0" anchor="ctr"/>
              <a:lstStyle/>
              <a:p>
                <a:pPr algn="ctr">
                  <a:lnSpc>
                    <a:spcPts val="4875"/>
                  </a:lnSpc>
                </a:pPr>
                <a:endParaRPr/>
              </a:p>
            </p:txBody>
          </p:sp>
        </p:grpSp>
        <p:sp>
          <p:nvSpPr>
            <p:cNvPr id="106" name="AutoShape 106"/>
            <p:cNvSpPr/>
            <p:nvPr/>
          </p:nvSpPr>
          <p:spPr>
            <a:xfrm flipV="1">
              <a:off x="2809433" y="1210931"/>
              <a:ext cx="1985097" cy="57705"/>
            </a:xfrm>
            <a:prstGeom prst="line">
              <a:avLst/>
            </a:prstGeom>
            <a:ln w="25727" cap="flat">
              <a:solidFill>
                <a:srgbClr val="00D8FF"/>
              </a:solidFill>
              <a:prstDash val="sysDash"/>
              <a:headEnd type="none" w="sm" len="sm"/>
              <a:tailEnd type="none" w="sm" len="sm"/>
            </a:ln>
          </p:spPr>
          <p:txBody>
            <a:bodyPr/>
            <a:lstStyle/>
            <a:p>
              <a:endParaRPr lang="en-GB"/>
            </a:p>
          </p:txBody>
        </p:sp>
        <p:sp>
          <p:nvSpPr>
            <p:cNvPr id="107" name="AutoShape 107"/>
            <p:cNvSpPr/>
            <p:nvPr/>
          </p:nvSpPr>
          <p:spPr>
            <a:xfrm flipV="1">
              <a:off x="2893047" y="873196"/>
              <a:ext cx="2590672" cy="1740779"/>
            </a:xfrm>
            <a:prstGeom prst="line">
              <a:avLst/>
            </a:prstGeom>
            <a:ln w="25727" cap="flat">
              <a:solidFill>
                <a:srgbClr val="F03C2E"/>
              </a:solidFill>
              <a:prstDash val="sysDash"/>
              <a:headEnd type="none" w="sm" len="sm"/>
              <a:tailEnd type="none" w="sm" len="sm"/>
            </a:ln>
          </p:spPr>
          <p:txBody>
            <a:bodyPr/>
            <a:lstStyle/>
            <a:p>
              <a:endParaRPr lang="en-GB"/>
            </a:p>
          </p:txBody>
        </p:sp>
        <p:sp>
          <p:nvSpPr>
            <p:cNvPr id="108" name="AutoShape 108"/>
            <p:cNvSpPr/>
            <p:nvPr/>
          </p:nvSpPr>
          <p:spPr>
            <a:xfrm flipV="1">
              <a:off x="2893047" y="1295486"/>
              <a:ext cx="2590672" cy="1340252"/>
            </a:xfrm>
            <a:prstGeom prst="line">
              <a:avLst/>
            </a:prstGeom>
            <a:ln w="25727" cap="flat">
              <a:solidFill>
                <a:srgbClr val="F03C2E"/>
              </a:solidFill>
              <a:prstDash val="sysDash"/>
              <a:headEnd type="none" w="sm" len="sm"/>
              <a:tailEnd type="none" w="sm" len="sm"/>
            </a:ln>
          </p:spPr>
          <p:txBody>
            <a:bodyPr/>
            <a:lstStyle/>
            <a:p>
              <a:endParaRPr lang="en-GB"/>
            </a:p>
          </p:txBody>
        </p:sp>
        <p:sp>
          <p:nvSpPr>
            <p:cNvPr id="109" name="AutoShape 109"/>
            <p:cNvSpPr/>
            <p:nvPr/>
          </p:nvSpPr>
          <p:spPr>
            <a:xfrm flipV="1">
              <a:off x="2893047" y="1896273"/>
              <a:ext cx="2590672" cy="717703"/>
            </a:xfrm>
            <a:prstGeom prst="line">
              <a:avLst/>
            </a:prstGeom>
            <a:ln w="25727" cap="flat">
              <a:solidFill>
                <a:srgbClr val="F03C2E"/>
              </a:solidFill>
              <a:prstDash val="sysDash"/>
              <a:headEnd type="none" w="sm" len="sm"/>
              <a:tailEnd type="none" w="sm" len="sm"/>
            </a:ln>
          </p:spPr>
          <p:txBody>
            <a:bodyPr/>
            <a:lstStyle/>
            <a:p>
              <a:endParaRPr lang="en-GB"/>
            </a:p>
          </p:txBody>
        </p:sp>
        <p:sp>
          <p:nvSpPr>
            <p:cNvPr id="110" name="AutoShape 110"/>
            <p:cNvSpPr/>
            <p:nvPr/>
          </p:nvSpPr>
          <p:spPr>
            <a:xfrm flipV="1">
              <a:off x="2893047" y="2357346"/>
              <a:ext cx="2495283" cy="278392"/>
            </a:xfrm>
            <a:prstGeom prst="line">
              <a:avLst/>
            </a:prstGeom>
            <a:ln w="25727" cap="flat">
              <a:solidFill>
                <a:srgbClr val="F03C2E"/>
              </a:solidFill>
              <a:prstDash val="sysDash"/>
              <a:headEnd type="none" w="sm" len="sm"/>
              <a:tailEnd type="none" w="sm" len="sm"/>
            </a:ln>
          </p:spPr>
          <p:txBody>
            <a:bodyPr/>
            <a:lstStyle/>
            <a:p>
              <a:endParaRPr lang="en-GB"/>
            </a:p>
          </p:txBody>
        </p:sp>
        <p:sp>
          <p:nvSpPr>
            <p:cNvPr id="111" name="TextBox 111"/>
            <p:cNvSpPr txBox="1"/>
            <p:nvPr/>
          </p:nvSpPr>
          <p:spPr>
            <a:xfrm>
              <a:off x="3057214" y="2535793"/>
              <a:ext cx="2089751" cy="390989"/>
            </a:xfrm>
            <a:prstGeom prst="rect">
              <a:avLst/>
            </a:prstGeom>
          </p:spPr>
          <p:txBody>
            <a:bodyPr lIns="0" tIns="0" rIns="0" bIns="0" rtlCol="0" anchor="t">
              <a:spAutoFit/>
            </a:bodyPr>
            <a:lstStyle/>
            <a:p>
              <a:pPr algn="ctr">
                <a:lnSpc>
                  <a:spcPts val="1000"/>
                </a:lnSpc>
              </a:pPr>
              <a:r>
                <a:rPr lang="en-US" sz="1299" b="1" spc="19">
                  <a:solidFill>
                    <a:srgbClr val="100F0D"/>
                  </a:solidFill>
                  <a:latin typeface="Canva Sans Bold"/>
                  <a:ea typeface="Canva Sans Bold"/>
                  <a:cs typeface="Canva Sans Bold"/>
                  <a:sym typeface="Canva Sans Bold"/>
                </a:rPr>
                <a:t>Decentralized </a:t>
              </a:r>
            </a:p>
            <a:p>
              <a:pPr algn="ctr">
                <a:lnSpc>
                  <a:spcPts val="1000"/>
                </a:lnSpc>
              </a:pPr>
              <a:r>
                <a:rPr lang="en-US" sz="1299" b="1" spc="19">
                  <a:solidFill>
                    <a:srgbClr val="100F0D"/>
                  </a:solidFill>
                  <a:latin typeface="Canva Sans Bold"/>
                  <a:ea typeface="Canva Sans Bold"/>
                  <a:cs typeface="Canva Sans Bold"/>
                  <a:sym typeface="Canva Sans Bold"/>
                </a:rPr>
                <a:t>Execution</a:t>
              </a:r>
            </a:p>
          </p:txBody>
        </p:sp>
        <p:grpSp>
          <p:nvGrpSpPr>
            <p:cNvPr id="112" name="Group 112"/>
            <p:cNvGrpSpPr/>
            <p:nvPr/>
          </p:nvGrpSpPr>
          <p:grpSpPr>
            <a:xfrm rot="-1547099">
              <a:off x="4315243" y="1418987"/>
              <a:ext cx="367674" cy="212376"/>
              <a:chOff x="0" y="0"/>
              <a:chExt cx="915539" cy="528834"/>
            </a:xfrm>
          </p:grpSpPr>
          <p:sp>
            <p:nvSpPr>
              <p:cNvPr id="113" name="Freeform 113"/>
              <p:cNvSpPr/>
              <p:nvPr/>
            </p:nvSpPr>
            <p:spPr>
              <a:xfrm>
                <a:off x="0" y="0"/>
                <a:ext cx="915539" cy="528834"/>
              </a:xfrm>
              <a:custGeom>
                <a:avLst/>
                <a:gdLst/>
                <a:ahLst/>
                <a:cxnLst/>
                <a:rect l="l" t="t" r="r" b="b"/>
                <a:pathLst>
                  <a:path w="915539" h="528834">
                    <a:moveTo>
                      <a:pt x="915539" y="264417"/>
                    </a:moveTo>
                    <a:lnTo>
                      <a:pt x="509139" y="0"/>
                    </a:lnTo>
                    <a:lnTo>
                      <a:pt x="509139" y="203200"/>
                    </a:lnTo>
                    <a:lnTo>
                      <a:pt x="0" y="203200"/>
                    </a:lnTo>
                    <a:lnTo>
                      <a:pt x="0" y="325634"/>
                    </a:lnTo>
                    <a:lnTo>
                      <a:pt x="509139" y="325634"/>
                    </a:lnTo>
                    <a:lnTo>
                      <a:pt x="509139" y="528834"/>
                    </a:lnTo>
                    <a:lnTo>
                      <a:pt x="915539" y="264417"/>
                    </a:lnTo>
                    <a:close/>
                  </a:path>
                </a:pathLst>
              </a:custGeom>
              <a:solidFill>
                <a:srgbClr val="F03C2E"/>
              </a:solidFill>
            </p:spPr>
            <p:txBody>
              <a:bodyPr/>
              <a:lstStyle/>
              <a:p>
                <a:endParaRPr lang="en-GB"/>
              </a:p>
            </p:txBody>
          </p:sp>
          <p:sp>
            <p:nvSpPr>
              <p:cNvPr id="114" name="TextBox 114"/>
              <p:cNvSpPr txBox="1"/>
              <p:nvPr/>
            </p:nvSpPr>
            <p:spPr>
              <a:xfrm>
                <a:off x="0" y="31750"/>
                <a:ext cx="813939" cy="293884"/>
              </a:xfrm>
              <a:prstGeom prst="rect">
                <a:avLst/>
              </a:prstGeom>
            </p:spPr>
            <p:txBody>
              <a:bodyPr lIns="50800" tIns="50800" rIns="50800" bIns="50800" rtlCol="0" anchor="ctr"/>
              <a:lstStyle/>
              <a:p>
                <a:pPr algn="ctr">
                  <a:lnSpc>
                    <a:spcPts val="4875"/>
                  </a:lnSpc>
                </a:pPr>
                <a:endParaRPr/>
              </a:p>
            </p:txBody>
          </p:sp>
        </p:grpSp>
        <p:sp>
          <p:nvSpPr>
            <p:cNvPr id="115" name="TextBox 115"/>
            <p:cNvSpPr txBox="1"/>
            <p:nvPr/>
          </p:nvSpPr>
          <p:spPr>
            <a:xfrm>
              <a:off x="3033340" y="811618"/>
              <a:ext cx="2089751" cy="390989"/>
            </a:xfrm>
            <a:prstGeom prst="rect">
              <a:avLst/>
            </a:prstGeom>
          </p:spPr>
          <p:txBody>
            <a:bodyPr lIns="0" tIns="0" rIns="0" bIns="0" rtlCol="0" anchor="t">
              <a:spAutoFit/>
            </a:bodyPr>
            <a:lstStyle/>
            <a:p>
              <a:pPr algn="ctr">
                <a:lnSpc>
                  <a:spcPts val="1000"/>
                </a:lnSpc>
              </a:pPr>
              <a:r>
                <a:rPr lang="en-US" sz="1299" b="1" spc="19">
                  <a:solidFill>
                    <a:srgbClr val="100F0D"/>
                  </a:solidFill>
                  <a:latin typeface="Canva Sans Bold"/>
                  <a:ea typeface="Canva Sans Bold"/>
                  <a:cs typeface="Canva Sans Bold"/>
                  <a:sym typeface="Canva Sans Bold"/>
                </a:rPr>
                <a:t>Centralized </a:t>
              </a:r>
            </a:p>
            <a:p>
              <a:pPr algn="ctr">
                <a:lnSpc>
                  <a:spcPts val="1000"/>
                </a:lnSpc>
              </a:pPr>
              <a:r>
                <a:rPr lang="en-US" sz="1299" b="1" spc="19">
                  <a:solidFill>
                    <a:srgbClr val="100F0D"/>
                  </a:solidFill>
                  <a:latin typeface="Canva Sans Bold"/>
                  <a:ea typeface="Canva Sans Bold"/>
                  <a:cs typeface="Canva Sans Bold"/>
                  <a:sym typeface="Canva Sans Bold"/>
                </a:rPr>
                <a:t>Training</a:t>
              </a:r>
            </a:p>
          </p:txBody>
        </p:sp>
      </p:grpSp>
      <p:sp>
        <p:nvSpPr>
          <p:cNvPr id="116" name="TextBox 116"/>
          <p:cNvSpPr txBox="1"/>
          <p:nvPr/>
        </p:nvSpPr>
        <p:spPr>
          <a:xfrm rot="-10800000">
            <a:off x="-4406386" y="4540163"/>
            <a:ext cx="4420512" cy="1972310"/>
          </a:xfrm>
          <a:prstGeom prst="rect">
            <a:avLst/>
          </a:prstGeom>
        </p:spPr>
        <p:txBody>
          <a:bodyPr lIns="0" tIns="0" rIns="0" bIns="0" rtlCol="0" anchor="t">
            <a:spAutoFit/>
          </a:bodyPr>
          <a:lstStyle/>
          <a:p>
            <a:pPr algn="ctr">
              <a:lnSpc>
                <a:spcPts val="8400"/>
              </a:lnSpc>
            </a:pPr>
            <a:r>
              <a:rPr lang="en-US" sz="6000" b="1">
                <a:solidFill>
                  <a:srgbClr val="FFFFFF"/>
                </a:solidFill>
                <a:latin typeface="Lato Bold"/>
                <a:ea typeface="Lato Bold"/>
                <a:cs typeface="Lato Bold"/>
                <a:sym typeface="Lato Bold"/>
              </a:rPr>
              <a:t>Tools &amp;</a:t>
            </a:r>
          </a:p>
          <a:p>
            <a:pPr algn="l">
              <a:lnSpc>
                <a:spcPts val="7280"/>
              </a:lnSpc>
            </a:pPr>
            <a:r>
              <a:rPr lang="en-US" sz="5200" b="1">
                <a:solidFill>
                  <a:srgbClr val="FFFFFF"/>
                </a:solidFill>
                <a:latin typeface="Lato Bold"/>
                <a:ea typeface="Lato Bold"/>
                <a:cs typeface="Lato Bold"/>
                <a:sym typeface="Lato Bold"/>
              </a:rPr>
              <a:t>Technologies</a:t>
            </a:r>
          </a:p>
        </p:txBody>
      </p:sp>
      <p:sp>
        <p:nvSpPr>
          <p:cNvPr id="117" name="TextBox 117"/>
          <p:cNvSpPr txBox="1"/>
          <p:nvPr/>
        </p:nvSpPr>
        <p:spPr>
          <a:xfrm>
            <a:off x="76200" y="86677"/>
            <a:ext cx="18032177" cy="669925"/>
          </a:xfrm>
          <a:prstGeom prst="rect">
            <a:avLst/>
          </a:prstGeom>
        </p:spPr>
        <p:txBody>
          <a:bodyPr lIns="0" tIns="0" rIns="0" bIns="0" rtlCol="0" anchor="t">
            <a:spAutoFit/>
          </a:bodyPr>
          <a:lstStyle/>
          <a:p>
            <a:pPr marL="0" lvl="0" indent="0" algn="l">
              <a:lnSpc>
                <a:spcPts val="2599"/>
              </a:lnSpc>
            </a:pPr>
            <a:r>
              <a:rPr lang="en-US" sz="1999" spc="29">
                <a:solidFill>
                  <a:srgbClr val="3D2812"/>
                </a:solidFill>
                <a:latin typeface="The Seasons"/>
                <a:ea typeface="The Seasons"/>
                <a:cs typeface="The Seasons"/>
                <a:sym typeface="The Seasons"/>
              </a:rPr>
              <a:t>COMPONENT 1 : CENTRALIZED TRAINING AND DECENTRALIZED EXECUTION OF REINFORCEMENT LEARNING AGENT SYSTEM FOR COOPERATIVE TRAFFIC SIGNAL CONTROL</a:t>
            </a:r>
          </a:p>
        </p:txBody>
      </p:sp>
      <p:sp>
        <p:nvSpPr>
          <p:cNvPr id="118" name="TextBox 118"/>
          <p:cNvSpPr txBox="1"/>
          <p:nvPr/>
        </p:nvSpPr>
        <p:spPr>
          <a:xfrm>
            <a:off x="1206954" y="1143888"/>
            <a:ext cx="16294205" cy="1899285"/>
          </a:xfrm>
          <a:prstGeom prst="rect">
            <a:avLst/>
          </a:prstGeom>
        </p:spPr>
        <p:txBody>
          <a:bodyPr lIns="0" tIns="0" rIns="0" bIns="0" rtlCol="0" anchor="t">
            <a:spAutoFit/>
          </a:bodyPr>
          <a:lstStyle/>
          <a:p>
            <a:pPr algn="ctr">
              <a:lnSpc>
                <a:spcPts val="5039"/>
              </a:lnSpc>
            </a:pPr>
            <a:r>
              <a:rPr lang="en-US" sz="3599" b="1">
                <a:solidFill>
                  <a:srgbClr val="000000"/>
                </a:solidFill>
                <a:latin typeface="Lato Bold"/>
                <a:ea typeface="Lato Bold"/>
                <a:cs typeface="Lato Bold"/>
                <a:sym typeface="Lato Bold"/>
              </a:rPr>
              <a:t>Implementing a cooperative multi-agent reinforcement learning agent system with Centralized Training and Decentralized Execution using </a:t>
            </a:r>
          </a:p>
          <a:p>
            <a:pPr algn="ctr">
              <a:lnSpc>
                <a:spcPts val="5039"/>
              </a:lnSpc>
              <a:spcBef>
                <a:spcPct val="0"/>
              </a:spcBef>
            </a:pPr>
            <a:r>
              <a:rPr lang="en-US" sz="3599" b="1">
                <a:solidFill>
                  <a:srgbClr val="000000"/>
                </a:solidFill>
                <a:latin typeface="Lato Bold"/>
                <a:ea typeface="Lato Bold"/>
                <a:cs typeface="Lato Bold"/>
                <a:sym typeface="Lato Bold"/>
              </a:rPr>
              <a:t>Value Decomposition Architecture</a:t>
            </a:r>
          </a:p>
        </p:txBody>
      </p:sp>
      <p:sp>
        <p:nvSpPr>
          <p:cNvPr id="119" name="TextBox 119"/>
          <p:cNvSpPr txBox="1"/>
          <p:nvPr/>
        </p:nvSpPr>
        <p:spPr>
          <a:xfrm>
            <a:off x="838062" y="4618071"/>
            <a:ext cx="17449938" cy="4485132"/>
          </a:xfrm>
          <a:prstGeom prst="rect">
            <a:avLst/>
          </a:prstGeom>
        </p:spPr>
        <p:txBody>
          <a:bodyPr lIns="0" tIns="0" rIns="0" bIns="0" rtlCol="0" anchor="t">
            <a:spAutoFit/>
          </a:bodyPr>
          <a:lstStyle/>
          <a:p>
            <a:pPr marL="581079" lvl="1" indent="-290540" algn="l">
              <a:lnSpc>
                <a:spcPts val="5113"/>
              </a:lnSpc>
              <a:buFont typeface="Arial"/>
              <a:buChar char="•"/>
            </a:pPr>
            <a:r>
              <a:rPr lang="en-US" sz="2691" spc="40">
                <a:solidFill>
                  <a:srgbClr val="000000"/>
                </a:solidFill>
                <a:latin typeface="Canva Sans"/>
                <a:ea typeface="Canva Sans"/>
                <a:cs typeface="Canva Sans"/>
                <a:sym typeface="Canva Sans"/>
              </a:rPr>
              <a:t>The core  of the system</a:t>
            </a:r>
          </a:p>
          <a:p>
            <a:pPr marL="581079" lvl="1" indent="-290540" algn="l">
              <a:lnSpc>
                <a:spcPts val="5113"/>
              </a:lnSpc>
              <a:buFont typeface="Arial"/>
              <a:buChar char="•"/>
            </a:pPr>
            <a:r>
              <a:rPr lang="en-US" sz="2691" spc="40">
                <a:solidFill>
                  <a:srgbClr val="000000"/>
                </a:solidFill>
                <a:latin typeface="Canva Sans"/>
                <a:ea typeface="Canva Sans"/>
                <a:cs typeface="Canva Sans"/>
                <a:sym typeface="Canva Sans"/>
              </a:rPr>
              <a:t>Uses Centralized training - All junctions share the same experience</a:t>
            </a:r>
          </a:p>
          <a:p>
            <a:pPr marL="581079" lvl="1" indent="-290540" algn="l">
              <a:lnSpc>
                <a:spcPts val="5113"/>
              </a:lnSpc>
              <a:buFont typeface="Arial"/>
              <a:buChar char="•"/>
            </a:pPr>
            <a:r>
              <a:rPr lang="en-US" sz="2691" spc="40">
                <a:solidFill>
                  <a:srgbClr val="000000"/>
                </a:solidFill>
                <a:latin typeface="Canva Sans"/>
                <a:ea typeface="Canva Sans"/>
                <a:cs typeface="Canva Sans"/>
                <a:sym typeface="Canva Sans"/>
              </a:rPr>
              <a:t>Decentralized execution  - perform with all the experiences</a:t>
            </a:r>
          </a:p>
          <a:p>
            <a:pPr marL="581079" lvl="1" indent="-290540" algn="l">
              <a:lnSpc>
                <a:spcPts val="5113"/>
              </a:lnSpc>
              <a:buFont typeface="Arial"/>
              <a:buChar char="•"/>
            </a:pPr>
            <a:r>
              <a:rPr lang="en-US" sz="2691" spc="40">
                <a:solidFill>
                  <a:srgbClr val="000000"/>
                </a:solidFill>
                <a:latin typeface="Canva Sans"/>
                <a:ea typeface="Canva Sans"/>
                <a:cs typeface="Canva Sans"/>
                <a:sym typeface="Canva Sans"/>
              </a:rPr>
              <a:t>Lightweight communication protocol - shares data between neighboring agents for better city-wide traffic management</a:t>
            </a:r>
          </a:p>
          <a:p>
            <a:pPr marL="581079" lvl="1" indent="-290540" algn="l">
              <a:lnSpc>
                <a:spcPts val="5113"/>
              </a:lnSpc>
              <a:buFont typeface="Arial"/>
              <a:buChar char="•"/>
            </a:pPr>
            <a:r>
              <a:rPr lang="en-US" sz="2691" spc="40">
                <a:solidFill>
                  <a:srgbClr val="000000"/>
                </a:solidFill>
                <a:latin typeface="Canva Sans"/>
                <a:ea typeface="Canva Sans"/>
                <a:cs typeface="Canva Sans"/>
                <a:sym typeface="Canva Sans"/>
              </a:rPr>
              <a:t>Dashboard - to manage and monitor the area traffic</a:t>
            </a:r>
          </a:p>
          <a:p>
            <a:pPr marL="581079" lvl="1" indent="-290540" algn="l">
              <a:lnSpc>
                <a:spcPts val="5113"/>
              </a:lnSpc>
              <a:buFont typeface="Arial"/>
              <a:buChar char="•"/>
            </a:pPr>
            <a:r>
              <a:rPr lang="en-US" sz="2691" spc="40">
                <a:solidFill>
                  <a:srgbClr val="000000"/>
                </a:solidFill>
                <a:latin typeface="Canva Sans"/>
                <a:ea typeface="Canva Sans"/>
                <a:cs typeface="Canva Sans"/>
                <a:sym typeface="Canva Sans"/>
              </a:rPr>
              <a:t>Fallback mechanisms - for flexibility in extreme scenarios</a:t>
            </a: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gradFill rotWithShape="1">
          <a:gsLst>
            <a:gs pos="0">
              <a:srgbClr val="FFFFFF">
                <a:alpha val="100000"/>
              </a:srgbClr>
            </a:gs>
            <a:gs pos="100000">
              <a:srgbClr val="E6E6E6">
                <a:alpha val="100000"/>
              </a:srgbClr>
            </a:gs>
          </a:gsLst>
          <a:lin ang="0"/>
        </a:gradFill>
        <a:effectLst/>
      </p:bgPr>
    </p:bg>
    <p:spTree>
      <p:nvGrpSpPr>
        <p:cNvPr id="1" name=""/>
        <p:cNvGrpSpPr/>
        <p:nvPr/>
      </p:nvGrpSpPr>
      <p:grpSpPr>
        <a:xfrm>
          <a:off x="0" y="0"/>
          <a:ext cx="0" cy="0"/>
          <a:chOff x="0" y="0"/>
          <a:chExt cx="0" cy="0"/>
        </a:xfrm>
      </p:grpSpPr>
      <p:sp>
        <p:nvSpPr>
          <p:cNvPr id="2" name="Freeform 2"/>
          <p:cNvSpPr/>
          <p:nvPr/>
        </p:nvSpPr>
        <p:spPr>
          <a:xfrm>
            <a:off x="14173200" y="605040"/>
            <a:ext cx="3086100" cy="4114800"/>
          </a:xfrm>
          <a:custGeom>
            <a:avLst/>
            <a:gdLst/>
            <a:ahLst/>
            <a:cxnLst/>
            <a:rect l="l" t="t" r="r" b="b"/>
            <a:pathLst>
              <a:path w="3086100" h="4114800">
                <a:moveTo>
                  <a:pt x="0" y="0"/>
                </a:moveTo>
                <a:lnTo>
                  <a:pt x="3086100" y="0"/>
                </a:lnTo>
                <a:lnTo>
                  <a:pt x="3086100" y="4114800"/>
                </a:lnTo>
                <a:lnTo>
                  <a:pt x="0" y="4114800"/>
                </a:lnTo>
                <a:lnTo>
                  <a:pt x="0" y="0"/>
                </a:lnTo>
                <a:close/>
              </a:path>
            </a:pathLst>
          </a:custGeom>
          <a:blipFill>
            <a:blip r:embed="rId2"/>
            <a:stretch>
              <a:fillRect/>
            </a:stretch>
          </a:blipFill>
        </p:spPr>
        <p:txBody>
          <a:bodyPr/>
          <a:lstStyle/>
          <a:p>
            <a:endParaRPr lang="en-GB"/>
          </a:p>
        </p:txBody>
      </p:sp>
      <p:sp>
        <p:nvSpPr>
          <p:cNvPr id="3" name="TextBox 3"/>
          <p:cNvSpPr txBox="1"/>
          <p:nvPr/>
        </p:nvSpPr>
        <p:spPr>
          <a:xfrm>
            <a:off x="1028700" y="4510290"/>
            <a:ext cx="12025716" cy="2287017"/>
          </a:xfrm>
          <a:prstGeom prst="rect">
            <a:avLst/>
          </a:prstGeom>
        </p:spPr>
        <p:txBody>
          <a:bodyPr lIns="0" tIns="0" rIns="0" bIns="0" rtlCol="0" anchor="t">
            <a:spAutoFit/>
          </a:bodyPr>
          <a:lstStyle/>
          <a:p>
            <a:pPr marL="0" lvl="0" indent="0" algn="just">
              <a:lnSpc>
                <a:spcPts val="9321"/>
              </a:lnSpc>
            </a:pPr>
            <a:r>
              <a:rPr lang="en-US" sz="5899" b="1" spc="88">
                <a:solidFill>
                  <a:srgbClr val="3D2812"/>
                </a:solidFill>
                <a:latin typeface="Canva Sans Bold"/>
                <a:ea typeface="Canva Sans Bold"/>
                <a:cs typeface="Canva Sans Bold"/>
                <a:sym typeface="Canva Sans Bold"/>
              </a:rPr>
              <a:t>IT22346568   |   Sangeerthan S</a:t>
            </a:r>
          </a:p>
          <a:p>
            <a:pPr marL="0" lvl="0" indent="0" algn="just">
              <a:lnSpc>
                <a:spcPts val="9321"/>
              </a:lnSpc>
            </a:pPr>
            <a:r>
              <a:rPr lang="en-US" sz="5899" b="1" spc="88">
                <a:solidFill>
                  <a:srgbClr val="3D2812"/>
                </a:solidFill>
                <a:latin typeface="Canva Sans Bold"/>
                <a:ea typeface="Canva Sans Bold"/>
                <a:cs typeface="Canva Sans Bold"/>
                <a:sym typeface="Canva Sans Bold"/>
              </a:rPr>
              <a:t>Software Engineering</a:t>
            </a:r>
          </a:p>
        </p:txBody>
      </p:sp>
      <p:sp>
        <p:nvSpPr>
          <p:cNvPr id="4" name="TextBox 4"/>
          <p:cNvSpPr txBox="1"/>
          <p:nvPr/>
        </p:nvSpPr>
        <p:spPr>
          <a:xfrm>
            <a:off x="1028700" y="7210627"/>
            <a:ext cx="14083673" cy="1593489"/>
          </a:xfrm>
          <a:prstGeom prst="rect">
            <a:avLst/>
          </a:prstGeom>
        </p:spPr>
        <p:txBody>
          <a:bodyPr lIns="0" tIns="0" rIns="0" bIns="0" rtlCol="0" anchor="t">
            <a:spAutoFit/>
          </a:bodyPr>
          <a:lstStyle/>
          <a:p>
            <a:pPr marL="0" lvl="0" indent="0" algn="l">
              <a:lnSpc>
                <a:spcPts val="5998"/>
              </a:lnSpc>
            </a:pPr>
            <a:r>
              <a:rPr lang="en-US" sz="4614" b="1" spc="69">
                <a:solidFill>
                  <a:srgbClr val="3D2812"/>
                </a:solidFill>
                <a:latin typeface="The Seasons Bold"/>
                <a:ea typeface="The Seasons Bold"/>
                <a:cs typeface="The Seasons Bold"/>
                <a:sym typeface="The Seasons Bold"/>
              </a:rPr>
              <a:t>EMERGENCY VEHICLE DETECTION AND TRIGGERING SIGNAL IN SUMO SIMULATOR </a:t>
            </a:r>
          </a:p>
        </p:txBody>
      </p:sp>
      <p:grpSp>
        <p:nvGrpSpPr>
          <p:cNvPr id="5" name="Group 5"/>
          <p:cNvGrpSpPr/>
          <p:nvPr/>
        </p:nvGrpSpPr>
        <p:grpSpPr>
          <a:xfrm>
            <a:off x="0" y="9322212"/>
            <a:ext cx="16446351" cy="964788"/>
            <a:chOff x="0" y="0"/>
            <a:chExt cx="21928468" cy="1286384"/>
          </a:xfrm>
        </p:grpSpPr>
        <p:sp>
          <p:nvSpPr>
            <p:cNvPr id="6" name="Freeform 6"/>
            <p:cNvSpPr/>
            <p:nvPr/>
          </p:nvSpPr>
          <p:spPr>
            <a:xfrm>
              <a:off x="0" y="0"/>
              <a:ext cx="5438298" cy="1286384"/>
            </a:xfrm>
            <a:custGeom>
              <a:avLst/>
              <a:gdLst/>
              <a:ahLst/>
              <a:cxnLst/>
              <a:rect l="l" t="t" r="r" b="b"/>
              <a:pathLst>
                <a:path w="5438298" h="1286384">
                  <a:moveTo>
                    <a:pt x="0" y="0"/>
                  </a:moveTo>
                  <a:lnTo>
                    <a:pt x="5438298" y="0"/>
                  </a:lnTo>
                  <a:lnTo>
                    <a:pt x="5438298" y="1286384"/>
                  </a:lnTo>
                  <a:lnTo>
                    <a:pt x="0" y="1286384"/>
                  </a:lnTo>
                  <a:lnTo>
                    <a:pt x="0" y="0"/>
                  </a:lnTo>
                  <a:close/>
                </a:path>
              </a:pathLst>
            </a:custGeom>
            <a:blipFill>
              <a:blip r:embed="rId3"/>
              <a:stretch>
                <a:fillRect/>
              </a:stretch>
            </a:blipFill>
          </p:spPr>
          <p:txBody>
            <a:bodyPr/>
            <a:lstStyle/>
            <a:p>
              <a:endParaRPr lang="en-GB"/>
            </a:p>
          </p:txBody>
        </p:sp>
        <p:sp>
          <p:nvSpPr>
            <p:cNvPr id="7" name="TextBox 7"/>
            <p:cNvSpPr txBox="1"/>
            <p:nvPr/>
          </p:nvSpPr>
          <p:spPr>
            <a:xfrm>
              <a:off x="5438298" y="538417"/>
              <a:ext cx="11493275" cy="685332"/>
            </a:xfrm>
            <a:prstGeom prst="rect">
              <a:avLst/>
            </a:prstGeom>
          </p:spPr>
          <p:txBody>
            <a:bodyPr lIns="0" tIns="0" rIns="0" bIns="0" rtlCol="0" anchor="t">
              <a:spAutoFit/>
            </a:bodyPr>
            <a:lstStyle/>
            <a:p>
              <a:pPr algn="ctr">
                <a:lnSpc>
                  <a:spcPts val="4586"/>
                </a:lnSpc>
              </a:pPr>
              <a:r>
                <a:rPr lang="en-US" sz="2866" spc="-171">
                  <a:solidFill>
                    <a:srgbClr val="000000"/>
                  </a:solidFill>
                  <a:latin typeface="Canva Sans"/>
                  <a:ea typeface="Canva Sans"/>
                  <a:cs typeface="Canva Sans"/>
                  <a:sym typeface="Canva Sans"/>
                </a:rPr>
                <a:t>IT22346568       |       Sangeerthan S      |       25-26J-473 </a:t>
              </a:r>
            </a:p>
          </p:txBody>
        </p:sp>
        <p:sp>
          <p:nvSpPr>
            <p:cNvPr id="8" name="TextBox 8"/>
            <p:cNvSpPr txBox="1"/>
            <p:nvPr/>
          </p:nvSpPr>
          <p:spPr>
            <a:xfrm>
              <a:off x="17904380" y="471742"/>
              <a:ext cx="4024088" cy="692757"/>
            </a:xfrm>
            <a:prstGeom prst="rect">
              <a:avLst/>
            </a:prstGeom>
          </p:spPr>
          <p:txBody>
            <a:bodyPr lIns="0" tIns="0" rIns="0" bIns="0" rtlCol="0" anchor="t">
              <a:spAutoFit/>
            </a:bodyPr>
            <a:lstStyle/>
            <a:p>
              <a:pPr algn="ctr">
                <a:lnSpc>
                  <a:spcPts val="4875"/>
                </a:lnSpc>
              </a:pPr>
              <a:r>
                <a:rPr lang="en-US" sz="2566" i="1" spc="38">
                  <a:solidFill>
                    <a:srgbClr val="000000"/>
                  </a:solidFill>
                  <a:latin typeface="Canva Sans Italics"/>
                  <a:ea typeface="Canva Sans Italics"/>
                  <a:cs typeface="Canva Sans Italics"/>
                  <a:sym typeface="Canva Sans Italics"/>
                </a:rPr>
                <a:t>06/01/2026</a:t>
              </a:r>
            </a:p>
          </p:txBody>
        </p:sp>
      </p:grpSp>
      <p:sp>
        <p:nvSpPr>
          <p:cNvPr id="9" name="TextBox 9"/>
          <p:cNvSpPr txBox="1"/>
          <p:nvPr/>
        </p:nvSpPr>
        <p:spPr>
          <a:xfrm>
            <a:off x="17646117" y="9676843"/>
            <a:ext cx="152400" cy="219075"/>
          </a:xfrm>
          <a:prstGeom prst="rect">
            <a:avLst/>
          </a:prstGeom>
        </p:spPr>
        <p:txBody>
          <a:bodyPr wrap="none" lIns="0" tIns="0" rIns="0" bIns="0" rtlCol="0" anchor="t">
            <a:spAutoFit/>
          </a:bodyPr>
          <a:lstStyle/>
          <a:p>
            <a:pPr algn="ctr">
              <a:lnSpc>
                <a:spcPts val="4405"/>
              </a:lnSpc>
              <a:spcBef>
                <a:spcPct val="0"/>
              </a:spcBef>
            </a:pPr>
            <a:r>
              <a:rPr lang="en-US" sz="3146">
                <a:solidFill>
                  <a:srgbClr val="1A1A1A"/>
                </a:solidFill>
                <a:latin typeface="Canva Sans"/>
                <a:ea typeface="Canva Sans"/>
                <a:cs typeface="Canva Sans"/>
                <a:sym typeface="Canva Sans"/>
              </a:rPr>
              <a:t>14</a:t>
            </a: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bg>
      <p:bgPr>
        <a:gradFill rotWithShape="1">
          <a:gsLst>
            <a:gs pos="0">
              <a:srgbClr val="FFFFFF">
                <a:alpha val="100000"/>
              </a:srgbClr>
            </a:gs>
            <a:gs pos="100000">
              <a:srgbClr val="E6E6E6">
                <a:alpha val="100000"/>
              </a:srgbClr>
            </a:gs>
          </a:gsLst>
          <a:lin ang="0"/>
        </a:gradFill>
        <a:effectLst/>
      </p:bgPr>
    </p:bg>
    <p:spTree>
      <p:nvGrpSpPr>
        <p:cNvPr id="1" name=""/>
        <p:cNvGrpSpPr/>
        <p:nvPr/>
      </p:nvGrpSpPr>
      <p:grpSpPr>
        <a:xfrm>
          <a:off x="0" y="0"/>
          <a:ext cx="0" cy="0"/>
          <a:chOff x="0" y="0"/>
          <a:chExt cx="0" cy="0"/>
        </a:xfrm>
      </p:grpSpPr>
      <p:grpSp>
        <p:nvGrpSpPr>
          <p:cNvPr id="2" name="Group 2"/>
          <p:cNvGrpSpPr/>
          <p:nvPr/>
        </p:nvGrpSpPr>
        <p:grpSpPr>
          <a:xfrm>
            <a:off x="0" y="9322212"/>
            <a:ext cx="16446351" cy="964788"/>
            <a:chOff x="0" y="0"/>
            <a:chExt cx="21928468" cy="1286384"/>
          </a:xfrm>
        </p:grpSpPr>
        <p:sp>
          <p:nvSpPr>
            <p:cNvPr id="3" name="Freeform 3"/>
            <p:cNvSpPr/>
            <p:nvPr/>
          </p:nvSpPr>
          <p:spPr>
            <a:xfrm>
              <a:off x="0" y="0"/>
              <a:ext cx="5438298" cy="1286384"/>
            </a:xfrm>
            <a:custGeom>
              <a:avLst/>
              <a:gdLst/>
              <a:ahLst/>
              <a:cxnLst/>
              <a:rect l="l" t="t" r="r" b="b"/>
              <a:pathLst>
                <a:path w="5438298" h="1286384">
                  <a:moveTo>
                    <a:pt x="0" y="0"/>
                  </a:moveTo>
                  <a:lnTo>
                    <a:pt x="5438298" y="0"/>
                  </a:lnTo>
                  <a:lnTo>
                    <a:pt x="5438298" y="1286384"/>
                  </a:lnTo>
                  <a:lnTo>
                    <a:pt x="0" y="1286384"/>
                  </a:lnTo>
                  <a:lnTo>
                    <a:pt x="0" y="0"/>
                  </a:lnTo>
                  <a:close/>
                </a:path>
              </a:pathLst>
            </a:custGeom>
            <a:blipFill>
              <a:blip r:embed="rId2"/>
              <a:stretch>
                <a:fillRect/>
              </a:stretch>
            </a:blipFill>
          </p:spPr>
          <p:txBody>
            <a:bodyPr/>
            <a:lstStyle/>
            <a:p>
              <a:endParaRPr lang="en-GB"/>
            </a:p>
          </p:txBody>
        </p:sp>
        <p:sp>
          <p:nvSpPr>
            <p:cNvPr id="4" name="TextBox 4"/>
            <p:cNvSpPr txBox="1"/>
            <p:nvPr/>
          </p:nvSpPr>
          <p:spPr>
            <a:xfrm>
              <a:off x="5438298" y="538417"/>
              <a:ext cx="11493275" cy="685332"/>
            </a:xfrm>
            <a:prstGeom prst="rect">
              <a:avLst/>
            </a:prstGeom>
          </p:spPr>
          <p:txBody>
            <a:bodyPr lIns="0" tIns="0" rIns="0" bIns="0" rtlCol="0" anchor="t">
              <a:spAutoFit/>
            </a:bodyPr>
            <a:lstStyle/>
            <a:p>
              <a:pPr algn="ctr">
                <a:lnSpc>
                  <a:spcPts val="4586"/>
                </a:lnSpc>
              </a:pPr>
              <a:r>
                <a:rPr lang="en-US" sz="2866" spc="-171">
                  <a:solidFill>
                    <a:srgbClr val="000000"/>
                  </a:solidFill>
                  <a:latin typeface="Canva Sans"/>
                  <a:ea typeface="Canva Sans"/>
                  <a:cs typeface="Canva Sans"/>
                  <a:sym typeface="Canva Sans"/>
                </a:rPr>
                <a:t>IT22346568       |       Sangeerthan S      |       25-26J-473 </a:t>
              </a:r>
            </a:p>
          </p:txBody>
        </p:sp>
        <p:sp>
          <p:nvSpPr>
            <p:cNvPr id="5" name="TextBox 5"/>
            <p:cNvSpPr txBox="1"/>
            <p:nvPr/>
          </p:nvSpPr>
          <p:spPr>
            <a:xfrm>
              <a:off x="17904380" y="471742"/>
              <a:ext cx="4024088" cy="692757"/>
            </a:xfrm>
            <a:prstGeom prst="rect">
              <a:avLst/>
            </a:prstGeom>
          </p:spPr>
          <p:txBody>
            <a:bodyPr lIns="0" tIns="0" rIns="0" bIns="0" rtlCol="0" anchor="t">
              <a:spAutoFit/>
            </a:bodyPr>
            <a:lstStyle/>
            <a:p>
              <a:pPr algn="ctr">
                <a:lnSpc>
                  <a:spcPts val="4875"/>
                </a:lnSpc>
              </a:pPr>
              <a:r>
                <a:rPr lang="en-US" sz="2566" i="1" spc="38">
                  <a:solidFill>
                    <a:srgbClr val="000000"/>
                  </a:solidFill>
                  <a:latin typeface="Canva Sans Italics"/>
                  <a:ea typeface="Canva Sans Italics"/>
                  <a:cs typeface="Canva Sans Italics"/>
                  <a:sym typeface="Canva Sans Italics"/>
                </a:rPr>
                <a:t>06/01/2026</a:t>
              </a:r>
            </a:p>
          </p:txBody>
        </p:sp>
      </p:grpSp>
      <p:sp>
        <p:nvSpPr>
          <p:cNvPr id="6" name="TextBox 6"/>
          <p:cNvSpPr txBox="1"/>
          <p:nvPr/>
        </p:nvSpPr>
        <p:spPr>
          <a:xfrm>
            <a:off x="2504404" y="142420"/>
            <a:ext cx="13941947" cy="562430"/>
          </a:xfrm>
          <a:prstGeom prst="rect">
            <a:avLst/>
          </a:prstGeom>
        </p:spPr>
        <p:txBody>
          <a:bodyPr lIns="0" tIns="0" rIns="0" bIns="0" rtlCol="0" anchor="t">
            <a:spAutoFit/>
          </a:bodyPr>
          <a:lstStyle/>
          <a:p>
            <a:pPr algn="ctr">
              <a:lnSpc>
                <a:spcPts val="4875"/>
              </a:lnSpc>
              <a:spcBef>
                <a:spcPct val="0"/>
              </a:spcBef>
            </a:pPr>
            <a:r>
              <a:rPr lang="en-US" sz="2566" i="1" spc="38">
                <a:solidFill>
                  <a:srgbClr val="000000"/>
                </a:solidFill>
                <a:latin typeface="Canva Sans Italics"/>
                <a:ea typeface="Canva Sans Italics"/>
                <a:cs typeface="Canva Sans Italics"/>
                <a:sym typeface="Canva Sans Italics"/>
              </a:rPr>
              <a:t>EMERGENCY VEHICLE DETECTION AND TRIGGERING SIGNAL</a:t>
            </a:r>
          </a:p>
        </p:txBody>
      </p:sp>
      <p:sp>
        <p:nvSpPr>
          <p:cNvPr id="7" name="TextBox 7"/>
          <p:cNvSpPr txBox="1"/>
          <p:nvPr/>
        </p:nvSpPr>
        <p:spPr>
          <a:xfrm>
            <a:off x="17646117" y="9676843"/>
            <a:ext cx="152400" cy="219075"/>
          </a:xfrm>
          <a:prstGeom prst="rect">
            <a:avLst/>
          </a:prstGeom>
        </p:spPr>
        <p:txBody>
          <a:bodyPr wrap="none" lIns="0" tIns="0" rIns="0" bIns="0" rtlCol="0" anchor="t">
            <a:spAutoFit/>
          </a:bodyPr>
          <a:lstStyle/>
          <a:p>
            <a:pPr algn="ctr">
              <a:lnSpc>
                <a:spcPts val="4405"/>
              </a:lnSpc>
              <a:spcBef>
                <a:spcPct val="0"/>
              </a:spcBef>
            </a:pPr>
            <a:r>
              <a:rPr lang="en-US" sz="3146">
                <a:solidFill>
                  <a:srgbClr val="1A1A1A"/>
                </a:solidFill>
                <a:latin typeface="Canva Sans"/>
                <a:ea typeface="Canva Sans"/>
                <a:cs typeface="Canva Sans"/>
                <a:sym typeface="Canva Sans"/>
              </a:rPr>
              <a:t>15</a:t>
            </a:r>
          </a:p>
        </p:txBody>
      </p:sp>
      <p:sp>
        <p:nvSpPr>
          <p:cNvPr id="8" name="TextBox 8"/>
          <p:cNvSpPr txBox="1"/>
          <p:nvPr/>
        </p:nvSpPr>
        <p:spPr>
          <a:xfrm>
            <a:off x="645924" y="753455"/>
            <a:ext cx="8619955" cy="1141595"/>
          </a:xfrm>
          <a:prstGeom prst="rect">
            <a:avLst/>
          </a:prstGeom>
        </p:spPr>
        <p:txBody>
          <a:bodyPr wrap="square" lIns="0" tIns="0" rIns="0" bIns="0" rtlCol="0" anchor="t">
            <a:spAutoFit/>
          </a:bodyPr>
          <a:lstStyle/>
          <a:p>
            <a:pPr algn="l">
              <a:lnSpc>
                <a:spcPts val="4620"/>
              </a:lnSpc>
            </a:pPr>
            <a:r>
              <a:rPr lang="en-US" sz="3000" b="1" dirty="0">
                <a:solidFill>
                  <a:srgbClr val="3D2812"/>
                </a:solidFill>
                <a:latin typeface="Canva Sans Bold"/>
                <a:ea typeface="Canva Sans Bold"/>
                <a:cs typeface="Canva Sans Bold"/>
                <a:sym typeface="Canva Sans Bold"/>
              </a:rPr>
              <a:t>Solution Approach for the Identified Sub-Problem</a:t>
            </a:r>
          </a:p>
        </p:txBody>
      </p:sp>
      <p:grpSp>
        <p:nvGrpSpPr>
          <p:cNvPr id="9" name="Group 9"/>
          <p:cNvGrpSpPr/>
          <p:nvPr/>
        </p:nvGrpSpPr>
        <p:grpSpPr>
          <a:xfrm>
            <a:off x="645925" y="1883159"/>
            <a:ext cx="7431276" cy="2291879"/>
            <a:chOff x="0" y="0"/>
            <a:chExt cx="21275905" cy="3055838"/>
          </a:xfrm>
        </p:grpSpPr>
        <p:grpSp>
          <p:nvGrpSpPr>
            <p:cNvPr id="10" name="Group 10"/>
            <p:cNvGrpSpPr/>
            <p:nvPr/>
          </p:nvGrpSpPr>
          <p:grpSpPr>
            <a:xfrm>
              <a:off x="0" y="0"/>
              <a:ext cx="21275905" cy="3030269"/>
              <a:chOff x="0" y="0"/>
              <a:chExt cx="4202648" cy="598572"/>
            </a:xfrm>
          </p:grpSpPr>
          <p:sp>
            <p:nvSpPr>
              <p:cNvPr id="11" name="Freeform 11"/>
              <p:cNvSpPr/>
              <p:nvPr/>
            </p:nvSpPr>
            <p:spPr>
              <a:xfrm>
                <a:off x="0" y="0"/>
                <a:ext cx="4202648" cy="598572"/>
              </a:xfrm>
              <a:custGeom>
                <a:avLst/>
                <a:gdLst/>
                <a:ahLst/>
                <a:cxnLst/>
                <a:rect l="l" t="t" r="r" b="b"/>
                <a:pathLst>
                  <a:path w="4202648" h="598572">
                    <a:moveTo>
                      <a:pt x="24744" y="0"/>
                    </a:moveTo>
                    <a:lnTo>
                      <a:pt x="4177904" y="0"/>
                    </a:lnTo>
                    <a:cubicBezTo>
                      <a:pt x="4184466" y="0"/>
                      <a:pt x="4190760" y="2607"/>
                      <a:pt x="4195401" y="7247"/>
                    </a:cubicBezTo>
                    <a:cubicBezTo>
                      <a:pt x="4200041" y="11888"/>
                      <a:pt x="4202648" y="18181"/>
                      <a:pt x="4202648" y="24744"/>
                    </a:cubicBezTo>
                    <a:lnTo>
                      <a:pt x="4202648" y="573828"/>
                    </a:lnTo>
                    <a:cubicBezTo>
                      <a:pt x="4202648" y="587493"/>
                      <a:pt x="4191569" y="598572"/>
                      <a:pt x="4177904" y="598572"/>
                    </a:cubicBezTo>
                    <a:lnTo>
                      <a:pt x="24744" y="598572"/>
                    </a:lnTo>
                    <a:cubicBezTo>
                      <a:pt x="11078" y="598572"/>
                      <a:pt x="0" y="587493"/>
                      <a:pt x="0" y="573828"/>
                    </a:cubicBezTo>
                    <a:lnTo>
                      <a:pt x="0" y="24744"/>
                    </a:lnTo>
                    <a:cubicBezTo>
                      <a:pt x="0" y="11078"/>
                      <a:pt x="11078" y="0"/>
                      <a:pt x="24744" y="0"/>
                    </a:cubicBezTo>
                    <a:close/>
                  </a:path>
                </a:pathLst>
              </a:custGeom>
              <a:solidFill>
                <a:srgbClr val="F03C2E"/>
              </a:solidFill>
            </p:spPr>
            <p:txBody>
              <a:bodyPr/>
              <a:lstStyle/>
              <a:p>
                <a:endParaRPr lang="en-GB"/>
              </a:p>
            </p:txBody>
          </p:sp>
          <p:sp>
            <p:nvSpPr>
              <p:cNvPr id="12" name="TextBox 12"/>
              <p:cNvSpPr txBox="1"/>
              <p:nvPr/>
            </p:nvSpPr>
            <p:spPr>
              <a:xfrm>
                <a:off x="0" y="-171450"/>
                <a:ext cx="4202648" cy="770022"/>
              </a:xfrm>
              <a:prstGeom prst="rect">
                <a:avLst/>
              </a:prstGeom>
            </p:spPr>
            <p:txBody>
              <a:bodyPr lIns="50800" tIns="50800" rIns="50800" bIns="50800" rtlCol="0" anchor="ctr"/>
              <a:lstStyle/>
              <a:p>
                <a:pPr algn="ctr">
                  <a:lnSpc>
                    <a:spcPts val="4875"/>
                  </a:lnSpc>
                </a:pPr>
                <a:endParaRPr/>
              </a:p>
            </p:txBody>
          </p:sp>
        </p:grpSp>
        <p:sp>
          <p:nvSpPr>
            <p:cNvPr id="13" name="TextBox 13"/>
            <p:cNvSpPr txBox="1"/>
            <p:nvPr/>
          </p:nvSpPr>
          <p:spPr>
            <a:xfrm>
              <a:off x="719036" y="42449"/>
              <a:ext cx="20556869" cy="3013389"/>
            </a:xfrm>
            <a:prstGeom prst="rect">
              <a:avLst/>
            </a:prstGeom>
          </p:spPr>
          <p:txBody>
            <a:bodyPr lIns="0" tIns="0" rIns="0" bIns="0" rtlCol="0" anchor="t">
              <a:spAutoFit/>
            </a:bodyPr>
            <a:lstStyle/>
            <a:p>
              <a:pPr algn="l">
                <a:lnSpc>
                  <a:spcPts val="4524"/>
                </a:lnSpc>
              </a:pPr>
              <a:r>
                <a:rPr lang="en-US" sz="2900" spc="43" dirty="0">
                  <a:solidFill>
                    <a:srgbClr val="000000"/>
                  </a:solidFill>
                  <a:latin typeface="Canva Sans"/>
                  <a:ea typeface="Canva Sans"/>
                  <a:cs typeface="Canva Sans"/>
                  <a:sym typeface="Canva Sans"/>
                </a:rPr>
                <a:t>Vision-Based Detection - Detect emergency vehicles using object detection models from camera feeds with yolov8.</a:t>
              </a:r>
            </a:p>
          </p:txBody>
        </p:sp>
      </p:grpSp>
      <p:grpSp>
        <p:nvGrpSpPr>
          <p:cNvPr id="14" name="Group 14"/>
          <p:cNvGrpSpPr/>
          <p:nvPr/>
        </p:nvGrpSpPr>
        <p:grpSpPr>
          <a:xfrm>
            <a:off x="645924" y="4374768"/>
            <a:ext cx="7431277" cy="2281878"/>
            <a:chOff x="0" y="0"/>
            <a:chExt cx="21275905" cy="3042504"/>
          </a:xfrm>
        </p:grpSpPr>
        <p:grpSp>
          <p:nvGrpSpPr>
            <p:cNvPr id="15" name="Group 15"/>
            <p:cNvGrpSpPr/>
            <p:nvPr/>
          </p:nvGrpSpPr>
          <p:grpSpPr>
            <a:xfrm>
              <a:off x="0" y="0"/>
              <a:ext cx="21275905" cy="3030269"/>
              <a:chOff x="0" y="0"/>
              <a:chExt cx="4202648" cy="598572"/>
            </a:xfrm>
          </p:grpSpPr>
          <p:sp>
            <p:nvSpPr>
              <p:cNvPr id="16" name="Freeform 16"/>
              <p:cNvSpPr/>
              <p:nvPr/>
            </p:nvSpPr>
            <p:spPr>
              <a:xfrm>
                <a:off x="0" y="0"/>
                <a:ext cx="4202648" cy="598572"/>
              </a:xfrm>
              <a:custGeom>
                <a:avLst/>
                <a:gdLst/>
                <a:ahLst/>
                <a:cxnLst/>
                <a:rect l="l" t="t" r="r" b="b"/>
                <a:pathLst>
                  <a:path w="4202648" h="598572">
                    <a:moveTo>
                      <a:pt x="24744" y="0"/>
                    </a:moveTo>
                    <a:lnTo>
                      <a:pt x="4177904" y="0"/>
                    </a:lnTo>
                    <a:cubicBezTo>
                      <a:pt x="4184466" y="0"/>
                      <a:pt x="4190760" y="2607"/>
                      <a:pt x="4195401" y="7247"/>
                    </a:cubicBezTo>
                    <a:cubicBezTo>
                      <a:pt x="4200041" y="11888"/>
                      <a:pt x="4202648" y="18181"/>
                      <a:pt x="4202648" y="24744"/>
                    </a:cubicBezTo>
                    <a:lnTo>
                      <a:pt x="4202648" y="573828"/>
                    </a:lnTo>
                    <a:cubicBezTo>
                      <a:pt x="4202648" y="587493"/>
                      <a:pt x="4191569" y="598572"/>
                      <a:pt x="4177904" y="598572"/>
                    </a:cubicBezTo>
                    <a:lnTo>
                      <a:pt x="24744" y="598572"/>
                    </a:lnTo>
                    <a:cubicBezTo>
                      <a:pt x="11078" y="598572"/>
                      <a:pt x="0" y="587493"/>
                      <a:pt x="0" y="573828"/>
                    </a:cubicBezTo>
                    <a:lnTo>
                      <a:pt x="0" y="24744"/>
                    </a:lnTo>
                    <a:cubicBezTo>
                      <a:pt x="0" y="11078"/>
                      <a:pt x="11078" y="0"/>
                      <a:pt x="24744" y="0"/>
                    </a:cubicBezTo>
                    <a:close/>
                  </a:path>
                </a:pathLst>
              </a:custGeom>
              <a:solidFill>
                <a:srgbClr val="00D8FF"/>
              </a:solidFill>
            </p:spPr>
            <p:txBody>
              <a:bodyPr/>
              <a:lstStyle/>
              <a:p>
                <a:endParaRPr lang="en-GB"/>
              </a:p>
            </p:txBody>
          </p:sp>
          <p:sp>
            <p:nvSpPr>
              <p:cNvPr id="17" name="TextBox 17"/>
              <p:cNvSpPr txBox="1"/>
              <p:nvPr/>
            </p:nvSpPr>
            <p:spPr>
              <a:xfrm>
                <a:off x="0" y="-171450"/>
                <a:ext cx="4202648" cy="770022"/>
              </a:xfrm>
              <a:prstGeom prst="rect">
                <a:avLst/>
              </a:prstGeom>
            </p:spPr>
            <p:txBody>
              <a:bodyPr lIns="50800" tIns="50800" rIns="50800" bIns="50800" rtlCol="0" anchor="ctr"/>
              <a:lstStyle/>
              <a:p>
                <a:pPr algn="ctr">
                  <a:lnSpc>
                    <a:spcPts val="4875"/>
                  </a:lnSpc>
                </a:pPr>
                <a:endParaRPr/>
              </a:p>
            </p:txBody>
          </p:sp>
        </p:grpSp>
        <p:sp>
          <p:nvSpPr>
            <p:cNvPr id="18" name="TextBox 18"/>
            <p:cNvSpPr txBox="1"/>
            <p:nvPr/>
          </p:nvSpPr>
          <p:spPr>
            <a:xfrm>
              <a:off x="640830" y="29115"/>
              <a:ext cx="19892885" cy="3013389"/>
            </a:xfrm>
            <a:prstGeom prst="rect">
              <a:avLst/>
            </a:prstGeom>
          </p:spPr>
          <p:txBody>
            <a:bodyPr wrap="square" lIns="0" tIns="0" rIns="0" bIns="0" rtlCol="0" anchor="t">
              <a:spAutoFit/>
            </a:bodyPr>
            <a:lstStyle/>
            <a:p>
              <a:pPr algn="l">
                <a:lnSpc>
                  <a:spcPts val="4524"/>
                </a:lnSpc>
              </a:pPr>
              <a:r>
                <a:rPr lang="en-US" sz="2900" spc="43" dirty="0">
                  <a:solidFill>
                    <a:srgbClr val="000000"/>
                  </a:solidFill>
                  <a:latin typeface="Canva Sans"/>
                  <a:ea typeface="Canva Sans"/>
                  <a:cs typeface="Canva Sans"/>
                  <a:sym typeface="Canva Sans"/>
                </a:rPr>
                <a:t>Audio-Based Detection - Identify emergency siren sounds using sound classification techniques with </a:t>
              </a:r>
              <a:r>
                <a:rPr lang="en-US" sz="2900" spc="43" dirty="0" err="1">
                  <a:solidFill>
                    <a:srgbClr val="000000"/>
                  </a:solidFill>
                  <a:latin typeface="Canva Sans"/>
                  <a:ea typeface="Canva Sans"/>
                  <a:cs typeface="Canva Sans"/>
                  <a:sym typeface="Canva Sans"/>
                </a:rPr>
                <a:t>YAMNnet</a:t>
              </a:r>
              <a:r>
                <a:rPr lang="en-US" sz="2900" spc="43" dirty="0">
                  <a:solidFill>
                    <a:srgbClr val="000000"/>
                  </a:solidFill>
                  <a:latin typeface="Canva Sans"/>
                  <a:ea typeface="Canva Sans"/>
                  <a:cs typeface="Canva Sans"/>
                  <a:sym typeface="Canva Sans"/>
                </a:rPr>
                <a:t>.</a:t>
              </a:r>
            </a:p>
          </p:txBody>
        </p:sp>
      </p:grpSp>
      <p:grpSp>
        <p:nvGrpSpPr>
          <p:cNvPr id="19" name="Group 19"/>
          <p:cNvGrpSpPr/>
          <p:nvPr/>
        </p:nvGrpSpPr>
        <p:grpSpPr>
          <a:xfrm>
            <a:off x="645924" y="6866377"/>
            <a:ext cx="7431277" cy="2272702"/>
            <a:chOff x="0" y="0"/>
            <a:chExt cx="21275905" cy="3030269"/>
          </a:xfrm>
        </p:grpSpPr>
        <p:grpSp>
          <p:nvGrpSpPr>
            <p:cNvPr id="20" name="Group 20"/>
            <p:cNvGrpSpPr/>
            <p:nvPr/>
          </p:nvGrpSpPr>
          <p:grpSpPr>
            <a:xfrm>
              <a:off x="0" y="0"/>
              <a:ext cx="21275905" cy="3030269"/>
              <a:chOff x="0" y="0"/>
              <a:chExt cx="4202648" cy="598572"/>
            </a:xfrm>
          </p:grpSpPr>
          <p:sp>
            <p:nvSpPr>
              <p:cNvPr id="21" name="Freeform 21"/>
              <p:cNvSpPr/>
              <p:nvPr/>
            </p:nvSpPr>
            <p:spPr>
              <a:xfrm>
                <a:off x="0" y="0"/>
                <a:ext cx="4202648" cy="598572"/>
              </a:xfrm>
              <a:custGeom>
                <a:avLst/>
                <a:gdLst/>
                <a:ahLst/>
                <a:cxnLst/>
                <a:rect l="l" t="t" r="r" b="b"/>
                <a:pathLst>
                  <a:path w="4202648" h="598572">
                    <a:moveTo>
                      <a:pt x="24744" y="0"/>
                    </a:moveTo>
                    <a:lnTo>
                      <a:pt x="4177904" y="0"/>
                    </a:lnTo>
                    <a:cubicBezTo>
                      <a:pt x="4184466" y="0"/>
                      <a:pt x="4190760" y="2607"/>
                      <a:pt x="4195401" y="7247"/>
                    </a:cubicBezTo>
                    <a:cubicBezTo>
                      <a:pt x="4200041" y="11888"/>
                      <a:pt x="4202648" y="18181"/>
                      <a:pt x="4202648" y="24744"/>
                    </a:cubicBezTo>
                    <a:lnTo>
                      <a:pt x="4202648" y="573828"/>
                    </a:lnTo>
                    <a:cubicBezTo>
                      <a:pt x="4202648" y="587493"/>
                      <a:pt x="4191569" y="598572"/>
                      <a:pt x="4177904" y="598572"/>
                    </a:cubicBezTo>
                    <a:lnTo>
                      <a:pt x="24744" y="598572"/>
                    </a:lnTo>
                    <a:cubicBezTo>
                      <a:pt x="11078" y="598572"/>
                      <a:pt x="0" y="587493"/>
                      <a:pt x="0" y="573828"/>
                    </a:cubicBezTo>
                    <a:lnTo>
                      <a:pt x="0" y="24744"/>
                    </a:lnTo>
                    <a:cubicBezTo>
                      <a:pt x="0" y="11078"/>
                      <a:pt x="11078" y="0"/>
                      <a:pt x="24744" y="0"/>
                    </a:cubicBezTo>
                    <a:close/>
                  </a:path>
                </a:pathLst>
              </a:custGeom>
              <a:solidFill>
                <a:srgbClr val="C1FF72"/>
              </a:solidFill>
            </p:spPr>
            <p:txBody>
              <a:bodyPr/>
              <a:lstStyle/>
              <a:p>
                <a:endParaRPr lang="en-GB"/>
              </a:p>
            </p:txBody>
          </p:sp>
          <p:sp>
            <p:nvSpPr>
              <p:cNvPr id="22" name="TextBox 22"/>
              <p:cNvSpPr txBox="1"/>
              <p:nvPr/>
            </p:nvSpPr>
            <p:spPr>
              <a:xfrm>
                <a:off x="0" y="-171450"/>
                <a:ext cx="4202648" cy="770022"/>
              </a:xfrm>
              <a:prstGeom prst="rect">
                <a:avLst/>
              </a:prstGeom>
            </p:spPr>
            <p:txBody>
              <a:bodyPr lIns="50800" tIns="50800" rIns="50800" bIns="50800" rtlCol="0" anchor="ctr"/>
              <a:lstStyle/>
              <a:p>
                <a:pPr algn="ctr">
                  <a:lnSpc>
                    <a:spcPts val="4875"/>
                  </a:lnSpc>
                </a:pPr>
                <a:endParaRPr/>
              </a:p>
            </p:txBody>
          </p:sp>
        </p:grpSp>
        <p:sp>
          <p:nvSpPr>
            <p:cNvPr id="23" name="TextBox 23"/>
            <p:cNvSpPr txBox="1"/>
            <p:nvPr/>
          </p:nvSpPr>
          <p:spPr>
            <a:xfrm>
              <a:off x="359518" y="432961"/>
              <a:ext cx="20916387" cy="2243948"/>
            </a:xfrm>
            <a:prstGeom prst="rect">
              <a:avLst/>
            </a:prstGeom>
          </p:spPr>
          <p:txBody>
            <a:bodyPr wrap="square" lIns="0" tIns="0" rIns="0" bIns="0" rtlCol="0" anchor="t">
              <a:spAutoFit/>
            </a:bodyPr>
            <a:lstStyle/>
            <a:p>
              <a:pPr algn="l">
                <a:lnSpc>
                  <a:spcPts val="4524"/>
                </a:lnSpc>
              </a:pPr>
              <a:r>
                <a:rPr lang="en-US" sz="2900" spc="43" dirty="0">
                  <a:solidFill>
                    <a:srgbClr val="000000"/>
                  </a:solidFill>
                  <a:latin typeface="Canva Sans"/>
                  <a:ea typeface="Canva Sans"/>
                  <a:cs typeface="Canva Sans"/>
                  <a:sym typeface="Canva Sans"/>
                </a:rPr>
                <a:t>Light Pattern Detection - Detect flashing siren lights based on color and intensity patterns.</a:t>
              </a:r>
            </a:p>
          </p:txBody>
        </p:sp>
      </p:grpSp>
      <p:pic>
        <p:nvPicPr>
          <p:cNvPr id="27" name="Picture 26">
            <a:extLst>
              <a:ext uri="{FF2B5EF4-FFF2-40B4-BE49-F238E27FC236}">
                <a16:creationId xmlns:a16="http://schemas.microsoft.com/office/drawing/2014/main" id="{F21507E1-7027-5870-2BC7-68A2766755E9}"/>
              </a:ext>
            </a:extLst>
          </p:cNvPr>
          <p:cNvPicPr>
            <a:picLocks noChangeAspect="1"/>
          </p:cNvPicPr>
          <p:nvPr/>
        </p:nvPicPr>
        <p:blipFill>
          <a:blip r:embed="rId3">
            <a:extLst>
              <a:ext uri="{28A0092B-C50C-407E-A947-70E740481C1C}">
                <a14:useLocalDpi xmlns:a14="http://schemas.microsoft.com/office/drawing/2010/main" val="0"/>
              </a:ext>
            </a:extLst>
          </a:blip>
          <a:srcRect t="9074" b="8461"/>
          <a:stretch>
            <a:fillRect/>
          </a:stretch>
        </p:blipFill>
        <p:spPr>
          <a:xfrm>
            <a:off x="9623454" y="839018"/>
            <a:ext cx="6858000" cy="8483194"/>
          </a:xfrm>
          <a:prstGeom prst="rect">
            <a:avLst/>
          </a:prstGeom>
        </p:spPr>
      </p:pic>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BD618B6-7E51-68F0-A299-A274917A18FA}"/>
            </a:ext>
          </a:extLst>
        </p:cNvPr>
        <p:cNvGrpSpPr/>
        <p:nvPr/>
      </p:nvGrpSpPr>
      <p:grpSpPr>
        <a:xfrm>
          <a:off x="0" y="0"/>
          <a:ext cx="0" cy="0"/>
          <a:chOff x="0" y="0"/>
          <a:chExt cx="0" cy="0"/>
        </a:xfrm>
      </p:grpSpPr>
      <p:grpSp>
        <p:nvGrpSpPr>
          <p:cNvPr id="2" name="Group 2">
            <a:extLst>
              <a:ext uri="{FF2B5EF4-FFF2-40B4-BE49-F238E27FC236}">
                <a16:creationId xmlns:a16="http://schemas.microsoft.com/office/drawing/2014/main" id="{1DC9B916-4DBA-0A1D-0C79-7F19BC9A9C69}"/>
              </a:ext>
            </a:extLst>
          </p:cNvPr>
          <p:cNvGrpSpPr/>
          <p:nvPr/>
        </p:nvGrpSpPr>
        <p:grpSpPr>
          <a:xfrm>
            <a:off x="0" y="9322212"/>
            <a:ext cx="16446351" cy="964788"/>
            <a:chOff x="0" y="0"/>
            <a:chExt cx="21928468" cy="1286384"/>
          </a:xfrm>
        </p:grpSpPr>
        <p:sp>
          <p:nvSpPr>
            <p:cNvPr id="3" name="Freeform 3">
              <a:extLst>
                <a:ext uri="{FF2B5EF4-FFF2-40B4-BE49-F238E27FC236}">
                  <a16:creationId xmlns:a16="http://schemas.microsoft.com/office/drawing/2014/main" id="{915345C1-01EF-4BD2-BD8D-9E72DE76EBA7}"/>
                </a:ext>
              </a:extLst>
            </p:cNvPr>
            <p:cNvSpPr/>
            <p:nvPr/>
          </p:nvSpPr>
          <p:spPr>
            <a:xfrm>
              <a:off x="0" y="0"/>
              <a:ext cx="5438298" cy="1286384"/>
            </a:xfrm>
            <a:custGeom>
              <a:avLst/>
              <a:gdLst/>
              <a:ahLst/>
              <a:cxnLst/>
              <a:rect l="l" t="t" r="r" b="b"/>
              <a:pathLst>
                <a:path w="5438298" h="1286384">
                  <a:moveTo>
                    <a:pt x="0" y="0"/>
                  </a:moveTo>
                  <a:lnTo>
                    <a:pt x="5438298" y="0"/>
                  </a:lnTo>
                  <a:lnTo>
                    <a:pt x="5438298" y="1286384"/>
                  </a:lnTo>
                  <a:lnTo>
                    <a:pt x="0" y="1286384"/>
                  </a:lnTo>
                  <a:lnTo>
                    <a:pt x="0" y="0"/>
                  </a:lnTo>
                  <a:close/>
                </a:path>
              </a:pathLst>
            </a:custGeom>
            <a:blipFill>
              <a:blip r:embed="rId2"/>
              <a:stretch>
                <a:fillRect/>
              </a:stretch>
            </a:blipFill>
          </p:spPr>
          <p:txBody>
            <a:bodyPr/>
            <a:lstStyle/>
            <a:p>
              <a:endParaRPr lang="en-GB"/>
            </a:p>
          </p:txBody>
        </p:sp>
        <p:sp>
          <p:nvSpPr>
            <p:cNvPr id="4" name="TextBox 4">
              <a:extLst>
                <a:ext uri="{FF2B5EF4-FFF2-40B4-BE49-F238E27FC236}">
                  <a16:creationId xmlns:a16="http://schemas.microsoft.com/office/drawing/2014/main" id="{446C4E42-E583-9C74-AFAE-706CBC3CE984}"/>
                </a:ext>
              </a:extLst>
            </p:cNvPr>
            <p:cNvSpPr txBox="1"/>
            <p:nvPr/>
          </p:nvSpPr>
          <p:spPr>
            <a:xfrm>
              <a:off x="5438298" y="538417"/>
              <a:ext cx="11493275" cy="685332"/>
            </a:xfrm>
            <a:prstGeom prst="rect">
              <a:avLst/>
            </a:prstGeom>
          </p:spPr>
          <p:txBody>
            <a:bodyPr lIns="0" tIns="0" rIns="0" bIns="0" rtlCol="0" anchor="t">
              <a:spAutoFit/>
            </a:bodyPr>
            <a:lstStyle/>
            <a:p>
              <a:pPr algn="ctr">
                <a:lnSpc>
                  <a:spcPts val="4586"/>
                </a:lnSpc>
              </a:pPr>
              <a:r>
                <a:rPr lang="en-US" sz="2866" spc="-171">
                  <a:solidFill>
                    <a:srgbClr val="000000"/>
                  </a:solidFill>
                  <a:latin typeface="Canva Sans"/>
                  <a:ea typeface="Canva Sans"/>
                  <a:cs typeface="Canva Sans"/>
                  <a:sym typeface="Canva Sans"/>
                </a:rPr>
                <a:t>IT22346568       |       Sangeerthan S      |       25-26J-473 </a:t>
              </a:r>
            </a:p>
          </p:txBody>
        </p:sp>
        <p:sp>
          <p:nvSpPr>
            <p:cNvPr id="5" name="TextBox 5">
              <a:extLst>
                <a:ext uri="{FF2B5EF4-FFF2-40B4-BE49-F238E27FC236}">
                  <a16:creationId xmlns:a16="http://schemas.microsoft.com/office/drawing/2014/main" id="{3D778735-FC5A-E103-5D72-A9E240632B9B}"/>
                </a:ext>
              </a:extLst>
            </p:cNvPr>
            <p:cNvSpPr txBox="1"/>
            <p:nvPr/>
          </p:nvSpPr>
          <p:spPr>
            <a:xfrm>
              <a:off x="17904380" y="471742"/>
              <a:ext cx="4024088" cy="692757"/>
            </a:xfrm>
            <a:prstGeom prst="rect">
              <a:avLst/>
            </a:prstGeom>
          </p:spPr>
          <p:txBody>
            <a:bodyPr lIns="0" tIns="0" rIns="0" bIns="0" rtlCol="0" anchor="t">
              <a:spAutoFit/>
            </a:bodyPr>
            <a:lstStyle/>
            <a:p>
              <a:pPr algn="ctr">
                <a:lnSpc>
                  <a:spcPts val="4875"/>
                </a:lnSpc>
              </a:pPr>
              <a:r>
                <a:rPr lang="en-US" sz="2566" i="1" spc="38">
                  <a:solidFill>
                    <a:srgbClr val="000000"/>
                  </a:solidFill>
                  <a:latin typeface="Canva Sans Italics"/>
                  <a:ea typeface="Canva Sans Italics"/>
                  <a:cs typeface="Canva Sans Italics"/>
                  <a:sym typeface="Canva Sans Italics"/>
                </a:rPr>
                <a:t>06/01/2026</a:t>
              </a:r>
            </a:p>
          </p:txBody>
        </p:sp>
      </p:grpSp>
      <p:sp>
        <p:nvSpPr>
          <p:cNvPr id="6" name="TextBox 6">
            <a:extLst>
              <a:ext uri="{FF2B5EF4-FFF2-40B4-BE49-F238E27FC236}">
                <a16:creationId xmlns:a16="http://schemas.microsoft.com/office/drawing/2014/main" id="{933A6EC1-3950-B2CE-7464-E1D90F9D09CC}"/>
              </a:ext>
            </a:extLst>
          </p:cNvPr>
          <p:cNvSpPr txBox="1"/>
          <p:nvPr/>
        </p:nvSpPr>
        <p:spPr>
          <a:xfrm>
            <a:off x="2504404" y="142420"/>
            <a:ext cx="13941947" cy="562430"/>
          </a:xfrm>
          <a:prstGeom prst="rect">
            <a:avLst/>
          </a:prstGeom>
        </p:spPr>
        <p:txBody>
          <a:bodyPr lIns="0" tIns="0" rIns="0" bIns="0" rtlCol="0" anchor="t">
            <a:spAutoFit/>
          </a:bodyPr>
          <a:lstStyle/>
          <a:p>
            <a:pPr algn="ctr">
              <a:lnSpc>
                <a:spcPts val="4875"/>
              </a:lnSpc>
              <a:spcBef>
                <a:spcPct val="0"/>
              </a:spcBef>
            </a:pPr>
            <a:r>
              <a:rPr lang="en-US" sz="2566" i="1" spc="38">
                <a:solidFill>
                  <a:srgbClr val="000000"/>
                </a:solidFill>
                <a:latin typeface="Canva Sans Italics"/>
                <a:ea typeface="Canva Sans Italics"/>
                <a:cs typeface="Canva Sans Italics"/>
                <a:sym typeface="Canva Sans Italics"/>
              </a:rPr>
              <a:t>EMERGENCY VEHICLE DETECTION AND TRIGGERING SIGNAL</a:t>
            </a:r>
          </a:p>
        </p:txBody>
      </p:sp>
      <p:sp>
        <p:nvSpPr>
          <p:cNvPr id="7" name="TextBox 7">
            <a:extLst>
              <a:ext uri="{FF2B5EF4-FFF2-40B4-BE49-F238E27FC236}">
                <a16:creationId xmlns:a16="http://schemas.microsoft.com/office/drawing/2014/main" id="{3BF31E22-E647-EDE8-7245-FCF98D8BBBE8}"/>
              </a:ext>
            </a:extLst>
          </p:cNvPr>
          <p:cNvSpPr txBox="1"/>
          <p:nvPr/>
        </p:nvSpPr>
        <p:spPr>
          <a:xfrm>
            <a:off x="17646117" y="9676843"/>
            <a:ext cx="152400" cy="219075"/>
          </a:xfrm>
          <a:prstGeom prst="rect">
            <a:avLst/>
          </a:prstGeom>
        </p:spPr>
        <p:txBody>
          <a:bodyPr wrap="none" lIns="0" tIns="0" rIns="0" bIns="0" rtlCol="0" anchor="t">
            <a:spAutoFit/>
          </a:bodyPr>
          <a:lstStyle/>
          <a:p>
            <a:pPr algn="ctr">
              <a:lnSpc>
                <a:spcPts val="4405"/>
              </a:lnSpc>
              <a:spcBef>
                <a:spcPct val="0"/>
              </a:spcBef>
            </a:pPr>
            <a:r>
              <a:rPr lang="en-US" sz="3146">
                <a:solidFill>
                  <a:srgbClr val="1A1A1A"/>
                </a:solidFill>
                <a:latin typeface="Canva Sans"/>
                <a:ea typeface="Canva Sans"/>
                <a:cs typeface="Canva Sans"/>
                <a:sym typeface="Canva Sans"/>
              </a:rPr>
              <a:t>15</a:t>
            </a:r>
          </a:p>
        </p:txBody>
      </p:sp>
      <p:sp>
        <p:nvSpPr>
          <p:cNvPr id="8" name="TextBox 7">
            <a:extLst>
              <a:ext uri="{FF2B5EF4-FFF2-40B4-BE49-F238E27FC236}">
                <a16:creationId xmlns:a16="http://schemas.microsoft.com/office/drawing/2014/main" id="{D0F89816-66D5-2B01-6DCE-1BCBC72C4F5C}"/>
              </a:ext>
            </a:extLst>
          </p:cNvPr>
          <p:cNvSpPr txBox="1"/>
          <p:nvPr/>
        </p:nvSpPr>
        <p:spPr>
          <a:xfrm>
            <a:off x="2057400" y="1790700"/>
            <a:ext cx="14706600" cy="3785652"/>
          </a:xfrm>
          <a:prstGeom prst="rect">
            <a:avLst/>
          </a:prstGeom>
          <a:noFill/>
        </p:spPr>
        <p:txBody>
          <a:bodyPr wrap="square" rtlCol="0">
            <a:spAutoFit/>
          </a:bodyPr>
          <a:lstStyle/>
          <a:p>
            <a:r>
              <a:rPr lang="en-GB" sz="4800" dirty="0"/>
              <a:t>Research Survey and Data Collection</a:t>
            </a:r>
          </a:p>
          <a:p>
            <a:endParaRPr lang="en-GB" sz="4800" dirty="0"/>
          </a:p>
          <a:p>
            <a:r>
              <a:rPr lang="en-GB" sz="4800" dirty="0"/>
              <a:t>Video Link - </a:t>
            </a:r>
            <a:r>
              <a:rPr lang="en-GB" sz="4800" dirty="0">
                <a:hlinkClick r:id="rId3"/>
              </a:rPr>
              <a:t>https://drive.google.com/file/d/1bTZ4_Bn5wMiLCSUawtOgwx8YvyopiloK/view?usp=sharing</a:t>
            </a:r>
            <a:r>
              <a:rPr lang="en-GB" sz="4800" dirty="0"/>
              <a:t> </a:t>
            </a:r>
          </a:p>
        </p:txBody>
      </p:sp>
    </p:spTree>
    <p:extLst>
      <p:ext uri="{BB962C8B-B14F-4D97-AF65-F5344CB8AC3E}">
        <p14:creationId xmlns:p14="http://schemas.microsoft.com/office/powerpoint/2010/main" val="2613255489"/>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bg>
      <p:bgPr>
        <a:gradFill rotWithShape="1">
          <a:gsLst>
            <a:gs pos="0">
              <a:srgbClr val="FFFFFF">
                <a:alpha val="100000"/>
              </a:srgbClr>
            </a:gs>
            <a:gs pos="100000">
              <a:srgbClr val="E6E6E6">
                <a:alpha val="100000"/>
              </a:srgbClr>
            </a:gs>
          </a:gsLst>
          <a:lin ang="0"/>
        </a:gradFill>
        <a:effectLst/>
      </p:bgPr>
    </p:bg>
    <p:spTree>
      <p:nvGrpSpPr>
        <p:cNvPr id="1" name=""/>
        <p:cNvGrpSpPr/>
        <p:nvPr/>
      </p:nvGrpSpPr>
      <p:grpSpPr>
        <a:xfrm>
          <a:off x="0" y="0"/>
          <a:ext cx="0" cy="0"/>
          <a:chOff x="0" y="0"/>
          <a:chExt cx="0" cy="0"/>
        </a:xfrm>
      </p:grpSpPr>
      <p:sp>
        <p:nvSpPr>
          <p:cNvPr id="2" name="TextBox 2"/>
          <p:cNvSpPr txBox="1"/>
          <p:nvPr/>
        </p:nvSpPr>
        <p:spPr>
          <a:xfrm>
            <a:off x="1934075" y="4276342"/>
            <a:ext cx="9891584" cy="2287017"/>
          </a:xfrm>
          <a:prstGeom prst="rect">
            <a:avLst/>
          </a:prstGeom>
        </p:spPr>
        <p:txBody>
          <a:bodyPr lIns="0" tIns="0" rIns="0" bIns="0" rtlCol="0" anchor="t">
            <a:spAutoFit/>
          </a:bodyPr>
          <a:lstStyle/>
          <a:p>
            <a:pPr marL="0" lvl="0" indent="0" algn="just">
              <a:lnSpc>
                <a:spcPts val="9321"/>
              </a:lnSpc>
            </a:pPr>
            <a:r>
              <a:rPr lang="en-US" sz="5899" b="1" spc="88">
                <a:solidFill>
                  <a:srgbClr val="3D2812"/>
                </a:solidFill>
                <a:latin typeface="Canva Sans Bold"/>
                <a:ea typeface="Canva Sans Bold"/>
                <a:cs typeface="Canva Sans Bold"/>
                <a:sym typeface="Canva Sans Bold"/>
              </a:rPr>
              <a:t>IT22323316   |   Luvinson I</a:t>
            </a:r>
          </a:p>
          <a:p>
            <a:pPr marL="0" lvl="0" indent="0" algn="just">
              <a:lnSpc>
                <a:spcPts val="9321"/>
              </a:lnSpc>
            </a:pPr>
            <a:r>
              <a:rPr lang="en-US" sz="5899" b="1" spc="88">
                <a:solidFill>
                  <a:srgbClr val="3D2812"/>
                </a:solidFill>
                <a:latin typeface="Canva Sans Bold"/>
                <a:ea typeface="Canva Sans Bold"/>
                <a:cs typeface="Canva Sans Bold"/>
                <a:sym typeface="Canva Sans Bold"/>
              </a:rPr>
              <a:t>Software Engineering</a:t>
            </a:r>
          </a:p>
        </p:txBody>
      </p:sp>
      <p:sp>
        <p:nvSpPr>
          <p:cNvPr id="3" name="TextBox 3"/>
          <p:cNvSpPr txBox="1"/>
          <p:nvPr/>
        </p:nvSpPr>
        <p:spPr>
          <a:xfrm>
            <a:off x="1934075" y="7168278"/>
            <a:ext cx="9181356" cy="1576525"/>
          </a:xfrm>
          <a:prstGeom prst="rect">
            <a:avLst/>
          </a:prstGeom>
        </p:spPr>
        <p:txBody>
          <a:bodyPr lIns="0" tIns="0" rIns="0" bIns="0" rtlCol="0" anchor="t">
            <a:spAutoFit/>
          </a:bodyPr>
          <a:lstStyle/>
          <a:p>
            <a:pPr marL="0" lvl="0" indent="0" algn="l">
              <a:lnSpc>
                <a:spcPts val="5998"/>
              </a:lnSpc>
            </a:pPr>
            <a:r>
              <a:rPr lang="en-US" sz="4614" b="1" spc="69">
                <a:solidFill>
                  <a:srgbClr val="3D2812"/>
                </a:solidFill>
                <a:latin typeface="The Seasons Bold"/>
                <a:ea typeface="The Seasons Bold"/>
                <a:cs typeface="The Seasons Bold"/>
                <a:sym typeface="The Seasons Bold"/>
              </a:rPr>
              <a:t>PEDESTRIAN DETECTION AND </a:t>
            </a:r>
          </a:p>
          <a:p>
            <a:pPr marL="0" lvl="0" indent="0" algn="l">
              <a:lnSpc>
                <a:spcPts val="5998"/>
              </a:lnSpc>
            </a:pPr>
            <a:r>
              <a:rPr lang="en-US" sz="4614" b="1" spc="69">
                <a:solidFill>
                  <a:srgbClr val="3D2812"/>
                </a:solidFill>
                <a:latin typeface="The Seasons Bold"/>
                <a:ea typeface="The Seasons Bold"/>
                <a:cs typeface="The Seasons Bold"/>
                <a:sym typeface="The Seasons Bold"/>
              </a:rPr>
              <a:t>SIGNAL ADJUSTMENT</a:t>
            </a:r>
          </a:p>
        </p:txBody>
      </p:sp>
      <p:sp>
        <p:nvSpPr>
          <p:cNvPr id="4" name="Freeform 4"/>
          <p:cNvSpPr/>
          <p:nvPr/>
        </p:nvSpPr>
        <p:spPr>
          <a:xfrm>
            <a:off x="14222006" y="1028700"/>
            <a:ext cx="3037294" cy="4773743"/>
          </a:xfrm>
          <a:custGeom>
            <a:avLst/>
            <a:gdLst/>
            <a:ahLst/>
            <a:cxnLst/>
            <a:rect l="l" t="t" r="r" b="b"/>
            <a:pathLst>
              <a:path w="3037294" h="4773743">
                <a:moveTo>
                  <a:pt x="0" y="0"/>
                </a:moveTo>
                <a:lnTo>
                  <a:pt x="3037294" y="0"/>
                </a:lnTo>
                <a:lnTo>
                  <a:pt x="3037294" y="4773743"/>
                </a:lnTo>
                <a:lnTo>
                  <a:pt x="0" y="4773743"/>
                </a:lnTo>
                <a:lnTo>
                  <a:pt x="0" y="0"/>
                </a:lnTo>
                <a:close/>
              </a:path>
            </a:pathLst>
          </a:custGeom>
          <a:blipFill>
            <a:blip r:embed="rId2"/>
            <a:stretch>
              <a:fillRect/>
            </a:stretch>
          </a:blipFill>
        </p:spPr>
        <p:txBody>
          <a:bodyPr/>
          <a:lstStyle/>
          <a:p>
            <a:endParaRPr lang="en-GB"/>
          </a:p>
        </p:txBody>
      </p:sp>
      <p:grpSp>
        <p:nvGrpSpPr>
          <p:cNvPr id="5" name="Group 5"/>
          <p:cNvGrpSpPr/>
          <p:nvPr/>
        </p:nvGrpSpPr>
        <p:grpSpPr>
          <a:xfrm>
            <a:off x="0" y="9322212"/>
            <a:ext cx="16446351" cy="964788"/>
            <a:chOff x="0" y="0"/>
            <a:chExt cx="21928468" cy="1286384"/>
          </a:xfrm>
        </p:grpSpPr>
        <p:sp>
          <p:nvSpPr>
            <p:cNvPr id="6" name="Freeform 6"/>
            <p:cNvSpPr/>
            <p:nvPr/>
          </p:nvSpPr>
          <p:spPr>
            <a:xfrm>
              <a:off x="0" y="0"/>
              <a:ext cx="5438298" cy="1286384"/>
            </a:xfrm>
            <a:custGeom>
              <a:avLst/>
              <a:gdLst/>
              <a:ahLst/>
              <a:cxnLst/>
              <a:rect l="l" t="t" r="r" b="b"/>
              <a:pathLst>
                <a:path w="5438298" h="1286384">
                  <a:moveTo>
                    <a:pt x="0" y="0"/>
                  </a:moveTo>
                  <a:lnTo>
                    <a:pt x="5438298" y="0"/>
                  </a:lnTo>
                  <a:lnTo>
                    <a:pt x="5438298" y="1286384"/>
                  </a:lnTo>
                  <a:lnTo>
                    <a:pt x="0" y="1286384"/>
                  </a:lnTo>
                  <a:lnTo>
                    <a:pt x="0" y="0"/>
                  </a:lnTo>
                  <a:close/>
                </a:path>
              </a:pathLst>
            </a:custGeom>
            <a:blipFill>
              <a:blip r:embed="rId3"/>
              <a:stretch>
                <a:fillRect/>
              </a:stretch>
            </a:blipFill>
          </p:spPr>
          <p:txBody>
            <a:bodyPr/>
            <a:lstStyle/>
            <a:p>
              <a:endParaRPr lang="en-GB"/>
            </a:p>
          </p:txBody>
        </p:sp>
        <p:sp>
          <p:nvSpPr>
            <p:cNvPr id="7" name="TextBox 7"/>
            <p:cNvSpPr txBox="1"/>
            <p:nvPr/>
          </p:nvSpPr>
          <p:spPr>
            <a:xfrm>
              <a:off x="5438298" y="538417"/>
              <a:ext cx="11493275" cy="685332"/>
            </a:xfrm>
            <a:prstGeom prst="rect">
              <a:avLst/>
            </a:prstGeom>
          </p:spPr>
          <p:txBody>
            <a:bodyPr lIns="0" tIns="0" rIns="0" bIns="0" rtlCol="0" anchor="t">
              <a:spAutoFit/>
            </a:bodyPr>
            <a:lstStyle/>
            <a:p>
              <a:pPr algn="ctr">
                <a:lnSpc>
                  <a:spcPts val="4586"/>
                </a:lnSpc>
              </a:pPr>
              <a:r>
                <a:rPr lang="en-US" sz="2866" spc="-171">
                  <a:solidFill>
                    <a:srgbClr val="000000"/>
                  </a:solidFill>
                  <a:latin typeface="Canva Sans"/>
                  <a:ea typeface="Canva Sans"/>
                  <a:cs typeface="Canva Sans"/>
                  <a:sym typeface="Canva Sans"/>
                </a:rPr>
                <a:t>IT22323316       |       Luvinson I     |       25-26J-473 </a:t>
              </a:r>
            </a:p>
          </p:txBody>
        </p:sp>
        <p:sp>
          <p:nvSpPr>
            <p:cNvPr id="8" name="TextBox 8"/>
            <p:cNvSpPr txBox="1"/>
            <p:nvPr/>
          </p:nvSpPr>
          <p:spPr>
            <a:xfrm>
              <a:off x="17904380" y="471742"/>
              <a:ext cx="4024088" cy="692757"/>
            </a:xfrm>
            <a:prstGeom prst="rect">
              <a:avLst/>
            </a:prstGeom>
          </p:spPr>
          <p:txBody>
            <a:bodyPr lIns="0" tIns="0" rIns="0" bIns="0" rtlCol="0" anchor="t">
              <a:spAutoFit/>
            </a:bodyPr>
            <a:lstStyle/>
            <a:p>
              <a:pPr algn="ctr">
                <a:lnSpc>
                  <a:spcPts val="4875"/>
                </a:lnSpc>
              </a:pPr>
              <a:r>
                <a:rPr lang="en-US" sz="2566" i="1" spc="38">
                  <a:solidFill>
                    <a:srgbClr val="000000"/>
                  </a:solidFill>
                  <a:latin typeface="Canva Sans Italics"/>
                  <a:ea typeface="Canva Sans Italics"/>
                  <a:cs typeface="Canva Sans Italics"/>
                  <a:sym typeface="Canva Sans Italics"/>
                </a:rPr>
                <a:t>06/01/2026</a:t>
              </a:r>
            </a:p>
          </p:txBody>
        </p:sp>
      </p:grpSp>
      <p:sp>
        <p:nvSpPr>
          <p:cNvPr id="9" name="TextBox 9"/>
          <p:cNvSpPr txBox="1"/>
          <p:nvPr/>
        </p:nvSpPr>
        <p:spPr>
          <a:xfrm>
            <a:off x="17646117" y="9676843"/>
            <a:ext cx="152400" cy="219075"/>
          </a:xfrm>
          <a:prstGeom prst="rect">
            <a:avLst/>
          </a:prstGeom>
        </p:spPr>
        <p:txBody>
          <a:bodyPr wrap="none" lIns="0" tIns="0" rIns="0" bIns="0" rtlCol="0" anchor="t">
            <a:spAutoFit/>
          </a:bodyPr>
          <a:lstStyle/>
          <a:p>
            <a:pPr algn="ctr">
              <a:lnSpc>
                <a:spcPts val="4405"/>
              </a:lnSpc>
              <a:spcBef>
                <a:spcPct val="0"/>
              </a:spcBef>
            </a:pPr>
            <a:r>
              <a:rPr lang="en-US" sz="3146">
                <a:solidFill>
                  <a:srgbClr val="1A1A1A"/>
                </a:solidFill>
                <a:latin typeface="Canva Sans"/>
                <a:ea typeface="Canva Sans"/>
                <a:cs typeface="Canva Sans"/>
                <a:sym typeface="Canva Sans"/>
              </a:rPr>
              <a:t>16</a:t>
            </a: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bg>
      <p:bgPr>
        <a:gradFill rotWithShape="1">
          <a:gsLst>
            <a:gs pos="0">
              <a:srgbClr val="FFFFFF">
                <a:alpha val="100000"/>
              </a:srgbClr>
            </a:gs>
            <a:gs pos="100000">
              <a:srgbClr val="E6E6E6">
                <a:alpha val="100000"/>
              </a:srgbClr>
            </a:gs>
          </a:gsLst>
          <a:lin ang="0"/>
        </a:gradFill>
        <a:effectLst/>
      </p:bgPr>
    </p:bg>
    <p:spTree>
      <p:nvGrpSpPr>
        <p:cNvPr id="1" name=""/>
        <p:cNvGrpSpPr/>
        <p:nvPr/>
      </p:nvGrpSpPr>
      <p:grpSpPr>
        <a:xfrm>
          <a:off x="0" y="0"/>
          <a:ext cx="0" cy="0"/>
          <a:chOff x="0" y="0"/>
          <a:chExt cx="0" cy="0"/>
        </a:xfrm>
      </p:grpSpPr>
      <p:grpSp>
        <p:nvGrpSpPr>
          <p:cNvPr id="2" name="Group 2"/>
          <p:cNvGrpSpPr/>
          <p:nvPr/>
        </p:nvGrpSpPr>
        <p:grpSpPr>
          <a:xfrm>
            <a:off x="0" y="9322212"/>
            <a:ext cx="16446351" cy="964788"/>
            <a:chOff x="0" y="0"/>
            <a:chExt cx="21928468" cy="1286384"/>
          </a:xfrm>
        </p:grpSpPr>
        <p:sp>
          <p:nvSpPr>
            <p:cNvPr id="3" name="Freeform 3"/>
            <p:cNvSpPr/>
            <p:nvPr/>
          </p:nvSpPr>
          <p:spPr>
            <a:xfrm>
              <a:off x="0" y="0"/>
              <a:ext cx="5438298" cy="1286384"/>
            </a:xfrm>
            <a:custGeom>
              <a:avLst/>
              <a:gdLst/>
              <a:ahLst/>
              <a:cxnLst/>
              <a:rect l="l" t="t" r="r" b="b"/>
              <a:pathLst>
                <a:path w="5438298" h="1286384">
                  <a:moveTo>
                    <a:pt x="0" y="0"/>
                  </a:moveTo>
                  <a:lnTo>
                    <a:pt x="5438298" y="0"/>
                  </a:lnTo>
                  <a:lnTo>
                    <a:pt x="5438298" y="1286384"/>
                  </a:lnTo>
                  <a:lnTo>
                    <a:pt x="0" y="1286384"/>
                  </a:lnTo>
                  <a:lnTo>
                    <a:pt x="0" y="0"/>
                  </a:lnTo>
                  <a:close/>
                </a:path>
              </a:pathLst>
            </a:custGeom>
            <a:blipFill>
              <a:blip r:embed="rId2"/>
              <a:stretch>
                <a:fillRect/>
              </a:stretch>
            </a:blipFill>
          </p:spPr>
          <p:txBody>
            <a:bodyPr/>
            <a:lstStyle/>
            <a:p>
              <a:endParaRPr lang="en-GB"/>
            </a:p>
          </p:txBody>
        </p:sp>
        <p:sp>
          <p:nvSpPr>
            <p:cNvPr id="4" name="TextBox 4"/>
            <p:cNvSpPr txBox="1"/>
            <p:nvPr/>
          </p:nvSpPr>
          <p:spPr>
            <a:xfrm>
              <a:off x="5438298" y="538417"/>
              <a:ext cx="11493275" cy="685332"/>
            </a:xfrm>
            <a:prstGeom prst="rect">
              <a:avLst/>
            </a:prstGeom>
          </p:spPr>
          <p:txBody>
            <a:bodyPr lIns="0" tIns="0" rIns="0" bIns="0" rtlCol="0" anchor="t">
              <a:spAutoFit/>
            </a:bodyPr>
            <a:lstStyle/>
            <a:p>
              <a:pPr algn="ctr">
                <a:lnSpc>
                  <a:spcPts val="4586"/>
                </a:lnSpc>
              </a:pPr>
              <a:r>
                <a:rPr lang="en-US" sz="2866" spc="-171">
                  <a:solidFill>
                    <a:srgbClr val="000000"/>
                  </a:solidFill>
                  <a:latin typeface="Canva Sans"/>
                  <a:ea typeface="Canva Sans"/>
                  <a:cs typeface="Canva Sans"/>
                  <a:sym typeface="Canva Sans"/>
                </a:rPr>
                <a:t>IT22323316       |       Luvinson I     |       25-26J-473 </a:t>
              </a:r>
            </a:p>
          </p:txBody>
        </p:sp>
        <p:sp>
          <p:nvSpPr>
            <p:cNvPr id="5" name="TextBox 5"/>
            <p:cNvSpPr txBox="1"/>
            <p:nvPr/>
          </p:nvSpPr>
          <p:spPr>
            <a:xfrm>
              <a:off x="17904380" y="471742"/>
              <a:ext cx="4024088" cy="692757"/>
            </a:xfrm>
            <a:prstGeom prst="rect">
              <a:avLst/>
            </a:prstGeom>
          </p:spPr>
          <p:txBody>
            <a:bodyPr lIns="0" tIns="0" rIns="0" bIns="0" rtlCol="0" anchor="t">
              <a:spAutoFit/>
            </a:bodyPr>
            <a:lstStyle/>
            <a:p>
              <a:pPr algn="ctr">
                <a:lnSpc>
                  <a:spcPts val="4875"/>
                </a:lnSpc>
              </a:pPr>
              <a:r>
                <a:rPr lang="en-US" sz="2566" i="1" spc="38">
                  <a:solidFill>
                    <a:srgbClr val="000000"/>
                  </a:solidFill>
                  <a:latin typeface="Canva Sans Italics"/>
                  <a:ea typeface="Canva Sans Italics"/>
                  <a:cs typeface="Canva Sans Italics"/>
                  <a:sym typeface="Canva Sans Italics"/>
                </a:rPr>
                <a:t>06/01/2026</a:t>
              </a:r>
            </a:p>
          </p:txBody>
        </p:sp>
      </p:grpSp>
      <p:sp>
        <p:nvSpPr>
          <p:cNvPr id="6" name="Freeform 6"/>
          <p:cNvSpPr/>
          <p:nvPr/>
        </p:nvSpPr>
        <p:spPr>
          <a:xfrm>
            <a:off x="7146230" y="6328843"/>
            <a:ext cx="10726925" cy="3475763"/>
          </a:xfrm>
          <a:custGeom>
            <a:avLst/>
            <a:gdLst/>
            <a:ahLst/>
            <a:cxnLst/>
            <a:rect l="l" t="t" r="r" b="b"/>
            <a:pathLst>
              <a:path w="10726925" h="3475763">
                <a:moveTo>
                  <a:pt x="0" y="0"/>
                </a:moveTo>
                <a:lnTo>
                  <a:pt x="10726925" y="0"/>
                </a:lnTo>
                <a:lnTo>
                  <a:pt x="10726925" y="3475763"/>
                </a:lnTo>
                <a:lnTo>
                  <a:pt x="0" y="3475763"/>
                </a:lnTo>
                <a:lnTo>
                  <a:pt x="0" y="0"/>
                </a:lnTo>
                <a:close/>
              </a:path>
            </a:pathLst>
          </a:custGeom>
          <a:blipFill>
            <a:blip r:embed="rId3"/>
            <a:stretch>
              <a:fillRect/>
            </a:stretch>
          </a:blipFill>
        </p:spPr>
        <p:txBody>
          <a:bodyPr/>
          <a:lstStyle/>
          <a:p>
            <a:endParaRPr lang="en-GB"/>
          </a:p>
        </p:txBody>
      </p:sp>
      <p:sp>
        <p:nvSpPr>
          <p:cNvPr id="7" name="TextBox 7"/>
          <p:cNvSpPr txBox="1"/>
          <p:nvPr/>
        </p:nvSpPr>
        <p:spPr>
          <a:xfrm>
            <a:off x="17646117" y="9676843"/>
            <a:ext cx="152400" cy="219075"/>
          </a:xfrm>
          <a:prstGeom prst="rect">
            <a:avLst/>
          </a:prstGeom>
        </p:spPr>
        <p:txBody>
          <a:bodyPr wrap="none" lIns="0" tIns="0" rIns="0" bIns="0" rtlCol="0" anchor="t">
            <a:spAutoFit/>
          </a:bodyPr>
          <a:lstStyle/>
          <a:p>
            <a:pPr algn="ctr">
              <a:lnSpc>
                <a:spcPts val="4405"/>
              </a:lnSpc>
              <a:spcBef>
                <a:spcPct val="0"/>
              </a:spcBef>
            </a:pPr>
            <a:r>
              <a:rPr lang="en-US" sz="3146">
                <a:solidFill>
                  <a:srgbClr val="1A1A1A"/>
                </a:solidFill>
                <a:latin typeface="Canva Sans"/>
                <a:ea typeface="Canva Sans"/>
                <a:cs typeface="Canva Sans"/>
                <a:sym typeface="Canva Sans"/>
              </a:rPr>
              <a:t>17</a:t>
            </a:r>
          </a:p>
        </p:txBody>
      </p:sp>
      <p:sp>
        <p:nvSpPr>
          <p:cNvPr id="8" name="TextBox 8"/>
          <p:cNvSpPr txBox="1"/>
          <p:nvPr/>
        </p:nvSpPr>
        <p:spPr>
          <a:xfrm>
            <a:off x="3622809" y="92585"/>
            <a:ext cx="10478669" cy="540192"/>
          </a:xfrm>
          <a:prstGeom prst="rect">
            <a:avLst/>
          </a:prstGeom>
        </p:spPr>
        <p:txBody>
          <a:bodyPr lIns="0" tIns="0" rIns="0" bIns="0" rtlCol="0" anchor="t">
            <a:spAutoFit/>
          </a:bodyPr>
          <a:lstStyle/>
          <a:p>
            <a:pPr algn="ctr">
              <a:lnSpc>
                <a:spcPts val="4586"/>
              </a:lnSpc>
              <a:spcBef>
                <a:spcPct val="0"/>
              </a:spcBef>
            </a:pPr>
            <a:r>
              <a:rPr lang="en-US" sz="2866" spc="-171">
                <a:solidFill>
                  <a:srgbClr val="000000"/>
                </a:solidFill>
                <a:latin typeface="Canva Sans"/>
                <a:ea typeface="Canva Sans"/>
                <a:cs typeface="Canva Sans"/>
                <a:sym typeface="Canva Sans"/>
              </a:rPr>
              <a:t>PEDESTRIAN DETECTION AND  SIGNAL ADJUSTMENT</a:t>
            </a:r>
          </a:p>
        </p:txBody>
      </p:sp>
      <p:sp>
        <p:nvSpPr>
          <p:cNvPr id="9" name="TextBox 9"/>
          <p:cNvSpPr txBox="1"/>
          <p:nvPr/>
        </p:nvSpPr>
        <p:spPr>
          <a:xfrm>
            <a:off x="918218" y="1342573"/>
            <a:ext cx="10401601" cy="563880"/>
          </a:xfrm>
          <a:prstGeom prst="rect">
            <a:avLst/>
          </a:prstGeom>
        </p:spPr>
        <p:txBody>
          <a:bodyPr lIns="0" tIns="0" rIns="0" bIns="0" rtlCol="0" anchor="t">
            <a:spAutoFit/>
          </a:bodyPr>
          <a:lstStyle/>
          <a:p>
            <a:pPr algn="l">
              <a:lnSpc>
                <a:spcPts val="4620"/>
              </a:lnSpc>
            </a:pPr>
            <a:r>
              <a:rPr lang="en-US" sz="3300" b="1">
                <a:solidFill>
                  <a:srgbClr val="3D2812"/>
                </a:solidFill>
                <a:latin typeface="Canva Sans Bold"/>
                <a:ea typeface="Canva Sans Bold"/>
                <a:cs typeface="Canva Sans Bold"/>
                <a:sym typeface="Canva Sans Bold"/>
              </a:rPr>
              <a:t>Solution Approach for the Identified Sub-Problem</a:t>
            </a:r>
          </a:p>
        </p:txBody>
      </p:sp>
      <p:sp>
        <p:nvSpPr>
          <p:cNvPr id="10" name="TextBox 10"/>
          <p:cNvSpPr txBox="1"/>
          <p:nvPr/>
        </p:nvSpPr>
        <p:spPr>
          <a:xfrm>
            <a:off x="1679751" y="2904095"/>
            <a:ext cx="10044675" cy="3561886"/>
          </a:xfrm>
          <a:prstGeom prst="rect">
            <a:avLst/>
          </a:prstGeom>
        </p:spPr>
        <p:txBody>
          <a:bodyPr lIns="0" tIns="0" rIns="0" bIns="0" rtlCol="0" anchor="t">
            <a:spAutoFit/>
          </a:bodyPr>
          <a:lstStyle/>
          <a:p>
            <a:pPr marL="324032" lvl="1" indent="-162016" algn="l">
              <a:lnSpc>
                <a:spcPts val="2251"/>
              </a:lnSpc>
              <a:buFont typeface="Arial"/>
              <a:buChar char="•"/>
            </a:pPr>
            <a:r>
              <a:rPr lang="en-US" sz="1500" b="1">
                <a:solidFill>
                  <a:srgbClr val="3D2812"/>
                </a:solidFill>
                <a:latin typeface="Canva Sans Bold"/>
                <a:ea typeface="Canva Sans Bold"/>
                <a:cs typeface="Canva Sans Bold"/>
                <a:sym typeface="Canva Sans Bold"/>
              </a:rPr>
              <a:t>Vision-Based Pedestrian Detection</a:t>
            </a:r>
          </a:p>
          <a:p>
            <a:pPr marL="648065" lvl="2" indent="-216022" algn="l">
              <a:lnSpc>
                <a:spcPts val="2251"/>
              </a:lnSpc>
              <a:buFont typeface="Arial"/>
              <a:buChar char="⚬"/>
            </a:pPr>
            <a:r>
              <a:rPr lang="en-US" sz="1500">
                <a:solidFill>
                  <a:srgbClr val="3D2812"/>
                </a:solidFill>
                <a:latin typeface="Canva Sans"/>
                <a:ea typeface="Canva Sans"/>
                <a:cs typeface="Canva Sans"/>
                <a:sym typeface="Canva Sans"/>
              </a:rPr>
              <a:t>Detect pedestrians at intersections using a YOLOv8 object detection model on camera feeds.</a:t>
            </a:r>
          </a:p>
          <a:p>
            <a:pPr marL="324032" lvl="1" indent="-162016" algn="l">
              <a:lnSpc>
                <a:spcPts val="2251"/>
              </a:lnSpc>
              <a:buFont typeface="Arial"/>
              <a:buChar char="•"/>
            </a:pPr>
            <a:r>
              <a:rPr lang="en-US" sz="1500" b="1">
                <a:solidFill>
                  <a:srgbClr val="3D2812"/>
                </a:solidFill>
                <a:latin typeface="Canva Sans Bold"/>
                <a:ea typeface="Canva Sans Bold"/>
                <a:cs typeface="Canva Sans Bold"/>
                <a:sym typeface="Canva Sans Bold"/>
              </a:rPr>
              <a:t>Mobility-Based Pedestrian Classification</a:t>
            </a:r>
          </a:p>
          <a:p>
            <a:pPr marL="648065" lvl="2" indent="-216022" algn="l">
              <a:lnSpc>
                <a:spcPts val="2251"/>
              </a:lnSpc>
              <a:buFont typeface="Arial"/>
              <a:buChar char="⚬"/>
            </a:pPr>
            <a:r>
              <a:rPr lang="en-US" sz="1500">
                <a:solidFill>
                  <a:srgbClr val="3D2812"/>
                </a:solidFill>
                <a:latin typeface="Canva Sans"/>
                <a:ea typeface="Canva Sans"/>
                <a:cs typeface="Canva Sans"/>
                <a:sym typeface="Canva Sans"/>
              </a:rPr>
              <a:t>Classify pedestrians into Adult, Elder, Student, and Mobility Aid categories.</a:t>
            </a:r>
          </a:p>
          <a:p>
            <a:pPr marL="324032" lvl="1" indent="-162016" algn="l">
              <a:lnSpc>
                <a:spcPts val="2251"/>
              </a:lnSpc>
              <a:buFont typeface="Arial"/>
              <a:buChar char="•"/>
            </a:pPr>
            <a:r>
              <a:rPr lang="en-US" sz="1500" b="1">
                <a:solidFill>
                  <a:srgbClr val="3D2812"/>
                </a:solidFill>
                <a:latin typeface="Canva Sans Bold"/>
                <a:ea typeface="Canva Sans Bold"/>
                <a:cs typeface="Canva Sans Bold"/>
                <a:sym typeface="Canva Sans Bold"/>
              </a:rPr>
              <a:t>Adaptive Signal Timing Support</a:t>
            </a:r>
          </a:p>
          <a:p>
            <a:pPr marL="648065" lvl="2" indent="-216022" algn="l">
              <a:lnSpc>
                <a:spcPts val="2251"/>
              </a:lnSpc>
              <a:buFont typeface="Arial"/>
              <a:buChar char="⚬"/>
            </a:pPr>
            <a:r>
              <a:rPr lang="en-US" sz="1500">
                <a:solidFill>
                  <a:srgbClr val="3D2812"/>
                </a:solidFill>
                <a:latin typeface="Canva Sans"/>
                <a:ea typeface="Canva Sans"/>
                <a:cs typeface="Canva Sans"/>
                <a:sym typeface="Canva Sans"/>
              </a:rPr>
              <a:t>Increase pedestrian crossing time when students or mobility aid users are detected.</a:t>
            </a:r>
          </a:p>
          <a:p>
            <a:pPr marL="648065" lvl="2" indent="-216022" algn="l">
              <a:lnSpc>
                <a:spcPts val="2251"/>
              </a:lnSpc>
              <a:buFont typeface="Arial"/>
              <a:buChar char="⚬"/>
            </a:pPr>
            <a:r>
              <a:rPr lang="en-US" sz="1500">
                <a:solidFill>
                  <a:srgbClr val="3D2812"/>
                </a:solidFill>
                <a:latin typeface="Canva Sans"/>
                <a:ea typeface="Canva Sans"/>
                <a:cs typeface="Canva Sans"/>
                <a:sym typeface="Canva Sans"/>
              </a:rPr>
              <a:t>Provide safety-aware inputs to traffic signal control logic.</a:t>
            </a:r>
          </a:p>
          <a:p>
            <a:pPr marL="324032" lvl="1" indent="-162016" algn="l">
              <a:lnSpc>
                <a:spcPts val="2251"/>
              </a:lnSpc>
              <a:buFont typeface="Arial"/>
              <a:buChar char="•"/>
            </a:pPr>
            <a:r>
              <a:rPr lang="en-US" sz="1500" b="1">
                <a:solidFill>
                  <a:srgbClr val="3D2812"/>
                </a:solidFill>
                <a:latin typeface="Canva Sans Bold"/>
                <a:ea typeface="Canva Sans Bold"/>
                <a:cs typeface="Canva Sans Bold"/>
                <a:sym typeface="Canva Sans Bold"/>
              </a:rPr>
              <a:t>Integration with RL Agents (SUMO)</a:t>
            </a:r>
          </a:p>
          <a:p>
            <a:pPr marL="648065" lvl="2" indent="-216022" algn="l">
              <a:lnSpc>
                <a:spcPts val="2251"/>
              </a:lnSpc>
              <a:buFont typeface="Arial"/>
              <a:buChar char="⚬"/>
            </a:pPr>
            <a:r>
              <a:rPr lang="en-US" sz="1500">
                <a:solidFill>
                  <a:srgbClr val="3D2812"/>
                </a:solidFill>
                <a:latin typeface="Canva Sans"/>
                <a:ea typeface="Canva Sans"/>
                <a:cs typeface="Canva Sans"/>
                <a:sym typeface="Canva Sans"/>
              </a:rPr>
              <a:t>Share pedestrian classification and violation data with reinforcement learning agents.</a:t>
            </a:r>
          </a:p>
          <a:p>
            <a:pPr marL="648065" lvl="2" indent="-216022" algn="l">
              <a:lnSpc>
                <a:spcPts val="2251"/>
              </a:lnSpc>
              <a:buFont typeface="Arial"/>
              <a:buChar char="⚬"/>
            </a:pPr>
            <a:r>
              <a:rPr lang="en-US" sz="1500">
                <a:solidFill>
                  <a:srgbClr val="3D2812"/>
                </a:solidFill>
                <a:latin typeface="Canva Sans"/>
                <a:ea typeface="Canva Sans"/>
                <a:cs typeface="Canva Sans"/>
                <a:sym typeface="Canva Sans"/>
              </a:rPr>
              <a:t>Enable adaptive and pedestrian-prioritized signal optimization.</a:t>
            </a:r>
          </a:p>
          <a:p>
            <a:pPr marL="324032" lvl="1" indent="-162016" algn="l">
              <a:lnSpc>
                <a:spcPts val="2251"/>
              </a:lnSpc>
              <a:buFont typeface="Arial"/>
              <a:buChar char="•"/>
            </a:pPr>
            <a:r>
              <a:rPr lang="en-US" sz="1500" b="1">
                <a:solidFill>
                  <a:srgbClr val="3D2812"/>
                </a:solidFill>
                <a:latin typeface="Canva Sans Bold"/>
                <a:ea typeface="Canva Sans Bold"/>
                <a:cs typeface="Canva Sans Bold"/>
                <a:sym typeface="Canva Sans Bold"/>
              </a:rPr>
              <a:t>Dashboard Visualization</a:t>
            </a:r>
          </a:p>
          <a:p>
            <a:pPr marL="648065" lvl="2" indent="-216022" algn="l">
              <a:lnSpc>
                <a:spcPts val="2251"/>
              </a:lnSpc>
              <a:buFont typeface="Arial"/>
              <a:buChar char="⚬"/>
            </a:pPr>
            <a:r>
              <a:rPr lang="en-US" sz="1500">
                <a:solidFill>
                  <a:srgbClr val="3D2812"/>
                </a:solidFill>
                <a:latin typeface="Canva Sans"/>
                <a:ea typeface="Canva Sans"/>
                <a:cs typeface="Canva Sans"/>
                <a:sym typeface="Canva Sans"/>
              </a:rPr>
              <a:t>Display detections, classifications, and rule-violation counts in a web-based interface.</a:t>
            </a:r>
          </a:p>
          <a:p>
            <a:pPr algn="l">
              <a:lnSpc>
                <a:spcPts val="1544"/>
              </a:lnSpc>
            </a:pPr>
            <a:endParaRPr lang="en-US" sz="1500">
              <a:solidFill>
                <a:srgbClr val="3D2812"/>
              </a:solidFill>
              <a:latin typeface="Canva Sans"/>
              <a:ea typeface="Canva Sans"/>
              <a:cs typeface="Canva Sans"/>
              <a:sym typeface="Canva Sans"/>
            </a:endParaRP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bg>
      <p:bgPr>
        <a:gradFill rotWithShape="1">
          <a:gsLst>
            <a:gs pos="0">
              <a:srgbClr val="FFFFFF">
                <a:alpha val="100000"/>
              </a:srgbClr>
            </a:gs>
            <a:gs pos="100000">
              <a:srgbClr val="E6E6E6">
                <a:alpha val="100000"/>
              </a:srgbClr>
            </a:gs>
          </a:gsLst>
          <a:lin ang="0"/>
        </a:gradFill>
        <a:effectLst/>
      </p:bgPr>
    </p:bg>
    <p:spTree>
      <p:nvGrpSpPr>
        <p:cNvPr id="1" name=""/>
        <p:cNvGrpSpPr/>
        <p:nvPr/>
      </p:nvGrpSpPr>
      <p:grpSpPr>
        <a:xfrm>
          <a:off x="0" y="0"/>
          <a:ext cx="0" cy="0"/>
          <a:chOff x="0" y="0"/>
          <a:chExt cx="0" cy="0"/>
        </a:xfrm>
      </p:grpSpPr>
      <p:sp>
        <p:nvSpPr>
          <p:cNvPr id="2" name="TextBox 2"/>
          <p:cNvSpPr txBox="1"/>
          <p:nvPr/>
        </p:nvSpPr>
        <p:spPr>
          <a:xfrm>
            <a:off x="17744518" y="9676843"/>
            <a:ext cx="152400" cy="219075"/>
          </a:xfrm>
          <a:prstGeom prst="rect">
            <a:avLst/>
          </a:prstGeom>
        </p:spPr>
        <p:txBody>
          <a:bodyPr wrap="none" lIns="0" tIns="0" rIns="0" bIns="0" rtlCol="0" anchor="t">
            <a:spAutoFit/>
          </a:bodyPr>
          <a:lstStyle/>
          <a:p>
            <a:pPr algn="ctr">
              <a:lnSpc>
                <a:spcPts val="4405"/>
              </a:lnSpc>
              <a:spcBef>
                <a:spcPct val="0"/>
              </a:spcBef>
            </a:pPr>
            <a:r>
              <a:rPr lang="en-US" sz="3146">
                <a:solidFill>
                  <a:srgbClr val="1A1A1A"/>
                </a:solidFill>
                <a:latin typeface="Canva Sans"/>
                <a:ea typeface="Canva Sans"/>
                <a:cs typeface="Canva Sans"/>
                <a:sym typeface="Canva Sans"/>
              </a:rPr>
              <a:t>18</a:t>
            </a:r>
          </a:p>
        </p:txBody>
      </p:sp>
      <p:grpSp>
        <p:nvGrpSpPr>
          <p:cNvPr id="3" name="Group 3"/>
          <p:cNvGrpSpPr/>
          <p:nvPr/>
        </p:nvGrpSpPr>
        <p:grpSpPr>
          <a:xfrm>
            <a:off x="871784" y="402688"/>
            <a:ext cx="16387516" cy="693590"/>
            <a:chOff x="0" y="0"/>
            <a:chExt cx="4316054" cy="182674"/>
          </a:xfrm>
        </p:grpSpPr>
        <p:sp>
          <p:nvSpPr>
            <p:cNvPr id="4" name="Freeform 4"/>
            <p:cNvSpPr/>
            <p:nvPr/>
          </p:nvSpPr>
          <p:spPr>
            <a:xfrm>
              <a:off x="0" y="0"/>
              <a:ext cx="4316054" cy="182674"/>
            </a:xfrm>
            <a:custGeom>
              <a:avLst/>
              <a:gdLst/>
              <a:ahLst/>
              <a:cxnLst/>
              <a:rect l="l" t="t" r="r" b="b"/>
              <a:pathLst>
                <a:path w="4316054" h="182674">
                  <a:moveTo>
                    <a:pt x="1890" y="0"/>
                  </a:moveTo>
                  <a:lnTo>
                    <a:pt x="4314164" y="0"/>
                  </a:lnTo>
                  <a:cubicBezTo>
                    <a:pt x="4314665" y="0"/>
                    <a:pt x="4315146" y="199"/>
                    <a:pt x="4315500" y="553"/>
                  </a:cubicBezTo>
                  <a:cubicBezTo>
                    <a:pt x="4315854" y="908"/>
                    <a:pt x="4316054" y="1389"/>
                    <a:pt x="4316054" y="1890"/>
                  </a:cubicBezTo>
                  <a:lnTo>
                    <a:pt x="4316054" y="180784"/>
                  </a:lnTo>
                  <a:cubicBezTo>
                    <a:pt x="4316054" y="181285"/>
                    <a:pt x="4315854" y="181766"/>
                    <a:pt x="4315500" y="182120"/>
                  </a:cubicBezTo>
                  <a:cubicBezTo>
                    <a:pt x="4315146" y="182475"/>
                    <a:pt x="4314665" y="182674"/>
                    <a:pt x="4314164" y="182674"/>
                  </a:cubicBezTo>
                  <a:lnTo>
                    <a:pt x="1890" y="182674"/>
                  </a:lnTo>
                  <a:cubicBezTo>
                    <a:pt x="1389" y="182674"/>
                    <a:pt x="908" y="182475"/>
                    <a:pt x="553" y="182120"/>
                  </a:cubicBezTo>
                  <a:cubicBezTo>
                    <a:pt x="199" y="181766"/>
                    <a:pt x="0" y="181285"/>
                    <a:pt x="0" y="180784"/>
                  </a:cubicBezTo>
                  <a:lnTo>
                    <a:pt x="0" y="1890"/>
                  </a:lnTo>
                  <a:cubicBezTo>
                    <a:pt x="0" y="1389"/>
                    <a:pt x="199" y="908"/>
                    <a:pt x="553" y="553"/>
                  </a:cubicBezTo>
                  <a:cubicBezTo>
                    <a:pt x="908" y="199"/>
                    <a:pt x="1389" y="0"/>
                    <a:pt x="1890" y="0"/>
                  </a:cubicBezTo>
                  <a:close/>
                </a:path>
              </a:pathLst>
            </a:custGeom>
            <a:solidFill>
              <a:srgbClr val="3D2812"/>
            </a:solidFill>
          </p:spPr>
          <p:txBody>
            <a:bodyPr/>
            <a:lstStyle/>
            <a:p>
              <a:endParaRPr lang="en-GB"/>
            </a:p>
          </p:txBody>
        </p:sp>
        <p:sp>
          <p:nvSpPr>
            <p:cNvPr id="5" name="TextBox 5"/>
            <p:cNvSpPr txBox="1"/>
            <p:nvPr/>
          </p:nvSpPr>
          <p:spPr>
            <a:xfrm>
              <a:off x="0" y="-200025"/>
              <a:ext cx="4316054" cy="382699"/>
            </a:xfrm>
            <a:prstGeom prst="rect">
              <a:avLst/>
            </a:prstGeom>
          </p:spPr>
          <p:txBody>
            <a:bodyPr lIns="50800" tIns="50800" rIns="50800" bIns="50800" rtlCol="0" anchor="ctr"/>
            <a:lstStyle/>
            <a:p>
              <a:pPr algn="ctr">
                <a:lnSpc>
                  <a:spcPts val="5700"/>
                </a:lnSpc>
              </a:pPr>
              <a:r>
                <a:rPr lang="en-US" sz="3000" spc="44">
                  <a:solidFill>
                    <a:srgbClr val="FFFFFF"/>
                  </a:solidFill>
                  <a:latin typeface="Canva Sans"/>
                  <a:ea typeface="Canva Sans"/>
                  <a:cs typeface="Canva Sans"/>
                  <a:sym typeface="Canva Sans"/>
                </a:rPr>
                <a:t>Commercialization</a:t>
              </a:r>
            </a:p>
          </p:txBody>
        </p:sp>
      </p:grpSp>
      <p:sp>
        <p:nvSpPr>
          <p:cNvPr id="6" name="Freeform 6"/>
          <p:cNvSpPr/>
          <p:nvPr/>
        </p:nvSpPr>
        <p:spPr>
          <a:xfrm>
            <a:off x="0" y="9322212"/>
            <a:ext cx="4078723" cy="964788"/>
          </a:xfrm>
          <a:custGeom>
            <a:avLst/>
            <a:gdLst/>
            <a:ahLst/>
            <a:cxnLst/>
            <a:rect l="l" t="t" r="r" b="b"/>
            <a:pathLst>
              <a:path w="4078723" h="964788">
                <a:moveTo>
                  <a:pt x="0" y="0"/>
                </a:moveTo>
                <a:lnTo>
                  <a:pt x="4078723" y="0"/>
                </a:lnTo>
                <a:lnTo>
                  <a:pt x="4078723" y="964788"/>
                </a:lnTo>
                <a:lnTo>
                  <a:pt x="0" y="964788"/>
                </a:lnTo>
                <a:lnTo>
                  <a:pt x="0" y="0"/>
                </a:lnTo>
                <a:close/>
              </a:path>
            </a:pathLst>
          </a:custGeom>
          <a:blipFill>
            <a:blip r:embed="rId3"/>
            <a:stretch>
              <a:fillRect/>
            </a:stretch>
          </a:blipFill>
        </p:spPr>
        <p:txBody>
          <a:bodyPr/>
          <a:lstStyle/>
          <a:p>
            <a:endParaRPr lang="en-GB"/>
          </a:p>
        </p:txBody>
      </p:sp>
      <p:grpSp>
        <p:nvGrpSpPr>
          <p:cNvPr id="7" name="Group 7"/>
          <p:cNvGrpSpPr/>
          <p:nvPr/>
        </p:nvGrpSpPr>
        <p:grpSpPr>
          <a:xfrm>
            <a:off x="2780839" y="1217408"/>
            <a:ext cx="3694519" cy="1453060"/>
            <a:chOff x="0" y="-135016"/>
            <a:chExt cx="973042" cy="382699"/>
          </a:xfrm>
        </p:grpSpPr>
        <p:sp>
          <p:nvSpPr>
            <p:cNvPr id="8" name="Freeform 8"/>
            <p:cNvSpPr/>
            <p:nvPr/>
          </p:nvSpPr>
          <p:spPr>
            <a:xfrm>
              <a:off x="0" y="0"/>
              <a:ext cx="973042" cy="182674"/>
            </a:xfrm>
            <a:custGeom>
              <a:avLst/>
              <a:gdLst/>
              <a:ahLst/>
              <a:cxnLst/>
              <a:rect l="l" t="t" r="r" b="b"/>
              <a:pathLst>
                <a:path w="973042" h="182674">
                  <a:moveTo>
                    <a:pt x="54483" y="0"/>
                  </a:moveTo>
                  <a:lnTo>
                    <a:pt x="918559" y="0"/>
                  </a:lnTo>
                  <a:cubicBezTo>
                    <a:pt x="948649" y="0"/>
                    <a:pt x="973042" y="24393"/>
                    <a:pt x="973042" y="54483"/>
                  </a:cubicBezTo>
                  <a:lnTo>
                    <a:pt x="973042" y="128191"/>
                  </a:lnTo>
                  <a:cubicBezTo>
                    <a:pt x="973042" y="158281"/>
                    <a:pt x="948649" y="182674"/>
                    <a:pt x="918559" y="182674"/>
                  </a:cubicBezTo>
                  <a:lnTo>
                    <a:pt x="54483" y="182674"/>
                  </a:lnTo>
                  <a:cubicBezTo>
                    <a:pt x="24393" y="182674"/>
                    <a:pt x="0" y="158281"/>
                    <a:pt x="0" y="128191"/>
                  </a:cubicBezTo>
                  <a:lnTo>
                    <a:pt x="0" y="54483"/>
                  </a:lnTo>
                  <a:cubicBezTo>
                    <a:pt x="0" y="24393"/>
                    <a:pt x="24393" y="0"/>
                    <a:pt x="54483" y="0"/>
                  </a:cubicBezTo>
                  <a:close/>
                </a:path>
              </a:pathLst>
            </a:custGeom>
            <a:solidFill>
              <a:srgbClr val="3D2812"/>
            </a:solidFill>
          </p:spPr>
          <p:txBody>
            <a:bodyPr/>
            <a:lstStyle/>
            <a:p>
              <a:endParaRPr lang="en-GB"/>
            </a:p>
          </p:txBody>
        </p:sp>
        <p:sp>
          <p:nvSpPr>
            <p:cNvPr id="9" name="TextBox 9"/>
            <p:cNvSpPr txBox="1"/>
            <p:nvPr/>
          </p:nvSpPr>
          <p:spPr>
            <a:xfrm>
              <a:off x="0" y="-135016"/>
              <a:ext cx="973042" cy="382699"/>
            </a:xfrm>
            <a:prstGeom prst="rect">
              <a:avLst/>
            </a:prstGeom>
          </p:spPr>
          <p:txBody>
            <a:bodyPr lIns="50800" tIns="50800" rIns="50800" bIns="50800" rtlCol="0" anchor="ctr"/>
            <a:lstStyle/>
            <a:p>
              <a:pPr algn="ctr">
                <a:lnSpc>
                  <a:spcPts val="5700"/>
                </a:lnSpc>
              </a:pPr>
              <a:r>
                <a:rPr lang="en-US" sz="3000" spc="44" dirty="0">
                  <a:solidFill>
                    <a:srgbClr val="FFFFFF"/>
                  </a:solidFill>
                  <a:latin typeface="Canva Sans"/>
                  <a:ea typeface="Canva Sans"/>
                  <a:cs typeface="Canva Sans"/>
                  <a:sym typeface="Canva Sans"/>
                </a:rPr>
                <a:t>Target Market</a:t>
              </a:r>
            </a:p>
          </p:txBody>
        </p:sp>
      </p:grpSp>
      <p:grpSp>
        <p:nvGrpSpPr>
          <p:cNvPr id="10" name="Group 10"/>
          <p:cNvGrpSpPr/>
          <p:nvPr/>
        </p:nvGrpSpPr>
        <p:grpSpPr>
          <a:xfrm>
            <a:off x="697136" y="2423637"/>
            <a:ext cx="8588507" cy="2622664"/>
            <a:chOff x="0" y="0"/>
            <a:chExt cx="2261994" cy="690743"/>
          </a:xfrm>
        </p:grpSpPr>
        <p:sp>
          <p:nvSpPr>
            <p:cNvPr id="11" name="Freeform 11"/>
            <p:cNvSpPr/>
            <p:nvPr/>
          </p:nvSpPr>
          <p:spPr>
            <a:xfrm>
              <a:off x="0" y="0"/>
              <a:ext cx="2261994" cy="690743"/>
            </a:xfrm>
            <a:custGeom>
              <a:avLst/>
              <a:gdLst/>
              <a:ahLst/>
              <a:cxnLst/>
              <a:rect l="l" t="t" r="r" b="b"/>
              <a:pathLst>
                <a:path w="2261994" h="690743">
                  <a:moveTo>
                    <a:pt x="17127" y="0"/>
                  </a:moveTo>
                  <a:lnTo>
                    <a:pt x="2244867" y="0"/>
                  </a:lnTo>
                  <a:cubicBezTo>
                    <a:pt x="2249409" y="0"/>
                    <a:pt x="2253765" y="1804"/>
                    <a:pt x="2256977" y="5016"/>
                  </a:cubicBezTo>
                  <a:cubicBezTo>
                    <a:pt x="2260189" y="8228"/>
                    <a:pt x="2261994" y="12585"/>
                    <a:pt x="2261994" y="17127"/>
                  </a:cubicBezTo>
                  <a:lnTo>
                    <a:pt x="2261994" y="673616"/>
                  </a:lnTo>
                  <a:cubicBezTo>
                    <a:pt x="2261994" y="678158"/>
                    <a:pt x="2260189" y="682514"/>
                    <a:pt x="2256977" y="685726"/>
                  </a:cubicBezTo>
                  <a:cubicBezTo>
                    <a:pt x="2253765" y="688938"/>
                    <a:pt x="2249409" y="690743"/>
                    <a:pt x="2244867" y="690743"/>
                  </a:cubicBezTo>
                  <a:lnTo>
                    <a:pt x="17127" y="690743"/>
                  </a:lnTo>
                  <a:cubicBezTo>
                    <a:pt x="12585" y="690743"/>
                    <a:pt x="8228" y="688938"/>
                    <a:pt x="5016" y="685726"/>
                  </a:cubicBezTo>
                  <a:cubicBezTo>
                    <a:pt x="1804" y="682514"/>
                    <a:pt x="0" y="678158"/>
                    <a:pt x="0" y="673616"/>
                  </a:cubicBezTo>
                  <a:lnTo>
                    <a:pt x="0" y="17127"/>
                  </a:lnTo>
                  <a:cubicBezTo>
                    <a:pt x="0" y="12585"/>
                    <a:pt x="1804" y="8228"/>
                    <a:pt x="5016" y="5016"/>
                  </a:cubicBezTo>
                  <a:cubicBezTo>
                    <a:pt x="8228" y="1804"/>
                    <a:pt x="12585" y="0"/>
                    <a:pt x="17127" y="0"/>
                  </a:cubicBezTo>
                  <a:close/>
                </a:path>
              </a:pathLst>
            </a:custGeom>
            <a:solidFill>
              <a:srgbClr val="FFFFFF"/>
            </a:solidFill>
          </p:spPr>
          <p:txBody>
            <a:bodyPr/>
            <a:lstStyle/>
            <a:p>
              <a:endParaRPr lang="en-GB"/>
            </a:p>
          </p:txBody>
        </p:sp>
        <p:sp>
          <p:nvSpPr>
            <p:cNvPr id="12" name="TextBox 12"/>
            <p:cNvSpPr txBox="1"/>
            <p:nvPr/>
          </p:nvSpPr>
          <p:spPr>
            <a:xfrm>
              <a:off x="0" y="19050"/>
              <a:ext cx="2261994" cy="671693"/>
            </a:xfrm>
            <a:prstGeom prst="rect">
              <a:avLst/>
            </a:prstGeom>
          </p:spPr>
          <p:txBody>
            <a:bodyPr lIns="190500" tIns="190500" rIns="190500" bIns="190500" rtlCol="0" anchor="t"/>
            <a:lstStyle/>
            <a:p>
              <a:pPr marL="582928" lvl="1" indent="-291464" algn="l">
                <a:lnSpc>
                  <a:spcPts val="2915"/>
                </a:lnSpc>
                <a:buFont typeface="Arial"/>
                <a:buChar char="•"/>
              </a:pPr>
              <a:r>
                <a:rPr lang="en-US" sz="2699" spc="40">
                  <a:solidFill>
                    <a:srgbClr val="000000"/>
                  </a:solidFill>
                  <a:latin typeface="Canva Sans"/>
                  <a:ea typeface="Canva Sans"/>
                  <a:cs typeface="Canva Sans"/>
                  <a:sym typeface="Canva Sans"/>
                </a:rPr>
                <a:t>Government traffic management authorities</a:t>
              </a:r>
            </a:p>
            <a:p>
              <a:pPr marL="582928" lvl="1" indent="-291464" algn="l">
                <a:lnSpc>
                  <a:spcPts val="2915"/>
                </a:lnSpc>
                <a:buFont typeface="Arial"/>
                <a:buChar char="•"/>
              </a:pPr>
              <a:r>
                <a:rPr lang="en-US" sz="2699" spc="40">
                  <a:solidFill>
                    <a:srgbClr val="000000"/>
                  </a:solidFill>
                  <a:latin typeface="Canva Sans"/>
                  <a:ea typeface="Canva Sans"/>
                  <a:cs typeface="Canva Sans"/>
                  <a:sym typeface="Canva Sans"/>
                </a:rPr>
                <a:t>City councils</a:t>
              </a:r>
            </a:p>
            <a:p>
              <a:pPr marL="582928" lvl="1" indent="-291464" algn="l">
                <a:lnSpc>
                  <a:spcPts val="2915"/>
                </a:lnSpc>
                <a:buFont typeface="Arial"/>
                <a:buChar char="•"/>
              </a:pPr>
              <a:r>
                <a:rPr lang="en-US" sz="2699" spc="40">
                  <a:solidFill>
                    <a:srgbClr val="000000"/>
                  </a:solidFill>
                  <a:latin typeface="Canva Sans"/>
                  <a:ea typeface="Canva Sans"/>
                  <a:cs typeface="Canva Sans"/>
                  <a:sym typeface="Canva Sans"/>
                </a:rPr>
                <a:t>Ambulances, fire brigades, and police departments</a:t>
              </a:r>
            </a:p>
            <a:p>
              <a:pPr marL="582928" lvl="1" indent="-291464" algn="l">
                <a:lnSpc>
                  <a:spcPts val="2915"/>
                </a:lnSpc>
                <a:buFont typeface="Arial"/>
                <a:buChar char="•"/>
              </a:pPr>
              <a:r>
                <a:rPr lang="en-US" sz="2699" spc="40">
                  <a:solidFill>
                    <a:srgbClr val="000000"/>
                  </a:solidFill>
                  <a:latin typeface="Canva Sans"/>
                  <a:ea typeface="Canva Sans"/>
                  <a:cs typeface="Canva Sans"/>
                  <a:sym typeface="Canva Sans"/>
                </a:rPr>
                <a:t>Smart city solution providers </a:t>
              </a:r>
            </a:p>
            <a:p>
              <a:pPr marL="582928" lvl="1" indent="-291464" algn="l">
                <a:lnSpc>
                  <a:spcPts val="2915"/>
                </a:lnSpc>
                <a:buFont typeface="Arial"/>
                <a:buChar char="•"/>
              </a:pPr>
              <a:r>
                <a:rPr lang="en-US" sz="2699" spc="40">
                  <a:solidFill>
                    <a:srgbClr val="000000"/>
                  </a:solidFill>
                  <a:latin typeface="Canva Sans"/>
                  <a:ea typeface="Canva Sans"/>
                  <a:cs typeface="Canva Sans"/>
                  <a:sym typeface="Canva Sans"/>
                </a:rPr>
                <a:t>IoT companies </a:t>
              </a:r>
            </a:p>
          </p:txBody>
        </p:sp>
      </p:grpSp>
      <p:grpSp>
        <p:nvGrpSpPr>
          <p:cNvPr id="13" name="Group 13"/>
          <p:cNvGrpSpPr/>
          <p:nvPr/>
        </p:nvGrpSpPr>
        <p:grpSpPr>
          <a:xfrm>
            <a:off x="12043808" y="1278518"/>
            <a:ext cx="3694519" cy="1453060"/>
            <a:chOff x="0" y="-131134"/>
            <a:chExt cx="973042" cy="382699"/>
          </a:xfrm>
        </p:grpSpPr>
        <p:sp>
          <p:nvSpPr>
            <p:cNvPr id="14" name="Freeform 14"/>
            <p:cNvSpPr/>
            <p:nvPr/>
          </p:nvSpPr>
          <p:spPr>
            <a:xfrm>
              <a:off x="0" y="0"/>
              <a:ext cx="973042" cy="182674"/>
            </a:xfrm>
            <a:custGeom>
              <a:avLst/>
              <a:gdLst/>
              <a:ahLst/>
              <a:cxnLst/>
              <a:rect l="l" t="t" r="r" b="b"/>
              <a:pathLst>
                <a:path w="973042" h="182674">
                  <a:moveTo>
                    <a:pt x="54483" y="0"/>
                  </a:moveTo>
                  <a:lnTo>
                    <a:pt x="918559" y="0"/>
                  </a:lnTo>
                  <a:cubicBezTo>
                    <a:pt x="948649" y="0"/>
                    <a:pt x="973042" y="24393"/>
                    <a:pt x="973042" y="54483"/>
                  </a:cubicBezTo>
                  <a:lnTo>
                    <a:pt x="973042" y="128191"/>
                  </a:lnTo>
                  <a:cubicBezTo>
                    <a:pt x="973042" y="158281"/>
                    <a:pt x="948649" y="182674"/>
                    <a:pt x="918559" y="182674"/>
                  </a:cubicBezTo>
                  <a:lnTo>
                    <a:pt x="54483" y="182674"/>
                  </a:lnTo>
                  <a:cubicBezTo>
                    <a:pt x="24393" y="182674"/>
                    <a:pt x="0" y="158281"/>
                    <a:pt x="0" y="128191"/>
                  </a:cubicBezTo>
                  <a:lnTo>
                    <a:pt x="0" y="54483"/>
                  </a:lnTo>
                  <a:cubicBezTo>
                    <a:pt x="0" y="24393"/>
                    <a:pt x="24393" y="0"/>
                    <a:pt x="54483" y="0"/>
                  </a:cubicBezTo>
                  <a:close/>
                </a:path>
              </a:pathLst>
            </a:custGeom>
            <a:solidFill>
              <a:srgbClr val="3D2812"/>
            </a:solidFill>
          </p:spPr>
          <p:txBody>
            <a:bodyPr/>
            <a:lstStyle/>
            <a:p>
              <a:endParaRPr lang="en-GB"/>
            </a:p>
          </p:txBody>
        </p:sp>
        <p:sp>
          <p:nvSpPr>
            <p:cNvPr id="15" name="TextBox 15"/>
            <p:cNvSpPr txBox="1"/>
            <p:nvPr/>
          </p:nvSpPr>
          <p:spPr>
            <a:xfrm>
              <a:off x="0" y="-131134"/>
              <a:ext cx="973042" cy="382699"/>
            </a:xfrm>
            <a:prstGeom prst="rect">
              <a:avLst/>
            </a:prstGeom>
          </p:spPr>
          <p:txBody>
            <a:bodyPr lIns="50800" tIns="50800" rIns="50800" bIns="50800" rtlCol="0" anchor="ctr"/>
            <a:lstStyle/>
            <a:p>
              <a:pPr algn="ctr">
                <a:lnSpc>
                  <a:spcPts val="5700"/>
                </a:lnSpc>
              </a:pPr>
              <a:r>
                <a:rPr lang="en-US" sz="3000" spc="44" dirty="0">
                  <a:solidFill>
                    <a:srgbClr val="FFFFFF"/>
                  </a:solidFill>
                  <a:latin typeface="Canva Sans"/>
                  <a:ea typeface="Canva Sans"/>
                  <a:cs typeface="Canva Sans"/>
                  <a:sym typeface="Canva Sans"/>
                </a:rPr>
                <a:t>Customer Profile</a:t>
              </a:r>
            </a:p>
          </p:txBody>
        </p:sp>
      </p:grpSp>
      <p:grpSp>
        <p:nvGrpSpPr>
          <p:cNvPr id="16" name="Group 16"/>
          <p:cNvGrpSpPr/>
          <p:nvPr/>
        </p:nvGrpSpPr>
        <p:grpSpPr>
          <a:xfrm>
            <a:off x="10191271" y="2470007"/>
            <a:ext cx="7399594" cy="1898765"/>
            <a:chOff x="0" y="0"/>
            <a:chExt cx="1948864" cy="500086"/>
          </a:xfrm>
        </p:grpSpPr>
        <p:sp>
          <p:nvSpPr>
            <p:cNvPr id="17" name="Freeform 17"/>
            <p:cNvSpPr/>
            <p:nvPr/>
          </p:nvSpPr>
          <p:spPr>
            <a:xfrm>
              <a:off x="0" y="0"/>
              <a:ext cx="1948864" cy="500086"/>
            </a:xfrm>
            <a:custGeom>
              <a:avLst/>
              <a:gdLst/>
              <a:ahLst/>
              <a:cxnLst/>
              <a:rect l="l" t="t" r="r" b="b"/>
              <a:pathLst>
                <a:path w="1948864" h="500086">
                  <a:moveTo>
                    <a:pt x="19879" y="0"/>
                  </a:moveTo>
                  <a:lnTo>
                    <a:pt x="1928985" y="0"/>
                  </a:lnTo>
                  <a:cubicBezTo>
                    <a:pt x="1939964" y="0"/>
                    <a:pt x="1948864" y="8900"/>
                    <a:pt x="1948864" y="19879"/>
                  </a:cubicBezTo>
                  <a:lnTo>
                    <a:pt x="1948864" y="480207"/>
                  </a:lnTo>
                  <a:cubicBezTo>
                    <a:pt x="1948864" y="491186"/>
                    <a:pt x="1939964" y="500086"/>
                    <a:pt x="1928985" y="500086"/>
                  </a:cubicBezTo>
                  <a:lnTo>
                    <a:pt x="19879" y="500086"/>
                  </a:lnTo>
                  <a:cubicBezTo>
                    <a:pt x="8900" y="500086"/>
                    <a:pt x="0" y="491186"/>
                    <a:pt x="0" y="480207"/>
                  </a:cubicBezTo>
                  <a:lnTo>
                    <a:pt x="0" y="19879"/>
                  </a:lnTo>
                  <a:cubicBezTo>
                    <a:pt x="0" y="8900"/>
                    <a:pt x="8900" y="0"/>
                    <a:pt x="19879" y="0"/>
                  </a:cubicBezTo>
                  <a:close/>
                </a:path>
              </a:pathLst>
            </a:custGeom>
            <a:solidFill>
              <a:srgbClr val="FFFFFF"/>
            </a:solidFill>
          </p:spPr>
          <p:txBody>
            <a:bodyPr/>
            <a:lstStyle/>
            <a:p>
              <a:endParaRPr lang="en-GB"/>
            </a:p>
          </p:txBody>
        </p:sp>
        <p:sp>
          <p:nvSpPr>
            <p:cNvPr id="18" name="TextBox 18"/>
            <p:cNvSpPr txBox="1"/>
            <p:nvPr/>
          </p:nvSpPr>
          <p:spPr>
            <a:xfrm>
              <a:off x="0" y="19050"/>
              <a:ext cx="1948864" cy="481036"/>
            </a:xfrm>
            <a:prstGeom prst="rect">
              <a:avLst/>
            </a:prstGeom>
          </p:spPr>
          <p:txBody>
            <a:bodyPr lIns="190500" tIns="190500" rIns="190500" bIns="190500" rtlCol="0" anchor="t"/>
            <a:lstStyle/>
            <a:p>
              <a:pPr marL="582930" lvl="1" indent="-291465" algn="l">
                <a:lnSpc>
                  <a:spcPts val="2916"/>
                </a:lnSpc>
                <a:buFont typeface="Arial"/>
                <a:buChar char="•"/>
              </a:pPr>
              <a:r>
                <a:rPr lang="en-US" sz="2700" spc="40">
                  <a:solidFill>
                    <a:srgbClr val="000000"/>
                  </a:solidFill>
                  <a:latin typeface="Canva Sans"/>
                  <a:ea typeface="Canva Sans"/>
                  <a:cs typeface="Canva Sans"/>
                  <a:sym typeface="Canva Sans"/>
                </a:rPr>
                <a:t>Traffic control center operators </a:t>
              </a:r>
            </a:p>
            <a:p>
              <a:pPr marL="582930" lvl="1" indent="-291465" algn="l">
                <a:lnSpc>
                  <a:spcPts val="2916"/>
                </a:lnSpc>
                <a:buFont typeface="Arial"/>
                <a:buChar char="•"/>
              </a:pPr>
              <a:r>
                <a:rPr lang="en-US" sz="2700" spc="40">
                  <a:solidFill>
                    <a:srgbClr val="000000"/>
                  </a:solidFill>
                  <a:latin typeface="Canva Sans"/>
                  <a:ea typeface="Canva Sans"/>
                  <a:cs typeface="Canva Sans"/>
                  <a:sym typeface="Canva Sans"/>
                </a:rPr>
                <a:t>City planners and officials </a:t>
              </a:r>
            </a:p>
            <a:p>
              <a:pPr marL="582930" lvl="1" indent="-291465" algn="l">
                <a:lnSpc>
                  <a:spcPts val="2916"/>
                </a:lnSpc>
                <a:buFont typeface="Arial"/>
                <a:buChar char="•"/>
              </a:pPr>
              <a:r>
                <a:rPr lang="en-US" sz="2700" spc="40">
                  <a:solidFill>
                    <a:srgbClr val="000000"/>
                  </a:solidFill>
                  <a:latin typeface="Canva Sans"/>
                  <a:ea typeface="Canva Sans"/>
                  <a:cs typeface="Canva Sans"/>
                  <a:sym typeface="Canva Sans"/>
                </a:rPr>
                <a:t>Emergency dispatch teams </a:t>
              </a:r>
            </a:p>
            <a:p>
              <a:pPr marL="582930" lvl="1" indent="-291465" algn="l">
                <a:lnSpc>
                  <a:spcPts val="2916"/>
                </a:lnSpc>
                <a:buFont typeface="Arial"/>
                <a:buChar char="•"/>
              </a:pPr>
              <a:r>
                <a:rPr lang="en-US" sz="2700" spc="40">
                  <a:solidFill>
                    <a:srgbClr val="000000"/>
                  </a:solidFill>
                  <a:latin typeface="Canva Sans"/>
                  <a:ea typeface="Canva Sans"/>
                  <a:cs typeface="Canva Sans"/>
                  <a:sym typeface="Canva Sans"/>
                </a:rPr>
                <a:t>Everyday pedestrians and drivers</a:t>
              </a:r>
            </a:p>
          </p:txBody>
        </p:sp>
      </p:grpSp>
      <p:grpSp>
        <p:nvGrpSpPr>
          <p:cNvPr id="19" name="Group 19"/>
          <p:cNvGrpSpPr/>
          <p:nvPr/>
        </p:nvGrpSpPr>
        <p:grpSpPr>
          <a:xfrm>
            <a:off x="2839652" y="4645658"/>
            <a:ext cx="5770948" cy="1453060"/>
            <a:chOff x="-4231" y="-131119"/>
            <a:chExt cx="955050" cy="382699"/>
          </a:xfrm>
        </p:grpSpPr>
        <p:sp>
          <p:nvSpPr>
            <p:cNvPr id="20" name="Freeform 20"/>
            <p:cNvSpPr/>
            <p:nvPr/>
          </p:nvSpPr>
          <p:spPr>
            <a:xfrm>
              <a:off x="0" y="0"/>
              <a:ext cx="950819" cy="182674"/>
            </a:xfrm>
            <a:custGeom>
              <a:avLst/>
              <a:gdLst/>
              <a:ahLst/>
              <a:cxnLst/>
              <a:rect l="l" t="t" r="r" b="b"/>
              <a:pathLst>
                <a:path w="950819" h="182674">
                  <a:moveTo>
                    <a:pt x="55757" y="0"/>
                  </a:moveTo>
                  <a:lnTo>
                    <a:pt x="895062" y="0"/>
                  </a:lnTo>
                  <a:cubicBezTo>
                    <a:pt x="925856" y="0"/>
                    <a:pt x="950819" y="24963"/>
                    <a:pt x="950819" y="55757"/>
                  </a:cubicBezTo>
                  <a:lnTo>
                    <a:pt x="950819" y="126917"/>
                  </a:lnTo>
                  <a:cubicBezTo>
                    <a:pt x="950819" y="141705"/>
                    <a:pt x="944945" y="155887"/>
                    <a:pt x="934488" y="166343"/>
                  </a:cubicBezTo>
                  <a:cubicBezTo>
                    <a:pt x="924032" y="176800"/>
                    <a:pt x="909850" y="182674"/>
                    <a:pt x="895062" y="182674"/>
                  </a:cubicBezTo>
                  <a:lnTo>
                    <a:pt x="55757" y="182674"/>
                  </a:lnTo>
                  <a:cubicBezTo>
                    <a:pt x="40969" y="182674"/>
                    <a:pt x="26787" y="176800"/>
                    <a:pt x="16331" y="166343"/>
                  </a:cubicBezTo>
                  <a:cubicBezTo>
                    <a:pt x="5874" y="155887"/>
                    <a:pt x="0" y="141705"/>
                    <a:pt x="0" y="126917"/>
                  </a:cubicBezTo>
                  <a:lnTo>
                    <a:pt x="0" y="55757"/>
                  </a:lnTo>
                  <a:cubicBezTo>
                    <a:pt x="0" y="40969"/>
                    <a:pt x="5874" y="26787"/>
                    <a:pt x="16331" y="16331"/>
                  </a:cubicBezTo>
                  <a:cubicBezTo>
                    <a:pt x="26787" y="5874"/>
                    <a:pt x="40969" y="0"/>
                    <a:pt x="55757" y="0"/>
                  </a:cubicBezTo>
                  <a:close/>
                </a:path>
              </a:pathLst>
            </a:custGeom>
            <a:solidFill>
              <a:srgbClr val="3D2812"/>
            </a:solidFill>
          </p:spPr>
          <p:txBody>
            <a:bodyPr/>
            <a:lstStyle/>
            <a:p>
              <a:endParaRPr lang="en-GB"/>
            </a:p>
          </p:txBody>
        </p:sp>
        <p:sp>
          <p:nvSpPr>
            <p:cNvPr id="21" name="TextBox 21"/>
            <p:cNvSpPr txBox="1"/>
            <p:nvPr/>
          </p:nvSpPr>
          <p:spPr>
            <a:xfrm>
              <a:off x="-4231" y="-131119"/>
              <a:ext cx="950819" cy="382699"/>
            </a:xfrm>
            <a:prstGeom prst="rect">
              <a:avLst/>
            </a:prstGeom>
          </p:spPr>
          <p:txBody>
            <a:bodyPr lIns="50800" tIns="50800" rIns="50800" bIns="50800" rtlCol="0" anchor="ctr"/>
            <a:lstStyle/>
            <a:p>
              <a:pPr algn="ctr">
                <a:lnSpc>
                  <a:spcPts val="5700"/>
                </a:lnSpc>
              </a:pPr>
              <a:r>
                <a:rPr lang="en-US" sz="3000" spc="44" dirty="0">
                  <a:solidFill>
                    <a:srgbClr val="FFFFFF"/>
                  </a:solidFill>
                  <a:latin typeface="Canva Sans"/>
                  <a:ea typeface="Canva Sans"/>
                  <a:cs typeface="Canva Sans"/>
                  <a:sym typeface="Canva Sans"/>
                </a:rPr>
                <a:t>Value propositions</a:t>
              </a:r>
            </a:p>
          </p:txBody>
        </p:sp>
      </p:grpSp>
      <p:grpSp>
        <p:nvGrpSpPr>
          <p:cNvPr id="22" name="Group 22"/>
          <p:cNvGrpSpPr/>
          <p:nvPr/>
        </p:nvGrpSpPr>
        <p:grpSpPr>
          <a:xfrm>
            <a:off x="871784" y="5872925"/>
            <a:ext cx="16893729" cy="2622665"/>
            <a:chOff x="0" y="0"/>
            <a:chExt cx="4449377" cy="690743"/>
          </a:xfrm>
        </p:grpSpPr>
        <p:sp>
          <p:nvSpPr>
            <p:cNvPr id="23" name="Freeform 23"/>
            <p:cNvSpPr/>
            <p:nvPr/>
          </p:nvSpPr>
          <p:spPr>
            <a:xfrm>
              <a:off x="0" y="0"/>
              <a:ext cx="4449377" cy="690743"/>
            </a:xfrm>
            <a:custGeom>
              <a:avLst/>
              <a:gdLst/>
              <a:ahLst/>
              <a:cxnLst/>
              <a:rect l="l" t="t" r="r" b="b"/>
              <a:pathLst>
                <a:path w="4449377" h="690743">
                  <a:moveTo>
                    <a:pt x="8707" y="0"/>
                  </a:moveTo>
                  <a:lnTo>
                    <a:pt x="4440670" y="0"/>
                  </a:lnTo>
                  <a:cubicBezTo>
                    <a:pt x="4442979" y="0"/>
                    <a:pt x="4445194" y="917"/>
                    <a:pt x="4446827" y="2550"/>
                  </a:cubicBezTo>
                  <a:cubicBezTo>
                    <a:pt x="4448460" y="4183"/>
                    <a:pt x="4449377" y="6398"/>
                    <a:pt x="4449377" y="8707"/>
                  </a:cubicBezTo>
                  <a:lnTo>
                    <a:pt x="4449377" y="682036"/>
                  </a:lnTo>
                  <a:cubicBezTo>
                    <a:pt x="4449377" y="686845"/>
                    <a:pt x="4445479" y="690743"/>
                    <a:pt x="4440670" y="690743"/>
                  </a:cubicBezTo>
                  <a:lnTo>
                    <a:pt x="8707" y="690743"/>
                  </a:lnTo>
                  <a:cubicBezTo>
                    <a:pt x="6398" y="690743"/>
                    <a:pt x="4183" y="689826"/>
                    <a:pt x="2550" y="688193"/>
                  </a:cubicBezTo>
                  <a:cubicBezTo>
                    <a:pt x="917" y="686560"/>
                    <a:pt x="0" y="684345"/>
                    <a:pt x="0" y="682036"/>
                  </a:cubicBezTo>
                  <a:lnTo>
                    <a:pt x="0" y="8707"/>
                  </a:lnTo>
                  <a:cubicBezTo>
                    <a:pt x="0" y="3898"/>
                    <a:pt x="3898" y="0"/>
                    <a:pt x="8707" y="0"/>
                  </a:cubicBezTo>
                  <a:close/>
                </a:path>
              </a:pathLst>
            </a:custGeom>
            <a:solidFill>
              <a:srgbClr val="FFFFFF"/>
            </a:solidFill>
          </p:spPr>
          <p:txBody>
            <a:bodyPr/>
            <a:lstStyle/>
            <a:p>
              <a:endParaRPr lang="en-GB"/>
            </a:p>
          </p:txBody>
        </p:sp>
        <p:sp>
          <p:nvSpPr>
            <p:cNvPr id="24" name="TextBox 24"/>
            <p:cNvSpPr txBox="1"/>
            <p:nvPr/>
          </p:nvSpPr>
          <p:spPr>
            <a:xfrm>
              <a:off x="0" y="19050"/>
              <a:ext cx="4449377" cy="671693"/>
            </a:xfrm>
            <a:prstGeom prst="rect">
              <a:avLst/>
            </a:prstGeom>
          </p:spPr>
          <p:txBody>
            <a:bodyPr lIns="190500" tIns="190500" rIns="190500" bIns="190500" rtlCol="0" anchor="t"/>
            <a:lstStyle/>
            <a:p>
              <a:pPr marL="582930" lvl="1" indent="-291465" algn="l">
                <a:lnSpc>
                  <a:spcPts val="2916"/>
                </a:lnSpc>
                <a:buFont typeface="Arial"/>
                <a:buChar char="•"/>
              </a:pPr>
              <a:r>
                <a:rPr lang="en-US" sz="2700" spc="40">
                  <a:solidFill>
                    <a:srgbClr val="000000"/>
                  </a:solidFill>
                  <a:latin typeface="Canva Sans"/>
                  <a:ea typeface="Canva Sans"/>
                  <a:cs typeface="Canva Sans"/>
                  <a:sym typeface="Canva Sans"/>
                </a:rPr>
                <a:t>Smart traffic signal system allowing intersections to communicate &amp; learn optimal patterns.</a:t>
              </a:r>
            </a:p>
            <a:p>
              <a:pPr marL="582930" lvl="1" indent="-291465" algn="l">
                <a:lnSpc>
                  <a:spcPts val="2916"/>
                </a:lnSpc>
                <a:buFont typeface="Arial"/>
                <a:buChar char="•"/>
              </a:pPr>
              <a:r>
                <a:rPr lang="en-US" sz="2700" spc="40">
                  <a:solidFill>
                    <a:srgbClr val="000000"/>
                  </a:solidFill>
                  <a:latin typeface="Canva Sans"/>
                  <a:ea typeface="Canva Sans"/>
                  <a:cs typeface="Canva Sans"/>
                  <a:sym typeface="Canva Sans"/>
                </a:rPr>
                <a:t>Safer for pedestrians with disabilities &amp; children when crossing the road</a:t>
              </a:r>
            </a:p>
            <a:p>
              <a:pPr marL="582930" lvl="1" indent="-291465" algn="l">
                <a:lnSpc>
                  <a:spcPts val="2916"/>
                </a:lnSpc>
                <a:buFont typeface="Arial"/>
                <a:buChar char="•"/>
              </a:pPr>
              <a:r>
                <a:rPr lang="en-US" sz="2700" spc="40">
                  <a:solidFill>
                    <a:srgbClr val="000000"/>
                  </a:solidFill>
                  <a:latin typeface="Canva Sans"/>
                  <a:ea typeface="Canva Sans"/>
                  <a:cs typeface="Canva Sans"/>
                  <a:sym typeface="Canva Sans"/>
                </a:rPr>
                <a:t>Real-time signal preemption system for vehicle detection that allows priority for instances such as ambulances and other emergency vehicles</a:t>
              </a:r>
            </a:p>
            <a:p>
              <a:pPr marL="582930" lvl="1" indent="-291465" algn="l">
                <a:lnSpc>
                  <a:spcPts val="2916"/>
                </a:lnSpc>
                <a:buFont typeface="Arial"/>
                <a:buChar char="•"/>
              </a:pPr>
              <a:r>
                <a:rPr lang="en-US" sz="2700" spc="40">
                  <a:solidFill>
                    <a:srgbClr val="000000"/>
                  </a:solidFill>
                  <a:latin typeface="Canva Sans"/>
                  <a:ea typeface="Canva Sans"/>
                  <a:cs typeface="Canva Sans"/>
                  <a:sym typeface="Canva Sans"/>
                </a:rPr>
                <a:t>System testing before deployment with SUMO therefore low-risk in deployment</a:t>
              </a:r>
            </a:p>
            <a:p>
              <a:pPr marL="582930" lvl="1" indent="-291465" algn="l">
                <a:lnSpc>
                  <a:spcPts val="2916"/>
                </a:lnSpc>
                <a:buFont typeface="Arial"/>
                <a:buChar char="•"/>
              </a:pPr>
              <a:r>
                <a:rPr lang="en-US" sz="2700" spc="40">
                  <a:solidFill>
                    <a:srgbClr val="000000"/>
                  </a:solidFill>
                  <a:latin typeface="Canva Sans"/>
                  <a:ea typeface="Canva Sans"/>
                  <a:cs typeface="Canva Sans"/>
                  <a:sym typeface="Canva Sans"/>
                </a:rPr>
                <a:t>UI for logging and monitering real-time analytics</a:t>
              </a:r>
            </a:p>
          </p:txBody>
        </p:sp>
      </p:gr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bg>
      <p:bgPr>
        <a:gradFill rotWithShape="1">
          <a:gsLst>
            <a:gs pos="0">
              <a:srgbClr val="FFFFFF">
                <a:alpha val="100000"/>
              </a:srgbClr>
            </a:gs>
            <a:gs pos="100000">
              <a:srgbClr val="E6E6E6">
                <a:alpha val="100000"/>
              </a:srgbClr>
            </a:gs>
          </a:gsLst>
          <a:lin ang="0"/>
        </a:gradFill>
        <a:effectLst/>
      </p:bgPr>
    </p:bg>
    <p:spTree>
      <p:nvGrpSpPr>
        <p:cNvPr id="1" name=""/>
        <p:cNvGrpSpPr/>
        <p:nvPr/>
      </p:nvGrpSpPr>
      <p:grpSpPr>
        <a:xfrm>
          <a:off x="0" y="0"/>
          <a:ext cx="0" cy="0"/>
          <a:chOff x="0" y="0"/>
          <a:chExt cx="0" cy="0"/>
        </a:xfrm>
      </p:grpSpPr>
      <p:sp>
        <p:nvSpPr>
          <p:cNvPr id="2" name="TextBox 2"/>
          <p:cNvSpPr txBox="1"/>
          <p:nvPr/>
        </p:nvSpPr>
        <p:spPr>
          <a:xfrm>
            <a:off x="17727109" y="9469063"/>
            <a:ext cx="152400" cy="219075"/>
          </a:xfrm>
          <a:prstGeom prst="rect">
            <a:avLst/>
          </a:prstGeom>
        </p:spPr>
        <p:txBody>
          <a:bodyPr wrap="none" lIns="0" tIns="0" rIns="0" bIns="0" rtlCol="0" anchor="t">
            <a:spAutoFit/>
          </a:bodyPr>
          <a:lstStyle/>
          <a:p>
            <a:pPr algn="ctr">
              <a:lnSpc>
                <a:spcPts val="4405"/>
              </a:lnSpc>
              <a:spcBef>
                <a:spcPct val="0"/>
              </a:spcBef>
            </a:pPr>
            <a:r>
              <a:rPr lang="en-US" sz="3146">
                <a:solidFill>
                  <a:srgbClr val="1A1A1A"/>
                </a:solidFill>
                <a:latin typeface="Canva Sans"/>
                <a:ea typeface="Canva Sans"/>
                <a:cs typeface="Canva Sans"/>
                <a:sym typeface="Canva Sans"/>
              </a:rPr>
              <a:t>19</a:t>
            </a:r>
          </a:p>
        </p:txBody>
      </p:sp>
      <p:sp>
        <p:nvSpPr>
          <p:cNvPr id="3" name="Freeform 3"/>
          <p:cNvSpPr/>
          <p:nvPr/>
        </p:nvSpPr>
        <p:spPr>
          <a:xfrm>
            <a:off x="0" y="9251257"/>
            <a:ext cx="4078723" cy="964788"/>
          </a:xfrm>
          <a:custGeom>
            <a:avLst/>
            <a:gdLst/>
            <a:ahLst/>
            <a:cxnLst/>
            <a:rect l="l" t="t" r="r" b="b"/>
            <a:pathLst>
              <a:path w="4078723" h="964788">
                <a:moveTo>
                  <a:pt x="0" y="0"/>
                </a:moveTo>
                <a:lnTo>
                  <a:pt x="4078723" y="0"/>
                </a:lnTo>
                <a:lnTo>
                  <a:pt x="4078723" y="964788"/>
                </a:lnTo>
                <a:lnTo>
                  <a:pt x="0" y="964788"/>
                </a:lnTo>
                <a:lnTo>
                  <a:pt x="0" y="0"/>
                </a:lnTo>
                <a:close/>
              </a:path>
            </a:pathLst>
          </a:custGeom>
          <a:blipFill>
            <a:blip r:embed="rId3"/>
            <a:stretch>
              <a:fillRect/>
            </a:stretch>
          </a:blipFill>
        </p:spPr>
        <p:txBody>
          <a:bodyPr/>
          <a:lstStyle/>
          <a:p>
            <a:endParaRPr lang="en-GB"/>
          </a:p>
        </p:txBody>
      </p:sp>
      <p:grpSp>
        <p:nvGrpSpPr>
          <p:cNvPr id="4" name="Group 4"/>
          <p:cNvGrpSpPr/>
          <p:nvPr/>
        </p:nvGrpSpPr>
        <p:grpSpPr>
          <a:xfrm>
            <a:off x="990556" y="474315"/>
            <a:ext cx="5562644" cy="1453060"/>
            <a:chOff x="-3027" y="-146011"/>
            <a:chExt cx="976069" cy="382699"/>
          </a:xfrm>
        </p:grpSpPr>
        <p:sp>
          <p:nvSpPr>
            <p:cNvPr id="5" name="Freeform 5"/>
            <p:cNvSpPr/>
            <p:nvPr/>
          </p:nvSpPr>
          <p:spPr>
            <a:xfrm>
              <a:off x="0" y="0"/>
              <a:ext cx="973042" cy="182674"/>
            </a:xfrm>
            <a:custGeom>
              <a:avLst/>
              <a:gdLst/>
              <a:ahLst/>
              <a:cxnLst/>
              <a:rect l="l" t="t" r="r" b="b"/>
              <a:pathLst>
                <a:path w="973042" h="182674">
                  <a:moveTo>
                    <a:pt x="58674" y="0"/>
                  </a:moveTo>
                  <a:lnTo>
                    <a:pt x="914368" y="0"/>
                  </a:lnTo>
                  <a:cubicBezTo>
                    <a:pt x="929929" y="0"/>
                    <a:pt x="944853" y="6182"/>
                    <a:pt x="955857" y="17185"/>
                  </a:cubicBezTo>
                  <a:cubicBezTo>
                    <a:pt x="966860" y="28189"/>
                    <a:pt x="973042" y="43113"/>
                    <a:pt x="973042" y="58674"/>
                  </a:cubicBezTo>
                  <a:lnTo>
                    <a:pt x="973042" y="123999"/>
                  </a:lnTo>
                  <a:cubicBezTo>
                    <a:pt x="973042" y="156404"/>
                    <a:pt x="946773" y="182674"/>
                    <a:pt x="914368" y="182674"/>
                  </a:cubicBezTo>
                  <a:lnTo>
                    <a:pt x="58674" y="182674"/>
                  </a:lnTo>
                  <a:cubicBezTo>
                    <a:pt x="43113" y="182674"/>
                    <a:pt x="28189" y="176492"/>
                    <a:pt x="17185" y="165489"/>
                  </a:cubicBezTo>
                  <a:cubicBezTo>
                    <a:pt x="6182" y="154485"/>
                    <a:pt x="0" y="139561"/>
                    <a:pt x="0" y="123999"/>
                  </a:cubicBezTo>
                  <a:lnTo>
                    <a:pt x="0" y="58674"/>
                  </a:lnTo>
                  <a:cubicBezTo>
                    <a:pt x="0" y="43113"/>
                    <a:pt x="6182" y="28189"/>
                    <a:pt x="17185" y="17185"/>
                  </a:cubicBezTo>
                  <a:cubicBezTo>
                    <a:pt x="28189" y="6182"/>
                    <a:pt x="43113" y="0"/>
                    <a:pt x="58674" y="0"/>
                  </a:cubicBezTo>
                  <a:close/>
                </a:path>
              </a:pathLst>
            </a:custGeom>
            <a:solidFill>
              <a:srgbClr val="3D2812"/>
            </a:solidFill>
          </p:spPr>
          <p:txBody>
            <a:bodyPr/>
            <a:lstStyle/>
            <a:p>
              <a:endParaRPr lang="en-GB"/>
            </a:p>
          </p:txBody>
        </p:sp>
        <p:sp>
          <p:nvSpPr>
            <p:cNvPr id="6" name="TextBox 6"/>
            <p:cNvSpPr txBox="1"/>
            <p:nvPr/>
          </p:nvSpPr>
          <p:spPr>
            <a:xfrm>
              <a:off x="-3027" y="-146011"/>
              <a:ext cx="973042" cy="382699"/>
            </a:xfrm>
            <a:prstGeom prst="rect">
              <a:avLst/>
            </a:prstGeom>
          </p:spPr>
          <p:txBody>
            <a:bodyPr lIns="50800" tIns="50800" rIns="50800" bIns="50800" rtlCol="0" anchor="ctr"/>
            <a:lstStyle/>
            <a:p>
              <a:pPr algn="ctr">
                <a:lnSpc>
                  <a:spcPts val="5700"/>
                </a:lnSpc>
              </a:pPr>
              <a:r>
                <a:rPr lang="en-US" sz="3000" spc="44" dirty="0">
                  <a:solidFill>
                    <a:srgbClr val="FFFFFF"/>
                  </a:solidFill>
                  <a:latin typeface="Canva Sans"/>
                  <a:ea typeface="Canva Sans"/>
                  <a:cs typeface="Canva Sans"/>
                  <a:sym typeface="Canva Sans"/>
                </a:rPr>
                <a:t>Investment Cost</a:t>
              </a:r>
            </a:p>
          </p:txBody>
        </p:sp>
      </p:grpSp>
      <p:grpSp>
        <p:nvGrpSpPr>
          <p:cNvPr id="7" name="Group 7"/>
          <p:cNvGrpSpPr/>
          <p:nvPr/>
        </p:nvGrpSpPr>
        <p:grpSpPr>
          <a:xfrm>
            <a:off x="12017920" y="499476"/>
            <a:ext cx="5377405" cy="1453060"/>
            <a:chOff x="-18040" y="-139384"/>
            <a:chExt cx="991082" cy="382699"/>
          </a:xfrm>
        </p:grpSpPr>
        <p:sp>
          <p:nvSpPr>
            <p:cNvPr id="8" name="Freeform 8"/>
            <p:cNvSpPr/>
            <p:nvPr/>
          </p:nvSpPr>
          <p:spPr>
            <a:xfrm>
              <a:off x="0" y="0"/>
              <a:ext cx="973042" cy="182674"/>
            </a:xfrm>
            <a:custGeom>
              <a:avLst/>
              <a:gdLst/>
              <a:ahLst/>
              <a:cxnLst/>
              <a:rect l="l" t="t" r="r" b="b"/>
              <a:pathLst>
                <a:path w="973042" h="182674">
                  <a:moveTo>
                    <a:pt x="52388" y="0"/>
                  </a:moveTo>
                  <a:lnTo>
                    <a:pt x="920654" y="0"/>
                  </a:lnTo>
                  <a:cubicBezTo>
                    <a:pt x="934548" y="0"/>
                    <a:pt x="947873" y="5519"/>
                    <a:pt x="957698" y="15344"/>
                  </a:cubicBezTo>
                  <a:cubicBezTo>
                    <a:pt x="967523" y="25169"/>
                    <a:pt x="973042" y="38494"/>
                    <a:pt x="973042" y="52388"/>
                  </a:cubicBezTo>
                  <a:lnTo>
                    <a:pt x="973042" y="130286"/>
                  </a:lnTo>
                  <a:cubicBezTo>
                    <a:pt x="973042" y="159219"/>
                    <a:pt x="949587" y="182674"/>
                    <a:pt x="920654" y="182674"/>
                  </a:cubicBezTo>
                  <a:lnTo>
                    <a:pt x="52388" y="182674"/>
                  </a:lnTo>
                  <a:cubicBezTo>
                    <a:pt x="38494" y="182674"/>
                    <a:pt x="25169" y="177154"/>
                    <a:pt x="15344" y="167330"/>
                  </a:cubicBezTo>
                  <a:cubicBezTo>
                    <a:pt x="5519" y="157505"/>
                    <a:pt x="0" y="144180"/>
                    <a:pt x="0" y="130286"/>
                  </a:cubicBezTo>
                  <a:lnTo>
                    <a:pt x="0" y="52388"/>
                  </a:lnTo>
                  <a:cubicBezTo>
                    <a:pt x="0" y="23455"/>
                    <a:pt x="23455" y="0"/>
                    <a:pt x="52388" y="0"/>
                  </a:cubicBezTo>
                  <a:close/>
                </a:path>
              </a:pathLst>
            </a:custGeom>
            <a:solidFill>
              <a:srgbClr val="3D2812"/>
            </a:solidFill>
          </p:spPr>
          <p:txBody>
            <a:bodyPr/>
            <a:lstStyle/>
            <a:p>
              <a:endParaRPr lang="en-GB"/>
            </a:p>
          </p:txBody>
        </p:sp>
        <p:sp>
          <p:nvSpPr>
            <p:cNvPr id="9" name="TextBox 9"/>
            <p:cNvSpPr txBox="1"/>
            <p:nvPr/>
          </p:nvSpPr>
          <p:spPr>
            <a:xfrm>
              <a:off x="-18040" y="-139384"/>
              <a:ext cx="973042" cy="382699"/>
            </a:xfrm>
            <a:prstGeom prst="rect">
              <a:avLst/>
            </a:prstGeom>
          </p:spPr>
          <p:txBody>
            <a:bodyPr lIns="50800" tIns="50800" rIns="50800" bIns="50800" rtlCol="0" anchor="ctr"/>
            <a:lstStyle/>
            <a:p>
              <a:pPr algn="ctr">
                <a:lnSpc>
                  <a:spcPts val="5700"/>
                </a:lnSpc>
              </a:pPr>
              <a:r>
                <a:rPr lang="en-US" sz="3000" spc="44" dirty="0">
                  <a:solidFill>
                    <a:srgbClr val="FFFFFF"/>
                  </a:solidFill>
                  <a:latin typeface="Canva Sans"/>
                  <a:ea typeface="Canva Sans"/>
                  <a:cs typeface="Canva Sans"/>
                  <a:sym typeface="Canva Sans"/>
                </a:rPr>
                <a:t>Cost Recovery</a:t>
              </a:r>
            </a:p>
          </p:txBody>
        </p:sp>
      </p:grpSp>
      <p:grpSp>
        <p:nvGrpSpPr>
          <p:cNvPr id="10" name="Group 10"/>
          <p:cNvGrpSpPr/>
          <p:nvPr/>
        </p:nvGrpSpPr>
        <p:grpSpPr>
          <a:xfrm>
            <a:off x="7852927" y="1818877"/>
            <a:ext cx="10269371" cy="4068403"/>
            <a:chOff x="0" y="0"/>
            <a:chExt cx="2704690" cy="1071514"/>
          </a:xfrm>
        </p:grpSpPr>
        <p:sp>
          <p:nvSpPr>
            <p:cNvPr id="11" name="Freeform 11"/>
            <p:cNvSpPr/>
            <p:nvPr/>
          </p:nvSpPr>
          <p:spPr>
            <a:xfrm>
              <a:off x="0" y="0"/>
              <a:ext cx="2704690" cy="1071513"/>
            </a:xfrm>
            <a:custGeom>
              <a:avLst/>
              <a:gdLst/>
              <a:ahLst/>
              <a:cxnLst/>
              <a:rect l="l" t="t" r="r" b="b"/>
              <a:pathLst>
                <a:path w="2704690" h="1071513">
                  <a:moveTo>
                    <a:pt x="14324" y="0"/>
                  </a:moveTo>
                  <a:lnTo>
                    <a:pt x="2690367" y="0"/>
                  </a:lnTo>
                  <a:cubicBezTo>
                    <a:pt x="2694165" y="0"/>
                    <a:pt x="2697809" y="1509"/>
                    <a:pt x="2700495" y="4195"/>
                  </a:cubicBezTo>
                  <a:cubicBezTo>
                    <a:pt x="2703181" y="6882"/>
                    <a:pt x="2704690" y="10525"/>
                    <a:pt x="2704690" y="14324"/>
                  </a:cubicBezTo>
                  <a:lnTo>
                    <a:pt x="2704690" y="1057190"/>
                  </a:lnTo>
                  <a:cubicBezTo>
                    <a:pt x="2704690" y="1060989"/>
                    <a:pt x="2703181" y="1064632"/>
                    <a:pt x="2700495" y="1067318"/>
                  </a:cubicBezTo>
                  <a:cubicBezTo>
                    <a:pt x="2697809" y="1070004"/>
                    <a:pt x="2694165" y="1071513"/>
                    <a:pt x="2690367" y="1071513"/>
                  </a:cubicBezTo>
                  <a:lnTo>
                    <a:pt x="14324" y="1071513"/>
                  </a:lnTo>
                  <a:cubicBezTo>
                    <a:pt x="10525" y="1071513"/>
                    <a:pt x="6882" y="1070004"/>
                    <a:pt x="4195" y="1067318"/>
                  </a:cubicBezTo>
                  <a:cubicBezTo>
                    <a:pt x="1509" y="1064632"/>
                    <a:pt x="0" y="1060989"/>
                    <a:pt x="0" y="1057190"/>
                  </a:cubicBezTo>
                  <a:lnTo>
                    <a:pt x="0" y="14324"/>
                  </a:lnTo>
                  <a:cubicBezTo>
                    <a:pt x="0" y="10525"/>
                    <a:pt x="1509" y="6882"/>
                    <a:pt x="4195" y="4195"/>
                  </a:cubicBezTo>
                  <a:cubicBezTo>
                    <a:pt x="6882" y="1509"/>
                    <a:pt x="10525" y="0"/>
                    <a:pt x="14324" y="0"/>
                  </a:cubicBezTo>
                  <a:close/>
                </a:path>
              </a:pathLst>
            </a:custGeom>
            <a:solidFill>
              <a:srgbClr val="FFFFFF"/>
            </a:solidFill>
          </p:spPr>
          <p:txBody>
            <a:bodyPr/>
            <a:lstStyle/>
            <a:p>
              <a:endParaRPr lang="en-GB"/>
            </a:p>
          </p:txBody>
        </p:sp>
        <p:sp>
          <p:nvSpPr>
            <p:cNvPr id="12" name="TextBox 12"/>
            <p:cNvSpPr txBox="1"/>
            <p:nvPr/>
          </p:nvSpPr>
          <p:spPr>
            <a:xfrm>
              <a:off x="0" y="28575"/>
              <a:ext cx="2704690" cy="1042939"/>
            </a:xfrm>
            <a:prstGeom prst="rect">
              <a:avLst/>
            </a:prstGeom>
          </p:spPr>
          <p:txBody>
            <a:bodyPr lIns="190500" tIns="190500" rIns="190500" bIns="190500" rtlCol="0" anchor="t"/>
            <a:lstStyle/>
            <a:p>
              <a:pPr algn="l">
                <a:lnSpc>
                  <a:spcPts val="2879"/>
                </a:lnSpc>
              </a:pPr>
              <a:endParaRPr/>
            </a:p>
            <a:p>
              <a:pPr algn="l">
                <a:lnSpc>
                  <a:spcPts val="2879"/>
                </a:lnSpc>
              </a:pPr>
              <a:r>
                <a:rPr lang="en-US" sz="2666" spc="39">
                  <a:solidFill>
                    <a:srgbClr val="000000"/>
                  </a:solidFill>
                  <a:latin typeface="Canva Sans"/>
                  <a:ea typeface="Canva Sans"/>
                  <a:cs typeface="Canva Sans"/>
                  <a:sym typeface="Canva Sans"/>
                </a:rPr>
                <a:t>Cost Recovery through Commercialization:</a:t>
              </a:r>
            </a:p>
            <a:p>
              <a:pPr marL="575655" lvl="1" indent="-287827" algn="l">
                <a:lnSpc>
                  <a:spcPts val="2879"/>
                </a:lnSpc>
                <a:buFont typeface="Arial"/>
                <a:buChar char="•"/>
              </a:pPr>
              <a:r>
                <a:rPr lang="en-US" sz="2666" spc="39">
                  <a:solidFill>
                    <a:srgbClr val="000000"/>
                  </a:solidFill>
                  <a:latin typeface="Canva Sans"/>
                  <a:ea typeface="Canva Sans"/>
                  <a:cs typeface="Canva Sans"/>
                  <a:sym typeface="Canva Sans"/>
                </a:rPr>
                <a:t>Licensing to municipalities / smart city projects for real-time traffic management.</a:t>
              </a:r>
            </a:p>
            <a:p>
              <a:pPr marL="575655" lvl="1" indent="-287827" algn="l">
                <a:lnSpc>
                  <a:spcPts val="2879"/>
                </a:lnSpc>
                <a:buFont typeface="Arial"/>
                <a:buChar char="•"/>
              </a:pPr>
              <a:r>
                <a:rPr lang="en-US" sz="2666" spc="39">
                  <a:solidFill>
                    <a:srgbClr val="000000"/>
                  </a:solidFill>
                  <a:latin typeface="Canva Sans"/>
                  <a:ea typeface="Canva Sans"/>
                  <a:cs typeface="Canva Sans"/>
                  <a:sym typeface="Canva Sans"/>
                </a:rPr>
                <a:t>Subscription-based dashboard services for traffic departments (monthly hosting fees).</a:t>
              </a:r>
            </a:p>
            <a:p>
              <a:pPr marL="575655" lvl="1" indent="-287827" algn="l">
                <a:lnSpc>
                  <a:spcPts val="2879"/>
                </a:lnSpc>
                <a:buFont typeface="Arial"/>
                <a:buChar char="•"/>
              </a:pPr>
              <a:r>
                <a:rPr lang="en-US" sz="2666" spc="39">
                  <a:solidFill>
                    <a:srgbClr val="000000"/>
                  </a:solidFill>
                  <a:latin typeface="Canva Sans"/>
                  <a:ea typeface="Canva Sans"/>
                  <a:cs typeface="Canva Sans"/>
                  <a:sym typeface="Canva Sans"/>
                </a:rPr>
                <a:t>Partnerships with transportation authorities </a:t>
              </a:r>
            </a:p>
            <a:p>
              <a:pPr marL="575655" lvl="1" indent="-287827" algn="l">
                <a:lnSpc>
                  <a:spcPts val="2879"/>
                </a:lnSpc>
                <a:buFont typeface="Arial"/>
                <a:buChar char="•"/>
              </a:pPr>
              <a:r>
                <a:rPr lang="en-US" sz="2666" spc="39">
                  <a:solidFill>
                    <a:srgbClr val="000000"/>
                  </a:solidFill>
                  <a:latin typeface="Canva Sans"/>
                  <a:ea typeface="Canva Sans"/>
                  <a:cs typeface="Canva Sans"/>
                  <a:sym typeface="Canva Sans"/>
                </a:rPr>
                <a:t>Future integration into Sri Lanka Intelligent Transportation Systems (ITS)</a:t>
              </a:r>
            </a:p>
            <a:p>
              <a:pPr marL="575655" lvl="1" indent="-287827" algn="l">
                <a:lnSpc>
                  <a:spcPts val="2879"/>
                </a:lnSpc>
                <a:buFont typeface="Arial"/>
                <a:buChar char="•"/>
              </a:pPr>
              <a:r>
                <a:rPr lang="en-US" sz="2666" spc="39">
                  <a:solidFill>
                    <a:srgbClr val="000000"/>
                  </a:solidFill>
                  <a:latin typeface="Canva Sans"/>
                  <a:ea typeface="Canva Sans"/>
                  <a:cs typeface="Canva Sans"/>
                  <a:sym typeface="Canva Sans"/>
                </a:rPr>
                <a:t>Smart City Universities</a:t>
              </a:r>
            </a:p>
          </p:txBody>
        </p:sp>
      </p:grpSp>
      <p:graphicFrame>
        <p:nvGraphicFramePr>
          <p:cNvPr id="13" name="Object 13"/>
          <p:cNvGraphicFramePr/>
          <p:nvPr/>
        </p:nvGraphicFramePr>
        <p:xfrm>
          <a:off x="691516" y="1818877"/>
          <a:ext cx="7586157" cy="4274588"/>
        </p:xfrm>
        <a:graphic>
          <a:graphicData uri="http://schemas.openxmlformats.org/presentationml/2006/ole">
            <mc:AlternateContent xmlns:mc="http://schemas.openxmlformats.org/markup-compatibility/2006">
              <mc:Choice xmlns:v="urn:schemas-microsoft-com:vml" Requires="v">
                <p:oleObj name="Worksheet" r:id="rId4" imgW="9105900" imgH="5791200" progId="Excel.Sheet.12">
                  <p:embed/>
                </p:oleObj>
              </mc:Choice>
              <mc:Fallback>
                <p:oleObj name="Worksheet" r:id="rId4" imgW="9105900" imgH="5791200" progId="Excel.Sheet.12">
                  <p:embed/>
                  <p:pic>
                    <p:nvPicPr>
                      <p:cNvPr id="0" name=""/>
                      <p:cNvPicPr/>
                      <p:nvPr/>
                    </p:nvPicPr>
                    <p:blipFill>
                      <a:blip r:embed="rId5"/>
                      <a:stretch>
                        <a:fillRect/>
                      </a:stretch>
                    </p:blipFill>
                    <p:spPr>
                      <a:xfrm>
                        <a:off x="691516" y="1818877"/>
                        <a:ext cx="7586157" cy="4274588"/>
                      </a:xfrm>
                      <a:prstGeom prst="rect">
                        <a:avLst/>
                      </a:prstGeom>
                    </p:spPr>
                  </p:pic>
                </p:oleObj>
              </mc:Fallback>
            </mc:AlternateContent>
          </a:graphicData>
        </a:graphic>
      </p:graphicFrame>
      <p:grpSp>
        <p:nvGrpSpPr>
          <p:cNvPr id="14" name="Group 14"/>
          <p:cNvGrpSpPr/>
          <p:nvPr/>
        </p:nvGrpSpPr>
        <p:grpSpPr>
          <a:xfrm>
            <a:off x="789312" y="6429264"/>
            <a:ext cx="17135391" cy="906103"/>
            <a:chOff x="0" y="0"/>
            <a:chExt cx="4513025" cy="238644"/>
          </a:xfrm>
        </p:grpSpPr>
        <p:sp>
          <p:nvSpPr>
            <p:cNvPr id="15" name="Freeform 15"/>
            <p:cNvSpPr/>
            <p:nvPr/>
          </p:nvSpPr>
          <p:spPr>
            <a:xfrm>
              <a:off x="0" y="0"/>
              <a:ext cx="4513025" cy="238644"/>
            </a:xfrm>
            <a:custGeom>
              <a:avLst/>
              <a:gdLst/>
              <a:ahLst/>
              <a:cxnLst/>
              <a:rect l="l" t="t" r="r" b="b"/>
              <a:pathLst>
                <a:path w="4513025" h="238644">
                  <a:moveTo>
                    <a:pt x="8584" y="0"/>
                  </a:moveTo>
                  <a:lnTo>
                    <a:pt x="4504441" y="0"/>
                  </a:lnTo>
                  <a:cubicBezTo>
                    <a:pt x="4509182" y="0"/>
                    <a:pt x="4513025" y="3843"/>
                    <a:pt x="4513025" y="8584"/>
                  </a:cubicBezTo>
                  <a:lnTo>
                    <a:pt x="4513025" y="230060"/>
                  </a:lnTo>
                  <a:cubicBezTo>
                    <a:pt x="4513025" y="232337"/>
                    <a:pt x="4512120" y="234520"/>
                    <a:pt x="4510511" y="236130"/>
                  </a:cubicBezTo>
                  <a:cubicBezTo>
                    <a:pt x="4508901" y="237740"/>
                    <a:pt x="4506717" y="238644"/>
                    <a:pt x="4504441" y="238644"/>
                  </a:cubicBezTo>
                  <a:lnTo>
                    <a:pt x="8584" y="238644"/>
                  </a:lnTo>
                  <a:cubicBezTo>
                    <a:pt x="6308" y="238644"/>
                    <a:pt x="4124" y="237740"/>
                    <a:pt x="2514" y="236130"/>
                  </a:cubicBezTo>
                  <a:cubicBezTo>
                    <a:pt x="904" y="234520"/>
                    <a:pt x="0" y="232337"/>
                    <a:pt x="0" y="230060"/>
                  </a:cubicBezTo>
                  <a:lnTo>
                    <a:pt x="0" y="8584"/>
                  </a:lnTo>
                  <a:cubicBezTo>
                    <a:pt x="0" y="6308"/>
                    <a:pt x="904" y="4124"/>
                    <a:pt x="2514" y="2514"/>
                  </a:cubicBezTo>
                  <a:cubicBezTo>
                    <a:pt x="4124" y="904"/>
                    <a:pt x="6308" y="0"/>
                    <a:pt x="8584" y="0"/>
                  </a:cubicBezTo>
                  <a:close/>
                </a:path>
              </a:pathLst>
            </a:custGeom>
            <a:solidFill>
              <a:srgbClr val="FFFFFF"/>
            </a:solidFill>
          </p:spPr>
          <p:txBody>
            <a:bodyPr/>
            <a:lstStyle/>
            <a:p>
              <a:endParaRPr lang="en-GB"/>
            </a:p>
          </p:txBody>
        </p:sp>
        <p:sp>
          <p:nvSpPr>
            <p:cNvPr id="16" name="TextBox 16"/>
            <p:cNvSpPr txBox="1"/>
            <p:nvPr/>
          </p:nvSpPr>
          <p:spPr>
            <a:xfrm>
              <a:off x="0" y="28575"/>
              <a:ext cx="4513025" cy="210069"/>
            </a:xfrm>
            <a:prstGeom prst="rect">
              <a:avLst/>
            </a:prstGeom>
          </p:spPr>
          <p:txBody>
            <a:bodyPr lIns="12700" tIns="12700" rIns="12700" bIns="12700" rtlCol="0" anchor="b"/>
            <a:lstStyle/>
            <a:p>
              <a:pPr algn="l">
                <a:lnSpc>
                  <a:spcPts val="2879"/>
                </a:lnSpc>
              </a:pPr>
              <a:r>
                <a:rPr lang="en-US" sz="2666" spc="39">
                  <a:solidFill>
                    <a:srgbClr val="000000"/>
                  </a:solidFill>
                  <a:latin typeface="Canva Sans"/>
                  <a:ea typeface="Canva Sans"/>
                  <a:cs typeface="Canva Sans"/>
                  <a:sym typeface="Canva Sans"/>
                </a:rPr>
                <a:t> Recovery Path: Initial cost (~LKR 130,000) is recovered through a combination of research funding, institutional adoption, and future commercialization of the traffic optimization platform.</a:t>
              </a:r>
            </a:p>
          </p:txBody>
        </p:sp>
      </p:gr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bg>
      <p:bgPr>
        <a:gradFill rotWithShape="1">
          <a:gsLst>
            <a:gs pos="0">
              <a:srgbClr val="FFFFFF">
                <a:alpha val="100000"/>
              </a:srgbClr>
            </a:gs>
            <a:gs pos="100000">
              <a:srgbClr val="E6E6E6">
                <a:alpha val="100000"/>
              </a:srgbClr>
            </a:gs>
          </a:gsLst>
          <a:lin ang="0"/>
        </a:gradFill>
        <a:effectLst/>
      </p:bgPr>
    </p:bg>
    <p:spTree>
      <p:nvGrpSpPr>
        <p:cNvPr id="1" name=""/>
        <p:cNvGrpSpPr/>
        <p:nvPr/>
      </p:nvGrpSpPr>
      <p:grpSpPr>
        <a:xfrm>
          <a:off x="0" y="0"/>
          <a:ext cx="0" cy="0"/>
          <a:chOff x="0" y="0"/>
          <a:chExt cx="0" cy="0"/>
        </a:xfrm>
      </p:grpSpPr>
      <p:grpSp>
        <p:nvGrpSpPr>
          <p:cNvPr id="2" name="Group 2"/>
          <p:cNvGrpSpPr/>
          <p:nvPr/>
        </p:nvGrpSpPr>
        <p:grpSpPr>
          <a:xfrm>
            <a:off x="7687737" y="407239"/>
            <a:ext cx="11770257" cy="11716811"/>
            <a:chOff x="0" y="0"/>
            <a:chExt cx="6378940" cy="6349975"/>
          </a:xfrm>
        </p:grpSpPr>
        <p:sp>
          <p:nvSpPr>
            <p:cNvPr id="3" name="Freeform 3"/>
            <p:cNvSpPr/>
            <p:nvPr/>
          </p:nvSpPr>
          <p:spPr>
            <a:xfrm>
              <a:off x="0" y="0"/>
              <a:ext cx="6378940" cy="6349975"/>
            </a:xfrm>
            <a:custGeom>
              <a:avLst/>
              <a:gdLst/>
              <a:ahLst/>
              <a:cxnLst/>
              <a:rect l="l" t="t" r="r" b="b"/>
              <a:pathLst>
                <a:path w="6378940" h="6349975">
                  <a:moveTo>
                    <a:pt x="6378940" y="3175025"/>
                  </a:moveTo>
                  <a:cubicBezTo>
                    <a:pt x="6378940" y="4928451"/>
                    <a:pt x="4950937" y="6349975"/>
                    <a:pt x="3189470" y="6349975"/>
                  </a:cubicBezTo>
                  <a:cubicBezTo>
                    <a:pt x="1427977" y="6349975"/>
                    <a:pt x="0" y="4928451"/>
                    <a:pt x="0" y="3175025"/>
                  </a:cubicBezTo>
                  <a:cubicBezTo>
                    <a:pt x="0" y="1421511"/>
                    <a:pt x="1427977" y="0"/>
                    <a:pt x="3189470" y="0"/>
                  </a:cubicBezTo>
                  <a:cubicBezTo>
                    <a:pt x="4950963" y="0"/>
                    <a:pt x="6378940" y="1421511"/>
                    <a:pt x="6378940" y="3175025"/>
                  </a:cubicBezTo>
                  <a:close/>
                </a:path>
              </a:pathLst>
            </a:custGeom>
            <a:blipFill>
              <a:blip r:embed="rId2">
                <a:alphaModFix amt="9999"/>
              </a:blip>
              <a:stretch>
                <a:fillRect t="-228" b="-228"/>
              </a:stretch>
            </a:blipFill>
          </p:spPr>
          <p:txBody>
            <a:bodyPr/>
            <a:lstStyle/>
            <a:p>
              <a:endParaRPr lang="en-GB"/>
            </a:p>
          </p:txBody>
        </p:sp>
      </p:grpSp>
      <p:sp>
        <p:nvSpPr>
          <p:cNvPr id="4" name="TextBox 4"/>
          <p:cNvSpPr txBox="1"/>
          <p:nvPr/>
        </p:nvSpPr>
        <p:spPr>
          <a:xfrm>
            <a:off x="17744518" y="9676843"/>
            <a:ext cx="152400" cy="219075"/>
          </a:xfrm>
          <a:prstGeom prst="rect">
            <a:avLst/>
          </a:prstGeom>
        </p:spPr>
        <p:txBody>
          <a:bodyPr wrap="none" lIns="0" tIns="0" rIns="0" bIns="0" rtlCol="0" anchor="t">
            <a:spAutoFit/>
          </a:bodyPr>
          <a:lstStyle/>
          <a:p>
            <a:pPr algn="ctr">
              <a:lnSpc>
                <a:spcPts val="4405"/>
              </a:lnSpc>
              <a:spcBef>
                <a:spcPct val="0"/>
              </a:spcBef>
            </a:pPr>
            <a:r>
              <a:rPr lang="en-US" sz="3146">
                <a:solidFill>
                  <a:srgbClr val="1A1A1A"/>
                </a:solidFill>
                <a:latin typeface="Canva Sans"/>
                <a:ea typeface="Canva Sans"/>
                <a:cs typeface="Canva Sans"/>
                <a:sym typeface="Canva Sans"/>
              </a:rPr>
              <a:t>20</a:t>
            </a:r>
          </a:p>
        </p:txBody>
      </p:sp>
      <p:sp>
        <p:nvSpPr>
          <p:cNvPr id="5" name="TextBox 5"/>
          <p:cNvSpPr txBox="1"/>
          <p:nvPr/>
        </p:nvSpPr>
        <p:spPr>
          <a:xfrm>
            <a:off x="5702697" y="4274503"/>
            <a:ext cx="6882607" cy="1566544"/>
          </a:xfrm>
          <a:prstGeom prst="rect">
            <a:avLst/>
          </a:prstGeom>
        </p:spPr>
        <p:txBody>
          <a:bodyPr lIns="0" tIns="0" rIns="0" bIns="0" rtlCol="0" anchor="t">
            <a:spAutoFit/>
          </a:bodyPr>
          <a:lstStyle/>
          <a:p>
            <a:pPr algn="ctr">
              <a:lnSpc>
                <a:spcPts val="12880"/>
              </a:lnSpc>
            </a:pPr>
            <a:r>
              <a:rPr lang="en-US" sz="9200" b="1">
                <a:solidFill>
                  <a:srgbClr val="1A1A1A"/>
                </a:solidFill>
                <a:latin typeface="Canva Sans Bold"/>
                <a:ea typeface="Canva Sans Bold"/>
                <a:cs typeface="Canva Sans Bold"/>
                <a:sym typeface="Canva Sans Bold"/>
              </a:rPr>
              <a:t>THANK YOU</a:t>
            </a:r>
          </a:p>
        </p:txBody>
      </p:sp>
      <p:sp>
        <p:nvSpPr>
          <p:cNvPr id="6" name="Freeform 6"/>
          <p:cNvSpPr/>
          <p:nvPr/>
        </p:nvSpPr>
        <p:spPr>
          <a:xfrm>
            <a:off x="0" y="9322212"/>
            <a:ext cx="4078723" cy="964788"/>
          </a:xfrm>
          <a:custGeom>
            <a:avLst/>
            <a:gdLst/>
            <a:ahLst/>
            <a:cxnLst/>
            <a:rect l="l" t="t" r="r" b="b"/>
            <a:pathLst>
              <a:path w="4078723" h="964788">
                <a:moveTo>
                  <a:pt x="0" y="0"/>
                </a:moveTo>
                <a:lnTo>
                  <a:pt x="4078723" y="0"/>
                </a:lnTo>
                <a:lnTo>
                  <a:pt x="4078723" y="964788"/>
                </a:lnTo>
                <a:lnTo>
                  <a:pt x="0" y="964788"/>
                </a:lnTo>
                <a:lnTo>
                  <a:pt x="0" y="0"/>
                </a:lnTo>
                <a:close/>
              </a:path>
            </a:pathLst>
          </a:custGeom>
          <a:blipFill>
            <a:blip r:embed="rId3"/>
            <a:stretch>
              <a:fillRect/>
            </a:stretch>
          </a:blipFill>
        </p:spPr>
        <p:txBody>
          <a:bodyPr/>
          <a:lstStyle/>
          <a:p>
            <a:endParaRPr lang="en-GB"/>
          </a:p>
        </p:txBody>
      </p:sp>
      <p:sp>
        <p:nvSpPr>
          <p:cNvPr id="7" name="Freeform 7"/>
          <p:cNvSpPr/>
          <p:nvPr/>
        </p:nvSpPr>
        <p:spPr>
          <a:xfrm>
            <a:off x="0" y="9322212"/>
            <a:ext cx="4078723" cy="964788"/>
          </a:xfrm>
          <a:custGeom>
            <a:avLst/>
            <a:gdLst/>
            <a:ahLst/>
            <a:cxnLst/>
            <a:rect l="l" t="t" r="r" b="b"/>
            <a:pathLst>
              <a:path w="4078723" h="964788">
                <a:moveTo>
                  <a:pt x="0" y="0"/>
                </a:moveTo>
                <a:lnTo>
                  <a:pt x="4078723" y="0"/>
                </a:lnTo>
                <a:lnTo>
                  <a:pt x="4078723" y="964788"/>
                </a:lnTo>
                <a:lnTo>
                  <a:pt x="0" y="964788"/>
                </a:lnTo>
                <a:lnTo>
                  <a:pt x="0" y="0"/>
                </a:lnTo>
                <a:close/>
              </a:path>
            </a:pathLst>
          </a:custGeom>
          <a:blipFill>
            <a:blip r:embed="rId3"/>
            <a:stretch>
              <a:fillRect/>
            </a:stretch>
          </a:blipFill>
        </p:spPr>
        <p:txBody>
          <a:bodyPr/>
          <a:lstStyle/>
          <a:p>
            <a:endParaRPr lang="en-GB"/>
          </a:p>
        </p:txBody>
      </p:sp>
      <p:sp>
        <p:nvSpPr>
          <p:cNvPr id="8" name="TextBox 8"/>
          <p:cNvSpPr txBox="1"/>
          <p:nvPr/>
        </p:nvSpPr>
        <p:spPr>
          <a:xfrm>
            <a:off x="4078723" y="9699831"/>
            <a:ext cx="8619957" cy="540192"/>
          </a:xfrm>
          <a:prstGeom prst="rect">
            <a:avLst/>
          </a:prstGeom>
        </p:spPr>
        <p:txBody>
          <a:bodyPr lIns="0" tIns="0" rIns="0" bIns="0" rtlCol="0" anchor="t">
            <a:spAutoFit/>
          </a:bodyPr>
          <a:lstStyle/>
          <a:p>
            <a:pPr algn="ctr">
              <a:lnSpc>
                <a:spcPts val="4586"/>
              </a:lnSpc>
            </a:pPr>
            <a:r>
              <a:rPr lang="en-US" sz="2866" spc="-171">
                <a:solidFill>
                  <a:srgbClr val="000000"/>
                </a:solidFill>
                <a:latin typeface="Canva Sans"/>
                <a:ea typeface="Canva Sans"/>
                <a:cs typeface="Canva Sans"/>
                <a:sym typeface="Canva Sans"/>
              </a:rPr>
              <a:t>     25-26J-473 </a:t>
            </a:r>
          </a:p>
        </p:txBody>
      </p:sp>
      <p:sp>
        <p:nvSpPr>
          <p:cNvPr id="9" name="TextBox 9"/>
          <p:cNvSpPr txBox="1"/>
          <p:nvPr/>
        </p:nvSpPr>
        <p:spPr>
          <a:xfrm>
            <a:off x="13428285" y="9633156"/>
            <a:ext cx="3018066" cy="562430"/>
          </a:xfrm>
          <a:prstGeom prst="rect">
            <a:avLst/>
          </a:prstGeom>
        </p:spPr>
        <p:txBody>
          <a:bodyPr lIns="0" tIns="0" rIns="0" bIns="0" rtlCol="0" anchor="t">
            <a:spAutoFit/>
          </a:bodyPr>
          <a:lstStyle/>
          <a:p>
            <a:pPr algn="ctr">
              <a:lnSpc>
                <a:spcPts val="4875"/>
              </a:lnSpc>
            </a:pPr>
            <a:r>
              <a:rPr lang="en-US" sz="2566" i="1" spc="38">
                <a:solidFill>
                  <a:srgbClr val="000000"/>
                </a:solidFill>
                <a:latin typeface="Canva Sans Italics"/>
                <a:ea typeface="Canva Sans Italics"/>
                <a:cs typeface="Canva Sans Italics"/>
                <a:sym typeface="Canva Sans Italics"/>
              </a:rPr>
              <a:t>06/01/2026</a:t>
            </a:r>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bg>
      <p:bgPr>
        <a:gradFill rotWithShape="1">
          <a:gsLst>
            <a:gs pos="0">
              <a:srgbClr val="FFFFFF">
                <a:alpha val="100000"/>
              </a:srgbClr>
            </a:gs>
            <a:gs pos="100000">
              <a:srgbClr val="E6E6E6">
                <a:alpha val="100000"/>
              </a:srgbClr>
            </a:gs>
          </a:gsLst>
          <a:lin ang="0"/>
        </a:gradFill>
        <a:effectLst/>
      </p:bgPr>
    </p:bg>
    <p:spTree>
      <p:nvGrpSpPr>
        <p:cNvPr id="1" name=""/>
        <p:cNvGrpSpPr/>
        <p:nvPr/>
      </p:nvGrpSpPr>
      <p:grpSpPr>
        <a:xfrm>
          <a:off x="0" y="0"/>
          <a:ext cx="0" cy="0"/>
          <a:chOff x="0" y="0"/>
          <a:chExt cx="0" cy="0"/>
        </a:xfrm>
      </p:grpSpPr>
      <p:grpSp>
        <p:nvGrpSpPr>
          <p:cNvPr id="2" name="Group 2"/>
          <p:cNvGrpSpPr/>
          <p:nvPr/>
        </p:nvGrpSpPr>
        <p:grpSpPr>
          <a:xfrm>
            <a:off x="7687737" y="407239"/>
            <a:ext cx="11770257" cy="11716811"/>
            <a:chOff x="0" y="0"/>
            <a:chExt cx="6378940" cy="6349975"/>
          </a:xfrm>
        </p:grpSpPr>
        <p:sp>
          <p:nvSpPr>
            <p:cNvPr id="3" name="Freeform 3"/>
            <p:cNvSpPr/>
            <p:nvPr/>
          </p:nvSpPr>
          <p:spPr>
            <a:xfrm>
              <a:off x="0" y="0"/>
              <a:ext cx="6378940" cy="6349975"/>
            </a:xfrm>
            <a:custGeom>
              <a:avLst/>
              <a:gdLst/>
              <a:ahLst/>
              <a:cxnLst/>
              <a:rect l="l" t="t" r="r" b="b"/>
              <a:pathLst>
                <a:path w="6378940" h="6349975">
                  <a:moveTo>
                    <a:pt x="6378940" y="3175025"/>
                  </a:moveTo>
                  <a:cubicBezTo>
                    <a:pt x="6378940" y="4928451"/>
                    <a:pt x="4950937" y="6349975"/>
                    <a:pt x="3189470" y="6349975"/>
                  </a:cubicBezTo>
                  <a:cubicBezTo>
                    <a:pt x="1427977" y="6349975"/>
                    <a:pt x="0" y="4928451"/>
                    <a:pt x="0" y="3175025"/>
                  </a:cubicBezTo>
                  <a:cubicBezTo>
                    <a:pt x="0" y="1421511"/>
                    <a:pt x="1427977" y="0"/>
                    <a:pt x="3189470" y="0"/>
                  </a:cubicBezTo>
                  <a:cubicBezTo>
                    <a:pt x="4950963" y="0"/>
                    <a:pt x="6378940" y="1421511"/>
                    <a:pt x="6378940" y="3175025"/>
                  </a:cubicBezTo>
                  <a:close/>
                </a:path>
              </a:pathLst>
            </a:custGeom>
            <a:blipFill>
              <a:blip r:embed="rId2">
                <a:alphaModFix amt="6999"/>
              </a:blip>
              <a:stretch>
                <a:fillRect t="-228" b="-228"/>
              </a:stretch>
            </a:blipFill>
          </p:spPr>
          <p:txBody>
            <a:bodyPr/>
            <a:lstStyle/>
            <a:p>
              <a:endParaRPr lang="en-GB"/>
            </a:p>
          </p:txBody>
        </p:sp>
      </p:grpSp>
      <p:sp>
        <p:nvSpPr>
          <p:cNvPr id="4" name="TextBox 4"/>
          <p:cNvSpPr txBox="1"/>
          <p:nvPr/>
        </p:nvSpPr>
        <p:spPr>
          <a:xfrm>
            <a:off x="17744518" y="9676843"/>
            <a:ext cx="152400" cy="219075"/>
          </a:xfrm>
          <a:prstGeom prst="rect">
            <a:avLst/>
          </a:prstGeom>
        </p:spPr>
        <p:txBody>
          <a:bodyPr wrap="none" lIns="0" tIns="0" rIns="0" bIns="0" rtlCol="0" anchor="t">
            <a:spAutoFit/>
          </a:bodyPr>
          <a:lstStyle/>
          <a:p>
            <a:pPr algn="ctr">
              <a:lnSpc>
                <a:spcPts val="4405"/>
              </a:lnSpc>
              <a:spcBef>
                <a:spcPct val="0"/>
              </a:spcBef>
            </a:pPr>
            <a:r>
              <a:rPr lang="en-US" sz="3146">
                <a:solidFill>
                  <a:srgbClr val="1A1A1A"/>
                </a:solidFill>
                <a:latin typeface="Canva Sans"/>
                <a:ea typeface="Canva Sans"/>
                <a:cs typeface="Canva Sans"/>
                <a:sym typeface="Canva Sans"/>
              </a:rPr>
              <a:t>21</a:t>
            </a:r>
          </a:p>
        </p:txBody>
      </p:sp>
      <p:sp>
        <p:nvSpPr>
          <p:cNvPr id="5" name="TextBox 5"/>
          <p:cNvSpPr txBox="1"/>
          <p:nvPr/>
        </p:nvSpPr>
        <p:spPr>
          <a:xfrm>
            <a:off x="7617916" y="4274503"/>
            <a:ext cx="3052167" cy="1566544"/>
          </a:xfrm>
          <a:prstGeom prst="rect">
            <a:avLst/>
          </a:prstGeom>
        </p:spPr>
        <p:txBody>
          <a:bodyPr lIns="0" tIns="0" rIns="0" bIns="0" rtlCol="0" anchor="t">
            <a:spAutoFit/>
          </a:bodyPr>
          <a:lstStyle/>
          <a:p>
            <a:pPr algn="ctr">
              <a:lnSpc>
                <a:spcPts val="12880"/>
              </a:lnSpc>
            </a:pPr>
            <a:r>
              <a:rPr lang="en-US" sz="9200" b="1">
                <a:solidFill>
                  <a:srgbClr val="1A1A1A"/>
                </a:solidFill>
                <a:latin typeface="Canva Sans Bold"/>
                <a:ea typeface="Canva Sans Bold"/>
                <a:cs typeface="Canva Sans Bold"/>
                <a:sym typeface="Canva Sans Bold"/>
              </a:rPr>
              <a:t>Q &amp; A</a:t>
            </a:r>
          </a:p>
        </p:txBody>
      </p:sp>
      <p:sp>
        <p:nvSpPr>
          <p:cNvPr id="6" name="Freeform 6"/>
          <p:cNvSpPr/>
          <p:nvPr/>
        </p:nvSpPr>
        <p:spPr>
          <a:xfrm>
            <a:off x="0" y="9322212"/>
            <a:ext cx="4078723" cy="964788"/>
          </a:xfrm>
          <a:custGeom>
            <a:avLst/>
            <a:gdLst/>
            <a:ahLst/>
            <a:cxnLst/>
            <a:rect l="l" t="t" r="r" b="b"/>
            <a:pathLst>
              <a:path w="4078723" h="964788">
                <a:moveTo>
                  <a:pt x="0" y="0"/>
                </a:moveTo>
                <a:lnTo>
                  <a:pt x="4078723" y="0"/>
                </a:lnTo>
                <a:lnTo>
                  <a:pt x="4078723" y="964788"/>
                </a:lnTo>
                <a:lnTo>
                  <a:pt x="0" y="964788"/>
                </a:lnTo>
                <a:lnTo>
                  <a:pt x="0" y="0"/>
                </a:lnTo>
                <a:close/>
              </a:path>
            </a:pathLst>
          </a:custGeom>
          <a:blipFill>
            <a:blip r:embed="rId3"/>
            <a:stretch>
              <a:fillRect/>
            </a:stretch>
          </a:blipFill>
        </p:spPr>
        <p:txBody>
          <a:bodyPr/>
          <a:lstStyle/>
          <a:p>
            <a:endParaRPr lang="en-GB"/>
          </a:p>
        </p:txBody>
      </p:sp>
      <p:sp>
        <p:nvSpPr>
          <p:cNvPr id="7" name="TextBox 7"/>
          <p:cNvSpPr txBox="1"/>
          <p:nvPr/>
        </p:nvSpPr>
        <p:spPr>
          <a:xfrm>
            <a:off x="4078723" y="9699831"/>
            <a:ext cx="8619957" cy="540192"/>
          </a:xfrm>
          <a:prstGeom prst="rect">
            <a:avLst/>
          </a:prstGeom>
        </p:spPr>
        <p:txBody>
          <a:bodyPr lIns="0" tIns="0" rIns="0" bIns="0" rtlCol="0" anchor="t">
            <a:spAutoFit/>
          </a:bodyPr>
          <a:lstStyle/>
          <a:p>
            <a:pPr algn="ctr">
              <a:lnSpc>
                <a:spcPts val="4586"/>
              </a:lnSpc>
            </a:pPr>
            <a:r>
              <a:rPr lang="en-US" sz="2866" spc="-171">
                <a:solidFill>
                  <a:srgbClr val="000000"/>
                </a:solidFill>
                <a:latin typeface="Canva Sans"/>
                <a:ea typeface="Canva Sans"/>
                <a:cs typeface="Canva Sans"/>
                <a:sym typeface="Canva Sans"/>
              </a:rPr>
              <a:t>     25-26J-473 </a:t>
            </a:r>
          </a:p>
        </p:txBody>
      </p:sp>
      <p:sp>
        <p:nvSpPr>
          <p:cNvPr id="8" name="TextBox 8"/>
          <p:cNvSpPr txBox="1"/>
          <p:nvPr/>
        </p:nvSpPr>
        <p:spPr>
          <a:xfrm>
            <a:off x="13428285" y="9633156"/>
            <a:ext cx="3018066" cy="562430"/>
          </a:xfrm>
          <a:prstGeom prst="rect">
            <a:avLst/>
          </a:prstGeom>
        </p:spPr>
        <p:txBody>
          <a:bodyPr lIns="0" tIns="0" rIns="0" bIns="0" rtlCol="0" anchor="t">
            <a:spAutoFit/>
          </a:bodyPr>
          <a:lstStyle/>
          <a:p>
            <a:pPr algn="ctr">
              <a:lnSpc>
                <a:spcPts val="4875"/>
              </a:lnSpc>
            </a:pPr>
            <a:r>
              <a:rPr lang="en-US" sz="2566" i="1" spc="38">
                <a:solidFill>
                  <a:srgbClr val="000000"/>
                </a:solidFill>
                <a:latin typeface="Canva Sans Italics"/>
                <a:ea typeface="Canva Sans Italics"/>
                <a:cs typeface="Canva Sans Italics"/>
                <a:sym typeface="Canva Sans Italics"/>
              </a:rPr>
              <a:t>06/01/2026</a:t>
            </a:r>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bg>
      <p:bgPr>
        <a:gradFill rotWithShape="1">
          <a:gsLst>
            <a:gs pos="0">
              <a:srgbClr val="FFFFFF">
                <a:alpha val="100000"/>
              </a:srgbClr>
            </a:gs>
            <a:gs pos="100000">
              <a:srgbClr val="E6E6E6">
                <a:alpha val="100000"/>
              </a:srgbClr>
            </a:gs>
          </a:gsLst>
          <a:lin ang="0"/>
        </a:gradFill>
        <a:effectLst/>
      </p:bgPr>
    </p:bg>
    <p:spTree>
      <p:nvGrpSpPr>
        <p:cNvPr id="1" name=""/>
        <p:cNvGrpSpPr/>
        <p:nvPr/>
      </p:nvGrpSpPr>
      <p:grpSpPr>
        <a:xfrm>
          <a:off x="0" y="0"/>
          <a:ext cx="0" cy="0"/>
          <a:chOff x="0" y="0"/>
          <a:chExt cx="0" cy="0"/>
        </a:xfrm>
      </p:grpSpPr>
      <p:sp>
        <p:nvSpPr>
          <p:cNvPr id="2" name="Freeform 2"/>
          <p:cNvSpPr/>
          <p:nvPr/>
        </p:nvSpPr>
        <p:spPr>
          <a:xfrm>
            <a:off x="285412" y="526307"/>
            <a:ext cx="5435912" cy="3679244"/>
          </a:xfrm>
          <a:custGeom>
            <a:avLst/>
            <a:gdLst/>
            <a:ahLst/>
            <a:cxnLst/>
            <a:rect l="l" t="t" r="r" b="b"/>
            <a:pathLst>
              <a:path w="5435912" h="3679244">
                <a:moveTo>
                  <a:pt x="0" y="0"/>
                </a:moveTo>
                <a:lnTo>
                  <a:pt x="5435912" y="0"/>
                </a:lnTo>
                <a:lnTo>
                  <a:pt x="5435912" y="3679244"/>
                </a:lnTo>
                <a:lnTo>
                  <a:pt x="0" y="3679244"/>
                </a:lnTo>
                <a:lnTo>
                  <a:pt x="0" y="0"/>
                </a:lnTo>
                <a:close/>
              </a:path>
            </a:pathLst>
          </a:custGeom>
          <a:blipFill>
            <a:blip r:embed="rId2"/>
            <a:stretch>
              <a:fillRect/>
            </a:stretch>
          </a:blipFill>
        </p:spPr>
        <p:txBody>
          <a:bodyPr/>
          <a:lstStyle/>
          <a:p>
            <a:endParaRPr lang="en-GB"/>
          </a:p>
        </p:txBody>
      </p:sp>
      <p:sp>
        <p:nvSpPr>
          <p:cNvPr id="3" name="Freeform 3"/>
          <p:cNvSpPr/>
          <p:nvPr/>
        </p:nvSpPr>
        <p:spPr>
          <a:xfrm>
            <a:off x="5821226" y="526307"/>
            <a:ext cx="5147256" cy="4254056"/>
          </a:xfrm>
          <a:custGeom>
            <a:avLst/>
            <a:gdLst/>
            <a:ahLst/>
            <a:cxnLst/>
            <a:rect l="l" t="t" r="r" b="b"/>
            <a:pathLst>
              <a:path w="5147256" h="4254056">
                <a:moveTo>
                  <a:pt x="0" y="0"/>
                </a:moveTo>
                <a:lnTo>
                  <a:pt x="5147256" y="0"/>
                </a:lnTo>
                <a:lnTo>
                  <a:pt x="5147256" y="4254056"/>
                </a:lnTo>
                <a:lnTo>
                  <a:pt x="0" y="4254056"/>
                </a:lnTo>
                <a:lnTo>
                  <a:pt x="0" y="0"/>
                </a:lnTo>
                <a:close/>
              </a:path>
            </a:pathLst>
          </a:custGeom>
          <a:blipFill>
            <a:blip r:embed="rId3"/>
            <a:stretch>
              <a:fillRect/>
            </a:stretch>
          </a:blipFill>
        </p:spPr>
        <p:txBody>
          <a:bodyPr/>
          <a:lstStyle/>
          <a:p>
            <a:endParaRPr lang="en-GB"/>
          </a:p>
        </p:txBody>
      </p:sp>
      <p:sp>
        <p:nvSpPr>
          <p:cNvPr id="4" name="Freeform 4"/>
          <p:cNvSpPr/>
          <p:nvPr/>
        </p:nvSpPr>
        <p:spPr>
          <a:xfrm>
            <a:off x="10748112" y="526307"/>
            <a:ext cx="7221969" cy="4659005"/>
          </a:xfrm>
          <a:custGeom>
            <a:avLst/>
            <a:gdLst/>
            <a:ahLst/>
            <a:cxnLst/>
            <a:rect l="l" t="t" r="r" b="b"/>
            <a:pathLst>
              <a:path w="7221969" h="4659005">
                <a:moveTo>
                  <a:pt x="0" y="0"/>
                </a:moveTo>
                <a:lnTo>
                  <a:pt x="7221969" y="0"/>
                </a:lnTo>
                <a:lnTo>
                  <a:pt x="7221969" y="4659005"/>
                </a:lnTo>
                <a:lnTo>
                  <a:pt x="0" y="4659005"/>
                </a:lnTo>
                <a:lnTo>
                  <a:pt x="0" y="0"/>
                </a:lnTo>
                <a:close/>
              </a:path>
            </a:pathLst>
          </a:custGeom>
          <a:blipFill>
            <a:blip r:embed="rId4"/>
            <a:stretch>
              <a:fillRect l="-3204" r="-8262"/>
            </a:stretch>
          </a:blipFill>
        </p:spPr>
        <p:txBody>
          <a:bodyPr/>
          <a:lstStyle/>
          <a:p>
            <a:endParaRPr lang="en-GB"/>
          </a:p>
        </p:txBody>
      </p:sp>
      <p:sp>
        <p:nvSpPr>
          <p:cNvPr id="5" name="Freeform 5"/>
          <p:cNvSpPr/>
          <p:nvPr/>
        </p:nvSpPr>
        <p:spPr>
          <a:xfrm>
            <a:off x="12101002" y="5751001"/>
            <a:ext cx="8006315" cy="3426827"/>
          </a:xfrm>
          <a:custGeom>
            <a:avLst/>
            <a:gdLst/>
            <a:ahLst/>
            <a:cxnLst/>
            <a:rect l="l" t="t" r="r" b="b"/>
            <a:pathLst>
              <a:path w="8006315" h="3426827">
                <a:moveTo>
                  <a:pt x="0" y="0"/>
                </a:moveTo>
                <a:lnTo>
                  <a:pt x="8006314" y="0"/>
                </a:lnTo>
                <a:lnTo>
                  <a:pt x="8006314" y="3426828"/>
                </a:lnTo>
                <a:lnTo>
                  <a:pt x="0" y="3426828"/>
                </a:lnTo>
                <a:lnTo>
                  <a:pt x="0" y="0"/>
                </a:lnTo>
                <a:close/>
              </a:path>
            </a:pathLst>
          </a:custGeom>
          <a:blipFill>
            <a:blip r:embed="rId5"/>
            <a:stretch>
              <a:fillRect/>
            </a:stretch>
          </a:blipFill>
        </p:spPr>
        <p:txBody>
          <a:bodyPr/>
          <a:lstStyle/>
          <a:p>
            <a:endParaRPr lang="en-GB"/>
          </a:p>
        </p:txBody>
      </p:sp>
      <p:sp>
        <p:nvSpPr>
          <p:cNvPr id="6" name="Freeform 6"/>
          <p:cNvSpPr/>
          <p:nvPr/>
        </p:nvSpPr>
        <p:spPr>
          <a:xfrm>
            <a:off x="236677" y="6381393"/>
            <a:ext cx="12127572" cy="3740869"/>
          </a:xfrm>
          <a:custGeom>
            <a:avLst/>
            <a:gdLst/>
            <a:ahLst/>
            <a:cxnLst/>
            <a:rect l="l" t="t" r="r" b="b"/>
            <a:pathLst>
              <a:path w="12127572" h="3740869">
                <a:moveTo>
                  <a:pt x="0" y="0"/>
                </a:moveTo>
                <a:lnTo>
                  <a:pt x="12127572" y="0"/>
                </a:lnTo>
                <a:lnTo>
                  <a:pt x="12127572" y="3740869"/>
                </a:lnTo>
                <a:lnTo>
                  <a:pt x="0" y="3740869"/>
                </a:lnTo>
                <a:lnTo>
                  <a:pt x="0" y="0"/>
                </a:lnTo>
                <a:close/>
              </a:path>
            </a:pathLst>
          </a:custGeom>
          <a:blipFill>
            <a:blip r:embed="rId6"/>
            <a:stretch>
              <a:fillRect r="-3683"/>
            </a:stretch>
          </a:blipFill>
        </p:spPr>
        <p:txBody>
          <a:bodyPr/>
          <a:lstStyle/>
          <a:p>
            <a:endParaRPr lang="en-GB"/>
          </a:p>
        </p:txBody>
      </p:sp>
      <p:sp>
        <p:nvSpPr>
          <p:cNvPr id="7" name="TextBox 7"/>
          <p:cNvSpPr txBox="1"/>
          <p:nvPr/>
        </p:nvSpPr>
        <p:spPr>
          <a:xfrm>
            <a:off x="17744518" y="9676843"/>
            <a:ext cx="152400" cy="219075"/>
          </a:xfrm>
          <a:prstGeom prst="rect">
            <a:avLst/>
          </a:prstGeom>
        </p:spPr>
        <p:txBody>
          <a:bodyPr wrap="none" lIns="0" tIns="0" rIns="0" bIns="0" rtlCol="0" anchor="t">
            <a:spAutoFit/>
          </a:bodyPr>
          <a:lstStyle/>
          <a:p>
            <a:pPr algn="ctr">
              <a:lnSpc>
                <a:spcPts val="4405"/>
              </a:lnSpc>
              <a:spcBef>
                <a:spcPct val="0"/>
              </a:spcBef>
            </a:pPr>
            <a:r>
              <a:rPr lang="en-US" sz="3146">
                <a:solidFill>
                  <a:srgbClr val="1A1A1A"/>
                </a:solidFill>
                <a:latin typeface="Canva Sans"/>
                <a:ea typeface="Canva Sans"/>
                <a:cs typeface="Canva Sans"/>
                <a:sym typeface="Canva Sans"/>
              </a:rPr>
              <a:t>22</a:t>
            </a:r>
          </a:p>
        </p:txBody>
      </p:sp>
      <p:sp>
        <p:nvSpPr>
          <p:cNvPr id="8" name="TextBox 8"/>
          <p:cNvSpPr txBox="1"/>
          <p:nvPr/>
        </p:nvSpPr>
        <p:spPr>
          <a:xfrm>
            <a:off x="236677" y="4799413"/>
            <a:ext cx="10272201" cy="1473070"/>
          </a:xfrm>
          <a:prstGeom prst="rect">
            <a:avLst/>
          </a:prstGeom>
        </p:spPr>
        <p:txBody>
          <a:bodyPr lIns="0" tIns="0" rIns="0" bIns="0" rtlCol="0" anchor="t">
            <a:spAutoFit/>
          </a:bodyPr>
          <a:lstStyle/>
          <a:p>
            <a:pPr algn="l">
              <a:lnSpc>
                <a:spcPts val="2355"/>
              </a:lnSpc>
            </a:pPr>
            <a:r>
              <a:rPr lang="en-US" sz="2066" i="1" spc="30">
                <a:solidFill>
                  <a:srgbClr val="1A1A1A"/>
                </a:solidFill>
                <a:latin typeface="Canva Sans Italics"/>
                <a:ea typeface="Canva Sans Italics"/>
                <a:cs typeface="Canva Sans Italics"/>
                <a:sym typeface="Canva Sans Italics"/>
              </a:rPr>
              <a:t>reward = (</a:t>
            </a:r>
          </a:p>
          <a:p>
            <a:pPr algn="l">
              <a:lnSpc>
                <a:spcPts val="2355"/>
              </a:lnSpc>
            </a:pPr>
            <a:r>
              <a:rPr lang="en-US" sz="2066" i="1" spc="30">
                <a:solidFill>
                  <a:srgbClr val="1A1A1A"/>
                </a:solidFill>
                <a:latin typeface="Canva Sans Italics"/>
                <a:ea typeface="Canva Sans Italics"/>
                <a:cs typeface="Canva Sans Italics"/>
                <a:sym typeface="Canva Sans Italics"/>
              </a:rPr>
              <a:t>           -avg_waiting * 0.1 +          # Penalize waiting</a:t>
            </a:r>
          </a:p>
          <a:p>
            <a:pPr algn="l">
              <a:lnSpc>
                <a:spcPts val="2355"/>
              </a:lnSpc>
            </a:pPr>
            <a:r>
              <a:rPr lang="en-US" sz="2066" i="1" spc="30">
                <a:solidFill>
                  <a:srgbClr val="1A1A1A"/>
                </a:solidFill>
                <a:latin typeface="Canva Sans Italics"/>
                <a:ea typeface="Canva Sans Italics"/>
                <a:cs typeface="Canva Sans Italics"/>
                <a:sym typeface="Canva Sans Italics"/>
              </a:rPr>
              <a:t>           -total_queue * 0.05 +       # Penalize queues</a:t>
            </a:r>
          </a:p>
          <a:p>
            <a:pPr algn="l">
              <a:lnSpc>
                <a:spcPts val="2355"/>
              </a:lnSpc>
            </a:pPr>
            <a:r>
              <a:rPr lang="en-US" sz="2066" i="1" spc="30">
                <a:solidFill>
                  <a:srgbClr val="1A1A1A"/>
                </a:solidFill>
                <a:latin typeface="Canva Sans Italics"/>
                <a:ea typeface="Canva Sans Italics"/>
                <a:cs typeface="Canva Sans Italics"/>
                <a:sym typeface="Canva Sans Italics"/>
              </a:rPr>
              <a:t>           vehicles_left * 0.01           # Reward throughput</a:t>
            </a:r>
          </a:p>
          <a:p>
            <a:pPr algn="l">
              <a:lnSpc>
                <a:spcPts val="2355"/>
              </a:lnSpc>
            </a:pPr>
            <a:r>
              <a:rPr lang="en-US" sz="2066" i="1" spc="30">
                <a:solidFill>
                  <a:srgbClr val="1A1A1A"/>
                </a:solidFill>
                <a:latin typeface="Canva Sans Italics"/>
                <a:ea typeface="Canva Sans Italics"/>
                <a:cs typeface="Canva Sans Italics"/>
                <a:sym typeface="Canva Sans Italics"/>
              </a:rPr>
              <a:t>)</a:t>
            </a:r>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bg>
      <p:bgPr>
        <a:gradFill rotWithShape="1">
          <a:gsLst>
            <a:gs pos="0">
              <a:srgbClr val="FFFFFF">
                <a:alpha val="100000"/>
              </a:srgbClr>
            </a:gs>
            <a:gs pos="100000">
              <a:srgbClr val="E6E6E6">
                <a:alpha val="100000"/>
              </a:srgbClr>
            </a:gs>
          </a:gsLst>
          <a:lin ang="0"/>
        </a:gradFill>
        <a:effectLst/>
      </p:bgPr>
    </p:bg>
    <p:spTree>
      <p:nvGrpSpPr>
        <p:cNvPr id="1" name=""/>
        <p:cNvGrpSpPr/>
        <p:nvPr/>
      </p:nvGrpSpPr>
      <p:grpSpPr>
        <a:xfrm>
          <a:off x="0" y="0"/>
          <a:ext cx="0" cy="0"/>
          <a:chOff x="0" y="0"/>
          <a:chExt cx="0" cy="0"/>
        </a:xfrm>
      </p:grpSpPr>
      <p:sp>
        <p:nvSpPr>
          <p:cNvPr id="2" name="Freeform 2"/>
          <p:cNvSpPr/>
          <p:nvPr/>
        </p:nvSpPr>
        <p:spPr>
          <a:xfrm>
            <a:off x="11481980" y="974372"/>
            <a:ext cx="1704951" cy="1522056"/>
          </a:xfrm>
          <a:custGeom>
            <a:avLst/>
            <a:gdLst/>
            <a:ahLst/>
            <a:cxnLst/>
            <a:rect l="l" t="t" r="r" b="b"/>
            <a:pathLst>
              <a:path w="1704951" h="1522056">
                <a:moveTo>
                  <a:pt x="0" y="0"/>
                </a:moveTo>
                <a:lnTo>
                  <a:pt x="1704951" y="0"/>
                </a:lnTo>
                <a:lnTo>
                  <a:pt x="1704951" y="1522056"/>
                </a:lnTo>
                <a:lnTo>
                  <a:pt x="0" y="1522056"/>
                </a:lnTo>
                <a:lnTo>
                  <a:pt x="0" y="0"/>
                </a:lnTo>
                <a:close/>
              </a:path>
            </a:pathLst>
          </a:custGeom>
          <a:blipFill>
            <a:blip>
              <a:extLst>
                <a:ext uri="{96DAC541-7B7A-43D3-8B79-37D633B846F1}">
                  <asvg:svgBlip xmlns:asvg="http://schemas.microsoft.com/office/drawing/2016/SVG/main" r:embed="rId3"/>
                </a:ext>
              </a:extLst>
            </a:blip>
            <a:stretch>
              <a:fillRect/>
            </a:stretch>
          </a:blipFill>
        </p:spPr>
        <p:txBody>
          <a:bodyPr/>
          <a:lstStyle/>
          <a:p>
            <a:endParaRPr lang="en-GB"/>
          </a:p>
        </p:txBody>
      </p:sp>
      <p:sp>
        <p:nvSpPr>
          <p:cNvPr id="3" name="Freeform 3"/>
          <p:cNvSpPr/>
          <p:nvPr/>
        </p:nvSpPr>
        <p:spPr>
          <a:xfrm>
            <a:off x="9498297" y="974372"/>
            <a:ext cx="1704951" cy="1522056"/>
          </a:xfrm>
          <a:custGeom>
            <a:avLst/>
            <a:gdLst/>
            <a:ahLst/>
            <a:cxnLst/>
            <a:rect l="l" t="t" r="r" b="b"/>
            <a:pathLst>
              <a:path w="1704951" h="1522056">
                <a:moveTo>
                  <a:pt x="0" y="0"/>
                </a:moveTo>
                <a:lnTo>
                  <a:pt x="1704951" y="0"/>
                </a:lnTo>
                <a:lnTo>
                  <a:pt x="1704951" y="1522056"/>
                </a:lnTo>
                <a:lnTo>
                  <a:pt x="0" y="1522056"/>
                </a:lnTo>
                <a:lnTo>
                  <a:pt x="0" y="0"/>
                </a:lnTo>
                <a:close/>
              </a:path>
            </a:pathLst>
          </a:custGeom>
          <a:blipFill>
            <a:blip>
              <a:extLst>
                <a:ext uri="{96DAC541-7B7A-43D3-8B79-37D633B846F1}">
                  <asvg:svgBlip xmlns:asvg="http://schemas.microsoft.com/office/drawing/2016/SVG/main" r:embed="rId3"/>
                </a:ext>
              </a:extLst>
            </a:blip>
            <a:stretch>
              <a:fillRect/>
            </a:stretch>
          </a:blipFill>
        </p:spPr>
        <p:txBody>
          <a:bodyPr/>
          <a:lstStyle/>
          <a:p>
            <a:endParaRPr lang="en-GB"/>
          </a:p>
        </p:txBody>
      </p:sp>
      <p:grpSp>
        <p:nvGrpSpPr>
          <p:cNvPr id="4" name="Group 4"/>
          <p:cNvGrpSpPr/>
          <p:nvPr/>
        </p:nvGrpSpPr>
        <p:grpSpPr>
          <a:xfrm>
            <a:off x="9280078" y="753655"/>
            <a:ext cx="4079344" cy="1887575"/>
            <a:chOff x="0" y="0"/>
            <a:chExt cx="1074395" cy="497139"/>
          </a:xfrm>
        </p:grpSpPr>
        <p:sp>
          <p:nvSpPr>
            <p:cNvPr id="5" name="Freeform 5"/>
            <p:cNvSpPr/>
            <p:nvPr/>
          </p:nvSpPr>
          <p:spPr>
            <a:xfrm>
              <a:off x="0" y="0"/>
              <a:ext cx="1074395" cy="497139"/>
            </a:xfrm>
            <a:custGeom>
              <a:avLst/>
              <a:gdLst/>
              <a:ahLst/>
              <a:cxnLst/>
              <a:rect l="l" t="t" r="r" b="b"/>
              <a:pathLst>
                <a:path w="1074395" h="497139">
                  <a:moveTo>
                    <a:pt x="0" y="0"/>
                  </a:moveTo>
                  <a:lnTo>
                    <a:pt x="1074395" y="0"/>
                  </a:lnTo>
                  <a:lnTo>
                    <a:pt x="1074395" y="497139"/>
                  </a:lnTo>
                  <a:lnTo>
                    <a:pt x="0" y="497139"/>
                  </a:lnTo>
                  <a:close/>
                </a:path>
              </a:pathLst>
            </a:custGeom>
            <a:ln w="9525" cap="sq">
              <a:solidFill>
                <a:srgbClr val="000000"/>
              </a:solidFill>
              <a:prstDash val="solid"/>
              <a:miter/>
            </a:ln>
          </p:spPr>
          <p:txBody>
            <a:bodyPr/>
            <a:lstStyle/>
            <a:p>
              <a:endParaRPr lang="en-GB"/>
            </a:p>
          </p:txBody>
        </p:sp>
        <p:sp>
          <p:nvSpPr>
            <p:cNvPr id="6" name="TextBox 6"/>
            <p:cNvSpPr txBox="1"/>
            <p:nvPr/>
          </p:nvSpPr>
          <p:spPr>
            <a:xfrm>
              <a:off x="0" y="-171450"/>
              <a:ext cx="1074395" cy="668589"/>
            </a:xfrm>
            <a:prstGeom prst="rect">
              <a:avLst/>
            </a:prstGeom>
          </p:spPr>
          <p:txBody>
            <a:bodyPr lIns="50800" tIns="50800" rIns="50800" bIns="50800" rtlCol="0" anchor="ctr"/>
            <a:lstStyle/>
            <a:p>
              <a:pPr algn="ctr">
                <a:lnSpc>
                  <a:spcPts val="4875"/>
                </a:lnSpc>
              </a:pPr>
              <a:endParaRPr/>
            </a:p>
          </p:txBody>
        </p:sp>
      </p:grpSp>
      <p:grpSp>
        <p:nvGrpSpPr>
          <p:cNvPr id="7" name="Group 7"/>
          <p:cNvGrpSpPr/>
          <p:nvPr/>
        </p:nvGrpSpPr>
        <p:grpSpPr>
          <a:xfrm>
            <a:off x="14531898" y="4673822"/>
            <a:ext cx="3271361" cy="2354609"/>
            <a:chOff x="0" y="0"/>
            <a:chExt cx="4361815" cy="3139479"/>
          </a:xfrm>
        </p:grpSpPr>
        <p:grpSp>
          <p:nvGrpSpPr>
            <p:cNvPr id="8" name="Group 8"/>
            <p:cNvGrpSpPr/>
            <p:nvPr/>
          </p:nvGrpSpPr>
          <p:grpSpPr>
            <a:xfrm>
              <a:off x="191334" y="453572"/>
              <a:ext cx="4009003" cy="2685906"/>
              <a:chOff x="0" y="0"/>
              <a:chExt cx="791902" cy="530549"/>
            </a:xfrm>
          </p:grpSpPr>
          <p:sp>
            <p:nvSpPr>
              <p:cNvPr id="9" name="Freeform 9"/>
              <p:cNvSpPr/>
              <p:nvPr/>
            </p:nvSpPr>
            <p:spPr>
              <a:xfrm>
                <a:off x="0" y="0"/>
                <a:ext cx="791902" cy="530549"/>
              </a:xfrm>
              <a:custGeom>
                <a:avLst/>
                <a:gdLst/>
                <a:ahLst/>
                <a:cxnLst/>
                <a:rect l="l" t="t" r="r" b="b"/>
                <a:pathLst>
                  <a:path w="791902" h="530549">
                    <a:moveTo>
                      <a:pt x="0" y="0"/>
                    </a:moveTo>
                    <a:lnTo>
                      <a:pt x="791902" y="0"/>
                    </a:lnTo>
                    <a:lnTo>
                      <a:pt x="791902" y="530549"/>
                    </a:lnTo>
                    <a:lnTo>
                      <a:pt x="0" y="530549"/>
                    </a:lnTo>
                    <a:close/>
                  </a:path>
                </a:pathLst>
              </a:custGeom>
              <a:ln w="9525" cap="sq">
                <a:solidFill>
                  <a:srgbClr val="000000"/>
                </a:solidFill>
                <a:prstDash val="solid"/>
                <a:miter/>
              </a:ln>
            </p:spPr>
            <p:txBody>
              <a:bodyPr/>
              <a:lstStyle/>
              <a:p>
                <a:endParaRPr lang="en-GB"/>
              </a:p>
            </p:txBody>
          </p:sp>
          <p:sp>
            <p:nvSpPr>
              <p:cNvPr id="10" name="TextBox 10"/>
              <p:cNvSpPr txBox="1"/>
              <p:nvPr/>
            </p:nvSpPr>
            <p:spPr>
              <a:xfrm>
                <a:off x="0" y="-171450"/>
                <a:ext cx="791902" cy="701999"/>
              </a:xfrm>
              <a:prstGeom prst="rect">
                <a:avLst/>
              </a:prstGeom>
            </p:spPr>
            <p:txBody>
              <a:bodyPr lIns="50800" tIns="50800" rIns="50800" bIns="50800" rtlCol="0" anchor="ctr"/>
              <a:lstStyle/>
              <a:p>
                <a:pPr algn="ctr">
                  <a:lnSpc>
                    <a:spcPts val="4875"/>
                  </a:lnSpc>
                </a:pPr>
                <a:endParaRPr/>
              </a:p>
            </p:txBody>
          </p:sp>
        </p:grpSp>
        <p:sp>
          <p:nvSpPr>
            <p:cNvPr id="11" name="Freeform 11"/>
            <p:cNvSpPr/>
            <p:nvPr/>
          </p:nvSpPr>
          <p:spPr>
            <a:xfrm>
              <a:off x="277231" y="251978"/>
              <a:ext cx="3837211" cy="2887501"/>
            </a:xfrm>
            <a:custGeom>
              <a:avLst/>
              <a:gdLst/>
              <a:ahLst/>
              <a:cxnLst/>
              <a:rect l="l" t="t" r="r" b="b"/>
              <a:pathLst>
                <a:path w="3837211" h="2887501">
                  <a:moveTo>
                    <a:pt x="0" y="0"/>
                  </a:moveTo>
                  <a:lnTo>
                    <a:pt x="3837210" y="0"/>
                  </a:lnTo>
                  <a:lnTo>
                    <a:pt x="3837210" y="2887501"/>
                  </a:lnTo>
                  <a:lnTo>
                    <a:pt x="0" y="2887501"/>
                  </a:lnTo>
                  <a:lnTo>
                    <a:pt x="0" y="0"/>
                  </a:lnTo>
                  <a:close/>
                </a:path>
              </a:pathLst>
            </a:custGeom>
            <a:blipFill>
              <a:blip>
                <a:extLst>
                  <a:ext uri="{96DAC541-7B7A-43D3-8B79-37D633B846F1}">
                    <asvg:svgBlip xmlns:asvg="http://schemas.microsoft.com/office/drawing/2016/SVG/main" r:embed="rId4"/>
                  </a:ext>
                </a:extLst>
              </a:blip>
              <a:stretch>
                <a:fillRect/>
              </a:stretch>
            </a:blipFill>
          </p:spPr>
          <p:txBody>
            <a:bodyPr/>
            <a:lstStyle/>
            <a:p>
              <a:endParaRPr lang="en-GB"/>
            </a:p>
          </p:txBody>
        </p:sp>
        <p:sp>
          <p:nvSpPr>
            <p:cNvPr id="12" name="TextBox 12"/>
            <p:cNvSpPr txBox="1"/>
            <p:nvPr/>
          </p:nvSpPr>
          <p:spPr>
            <a:xfrm>
              <a:off x="0" y="-133350"/>
              <a:ext cx="4361815" cy="548822"/>
            </a:xfrm>
            <a:prstGeom prst="rect">
              <a:avLst/>
            </a:prstGeom>
          </p:spPr>
          <p:txBody>
            <a:bodyPr lIns="0" tIns="0" rIns="0" bIns="0" rtlCol="0" anchor="t">
              <a:spAutoFit/>
            </a:bodyPr>
            <a:lstStyle/>
            <a:p>
              <a:pPr algn="ctr">
                <a:lnSpc>
                  <a:spcPts val="3926"/>
                </a:lnSpc>
                <a:spcBef>
                  <a:spcPct val="0"/>
                </a:spcBef>
              </a:pPr>
              <a:r>
                <a:rPr lang="en-US" sz="2066" b="1" spc="30">
                  <a:solidFill>
                    <a:srgbClr val="000000"/>
                  </a:solidFill>
                  <a:latin typeface="Canva Sans Bold"/>
                  <a:ea typeface="Canva Sans Bold"/>
                  <a:cs typeface="Canva Sans Bold"/>
                  <a:sym typeface="Canva Sans Bold"/>
                </a:rPr>
                <a:t>Agent control on laptop</a:t>
              </a:r>
            </a:p>
          </p:txBody>
        </p:sp>
      </p:grpSp>
      <p:grpSp>
        <p:nvGrpSpPr>
          <p:cNvPr id="13" name="Group 13"/>
          <p:cNvGrpSpPr/>
          <p:nvPr/>
        </p:nvGrpSpPr>
        <p:grpSpPr>
          <a:xfrm>
            <a:off x="15697782" y="974636"/>
            <a:ext cx="1937839" cy="1584026"/>
            <a:chOff x="0" y="0"/>
            <a:chExt cx="1063739" cy="869520"/>
          </a:xfrm>
        </p:grpSpPr>
        <p:sp>
          <p:nvSpPr>
            <p:cNvPr id="14" name="Freeform 14"/>
            <p:cNvSpPr/>
            <p:nvPr/>
          </p:nvSpPr>
          <p:spPr>
            <a:xfrm>
              <a:off x="0" y="0"/>
              <a:ext cx="1063739" cy="869520"/>
            </a:xfrm>
            <a:custGeom>
              <a:avLst/>
              <a:gdLst/>
              <a:ahLst/>
              <a:cxnLst/>
              <a:rect l="l" t="t" r="r" b="b"/>
              <a:pathLst>
                <a:path w="1063739" h="869520">
                  <a:moveTo>
                    <a:pt x="0" y="0"/>
                  </a:moveTo>
                  <a:lnTo>
                    <a:pt x="1063739" y="0"/>
                  </a:lnTo>
                  <a:lnTo>
                    <a:pt x="1063739" y="869520"/>
                  </a:lnTo>
                  <a:lnTo>
                    <a:pt x="0" y="869520"/>
                  </a:lnTo>
                  <a:close/>
                </a:path>
              </a:pathLst>
            </a:custGeom>
            <a:ln w="9525" cap="sq">
              <a:solidFill>
                <a:srgbClr val="000000"/>
              </a:solidFill>
              <a:prstDash val="solid"/>
              <a:miter/>
            </a:ln>
          </p:spPr>
          <p:txBody>
            <a:bodyPr/>
            <a:lstStyle/>
            <a:p>
              <a:endParaRPr lang="en-GB"/>
            </a:p>
          </p:txBody>
        </p:sp>
        <p:sp>
          <p:nvSpPr>
            <p:cNvPr id="15" name="TextBox 15"/>
            <p:cNvSpPr txBox="1"/>
            <p:nvPr/>
          </p:nvSpPr>
          <p:spPr>
            <a:xfrm>
              <a:off x="0" y="-171450"/>
              <a:ext cx="1063739" cy="1040970"/>
            </a:xfrm>
            <a:prstGeom prst="rect">
              <a:avLst/>
            </a:prstGeom>
          </p:spPr>
          <p:txBody>
            <a:bodyPr lIns="50800" tIns="50800" rIns="50800" bIns="50800" rtlCol="0" anchor="ctr"/>
            <a:lstStyle/>
            <a:p>
              <a:pPr algn="ctr">
                <a:lnSpc>
                  <a:spcPts val="4875"/>
                </a:lnSpc>
              </a:pPr>
              <a:endParaRPr/>
            </a:p>
          </p:txBody>
        </p:sp>
      </p:grpSp>
      <p:sp>
        <p:nvSpPr>
          <p:cNvPr id="16" name="Freeform 16"/>
          <p:cNvSpPr/>
          <p:nvPr/>
        </p:nvSpPr>
        <p:spPr>
          <a:xfrm>
            <a:off x="15797464" y="1078591"/>
            <a:ext cx="1744180" cy="1395344"/>
          </a:xfrm>
          <a:custGeom>
            <a:avLst/>
            <a:gdLst/>
            <a:ahLst/>
            <a:cxnLst/>
            <a:rect l="l" t="t" r="r" b="b"/>
            <a:pathLst>
              <a:path w="1744180" h="1395344">
                <a:moveTo>
                  <a:pt x="0" y="0"/>
                </a:moveTo>
                <a:lnTo>
                  <a:pt x="1744180" y="0"/>
                </a:lnTo>
                <a:lnTo>
                  <a:pt x="1744180" y="1395344"/>
                </a:lnTo>
                <a:lnTo>
                  <a:pt x="0" y="1395344"/>
                </a:lnTo>
                <a:lnTo>
                  <a:pt x="0" y="0"/>
                </a:lnTo>
                <a:close/>
              </a:path>
            </a:pathLst>
          </a:custGeom>
          <a:blipFill>
            <a:blip r:embed="rId5"/>
            <a:stretch>
              <a:fillRect/>
            </a:stretch>
          </a:blipFill>
        </p:spPr>
        <p:txBody>
          <a:bodyPr/>
          <a:lstStyle/>
          <a:p>
            <a:endParaRPr lang="en-GB"/>
          </a:p>
        </p:txBody>
      </p:sp>
      <p:sp>
        <p:nvSpPr>
          <p:cNvPr id="17" name="TextBox 17"/>
          <p:cNvSpPr txBox="1"/>
          <p:nvPr/>
        </p:nvSpPr>
        <p:spPr>
          <a:xfrm>
            <a:off x="15556553" y="569173"/>
            <a:ext cx="2187965" cy="322211"/>
          </a:xfrm>
          <a:prstGeom prst="rect">
            <a:avLst/>
          </a:prstGeom>
        </p:spPr>
        <p:txBody>
          <a:bodyPr lIns="0" tIns="0" rIns="0" bIns="0" rtlCol="0" anchor="t">
            <a:spAutoFit/>
          </a:bodyPr>
          <a:lstStyle/>
          <a:p>
            <a:pPr algn="ctr">
              <a:lnSpc>
                <a:spcPts val="2859"/>
              </a:lnSpc>
              <a:spcBef>
                <a:spcPct val="0"/>
              </a:spcBef>
            </a:pPr>
            <a:r>
              <a:rPr lang="en-US" sz="1505" b="1" spc="22">
                <a:solidFill>
                  <a:srgbClr val="000000"/>
                </a:solidFill>
                <a:latin typeface="Canva Sans Bold"/>
                <a:ea typeface="Canva Sans Bold"/>
                <a:cs typeface="Canva Sans Bold"/>
                <a:sym typeface="Canva Sans Bold"/>
              </a:rPr>
              <a:t>SUMO Environment</a:t>
            </a:r>
          </a:p>
        </p:txBody>
      </p:sp>
      <p:grpSp>
        <p:nvGrpSpPr>
          <p:cNvPr id="18" name="Group 18"/>
          <p:cNvGrpSpPr/>
          <p:nvPr/>
        </p:nvGrpSpPr>
        <p:grpSpPr>
          <a:xfrm>
            <a:off x="14522373" y="539603"/>
            <a:ext cx="1064406" cy="870065"/>
            <a:chOff x="0" y="0"/>
            <a:chExt cx="1063739" cy="869520"/>
          </a:xfrm>
        </p:grpSpPr>
        <p:sp>
          <p:nvSpPr>
            <p:cNvPr id="19" name="Freeform 19"/>
            <p:cNvSpPr/>
            <p:nvPr/>
          </p:nvSpPr>
          <p:spPr>
            <a:xfrm>
              <a:off x="0" y="0"/>
              <a:ext cx="1063739" cy="869520"/>
            </a:xfrm>
            <a:custGeom>
              <a:avLst/>
              <a:gdLst/>
              <a:ahLst/>
              <a:cxnLst/>
              <a:rect l="l" t="t" r="r" b="b"/>
              <a:pathLst>
                <a:path w="1063739" h="869520">
                  <a:moveTo>
                    <a:pt x="0" y="0"/>
                  </a:moveTo>
                  <a:lnTo>
                    <a:pt x="1063739" y="0"/>
                  </a:lnTo>
                  <a:lnTo>
                    <a:pt x="1063739" y="869520"/>
                  </a:lnTo>
                  <a:lnTo>
                    <a:pt x="0" y="869520"/>
                  </a:lnTo>
                  <a:close/>
                </a:path>
              </a:pathLst>
            </a:custGeom>
            <a:ln w="9525" cap="sq">
              <a:solidFill>
                <a:srgbClr val="000000"/>
              </a:solidFill>
              <a:prstDash val="solid"/>
              <a:miter/>
            </a:ln>
          </p:spPr>
          <p:txBody>
            <a:bodyPr/>
            <a:lstStyle/>
            <a:p>
              <a:endParaRPr lang="en-GB"/>
            </a:p>
          </p:txBody>
        </p:sp>
        <p:sp>
          <p:nvSpPr>
            <p:cNvPr id="20" name="TextBox 20"/>
            <p:cNvSpPr txBox="1"/>
            <p:nvPr/>
          </p:nvSpPr>
          <p:spPr>
            <a:xfrm>
              <a:off x="0" y="-171450"/>
              <a:ext cx="1063739" cy="1040970"/>
            </a:xfrm>
            <a:prstGeom prst="rect">
              <a:avLst/>
            </a:prstGeom>
          </p:spPr>
          <p:txBody>
            <a:bodyPr lIns="27903" tIns="27903" rIns="27903" bIns="27903" rtlCol="0" anchor="ctr"/>
            <a:lstStyle/>
            <a:p>
              <a:pPr algn="ctr">
                <a:lnSpc>
                  <a:spcPts val="4875"/>
                </a:lnSpc>
              </a:pPr>
              <a:endParaRPr/>
            </a:p>
          </p:txBody>
        </p:sp>
      </p:grpSp>
      <p:sp>
        <p:nvSpPr>
          <p:cNvPr id="21" name="Freeform 21"/>
          <p:cNvSpPr/>
          <p:nvPr/>
        </p:nvSpPr>
        <p:spPr>
          <a:xfrm>
            <a:off x="14577127" y="596703"/>
            <a:ext cx="958033" cy="766427"/>
          </a:xfrm>
          <a:custGeom>
            <a:avLst/>
            <a:gdLst/>
            <a:ahLst/>
            <a:cxnLst/>
            <a:rect l="l" t="t" r="r" b="b"/>
            <a:pathLst>
              <a:path w="958033" h="766427">
                <a:moveTo>
                  <a:pt x="0" y="0"/>
                </a:moveTo>
                <a:lnTo>
                  <a:pt x="958033" y="0"/>
                </a:lnTo>
                <a:lnTo>
                  <a:pt x="958033" y="766427"/>
                </a:lnTo>
                <a:lnTo>
                  <a:pt x="0" y="766427"/>
                </a:lnTo>
                <a:lnTo>
                  <a:pt x="0" y="0"/>
                </a:lnTo>
                <a:close/>
              </a:path>
            </a:pathLst>
          </a:custGeom>
          <a:blipFill>
            <a:blip r:embed="rId5"/>
            <a:stretch>
              <a:fillRect/>
            </a:stretch>
          </a:blipFill>
        </p:spPr>
        <p:txBody>
          <a:bodyPr/>
          <a:lstStyle/>
          <a:p>
            <a:endParaRPr lang="en-GB"/>
          </a:p>
        </p:txBody>
      </p:sp>
      <p:grpSp>
        <p:nvGrpSpPr>
          <p:cNvPr id="22" name="Group 22"/>
          <p:cNvGrpSpPr/>
          <p:nvPr/>
        </p:nvGrpSpPr>
        <p:grpSpPr>
          <a:xfrm>
            <a:off x="14522373" y="1517786"/>
            <a:ext cx="1064406" cy="870065"/>
            <a:chOff x="0" y="0"/>
            <a:chExt cx="1063739" cy="869520"/>
          </a:xfrm>
        </p:grpSpPr>
        <p:sp>
          <p:nvSpPr>
            <p:cNvPr id="23" name="Freeform 23"/>
            <p:cNvSpPr/>
            <p:nvPr/>
          </p:nvSpPr>
          <p:spPr>
            <a:xfrm>
              <a:off x="0" y="0"/>
              <a:ext cx="1063739" cy="869520"/>
            </a:xfrm>
            <a:custGeom>
              <a:avLst/>
              <a:gdLst/>
              <a:ahLst/>
              <a:cxnLst/>
              <a:rect l="l" t="t" r="r" b="b"/>
              <a:pathLst>
                <a:path w="1063739" h="869520">
                  <a:moveTo>
                    <a:pt x="0" y="0"/>
                  </a:moveTo>
                  <a:lnTo>
                    <a:pt x="1063739" y="0"/>
                  </a:lnTo>
                  <a:lnTo>
                    <a:pt x="1063739" y="869520"/>
                  </a:lnTo>
                  <a:lnTo>
                    <a:pt x="0" y="869520"/>
                  </a:lnTo>
                  <a:close/>
                </a:path>
              </a:pathLst>
            </a:custGeom>
            <a:ln w="9525" cap="sq">
              <a:solidFill>
                <a:srgbClr val="000000"/>
              </a:solidFill>
              <a:prstDash val="solid"/>
              <a:miter/>
            </a:ln>
          </p:spPr>
          <p:txBody>
            <a:bodyPr/>
            <a:lstStyle/>
            <a:p>
              <a:endParaRPr lang="en-GB"/>
            </a:p>
          </p:txBody>
        </p:sp>
        <p:sp>
          <p:nvSpPr>
            <p:cNvPr id="24" name="TextBox 24"/>
            <p:cNvSpPr txBox="1"/>
            <p:nvPr/>
          </p:nvSpPr>
          <p:spPr>
            <a:xfrm>
              <a:off x="0" y="-171450"/>
              <a:ext cx="1063739" cy="1040970"/>
            </a:xfrm>
            <a:prstGeom prst="rect">
              <a:avLst/>
            </a:prstGeom>
          </p:spPr>
          <p:txBody>
            <a:bodyPr lIns="27903" tIns="27903" rIns="27903" bIns="27903" rtlCol="0" anchor="ctr"/>
            <a:lstStyle/>
            <a:p>
              <a:pPr algn="ctr">
                <a:lnSpc>
                  <a:spcPts val="4875"/>
                </a:lnSpc>
              </a:pPr>
              <a:endParaRPr/>
            </a:p>
          </p:txBody>
        </p:sp>
      </p:grpSp>
      <p:sp>
        <p:nvSpPr>
          <p:cNvPr id="25" name="Freeform 25"/>
          <p:cNvSpPr/>
          <p:nvPr/>
        </p:nvSpPr>
        <p:spPr>
          <a:xfrm>
            <a:off x="14577127" y="1574886"/>
            <a:ext cx="958033" cy="766427"/>
          </a:xfrm>
          <a:custGeom>
            <a:avLst/>
            <a:gdLst/>
            <a:ahLst/>
            <a:cxnLst/>
            <a:rect l="l" t="t" r="r" b="b"/>
            <a:pathLst>
              <a:path w="958033" h="766427">
                <a:moveTo>
                  <a:pt x="0" y="0"/>
                </a:moveTo>
                <a:lnTo>
                  <a:pt x="958033" y="0"/>
                </a:lnTo>
                <a:lnTo>
                  <a:pt x="958033" y="766427"/>
                </a:lnTo>
                <a:lnTo>
                  <a:pt x="0" y="766427"/>
                </a:lnTo>
                <a:lnTo>
                  <a:pt x="0" y="0"/>
                </a:lnTo>
                <a:close/>
              </a:path>
            </a:pathLst>
          </a:custGeom>
          <a:blipFill>
            <a:blip r:embed="rId5"/>
            <a:stretch>
              <a:fillRect/>
            </a:stretch>
          </a:blipFill>
        </p:spPr>
        <p:txBody>
          <a:bodyPr/>
          <a:lstStyle/>
          <a:p>
            <a:endParaRPr lang="en-GB"/>
          </a:p>
        </p:txBody>
      </p:sp>
      <p:sp>
        <p:nvSpPr>
          <p:cNvPr id="26" name="Freeform 26"/>
          <p:cNvSpPr/>
          <p:nvPr/>
        </p:nvSpPr>
        <p:spPr>
          <a:xfrm flipH="1">
            <a:off x="1028700" y="1131557"/>
            <a:ext cx="1400586" cy="1209756"/>
          </a:xfrm>
          <a:custGeom>
            <a:avLst/>
            <a:gdLst/>
            <a:ahLst/>
            <a:cxnLst/>
            <a:rect l="l" t="t" r="r" b="b"/>
            <a:pathLst>
              <a:path w="1400586" h="1209756">
                <a:moveTo>
                  <a:pt x="1400586" y="0"/>
                </a:moveTo>
                <a:lnTo>
                  <a:pt x="0" y="0"/>
                </a:lnTo>
                <a:lnTo>
                  <a:pt x="0" y="1209756"/>
                </a:lnTo>
                <a:lnTo>
                  <a:pt x="1400586" y="1209756"/>
                </a:lnTo>
                <a:lnTo>
                  <a:pt x="1400586" y="0"/>
                </a:lnTo>
                <a:close/>
              </a:path>
            </a:pathLst>
          </a:custGeom>
          <a:blipFill>
            <a:blip r:embed="rId6"/>
            <a:stretch>
              <a:fillRect/>
            </a:stretch>
          </a:blipFill>
        </p:spPr>
        <p:txBody>
          <a:bodyPr/>
          <a:lstStyle/>
          <a:p>
            <a:endParaRPr lang="en-GB"/>
          </a:p>
        </p:txBody>
      </p:sp>
      <p:grpSp>
        <p:nvGrpSpPr>
          <p:cNvPr id="27" name="Group 27"/>
          <p:cNvGrpSpPr/>
          <p:nvPr/>
        </p:nvGrpSpPr>
        <p:grpSpPr>
          <a:xfrm>
            <a:off x="10186304" y="6742210"/>
            <a:ext cx="3271361" cy="3001307"/>
            <a:chOff x="0" y="0"/>
            <a:chExt cx="4361815" cy="4001743"/>
          </a:xfrm>
        </p:grpSpPr>
        <p:grpSp>
          <p:nvGrpSpPr>
            <p:cNvPr id="28" name="Group 28"/>
            <p:cNvGrpSpPr/>
            <p:nvPr/>
          </p:nvGrpSpPr>
          <p:grpSpPr>
            <a:xfrm>
              <a:off x="331034" y="415472"/>
              <a:ext cx="4009003" cy="3586270"/>
              <a:chOff x="0" y="0"/>
              <a:chExt cx="791902" cy="708399"/>
            </a:xfrm>
          </p:grpSpPr>
          <p:sp>
            <p:nvSpPr>
              <p:cNvPr id="29" name="Freeform 29"/>
              <p:cNvSpPr/>
              <p:nvPr/>
            </p:nvSpPr>
            <p:spPr>
              <a:xfrm>
                <a:off x="0" y="0"/>
                <a:ext cx="791902" cy="708399"/>
              </a:xfrm>
              <a:custGeom>
                <a:avLst/>
                <a:gdLst/>
                <a:ahLst/>
                <a:cxnLst/>
                <a:rect l="l" t="t" r="r" b="b"/>
                <a:pathLst>
                  <a:path w="791902" h="708399">
                    <a:moveTo>
                      <a:pt x="0" y="0"/>
                    </a:moveTo>
                    <a:lnTo>
                      <a:pt x="791902" y="0"/>
                    </a:lnTo>
                    <a:lnTo>
                      <a:pt x="791902" y="708399"/>
                    </a:lnTo>
                    <a:lnTo>
                      <a:pt x="0" y="708399"/>
                    </a:lnTo>
                    <a:close/>
                  </a:path>
                </a:pathLst>
              </a:custGeom>
              <a:ln w="9525" cap="sq">
                <a:solidFill>
                  <a:srgbClr val="000000"/>
                </a:solidFill>
                <a:prstDash val="solid"/>
                <a:miter/>
              </a:ln>
            </p:spPr>
            <p:txBody>
              <a:bodyPr/>
              <a:lstStyle/>
              <a:p>
                <a:endParaRPr lang="en-GB"/>
              </a:p>
            </p:txBody>
          </p:sp>
          <p:sp>
            <p:nvSpPr>
              <p:cNvPr id="30" name="TextBox 30"/>
              <p:cNvSpPr txBox="1"/>
              <p:nvPr/>
            </p:nvSpPr>
            <p:spPr>
              <a:xfrm>
                <a:off x="0" y="-171450"/>
                <a:ext cx="791902" cy="879849"/>
              </a:xfrm>
              <a:prstGeom prst="rect">
                <a:avLst/>
              </a:prstGeom>
            </p:spPr>
            <p:txBody>
              <a:bodyPr lIns="50800" tIns="50800" rIns="50800" bIns="50800" rtlCol="0" anchor="ctr"/>
              <a:lstStyle/>
              <a:p>
                <a:pPr algn="ctr">
                  <a:lnSpc>
                    <a:spcPts val="4875"/>
                  </a:lnSpc>
                </a:pPr>
                <a:endParaRPr/>
              </a:p>
            </p:txBody>
          </p:sp>
        </p:grpSp>
        <p:sp>
          <p:nvSpPr>
            <p:cNvPr id="31" name="Freeform 31"/>
            <p:cNvSpPr/>
            <p:nvPr/>
          </p:nvSpPr>
          <p:spPr>
            <a:xfrm>
              <a:off x="410857" y="589398"/>
              <a:ext cx="3849358" cy="3198467"/>
            </a:xfrm>
            <a:custGeom>
              <a:avLst/>
              <a:gdLst/>
              <a:ahLst/>
              <a:cxnLst/>
              <a:rect l="l" t="t" r="r" b="b"/>
              <a:pathLst>
                <a:path w="3849358" h="3198467">
                  <a:moveTo>
                    <a:pt x="0" y="0"/>
                  </a:moveTo>
                  <a:lnTo>
                    <a:pt x="3849358" y="0"/>
                  </a:lnTo>
                  <a:lnTo>
                    <a:pt x="3849358" y="3198467"/>
                  </a:lnTo>
                  <a:lnTo>
                    <a:pt x="0" y="3198467"/>
                  </a:lnTo>
                  <a:lnTo>
                    <a:pt x="0" y="0"/>
                  </a:lnTo>
                  <a:close/>
                </a:path>
              </a:pathLst>
            </a:custGeom>
            <a:blipFill>
              <a:blip r:embed="rId7"/>
              <a:stretch>
                <a:fillRect/>
              </a:stretch>
            </a:blipFill>
          </p:spPr>
          <p:txBody>
            <a:bodyPr/>
            <a:lstStyle/>
            <a:p>
              <a:endParaRPr lang="en-GB"/>
            </a:p>
          </p:txBody>
        </p:sp>
        <p:sp>
          <p:nvSpPr>
            <p:cNvPr id="32" name="TextBox 32"/>
            <p:cNvSpPr txBox="1"/>
            <p:nvPr/>
          </p:nvSpPr>
          <p:spPr>
            <a:xfrm>
              <a:off x="0" y="-133350"/>
              <a:ext cx="4361815" cy="548822"/>
            </a:xfrm>
            <a:prstGeom prst="rect">
              <a:avLst/>
            </a:prstGeom>
          </p:spPr>
          <p:txBody>
            <a:bodyPr lIns="0" tIns="0" rIns="0" bIns="0" rtlCol="0" anchor="t">
              <a:spAutoFit/>
            </a:bodyPr>
            <a:lstStyle/>
            <a:p>
              <a:pPr algn="ctr">
                <a:lnSpc>
                  <a:spcPts val="3926"/>
                </a:lnSpc>
                <a:spcBef>
                  <a:spcPct val="0"/>
                </a:spcBef>
              </a:pPr>
              <a:r>
                <a:rPr lang="en-US" sz="2066" b="1" spc="30">
                  <a:solidFill>
                    <a:srgbClr val="000000"/>
                  </a:solidFill>
                  <a:latin typeface="Canva Sans Bold"/>
                  <a:ea typeface="Canva Sans Bold"/>
                  <a:cs typeface="Canva Sans Bold"/>
                  <a:sym typeface="Canva Sans Bold"/>
                </a:rPr>
                <a:t>Live Dashboard</a:t>
              </a:r>
            </a:p>
          </p:txBody>
        </p:sp>
      </p:grpSp>
      <p:sp>
        <p:nvSpPr>
          <p:cNvPr id="33" name="TextBox 33"/>
          <p:cNvSpPr txBox="1"/>
          <p:nvPr/>
        </p:nvSpPr>
        <p:spPr>
          <a:xfrm>
            <a:off x="16330532" y="3386166"/>
            <a:ext cx="1611569" cy="573444"/>
          </a:xfrm>
          <a:prstGeom prst="rect">
            <a:avLst/>
          </a:prstGeom>
        </p:spPr>
        <p:txBody>
          <a:bodyPr lIns="0" tIns="0" rIns="0" bIns="0" rtlCol="0" anchor="t">
            <a:spAutoFit/>
          </a:bodyPr>
          <a:lstStyle/>
          <a:p>
            <a:pPr algn="ctr">
              <a:lnSpc>
                <a:spcPts val="2314"/>
              </a:lnSpc>
            </a:pPr>
            <a:r>
              <a:rPr lang="en-US" sz="2066" b="1" spc="30">
                <a:solidFill>
                  <a:srgbClr val="000000"/>
                </a:solidFill>
                <a:latin typeface="Canva Sans Bold"/>
                <a:ea typeface="Canva Sans Bold"/>
                <a:cs typeface="Canva Sans Bold"/>
                <a:sym typeface="Canva Sans Bold"/>
              </a:rPr>
              <a:t>States via Traci</a:t>
            </a:r>
          </a:p>
        </p:txBody>
      </p:sp>
      <p:sp>
        <p:nvSpPr>
          <p:cNvPr id="34" name="TextBox 34"/>
          <p:cNvSpPr txBox="1"/>
          <p:nvPr/>
        </p:nvSpPr>
        <p:spPr>
          <a:xfrm>
            <a:off x="14257766" y="2963372"/>
            <a:ext cx="2204780" cy="699991"/>
          </a:xfrm>
          <a:prstGeom prst="rect">
            <a:avLst/>
          </a:prstGeom>
        </p:spPr>
        <p:txBody>
          <a:bodyPr lIns="0" tIns="0" rIns="0" bIns="0" rtlCol="0" anchor="t">
            <a:spAutoFit/>
          </a:bodyPr>
          <a:lstStyle/>
          <a:p>
            <a:pPr algn="ctr">
              <a:lnSpc>
                <a:spcPts val="2892"/>
              </a:lnSpc>
            </a:pPr>
            <a:r>
              <a:rPr lang="en-US" sz="2066" b="1" spc="30">
                <a:solidFill>
                  <a:srgbClr val="000000"/>
                </a:solidFill>
                <a:latin typeface="Canva Sans Bold"/>
                <a:ea typeface="Canva Sans Bold"/>
                <a:cs typeface="Canva Sans Bold"/>
                <a:sym typeface="Canva Sans Bold"/>
              </a:rPr>
              <a:t>Decisions via Traci</a:t>
            </a:r>
          </a:p>
        </p:txBody>
      </p:sp>
      <p:sp>
        <p:nvSpPr>
          <p:cNvPr id="35" name="TextBox 35"/>
          <p:cNvSpPr txBox="1"/>
          <p:nvPr/>
        </p:nvSpPr>
        <p:spPr>
          <a:xfrm>
            <a:off x="14390237" y="7733281"/>
            <a:ext cx="3354281" cy="444954"/>
          </a:xfrm>
          <a:prstGeom prst="rect">
            <a:avLst/>
          </a:prstGeom>
        </p:spPr>
        <p:txBody>
          <a:bodyPr lIns="0" tIns="0" rIns="0" bIns="0" rtlCol="0" anchor="t">
            <a:spAutoFit/>
          </a:bodyPr>
          <a:lstStyle/>
          <a:p>
            <a:pPr algn="ctr">
              <a:lnSpc>
                <a:spcPts val="3926"/>
              </a:lnSpc>
              <a:spcBef>
                <a:spcPct val="0"/>
              </a:spcBef>
            </a:pPr>
            <a:r>
              <a:rPr lang="en-US" sz="2066" b="1" spc="30">
                <a:solidFill>
                  <a:srgbClr val="000000"/>
                </a:solidFill>
                <a:latin typeface="Canva Sans Bold"/>
                <a:ea typeface="Canva Sans Bold"/>
                <a:cs typeface="Canva Sans Bold"/>
                <a:sym typeface="Canva Sans Bold"/>
              </a:rPr>
              <a:t>Live data  via sockets</a:t>
            </a:r>
          </a:p>
        </p:txBody>
      </p:sp>
      <p:sp>
        <p:nvSpPr>
          <p:cNvPr id="36" name="AutoShape 36"/>
          <p:cNvSpPr/>
          <p:nvPr/>
        </p:nvSpPr>
        <p:spPr>
          <a:xfrm flipV="1">
            <a:off x="11275671" y="2789040"/>
            <a:ext cx="0" cy="3598114"/>
          </a:xfrm>
          <a:prstGeom prst="line">
            <a:avLst/>
          </a:prstGeom>
          <a:ln w="66675" cap="flat">
            <a:solidFill>
              <a:srgbClr val="00BF63"/>
            </a:solidFill>
            <a:prstDash val="solid"/>
            <a:headEnd type="arrow" w="med" len="sm"/>
            <a:tailEnd type="none" w="sm" len="sm"/>
          </a:ln>
        </p:spPr>
        <p:txBody>
          <a:bodyPr/>
          <a:lstStyle/>
          <a:p>
            <a:endParaRPr lang="en-GB"/>
          </a:p>
        </p:txBody>
      </p:sp>
      <p:sp>
        <p:nvSpPr>
          <p:cNvPr id="37" name="AutoShape 37"/>
          <p:cNvSpPr/>
          <p:nvPr/>
        </p:nvSpPr>
        <p:spPr>
          <a:xfrm flipV="1">
            <a:off x="16338311" y="2558662"/>
            <a:ext cx="0" cy="1771776"/>
          </a:xfrm>
          <a:prstGeom prst="line">
            <a:avLst/>
          </a:prstGeom>
          <a:ln w="66675" cap="flat">
            <a:solidFill>
              <a:srgbClr val="00BF63"/>
            </a:solidFill>
            <a:prstDash val="solid"/>
            <a:headEnd type="arrow" w="med" len="sm"/>
            <a:tailEnd type="arrow" w="med" len="sm"/>
          </a:ln>
        </p:spPr>
        <p:txBody>
          <a:bodyPr/>
          <a:lstStyle/>
          <a:p>
            <a:endParaRPr lang="en-GB"/>
          </a:p>
        </p:txBody>
      </p:sp>
      <p:sp>
        <p:nvSpPr>
          <p:cNvPr id="38" name="AutoShape 38"/>
          <p:cNvSpPr/>
          <p:nvPr/>
        </p:nvSpPr>
        <p:spPr>
          <a:xfrm flipV="1">
            <a:off x="13674891" y="7300176"/>
            <a:ext cx="1685265" cy="1157141"/>
          </a:xfrm>
          <a:prstGeom prst="line">
            <a:avLst/>
          </a:prstGeom>
          <a:ln w="66675" cap="flat">
            <a:solidFill>
              <a:srgbClr val="00BF63"/>
            </a:solidFill>
            <a:prstDash val="solid"/>
            <a:headEnd type="arrow" w="med" len="sm"/>
            <a:tailEnd type="arrow" w="med" len="sm"/>
          </a:ln>
        </p:spPr>
        <p:txBody>
          <a:bodyPr/>
          <a:lstStyle/>
          <a:p>
            <a:endParaRPr lang="en-GB"/>
          </a:p>
        </p:txBody>
      </p:sp>
      <p:sp>
        <p:nvSpPr>
          <p:cNvPr id="39" name="AutoShape 39"/>
          <p:cNvSpPr/>
          <p:nvPr/>
        </p:nvSpPr>
        <p:spPr>
          <a:xfrm flipH="1" flipV="1">
            <a:off x="12852881" y="2812274"/>
            <a:ext cx="1444020" cy="2331226"/>
          </a:xfrm>
          <a:prstGeom prst="line">
            <a:avLst/>
          </a:prstGeom>
          <a:ln w="66675" cap="flat">
            <a:solidFill>
              <a:srgbClr val="00BF63"/>
            </a:solidFill>
            <a:prstDash val="solid"/>
            <a:headEnd type="arrow" w="med" len="sm"/>
            <a:tailEnd type="arrow" w="med" len="sm"/>
          </a:ln>
        </p:spPr>
        <p:txBody>
          <a:bodyPr/>
          <a:lstStyle/>
          <a:p>
            <a:endParaRPr lang="en-GB"/>
          </a:p>
        </p:txBody>
      </p:sp>
      <p:grpSp>
        <p:nvGrpSpPr>
          <p:cNvPr id="40" name="Group 40"/>
          <p:cNvGrpSpPr/>
          <p:nvPr/>
        </p:nvGrpSpPr>
        <p:grpSpPr>
          <a:xfrm>
            <a:off x="7293858" y="6078907"/>
            <a:ext cx="1770976" cy="1962576"/>
            <a:chOff x="0" y="0"/>
            <a:chExt cx="2361302" cy="2616768"/>
          </a:xfrm>
        </p:grpSpPr>
        <p:grpSp>
          <p:nvGrpSpPr>
            <p:cNvPr id="41" name="Group 41"/>
            <p:cNvGrpSpPr/>
            <p:nvPr/>
          </p:nvGrpSpPr>
          <p:grpSpPr>
            <a:xfrm>
              <a:off x="0" y="423154"/>
              <a:ext cx="2361302" cy="2193614"/>
              <a:chOff x="0" y="0"/>
              <a:chExt cx="740472" cy="687887"/>
            </a:xfrm>
          </p:grpSpPr>
          <p:sp>
            <p:nvSpPr>
              <p:cNvPr id="42" name="Freeform 42"/>
              <p:cNvSpPr/>
              <p:nvPr/>
            </p:nvSpPr>
            <p:spPr>
              <a:xfrm>
                <a:off x="0" y="0"/>
                <a:ext cx="740472" cy="687887"/>
              </a:xfrm>
              <a:custGeom>
                <a:avLst/>
                <a:gdLst/>
                <a:ahLst/>
                <a:cxnLst/>
                <a:rect l="l" t="t" r="r" b="b"/>
                <a:pathLst>
                  <a:path w="740472" h="687887">
                    <a:moveTo>
                      <a:pt x="0" y="0"/>
                    </a:moveTo>
                    <a:lnTo>
                      <a:pt x="740472" y="0"/>
                    </a:lnTo>
                    <a:lnTo>
                      <a:pt x="740472" y="687887"/>
                    </a:lnTo>
                    <a:lnTo>
                      <a:pt x="0" y="687887"/>
                    </a:lnTo>
                    <a:close/>
                  </a:path>
                </a:pathLst>
              </a:custGeom>
              <a:ln w="9525" cap="sq">
                <a:solidFill>
                  <a:srgbClr val="000000"/>
                </a:solidFill>
                <a:prstDash val="solid"/>
                <a:miter/>
              </a:ln>
            </p:spPr>
            <p:txBody>
              <a:bodyPr/>
              <a:lstStyle/>
              <a:p>
                <a:endParaRPr lang="en-GB"/>
              </a:p>
            </p:txBody>
          </p:sp>
          <p:sp>
            <p:nvSpPr>
              <p:cNvPr id="43" name="TextBox 43"/>
              <p:cNvSpPr txBox="1"/>
              <p:nvPr/>
            </p:nvSpPr>
            <p:spPr>
              <a:xfrm>
                <a:off x="0" y="-171450"/>
                <a:ext cx="740472" cy="859337"/>
              </a:xfrm>
              <a:prstGeom prst="rect">
                <a:avLst/>
              </a:prstGeom>
            </p:spPr>
            <p:txBody>
              <a:bodyPr lIns="31999" tIns="31999" rIns="31999" bIns="31999" rtlCol="0" anchor="ctr"/>
              <a:lstStyle/>
              <a:p>
                <a:pPr algn="ctr">
                  <a:lnSpc>
                    <a:spcPts val="4875"/>
                  </a:lnSpc>
                </a:pPr>
                <a:endParaRPr/>
              </a:p>
            </p:txBody>
          </p:sp>
        </p:grpSp>
        <p:sp>
          <p:nvSpPr>
            <p:cNvPr id="44" name="Freeform 44"/>
            <p:cNvSpPr/>
            <p:nvPr/>
          </p:nvSpPr>
          <p:spPr>
            <a:xfrm>
              <a:off x="99137" y="630890"/>
              <a:ext cx="2141108" cy="1985878"/>
            </a:xfrm>
            <a:custGeom>
              <a:avLst/>
              <a:gdLst/>
              <a:ahLst/>
              <a:cxnLst/>
              <a:rect l="l" t="t" r="r" b="b"/>
              <a:pathLst>
                <a:path w="2141108" h="1985878">
                  <a:moveTo>
                    <a:pt x="0" y="0"/>
                  </a:moveTo>
                  <a:lnTo>
                    <a:pt x="2141109" y="0"/>
                  </a:lnTo>
                  <a:lnTo>
                    <a:pt x="2141109" y="1985878"/>
                  </a:lnTo>
                  <a:lnTo>
                    <a:pt x="0" y="1985878"/>
                  </a:lnTo>
                  <a:lnTo>
                    <a:pt x="0" y="0"/>
                  </a:lnTo>
                  <a:close/>
                </a:path>
              </a:pathLst>
            </a:custGeom>
            <a:blipFill>
              <a:blip>
                <a:extLst>
                  <a:ext uri="{96DAC541-7B7A-43D3-8B79-37D633B846F1}">
                    <asvg:svgBlip xmlns:asvg="http://schemas.microsoft.com/office/drawing/2016/SVG/main" r:embed="rId8"/>
                  </a:ext>
                </a:extLst>
              </a:blip>
              <a:stretch>
                <a:fillRect/>
              </a:stretch>
            </a:blipFill>
          </p:spPr>
          <p:txBody>
            <a:bodyPr/>
            <a:lstStyle/>
            <a:p>
              <a:endParaRPr lang="en-GB"/>
            </a:p>
          </p:txBody>
        </p:sp>
        <p:sp>
          <p:nvSpPr>
            <p:cNvPr id="45" name="TextBox 45"/>
            <p:cNvSpPr txBox="1"/>
            <p:nvPr/>
          </p:nvSpPr>
          <p:spPr>
            <a:xfrm>
              <a:off x="0" y="-133350"/>
              <a:ext cx="2295416" cy="548822"/>
            </a:xfrm>
            <a:prstGeom prst="rect">
              <a:avLst/>
            </a:prstGeom>
          </p:spPr>
          <p:txBody>
            <a:bodyPr lIns="0" tIns="0" rIns="0" bIns="0" rtlCol="0" anchor="t">
              <a:spAutoFit/>
            </a:bodyPr>
            <a:lstStyle/>
            <a:p>
              <a:pPr algn="ctr">
                <a:lnSpc>
                  <a:spcPts val="3926"/>
                </a:lnSpc>
                <a:spcBef>
                  <a:spcPct val="0"/>
                </a:spcBef>
              </a:pPr>
              <a:r>
                <a:rPr lang="en-US" sz="2066" b="1" spc="30">
                  <a:solidFill>
                    <a:srgbClr val="000000"/>
                  </a:solidFill>
                  <a:latin typeface="Canva Sans Bold"/>
                  <a:ea typeface="Canva Sans Bold"/>
                  <a:cs typeface="Canva Sans Bold"/>
                  <a:sym typeface="Canva Sans Bold"/>
                </a:rPr>
                <a:t>IoT</a:t>
              </a:r>
            </a:p>
          </p:txBody>
        </p:sp>
      </p:grpSp>
      <p:sp>
        <p:nvSpPr>
          <p:cNvPr id="46" name="AutoShape 46"/>
          <p:cNvSpPr/>
          <p:nvPr/>
        </p:nvSpPr>
        <p:spPr>
          <a:xfrm flipV="1">
            <a:off x="8179346" y="2981582"/>
            <a:ext cx="1443781" cy="3097325"/>
          </a:xfrm>
          <a:prstGeom prst="line">
            <a:avLst/>
          </a:prstGeom>
          <a:ln w="66675" cap="flat">
            <a:solidFill>
              <a:srgbClr val="00BF63"/>
            </a:solidFill>
            <a:prstDash val="solid"/>
            <a:headEnd type="arrow" w="med" len="sm"/>
            <a:tailEnd type="arrow" w="med" len="sm"/>
          </a:ln>
        </p:spPr>
        <p:txBody>
          <a:bodyPr/>
          <a:lstStyle/>
          <a:p>
            <a:endParaRPr lang="en-GB"/>
          </a:p>
        </p:txBody>
      </p:sp>
      <p:grpSp>
        <p:nvGrpSpPr>
          <p:cNvPr id="47" name="Group 47"/>
          <p:cNvGrpSpPr/>
          <p:nvPr/>
        </p:nvGrpSpPr>
        <p:grpSpPr>
          <a:xfrm>
            <a:off x="235932" y="3327655"/>
            <a:ext cx="3271361" cy="6262690"/>
            <a:chOff x="0" y="0"/>
            <a:chExt cx="4361815" cy="8350254"/>
          </a:xfrm>
        </p:grpSpPr>
        <p:sp>
          <p:nvSpPr>
            <p:cNvPr id="48" name="Freeform 48"/>
            <p:cNvSpPr/>
            <p:nvPr/>
          </p:nvSpPr>
          <p:spPr>
            <a:xfrm>
              <a:off x="1761010" y="1893080"/>
              <a:ext cx="831854" cy="1102565"/>
            </a:xfrm>
            <a:custGeom>
              <a:avLst/>
              <a:gdLst/>
              <a:ahLst/>
              <a:cxnLst/>
              <a:rect l="l" t="t" r="r" b="b"/>
              <a:pathLst>
                <a:path w="831854" h="1102565">
                  <a:moveTo>
                    <a:pt x="0" y="0"/>
                  </a:moveTo>
                  <a:lnTo>
                    <a:pt x="831854" y="0"/>
                  </a:lnTo>
                  <a:lnTo>
                    <a:pt x="831854" y="1102565"/>
                  </a:lnTo>
                  <a:lnTo>
                    <a:pt x="0" y="1102565"/>
                  </a:lnTo>
                  <a:lnTo>
                    <a:pt x="0" y="0"/>
                  </a:lnTo>
                  <a:close/>
                </a:path>
              </a:pathLst>
            </a:custGeom>
            <a:blipFill>
              <a:blip r:embed="rId9"/>
              <a:stretch>
                <a:fillRect/>
              </a:stretch>
            </a:blipFill>
          </p:spPr>
          <p:txBody>
            <a:bodyPr/>
            <a:lstStyle/>
            <a:p>
              <a:endParaRPr lang="en-GB"/>
            </a:p>
          </p:txBody>
        </p:sp>
        <p:sp>
          <p:nvSpPr>
            <p:cNvPr id="49" name="Freeform 49"/>
            <p:cNvSpPr/>
            <p:nvPr/>
          </p:nvSpPr>
          <p:spPr>
            <a:xfrm>
              <a:off x="333565" y="603295"/>
              <a:ext cx="3686744" cy="3682135"/>
            </a:xfrm>
            <a:custGeom>
              <a:avLst/>
              <a:gdLst/>
              <a:ahLst/>
              <a:cxnLst/>
              <a:rect l="l" t="t" r="r" b="b"/>
              <a:pathLst>
                <a:path w="3686744" h="3682135">
                  <a:moveTo>
                    <a:pt x="0" y="0"/>
                  </a:moveTo>
                  <a:lnTo>
                    <a:pt x="3686744" y="0"/>
                  </a:lnTo>
                  <a:lnTo>
                    <a:pt x="3686744" y="3682136"/>
                  </a:lnTo>
                  <a:lnTo>
                    <a:pt x="0" y="3682136"/>
                  </a:lnTo>
                  <a:lnTo>
                    <a:pt x="0" y="0"/>
                  </a:lnTo>
                  <a:close/>
                </a:path>
              </a:pathLst>
            </a:custGeom>
            <a:blipFill>
              <a:blip r:embed="rId10"/>
              <a:stretch>
                <a:fillRect/>
              </a:stretch>
            </a:blipFill>
          </p:spPr>
          <p:txBody>
            <a:bodyPr/>
            <a:lstStyle/>
            <a:p>
              <a:endParaRPr lang="en-GB"/>
            </a:p>
          </p:txBody>
        </p:sp>
        <p:sp>
          <p:nvSpPr>
            <p:cNvPr id="50" name="Freeform 50"/>
            <p:cNvSpPr/>
            <p:nvPr/>
          </p:nvSpPr>
          <p:spPr>
            <a:xfrm>
              <a:off x="1157671" y="4285431"/>
              <a:ext cx="2038533" cy="2038533"/>
            </a:xfrm>
            <a:custGeom>
              <a:avLst/>
              <a:gdLst/>
              <a:ahLst/>
              <a:cxnLst/>
              <a:rect l="l" t="t" r="r" b="b"/>
              <a:pathLst>
                <a:path w="2038533" h="2038533">
                  <a:moveTo>
                    <a:pt x="0" y="0"/>
                  </a:moveTo>
                  <a:lnTo>
                    <a:pt x="2038533" y="0"/>
                  </a:lnTo>
                  <a:lnTo>
                    <a:pt x="2038533" y="2038533"/>
                  </a:lnTo>
                  <a:lnTo>
                    <a:pt x="0" y="2038533"/>
                  </a:lnTo>
                  <a:lnTo>
                    <a:pt x="0" y="0"/>
                  </a:lnTo>
                  <a:close/>
                </a:path>
              </a:pathLst>
            </a:custGeom>
            <a:blipFill>
              <a:blip>
                <a:extLst>
                  <a:ext uri="{96DAC541-7B7A-43D3-8B79-37D633B846F1}">
                    <asvg:svgBlip xmlns:asvg="http://schemas.microsoft.com/office/drawing/2016/SVG/main" r:embed="rId11"/>
                  </a:ext>
                </a:extLst>
              </a:blip>
              <a:stretch>
                <a:fillRect/>
              </a:stretch>
            </a:blipFill>
          </p:spPr>
          <p:txBody>
            <a:bodyPr/>
            <a:lstStyle/>
            <a:p>
              <a:endParaRPr lang="en-GB"/>
            </a:p>
          </p:txBody>
        </p:sp>
        <p:sp>
          <p:nvSpPr>
            <p:cNvPr id="51" name="Freeform 51"/>
            <p:cNvSpPr/>
            <p:nvPr/>
          </p:nvSpPr>
          <p:spPr>
            <a:xfrm>
              <a:off x="1948824" y="6304320"/>
              <a:ext cx="1289626" cy="1822793"/>
            </a:xfrm>
            <a:custGeom>
              <a:avLst/>
              <a:gdLst/>
              <a:ahLst/>
              <a:cxnLst/>
              <a:rect l="l" t="t" r="r" b="b"/>
              <a:pathLst>
                <a:path w="1289626" h="1822793">
                  <a:moveTo>
                    <a:pt x="0" y="0"/>
                  </a:moveTo>
                  <a:lnTo>
                    <a:pt x="1289626" y="0"/>
                  </a:lnTo>
                  <a:lnTo>
                    <a:pt x="1289626" y="1822793"/>
                  </a:lnTo>
                  <a:lnTo>
                    <a:pt x="0" y="1822793"/>
                  </a:lnTo>
                  <a:lnTo>
                    <a:pt x="0" y="0"/>
                  </a:lnTo>
                  <a:close/>
                </a:path>
              </a:pathLst>
            </a:custGeom>
            <a:blipFill>
              <a:blip>
                <a:extLst>
                  <a:ext uri="{96DAC541-7B7A-43D3-8B79-37D633B846F1}">
                    <asvg:svgBlip xmlns:asvg="http://schemas.microsoft.com/office/drawing/2016/SVG/main" r:embed="rId12"/>
                  </a:ext>
                </a:extLst>
              </a:blip>
              <a:stretch>
                <a:fillRect/>
              </a:stretch>
            </a:blipFill>
          </p:spPr>
          <p:txBody>
            <a:bodyPr/>
            <a:lstStyle/>
            <a:p>
              <a:endParaRPr lang="en-GB"/>
            </a:p>
          </p:txBody>
        </p:sp>
        <p:sp>
          <p:nvSpPr>
            <p:cNvPr id="52" name="Freeform 52"/>
            <p:cNvSpPr/>
            <p:nvPr/>
          </p:nvSpPr>
          <p:spPr>
            <a:xfrm>
              <a:off x="1716638" y="4639025"/>
              <a:ext cx="831854" cy="1102565"/>
            </a:xfrm>
            <a:custGeom>
              <a:avLst/>
              <a:gdLst/>
              <a:ahLst/>
              <a:cxnLst/>
              <a:rect l="l" t="t" r="r" b="b"/>
              <a:pathLst>
                <a:path w="831854" h="1102565">
                  <a:moveTo>
                    <a:pt x="0" y="0"/>
                  </a:moveTo>
                  <a:lnTo>
                    <a:pt x="831853" y="0"/>
                  </a:lnTo>
                  <a:lnTo>
                    <a:pt x="831853" y="1102566"/>
                  </a:lnTo>
                  <a:lnTo>
                    <a:pt x="0" y="1102566"/>
                  </a:lnTo>
                  <a:lnTo>
                    <a:pt x="0" y="0"/>
                  </a:lnTo>
                  <a:close/>
                </a:path>
              </a:pathLst>
            </a:custGeom>
            <a:blipFill>
              <a:blip r:embed="rId9"/>
              <a:stretch>
                <a:fillRect/>
              </a:stretch>
            </a:blipFill>
          </p:spPr>
          <p:txBody>
            <a:bodyPr/>
            <a:lstStyle/>
            <a:p>
              <a:endParaRPr lang="en-GB"/>
            </a:p>
          </p:txBody>
        </p:sp>
        <p:sp>
          <p:nvSpPr>
            <p:cNvPr id="53" name="Freeform 53"/>
            <p:cNvSpPr/>
            <p:nvPr/>
          </p:nvSpPr>
          <p:spPr>
            <a:xfrm>
              <a:off x="1761783" y="6592025"/>
              <a:ext cx="831854" cy="1102565"/>
            </a:xfrm>
            <a:custGeom>
              <a:avLst/>
              <a:gdLst/>
              <a:ahLst/>
              <a:cxnLst/>
              <a:rect l="l" t="t" r="r" b="b"/>
              <a:pathLst>
                <a:path w="831854" h="1102565">
                  <a:moveTo>
                    <a:pt x="0" y="0"/>
                  </a:moveTo>
                  <a:lnTo>
                    <a:pt x="831854" y="0"/>
                  </a:lnTo>
                  <a:lnTo>
                    <a:pt x="831854" y="1102565"/>
                  </a:lnTo>
                  <a:lnTo>
                    <a:pt x="0" y="1102565"/>
                  </a:lnTo>
                  <a:lnTo>
                    <a:pt x="0" y="0"/>
                  </a:lnTo>
                  <a:close/>
                </a:path>
              </a:pathLst>
            </a:custGeom>
            <a:blipFill>
              <a:blip r:embed="rId9"/>
              <a:stretch>
                <a:fillRect/>
              </a:stretch>
            </a:blipFill>
          </p:spPr>
          <p:txBody>
            <a:bodyPr/>
            <a:lstStyle/>
            <a:p>
              <a:endParaRPr lang="en-GB"/>
            </a:p>
          </p:txBody>
        </p:sp>
        <p:sp>
          <p:nvSpPr>
            <p:cNvPr id="54" name="TextBox 54"/>
            <p:cNvSpPr txBox="1"/>
            <p:nvPr/>
          </p:nvSpPr>
          <p:spPr>
            <a:xfrm>
              <a:off x="0" y="-133350"/>
              <a:ext cx="4361815" cy="548822"/>
            </a:xfrm>
            <a:prstGeom prst="rect">
              <a:avLst/>
            </a:prstGeom>
          </p:spPr>
          <p:txBody>
            <a:bodyPr lIns="0" tIns="0" rIns="0" bIns="0" rtlCol="0" anchor="t">
              <a:spAutoFit/>
            </a:bodyPr>
            <a:lstStyle/>
            <a:p>
              <a:pPr algn="ctr">
                <a:lnSpc>
                  <a:spcPts val="3926"/>
                </a:lnSpc>
                <a:spcBef>
                  <a:spcPct val="0"/>
                </a:spcBef>
              </a:pPr>
              <a:r>
                <a:rPr lang="en-US" sz="2066" b="1" spc="30">
                  <a:solidFill>
                    <a:srgbClr val="000000"/>
                  </a:solidFill>
                  <a:latin typeface="Canva Sans Bold"/>
                  <a:ea typeface="Canva Sans Bold"/>
                  <a:cs typeface="Canva Sans Bold"/>
                  <a:sym typeface="Canva Sans Bold"/>
                </a:rPr>
                <a:t>Physical demo</a:t>
              </a:r>
            </a:p>
          </p:txBody>
        </p:sp>
        <p:grpSp>
          <p:nvGrpSpPr>
            <p:cNvPr id="55" name="Group 55"/>
            <p:cNvGrpSpPr/>
            <p:nvPr/>
          </p:nvGrpSpPr>
          <p:grpSpPr>
            <a:xfrm>
              <a:off x="227206" y="415472"/>
              <a:ext cx="3907403" cy="7934781"/>
              <a:chOff x="0" y="0"/>
              <a:chExt cx="771833" cy="1567364"/>
            </a:xfrm>
          </p:grpSpPr>
          <p:sp>
            <p:nvSpPr>
              <p:cNvPr id="56" name="Freeform 56"/>
              <p:cNvSpPr/>
              <p:nvPr/>
            </p:nvSpPr>
            <p:spPr>
              <a:xfrm>
                <a:off x="0" y="0"/>
                <a:ext cx="771833" cy="1567364"/>
              </a:xfrm>
              <a:custGeom>
                <a:avLst/>
                <a:gdLst/>
                <a:ahLst/>
                <a:cxnLst/>
                <a:rect l="l" t="t" r="r" b="b"/>
                <a:pathLst>
                  <a:path w="771833" h="1567364">
                    <a:moveTo>
                      <a:pt x="0" y="0"/>
                    </a:moveTo>
                    <a:lnTo>
                      <a:pt x="771833" y="0"/>
                    </a:lnTo>
                    <a:lnTo>
                      <a:pt x="771833" y="1567364"/>
                    </a:lnTo>
                    <a:lnTo>
                      <a:pt x="0" y="1567364"/>
                    </a:lnTo>
                    <a:close/>
                  </a:path>
                </a:pathLst>
              </a:custGeom>
              <a:ln w="9525" cap="sq">
                <a:solidFill>
                  <a:srgbClr val="000000"/>
                </a:solidFill>
                <a:prstDash val="solid"/>
                <a:miter/>
              </a:ln>
            </p:spPr>
            <p:txBody>
              <a:bodyPr/>
              <a:lstStyle/>
              <a:p>
                <a:endParaRPr lang="en-GB"/>
              </a:p>
            </p:txBody>
          </p:sp>
          <p:sp>
            <p:nvSpPr>
              <p:cNvPr id="57" name="TextBox 57"/>
              <p:cNvSpPr txBox="1"/>
              <p:nvPr/>
            </p:nvSpPr>
            <p:spPr>
              <a:xfrm>
                <a:off x="0" y="-171450"/>
                <a:ext cx="771833" cy="1738814"/>
              </a:xfrm>
              <a:prstGeom prst="rect">
                <a:avLst/>
              </a:prstGeom>
            </p:spPr>
            <p:txBody>
              <a:bodyPr lIns="50800" tIns="50800" rIns="50800" bIns="50800" rtlCol="0" anchor="ctr"/>
              <a:lstStyle/>
              <a:p>
                <a:pPr algn="ctr">
                  <a:lnSpc>
                    <a:spcPts val="4875"/>
                  </a:lnSpc>
                </a:pPr>
                <a:endParaRPr/>
              </a:p>
            </p:txBody>
          </p:sp>
        </p:grpSp>
      </p:grpSp>
      <p:sp>
        <p:nvSpPr>
          <p:cNvPr id="58" name="Freeform 58"/>
          <p:cNvSpPr/>
          <p:nvPr/>
        </p:nvSpPr>
        <p:spPr>
          <a:xfrm rot="2700000" flipH="1" flipV="1">
            <a:off x="4175447" y="6856005"/>
            <a:ext cx="2388172" cy="3054639"/>
          </a:xfrm>
          <a:custGeom>
            <a:avLst/>
            <a:gdLst/>
            <a:ahLst/>
            <a:cxnLst/>
            <a:rect l="l" t="t" r="r" b="b"/>
            <a:pathLst>
              <a:path w="2388172" h="3054639">
                <a:moveTo>
                  <a:pt x="2388173" y="3054639"/>
                </a:moveTo>
                <a:lnTo>
                  <a:pt x="0" y="3054639"/>
                </a:lnTo>
                <a:lnTo>
                  <a:pt x="0" y="0"/>
                </a:lnTo>
                <a:lnTo>
                  <a:pt x="2388173" y="0"/>
                </a:lnTo>
                <a:lnTo>
                  <a:pt x="2388173" y="3054639"/>
                </a:lnTo>
                <a:close/>
              </a:path>
            </a:pathLst>
          </a:custGeom>
          <a:blipFill>
            <a:blip>
              <a:extLst>
                <a:ext uri="{96DAC541-7B7A-43D3-8B79-37D633B846F1}">
                  <asvg:svgBlip xmlns:asvg="http://schemas.microsoft.com/office/drawing/2016/SVG/main" r:embed="rId13"/>
                </a:ext>
              </a:extLst>
            </a:blip>
            <a:stretch>
              <a:fillRect/>
            </a:stretch>
          </a:blipFill>
          <a:ln cap="sq">
            <a:noFill/>
            <a:prstDash val="solid"/>
            <a:miter/>
          </a:ln>
        </p:spPr>
        <p:txBody>
          <a:bodyPr/>
          <a:lstStyle/>
          <a:p>
            <a:endParaRPr lang="en-GB"/>
          </a:p>
        </p:txBody>
      </p:sp>
      <p:sp>
        <p:nvSpPr>
          <p:cNvPr id="59" name="AutoShape 59"/>
          <p:cNvSpPr/>
          <p:nvPr/>
        </p:nvSpPr>
        <p:spPr>
          <a:xfrm>
            <a:off x="7455783" y="1664105"/>
            <a:ext cx="1647776" cy="0"/>
          </a:xfrm>
          <a:prstGeom prst="line">
            <a:avLst/>
          </a:prstGeom>
          <a:ln w="66675" cap="flat">
            <a:solidFill>
              <a:srgbClr val="00BF63"/>
            </a:solidFill>
            <a:prstDash val="solid"/>
            <a:headEnd type="none" w="sm" len="sm"/>
            <a:tailEnd type="arrow" w="med" len="sm"/>
          </a:ln>
        </p:spPr>
        <p:txBody>
          <a:bodyPr/>
          <a:lstStyle/>
          <a:p>
            <a:endParaRPr lang="en-GB"/>
          </a:p>
        </p:txBody>
      </p:sp>
      <p:sp>
        <p:nvSpPr>
          <p:cNvPr id="60" name="AutoShape 60"/>
          <p:cNvSpPr/>
          <p:nvPr/>
        </p:nvSpPr>
        <p:spPr>
          <a:xfrm>
            <a:off x="2451521" y="1578010"/>
            <a:ext cx="1647776" cy="0"/>
          </a:xfrm>
          <a:prstGeom prst="line">
            <a:avLst/>
          </a:prstGeom>
          <a:ln w="66675" cap="flat">
            <a:solidFill>
              <a:srgbClr val="00BF63"/>
            </a:solidFill>
            <a:prstDash val="solid"/>
            <a:headEnd type="none" w="sm" len="sm"/>
            <a:tailEnd type="arrow" w="med" len="sm"/>
          </a:ln>
        </p:spPr>
        <p:txBody>
          <a:bodyPr/>
          <a:lstStyle/>
          <a:p>
            <a:endParaRPr lang="en-GB"/>
          </a:p>
        </p:txBody>
      </p:sp>
      <p:grpSp>
        <p:nvGrpSpPr>
          <p:cNvPr id="61" name="Group 61"/>
          <p:cNvGrpSpPr/>
          <p:nvPr/>
        </p:nvGrpSpPr>
        <p:grpSpPr>
          <a:xfrm>
            <a:off x="4259028" y="891384"/>
            <a:ext cx="3034829" cy="5024504"/>
            <a:chOff x="0" y="0"/>
            <a:chExt cx="4046439" cy="6699339"/>
          </a:xfrm>
        </p:grpSpPr>
        <p:grpSp>
          <p:nvGrpSpPr>
            <p:cNvPr id="62" name="Group 62"/>
            <p:cNvGrpSpPr/>
            <p:nvPr/>
          </p:nvGrpSpPr>
          <p:grpSpPr>
            <a:xfrm>
              <a:off x="0" y="0"/>
              <a:ext cx="4046439" cy="6699339"/>
              <a:chOff x="0" y="0"/>
              <a:chExt cx="799297" cy="1323326"/>
            </a:xfrm>
          </p:grpSpPr>
          <p:sp>
            <p:nvSpPr>
              <p:cNvPr id="63" name="Freeform 63"/>
              <p:cNvSpPr/>
              <p:nvPr/>
            </p:nvSpPr>
            <p:spPr>
              <a:xfrm>
                <a:off x="0" y="0"/>
                <a:ext cx="799297" cy="1323326"/>
              </a:xfrm>
              <a:custGeom>
                <a:avLst/>
                <a:gdLst/>
                <a:ahLst/>
                <a:cxnLst/>
                <a:rect l="l" t="t" r="r" b="b"/>
                <a:pathLst>
                  <a:path w="799297" h="1323326">
                    <a:moveTo>
                      <a:pt x="0" y="0"/>
                    </a:moveTo>
                    <a:lnTo>
                      <a:pt x="799297" y="0"/>
                    </a:lnTo>
                    <a:lnTo>
                      <a:pt x="799297" y="1323326"/>
                    </a:lnTo>
                    <a:lnTo>
                      <a:pt x="0" y="1323326"/>
                    </a:lnTo>
                    <a:close/>
                  </a:path>
                </a:pathLst>
              </a:custGeom>
              <a:ln w="9525" cap="sq">
                <a:solidFill>
                  <a:srgbClr val="000000"/>
                </a:solidFill>
                <a:prstDash val="solid"/>
                <a:miter/>
              </a:ln>
            </p:spPr>
            <p:txBody>
              <a:bodyPr/>
              <a:lstStyle/>
              <a:p>
                <a:endParaRPr lang="en-GB"/>
              </a:p>
            </p:txBody>
          </p:sp>
          <p:sp>
            <p:nvSpPr>
              <p:cNvPr id="64" name="TextBox 64"/>
              <p:cNvSpPr txBox="1"/>
              <p:nvPr/>
            </p:nvSpPr>
            <p:spPr>
              <a:xfrm>
                <a:off x="0" y="-171450"/>
                <a:ext cx="799297" cy="1494776"/>
              </a:xfrm>
              <a:prstGeom prst="rect">
                <a:avLst/>
              </a:prstGeom>
            </p:spPr>
            <p:txBody>
              <a:bodyPr lIns="50800" tIns="50800" rIns="50800" bIns="50800" rtlCol="0" anchor="ctr"/>
              <a:lstStyle/>
              <a:p>
                <a:pPr algn="ctr">
                  <a:lnSpc>
                    <a:spcPts val="4875"/>
                  </a:lnSpc>
                </a:pPr>
                <a:endParaRPr/>
              </a:p>
            </p:txBody>
          </p:sp>
        </p:grpSp>
        <p:sp>
          <p:nvSpPr>
            <p:cNvPr id="65" name="Freeform 65"/>
            <p:cNvSpPr/>
            <p:nvPr/>
          </p:nvSpPr>
          <p:spPr>
            <a:xfrm>
              <a:off x="925304" y="2598204"/>
              <a:ext cx="2067036" cy="2067036"/>
            </a:xfrm>
            <a:custGeom>
              <a:avLst/>
              <a:gdLst/>
              <a:ahLst/>
              <a:cxnLst/>
              <a:rect l="l" t="t" r="r" b="b"/>
              <a:pathLst>
                <a:path w="2067036" h="2067036">
                  <a:moveTo>
                    <a:pt x="0" y="0"/>
                  </a:moveTo>
                  <a:lnTo>
                    <a:pt x="2067035" y="0"/>
                  </a:lnTo>
                  <a:lnTo>
                    <a:pt x="2067035" y="2067036"/>
                  </a:lnTo>
                  <a:lnTo>
                    <a:pt x="0" y="2067036"/>
                  </a:lnTo>
                  <a:lnTo>
                    <a:pt x="0" y="0"/>
                  </a:lnTo>
                  <a:close/>
                </a:path>
              </a:pathLst>
            </a:custGeom>
            <a:blipFill>
              <a:blip r:embed="rId14"/>
              <a:stretch>
                <a:fillRect/>
              </a:stretch>
            </a:blipFill>
          </p:spPr>
          <p:txBody>
            <a:bodyPr/>
            <a:lstStyle/>
            <a:p>
              <a:endParaRPr lang="en-GB"/>
            </a:p>
          </p:txBody>
        </p:sp>
        <p:sp>
          <p:nvSpPr>
            <p:cNvPr id="66" name="Freeform 66"/>
            <p:cNvSpPr/>
            <p:nvPr/>
          </p:nvSpPr>
          <p:spPr>
            <a:xfrm>
              <a:off x="865072" y="92480"/>
              <a:ext cx="2444767" cy="2035824"/>
            </a:xfrm>
            <a:custGeom>
              <a:avLst/>
              <a:gdLst/>
              <a:ahLst/>
              <a:cxnLst/>
              <a:rect l="l" t="t" r="r" b="b"/>
              <a:pathLst>
                <a:path w="2444767" h="2035824">
                  <a:moveTo>
                    <a:pt x="0" y="0"/>
                  </a:moveTo>
                  <a:lnTo>
                    <a:pt x="2444767" y="0"/>
                  </a:lnTo>
                  <a:lnTo>
                    <a:pt x="2444767" y="2035824"/>
                  </a:lnTo>
                  <a:lnTo>
                    <a:pt x="0" y="2035824"/>
                  </a:lnTo>
                  <a:lnTo>
                    <a:pt x="0" y="0"/>
                  </a:lnTo>
                  <a:close/>
                </a:path>
              </a:pathLst>
            </a:custGeom>
            <a:blipFill>
              <a:blip>
                <a:extLst>
                  <a:ext uri="{96DAC541-7B7A-43D3-8B79-37D633B846F1}">
                    <asvg:svgBlip xmlns:asvg="http://schemas.microsoft.com/office/drawing/2016/SVG/main" r:embed="rId15"/>
                  </a:ext>
                </a:extLst>
              </a:blip>
              <a:stretch>
                <a:fillRect/>
              </a:stretch>
            </a:blipFill>
          </p:spPr>
          <p:txBody>
            <a:bodyPr/>
            <a:lstStyle/>
            <a:p>
              <a:endParaRPr lang="en-GB"/>
            </a:p>
          </p:txBody>
        </p:sp>
        <p:sp>
          <p:nvSpPr>
            <p:cNvPr id="67" name="Freeform 67"/>
            <p:cNvSpPr/>
            <p:nvPr/>
          </p:nvSpPr>
          <p:spPr>
            <a:xfrm>
              <a:off x="227700" y="5131473"/>
              <a:ext cx="3667239" cy="1498984"/>
            </a:xfrm>
            <a:custGeom>
              <a:avLst/>
              <a:gdLst/>
              <a:ahLst/>
              <a:cxnLst/>
              <a:rect l="l" t="t" r="r" b="b"/>
              <a:pathLst>
                <a:path w="3667239" h="1498984">
                  <a:moveTo>
                    <a:pt x="0" y="0"/>
                  </a:moveTo>
                  <a:lnTo>
                    <a:pt x="3667239" y="0"/>
                  </a:lnTo>
                  <a:lnTo>
                    <a:pt x="3667239" y="1498984"/>
                  </a:lnTo>
                  <a:lnTo>
                    <a:pt x="0" y="1498984"/>
                  </a:lnTo>
                  <a:lnTo>
                    <a:pt x="0" y="0"/>
                  </a:lnTo>
                  <a:close/>
                </a:path>
              </a:pathLst>
            </a:custGeom>
            <a:blipFill>
              <a:blip r:embed="rId16"/>
              <a:stretch>
                <a:fillRect/>
              </a:stretch>
            </a:blipFill>
          </p:spPr>
          <p:txBody>
            <a:bodyPr/>
            <a:lstStyle/>
            <a:p>
              <a:endParaRPr lang="en-GB"/>
            </a:p>
          </p:txBody>
        </p:sp>
      </p:grpSp>
      <p:sp>
        <p:nvSpPr>
          <p:cNvPr id="68" name="TextBox 68"/>
          <p:cNvSpPr txBox="1"/>
          <p:nvPr/>
        </p:nvSpPr>
        <p:spPr>
          <a:xfrm>
            <a:off x="17744518" y="9676843"/>
            <a:ext cx="152400" cy="219075"/>
          </a:xfrm>
          <a:prstGeom prst="rect">
            <a:avLst/>
          </a:prstGeom>
        </p:spPr>
        <p:txBody>
          <a:bodyPr wrap="none" lIns="0" tIns="0" rIns="0" bIns="0" rtlCol="0" anchor="t">
            <a:spAutoFit/>
          </a:bodyPr>
          <a:lstStyle/>
          <a:p>
            <a:pPr algn="ctr">
              <a:lnSpc>
                <a:spcPts val="4405"/>
              </a:lnSpc>
              <a:spcBef>
                <a:spcPct val="0"/>
              </a:spcBef>
            </a:pPr>
            <a:r>
              <a:rPr lang="en-US" sz="3146">
                <a:solidFill>
                  <a:srgbClr val="1A1A1A"/>
                </a:solidFill>
                <a:latin typeface="Canva Sans"/>
                <a:ea typeface="Canva Sans"/>
                <a:cs typeface="Canva Sans"/>
                <a:sym typeface="Canva Sans"/>
              </a:rPr>
              <a:t>23</a:t>
            </a:r>
          </a:p>
        </p:txBody>
      </p:sp>
      <p:sp>
        <p:nvSpPr>
          <p:cNvPr id="69" name="TextBox 69"/>
          <p:cNvSpPr txBox="1"/>
          <p:nvPr/>
        </p:nvSpPr>
        <p:spPr>
          <a:xfrm>
            <a:off x="2335921" y="250451"/>
            <a:ext cx="6513535" cy="444954"/>
          </a:xfrm>
          <a:prstGeom prst="rect">
            <a:avLst/>
          </a:prstGeom>
        </p:spPr>
        <p:txBody>
          <a:bodyPr lIns="0" tIns="0" rIns="0" bIns="0" rtlCol="0" anchor="t">
            <a:spAutoFit/>
          </a:bodyPr>
          <a:lstStyle/>
          <a:p>
            <a:pPr algn="ctr">
              <a:lnSpc>
                <a:spcPts val="3926"/>
              </a:lnSpc>
              <a:spcBef>
                <a:spcPct val="0"/>
              </a:spcBef>
            </a:pPr>
            <a:r>
              <a:rPr lang="en-US" sz="2066" b="1" spc="30">
                <a:solidFill>
                  <a:srgbClr val="000000"/>
                </a:solidFill>
                <a:latin typeface="Canva Sans Bold"/>
                <a:ea typeface="Canva Sans Bold"/>
                <a:cs typeface="Canva Sans Bold"/>
                <a:sym typeface="Canva Sans Bold"/>
              </a:rPr>
              <a:t>Emergency vehicles/ Pedestrians/ vehicles</a:t>
            </a:r>
          </a:p>
        </p:txBody>
      </p:sp>
      <p:sp>
        <p:nvSpPr>
          <p:cNvPr id="70" name="TextBox 70"/>
          <p:cNvSpPr txBox="1"/>
          <p:nvPr/>
        </p:nvSpPr>
        <p:spPr>
          <a:xfrm>
            <a:off x="9623127" y="250451"/>
            <a:ext cx="3393247" cy="444954"/>
          </a:xfrm>
          <a:prstGeom prst="rect">
            <a:avLst/>
          </a:prstGeom>
        </p:spPr>
        <p:txBody>
          <a:bodyPr lIns="0" tIns="0" rIns="0" bIns="0" rtlCol="0" anchor="t">
            <a:spAutoFit/>
          </a:bodyPr>
          <a:lstStyle/>
          <a:p>
            <a:pPr algn="ctr">
              <a:lnSpc>
                <a:spcPts val="3926"/>
              </a:lnSpc>
              <a:spcBef>
                <a:spcPct val="0"/>
              </a:spcBef>
            </a:pPr>
            <a:r>
              <a:rPr lang="en-US" sz="2066" b="1" spc="30">
                <a:solidFill>
                  <a:srgbClr val="000000"/>
                </a:solidFill>
                <a:latin typeface="Canva Sans Bold"/>
                <a:ea typeface="Canva Sans Bold"/>
                <a:cs typeface="Canva Sans Bold"/>
                <a:sym typeface="Canva Sans Bold"/>
              </a:rPr>
              <a:t>Databases</a:t>
            </a:r>
          </a:p>
        </p:txBody>
      </p:sp>
      <p:sp>
        <p:nvSpPr>
          <p:cNvPr id="71" name="TextBox 71"/>
          <p:cNvSpPr txBox="1"/>
          <p:nvPr/>
        </p:nvSpPr>
        <p:spPr>
          <a:xfrm rot="-5399999">
            <a:off x="9515623" y="4151015"/>
            <a:ext cx="2783820" cy="444954"/>
          </a:xfrm>
          <a:prstGeom prst="rect">
            <a:avLst/>
          </a:prstGeom>
        </p:spPr>
        <p:txBody>
          <a:bodyPr lIns="0" tIns="0" rIns="0" bIns="0" rtlCol="0" anchor="t">
            <a:spAutoFit/>
          </a:bodyPr>
          <a:lstStyle/>
          <a:p>
            <a:pPr algn="ctr">
              <a:lnSpc>
                <a:spcPts val="3926"/>
              </a:lnSpc>
              <a:spcBef>
                <a:spcPct val="0"/>
              </a:spcBef>
            </a:pPr>
            <a:r>
              <a:rPr lang="en-US" sz="2066" b="1" spc="30">
                <a:solidFill>
                  <a:srgbClr val="000000"/>
                </a:solidFill>
                <a:latin typeface="Canva Sans Bold"/>
                <a:ea typeface="Canva Sans Bold"/>
                <a:cs typeface="Canva Sans Bold"/>
                <a:sym typeface="Canva Sans Bold"/>
              </a:rPr>
              <a:t>Analytics</a:t>
            </a:r>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bg>
      <p:bgPr>
        <a:gradFill rotWithShape="1">
          <a:gsLst>
            <a:gs pos="0">
              <a:srgbClr val="FFFFFF">
                <a:alpha val="100000"/>
              </a:srgbClr>
            </a:gs>
            <a:gs pos="100000">
              <a:srgbClr val="E6E6E6">
                <a:alpha val="100000"/>
              </a:srgbClr>
            </a:gs>
          </a:gsLst>
          <a:lin ang="0"/>
        </a:gradFill>
        <a:effectLst/>
      </p:bgPr>
    </p:bg>
    <p:spTree>
      <p:nvGrpSpPr>
        <p:cNvPr id="1" name=""/>
        <p:cNvGrpSpPr/>
        <p:nvPr/>
      </p:nvGrpSpPr>
      <p:grpSpPr>
        <a:xfrm>
          <a:off x="0" y="0"/>
          <a:ext cx="0" cy="0"/>
          <a:chOff x="0" y="0"/>
          <a:chExt cx="0" cy="0"/>
        </a:xfrm>
      </p:grpSpPr>
      <p:sp>
        <p:nvSpPr>
          <p:cNvPr id="2" name="TextBox 2"/>
          <p:cNvSpPr txBox="1"/>
          <p:nvPr/>
        </p:nvSpPr>
        <p:spPr>
          <a:xfrm>
            <a:off x="17744518" y="9676843"/>
            <a:ext cx="152400" cy="219075"/>
          </a:xfrm>
          <a:prstGeom prst="rect">
            <a:avLst/>
          </a:prstGeom>
        </p:spPr>
        <p:txBody>
          <a:bodyPr wrap="none" lIns="0" tIns="0" rIns="0" bIns="0" rtlCol="0" anchor="t">
            <a:spAutoFit/>
          </a:bodyPr>
          <a:lstStyle/>
          <a:p>
            <a:pPr algn="ctr">
              <a:lnSpc>
                <a:spcPts val="4405"/>
              </a:lnSpc>
              <a:spcBef>
                <a:spcPct val="0"/>
              </a:spcBef>
            </a:pPr>
            <a:r>
              <a:rPr lang="en-US" sz="3146">
                <a:solidFill>
                  <a:srgbClr val="1A1A1A"/>
                </a:solidFill>
                <a:latin typeface="Canva Sans"/>
                <a:ea typeface="Canva Sans"/>
                <a:cs typeface="Canva Sans"/>
                <a:sym typeface="Canva Sans"/>
              </a:rPr>
              <a:t>24</a:t>
            </a:r>
          </a:p>
        </p:txBody>
      </p:sp>
      <p:grpSp>
        <p:nvGrpSpPr>
          <p:cNvPr id="3" name="Group 3"/>
          <p:cNvGrpSpPr/>
          <p:nvPr/>
        </p:nvGrpSpPr>
        <p:grpSpPr>
          <a:xfrm>
            <a:off x="152400" y="9322212"/>
            <a:ext cx="16965984" cy="964788"/>
            <a:chOff x="0" y="0"/>
            <a:chExt cx="22621312" cy="1286384"/>
          </a:xfrm>
        </p:grpSpPr>
        <p:sp>
          <p:nvSpPr>
            <p:cNvPr id="4" name="Freeform 4"/>
            <p:cNvSpPr/>
            <p:nvPr/>
          </p:nvSpPr>
          <p:spPr>
            <a:xfrm>
              <a:off x="0" y="0"/>
              <a:ext cx="5438298" cy="1286384"/>
            </a:xfrm>
            <a:custGeom>
              <a:avLst/>
              <a:gdLst/>
              <a:ahLst/>
              <a:cxnLst/>
              <a:rect l="l" t="t" r="r" b="b"/>
              <a:pathLst>
                <a:path w="5438298" h="1286384">
                  <a:moveTo>
                    <a:pt x="0" y="0"/>
                  </a:moveTo>
                  <a:lnTo>
                    <a:pt x="5438298" y="0"/>
                  </a:lnTo>
                  <a:lnTo>
                    <a:pt x="5438298" y="1286384"/>
                  </a:lnTo>
                  <a:lnTo>
                    <a:pt x="0" y="1286384"/>
                  </a:lnTo>
                  <a:lnTo>
                    <a:pt x="0" y="0"/>
                  </a:lnTo>
                  <a:close/>
                </a:path>
              </a:pathLst>
            </a:custGeom>
            <a:blipFill>
              <a:blip r:embed="rId2"/>
              <a:stretch>
                <a:fillRect/>
              </a:stretch>
            </a:blipFill>
          </p:spPr>
          <p:txBody>
            <a:bodyPr/>
            <a:lstStyle/>
            <a:p>
              <a:endParaRPr lang="en-GB"/>
            </a:p>
          </p:txBody>
        </p:sp>
        <p:sp>
          <p:nvSpPr>
            <p:cNvPr id="5" name="TextBox 5"/>
            <p:cNvSpPr txBox="1"/>
            <p:nvPr/>
          </p:nvSpPr>
          <p:spPr>
            <a:xfrm>
              <a:off x="5939922" y="435762"/>
              <a:ext cx="16681390" cy="685332"/>
            </a:xfrm>
            <a:prstGeom prst="rect">
              <a:avLst/>
            </a:prstGeom>
          </p:spPr>
          <p:txBody>
            <a:bodyPr lIns="0" tIns="0" rIns="0" bIns="0" rtlCol="0" anchor="t">
              <a:spAutoFit/>
            </a:bodyPr>
            <a:lstStyle/>
            <a:p>
              <a:pPr algn="ctr">
                <a:lnSpc>
                  <a:spcPts val="4586"/>
                </a:lnSpc>
              </a:pPr>
              <a:r>
                <a:rPr lang="en-US" sz="2866" spc="-171">
                  <a:solidFill>
                    <a:srgbClr val="000000"/>
                  </a:solidFill>
                  <a:latin typeface="Canva Sans"/>
                  <a:ea typeface="Canva Sans"/>
                  <a:cs typeface="Canva Sans"/>
                  <a:sym typeface="Canva Sans"/>
                </a:rPr>
                <a:t>IT22920218      |       Krushanth A      |       25-26J-473        |       Date: 11/03/2026</a:t>
              </a:r>
            </a:p>
          </p:txBody>
        </p:sp>
      </p:grpSp>
      <p:sp>
        <p:nvSpPr>
          <p:cNvPr id="6" name="Freeform 6"/>
          <p:cNvSpPr/>
          <p:nvPr/>
        </p:nvSpPr>
        <p:spPr>
          <a:xfrm>
            <a:off x="2485296" y="1896997"/>
            <a:ext cx="807657" cy="1070493"/>
          </a:xfrm>
          <a:custGeom>
            <a:avLst/>
            <a:gdLst/>
            <a:ahLst/>
            <a:cxnLst/>
            <a:rect l="l" t="t" r="r" b="b"/>
            <a:pathLst>
              <a:path w="807657" h="1070493">
                <a:moveTo>
                  <a:pt x="0" y="0"/>
                </a:moveTo>
                <a:lnTo>
                  <a:pt x="807657" y="0"/>
                </a:lnTo>
                <a:lnTo>
                  <a:pt x="807657" y="1070494"/>
                </a:lnTo>
                <a:lnTo>
                  <a:pt x="0" y="1070494"/>
                </a:lnTo>
                <a:lnTo>
                  <a:pt x="0" y="0"/>
                </a:lnTo>
                <a:close/>
              </a:path>
            </a:pathLst>
          </a:custGeom>
          <a:blipFill>
            <a:blip r:embed="rId3"/>
            <a:stretch>
              <a:fillRect/>
            </a:stretch>
          </a:blipFill>
        </p:spPr>
        <p:txBody>
          <a:bodyPr/>
          <a:lstStyle/>
          <a:p>
            <a:endParaRPr lang="en-GB"/>
          </a:p>
        </p:txBody>
      </p:sp>
      <p:sp>
        <p:nvSpPr>
          <p:cNvPr id="7" name="Freeform 7"/>
          <p:cNvSpPr/>
          <p:nvPr/>
        </p:nvSpPr>
        <p:spPr>
          <a:xfrm>
            <a:off x="1099373" y="644730"/>
            <a:ext cx="3579502" cy="3575028"/>
          </a:xfrm>
          <a:custGeom>
            <a:avLst/>
            <a:gdLst/>
            <a:ahLst/>
            <a:cxnLst/>
            <a:rect l="l" t="t" r="r" b="b"/>
            <a:pathLst>
              <a:path w="3579502" h="3575028">
                <a:moveTo>
                  <a:pt x="0" y="0"/>
                </a:moveTo>
                <a:lnTo>
                  <a:pt x="3579503" y="0"/>
                </a:lnTo>
                <a:lnTo>
                  <a:pt x="3579503" y="3575028"/>
                </a:lnTo>
                <a:lnTo>
                  <a:pt x="0" y="3575028"/>
                </a:lnTo>
                <a:lnTo>
                  <a:pt x="0" y="0"/>
                </a:lnTo>
                <a:close/>
              </a:path>
            </a:pathLst>
          </a:custGeom>
          <a:blipFill>
            <a:blip r:embed="rId4"/>
            <a:stretch>
              <a:fillRect/>
            </a:stretch>
          </a:blipFill>
        </p:spPr>
        <p:txBody>
          <a:bodyPr/>
          <a:lstStyle/>
          <a:p>
            <a:endParaRPr lang="en-GB"/>
          </a:p>
        </p:txBody>
      </p:sp>
      <p:sp>
        <p:nvSpPr>
          <p:cNvPr id="8" name="Freeform 8"/>
          <p:cNvSpPr/>
          <p:nvPr/>
        </p:nvSpPr>
        <p:spPr>
          <a:xfrm>
            <a:off x="1899507" y="4219758"/>
            <a:ext cx="1979236" cy="1979236"/>
          </a:xfrm>
          <a:custGeom>
            <a:avLst/>
            <a:gdLst/>
            <a:ahLst/>
            <a:cxnLst/>
            <a:rect l="l" t="t" r="r" b="b"/>
            <a:pathLst>
              <a:path w="1979236" h="1979236">
                <a:moveTo>
                  <a:pt x="0" y="0"/>
                </a:moveTo>
                <a:lnTo>
                  <a:pt x="1979235" y="0"/>
                </a:lnTo>
                <a:lnTo>
                  <a:pt x="1979235" y="1979236"/>
                </a:lnTo>
                <a:lnTo>
                  <a:pt x="0" y="1979236"/>
                </a:lnTo>
                <a:lnTo>
                  <a:pt x="0" y="0"/>
                </a:lnTo>
                <a:close/>
              </a:path>
            </a:pathLst>
          </a:custGeom>
          <a:blipFill>
            <a:blip>
              <a:extLst>
                <a:ext uri="{96DAC541-7B7A-43D3-8B79-37D633B846F1}">
                  <asvg:svgBlip xmlns:asvg="http://schemas.microsoft.com/office/drawing/2016/SVG/main" r:embed="rId5"/>
                </a:ext>
              </a:extLst>
            </a:blip>
            <a:stretch>
              <a:fillRect/>
            </a:stretch>
          </a:blipFill>
        </p:spPr>
        <p:txBody>
          <a:bodyPr/>
          <a:lstStyle/>
          <a:p>
            <a:endParaRPr lang="en-GB"/>
          </a:p>
        </p:txBody>
      </p:sp>
      <p:sp>
        <p:nvSpPr>
          <p:cNvPr id="9" name="Freeform 9"/>
          <p:cNvSpPr/>
          <p:nvPr/>
        </p:nvSpPr>
        <p:spPr>
          <a:xfrm>
            <a:off x="2667647" y="6179921"/>
            <a:ext cx="1252113" cy="1769771"/>
          </a:xfrm>
          <a:custGeom>
            <a:avLst/>
            <a:gdLst/>
            <a:ahLst/>
            <a:cxnLst/>
            <a:rect l="l" t="t" r="r" b="b"/>
            <a:pathLst>
              <a:path w="1252113" h="1769771">
                <a:moveTo>
                  <a:pt x="0" y="0"/>
                </a:moveTo>
                <a:lnTo>
                  <a:pt x="1252113" y="0"/>
                </a:lnTo>
                <a:lnTo>
                  <a:pt x="1252113" y="1769771"/>
                </a:lnTo>
                <a:lnTo>
                  <a:pt x="0" y="1769771"/>
                </a:lnTo>
                <a:lnTo>
                  <a:pt x="0" y="0"/>
                </a:lnTo>
                <a:close/>
              </a:path>
            </a:pathLst>
          </a:custGeom>
          <a:blipFill>
            <a:blip>
              <a:extLst>
                <a:ext uri="{96DAC541-7B7A-43D3-8B79-37D633B846F1}">
                  <asvg:svgBlip xmlns:asvg="http://schemas.microsoft.com/office/drawing/2016/SVG/main" r:embed="rId6"/>
                </a:ext>
              </a:extLst>
            </a:blip>
            <a:stretch>
              <a:fillRect/>
            </a:stretch>
          </a:blipFill>
        </p:spPr>
        <p:txBody>
          <a:bodyPr/>
          <a:lstStyle/>
          <a:p>
            <a:endParaRPr lang="en-GB"/>
          </a:p>
        </p:txBody>
      </p:sp>
      <p:sp>
        <p:nvSpPr>
          <p:cNvPr id="10" name="Freeform 10"/>
          <p:cNvSpPr/>
          <p:nvPr/>
        </p:nvSpPr>
        <p:spPr>
          <a:xfrm>
            <a:off x="2442214" y="4563067"/>
            <a:ext cx="807657" cy="1070493"/>
          </a:xfrm>
          <a:custGeom>
            <a:avLst/>
            <a:gdLst/>
            <a:ahLst/>
            <a:cxnLst/>
            <a:rect l="l" t="t" r="r" b="b"/>
            <a:pathLst>
              <a:path w="807657" h="1070493">
                <a:moveTo>
                  <a:pt x="0" y="0"/>
                </a:moveTo>
                <a:lnTo>
                  <a:pt x="807657" y="0"/>
                </a:lnTo>
                <a:lnTo>
                  <a:pt x="807657" y="1070493"/>
                </a:lnTo>
                <a:lnTo>
                  <a:pt x="0" y="1070493"/>
                </a:lnTo>
                <a:lnTo>
                  <a:pt x="0" y="0"/>
                </a:lnTo>
                <a:close/>
              </a:path>
            </a:pathLst>
          </a:custGeom>
          <a:blipFill>
            <a:blip r:embed="rId3"/>
            <a:stretch>
              <a:fillRect/>
            </a:stretch>
          </a:blipFill>
        </p:spPr>
        <p:txBody>
          <a:bodyPr/>
          <a:lstStyle/>
          <a:p>
            <a:endParaRPr lang="en-GB"/>
          </a:p>
        </p:txBody>
      </p:sp>
      <p:sp>
        <p:nvSpPr>
          <p:cNvPr id="11" name="Freeform 11"/>
          <p:cNvSpPr/>
          <p:nvPr/>
        </p:nvSpPr>
        <p:spPr>
          <a:xfrm>
            <a:off x="2486046" y="6459257"/>
            <a:ext cx="807657" cy="1070493"/>
          </a:xfrm>
          <a:custGeom>
            <a:avLst/>
            <a:gdLst/>
            <a:ahLst/>
            <a:cxnLst/>
            <a:rect l="l" t="t" r="r" b="b"/>
            <a:pathLst>
              <a:path w="807657" h="1070493">
                <a:moveTo>
                  <a:pt x="0" y="0"/>
                </a:moveTo>
                <a:lnTo>
                  <a:pt x="807657" y="0"/>
                </a:lnTo>
                <a:lnTo>
                  <a:pt x="807657" y="1070493"/>
                </a:lnTo>
                <a:lnTo>
                  <a:pt x="0" y="1070493"/>
                </a:lnTo>
                <a:lnTo>
                  <a:pt x="0" y="0"/>
                </a:lnTo>
                <a:close/>
              </a:path>
            </a:pathLst>
          </a:custGeom>
          <a:blipFill>
            <a:blip r:embed="rId3"/>
            <a:stretch>
              <a:fillRect/>
            </a:stretch>
          </a:blipFill>
        </p:spPr>
        <p:txBody>
          <a:bodyPr/>
          <a:lstStyle/>
          <a:p>
            <a:endParaRPr lang="en-GB"/>
          </a:p>
        </p:txBody>
      </p:sp>
      <p:sp>
        <p:nvSpPr>
          <p:cNvPr id="12" name="TextBox 12"/>
          <p:cNvSpPr txBox="1"/>
          <p:nvPr/>
        </p:nvSpPr>
        <p:spPr>
          <a:xfrm>
            <a:off x="-191650" y="4557779"/>
            <a:ext cx="3275267" cy="415445"/>
          </a:xfrm>
          <a:prstGeom prst="rect">
            <a:avLst/>
          </a:prstGeom>
        </p:spPr>
        <p:txBody>
          <a:bodyPr lIns="0" tIns="0" rIns="0" bIns="0" rtlCol="0" anchor="t">
            <a:spAutoFit/>
          </a:bodyPr>
          <a:lstStyle/>
          <a:p>
            <a:pPr algn="ctr">
              <a:lnSpc>
                <a:spcPts val="3550"/>
              </a:lnSpc>
              <a:spcBef>
                <a:spcPct val="0"/>
              </a:spcBef>
            </a:pPr>
            <a:r>
              <a:rPr lang="en-US" sz="1868" i="1" spc="28">
                <a:solidFill>
                  <a:srgbClr val="000000"/>
                </a:solidFill>
                <a:latin typeface="Canva Sans Italics"/>
                <a:ea typeface="Canva Sans Italics"/>
                <a:cs typeface="Canva Sans Italics"/>
                <a:sym typeface="Canva Sans Italics"/>
              </a:rPr>
              <a:t>a_2 agent_2(s_2)</a:t>
            </a:r>
          </a:p>
        </p:txBody>
      </p:sp>
      <p:sp>
        <p:nvSpPr>
          <p:cNvPr id="13" name="TextBox 13"/>
          <p:cNvSpPr txBox="1"/>
          <p:nvPr/>
        </p:nvSpPr>
        <p:spPr>
          <a:xfrm>
            <a:off x="3083617" y="1714575"/>
            <a:ext cx="3275267" cy="445326"/>
          </a:xfrm>
          <a:prstGeom prst="rect">
            <a:avLst/>
          </a:prstGeom>
        </p:spPr>
        <p:txBody>
          <a:bodyPr lIns="0" tIns="0" rIns="0" bIns="0" rtlCol="0" anchor="t">
            <a:spAutoFit/>
          </a:bodyPr>
          <a:lstStyle/>
          <a:p>
            <a:pPr algn="ctr">
              <a:lnSpc>
                <a:spcPts val="3930"/>
              </a:lnSpc>
              <a:spcBef>
                <a:spcPct val="0"/>
              </a:spcBef>
            </a:pPr>
            <a:r>
              <a:rPr lang="en-US" sz="2068" b="1" i="1" spc="31">
                <a:solidFill>
                  <a:srgbClr val="000000"/>
                </a:solidFill>
                <a:latin typeface="Canva Sans Bold Italics"/>
                <a:ea typeface="Canva Sans Bold Italics"/>
                <a:cs typeface="Canva Sans Bold Italics"/>
                <a:sym typeface="Canva Sans Bold Italics"/>
              </a:rPr>
              <a:t>Q1(s_1, a_1)</a:t>
            </a:r>
          </a:p>
        </p:txBody>
      </p:sp>
      <p:sp>
        <p:nvSpPr>
          <p:cNvPr id="14" name="TextBox 14"/>
          <p:cNvSpPr txBox="1"/>
          <p:nvPr/>
        </p:nvSpPr>
        <p:spPr>
          <a:xfrm>
            <a:off x="2566958" y="4429717"/>
            <a:ext cx="3275267" cy="445326"/>
          </a:xfrm>
          <a:prstGeom prst="rect">
            <a:avLst/>
          </a:prstGeom>
        </p:spPr>
        <p:txBody>
          <a:bodyPr lIns="0" tIns="0" rIns="0" bIns="0" rtlCol="0" anchor="t">
            <a:spAutoFit/>
          </a:bodyPr>
          <a:lstStyle/>
          <a:p>
            <a:pPr algn="ctr">
              <a:lnSpc>
                <a:spcPts val="3930"/>
              </a:lnSpc>
              <a:spcBef>
                <a:spcPct val="0"/>
              </a:spcBef>
            </a:pPr>
            <a:r>
              <a:rPr lang="en-US" sz="2068" b="1" i="1" spc="31">
                <a:solidFill>
                  <a:srgbClr val="000000"/>
                </a:solidFill>
                <a:latin typeface="Canva Sans Bold Italics"/>
                <a:ea typeface="Canva Sans Bold Italics"/>
                <a:cs typeface="Canva Sans Bold Italics"/>
                <a:sym typeface="Canva Sans Bold Italics"/>
              </a:rPr>
              <a:t>Q2(s_2, a_2)</a:t>
            </a:r>
          </a:p>
        </p:txBody>
      </p:sp>
      <p:sp>
        <p:nvSpPr>
          <p:cNvPr id="15" name="TextBox 15"/>
          <p:cNvSpPr txBox="1"/>
          <p:nvPr/>
        </p:nvSpPr>
        <p:spPr>
          <a:xfrm>
            <a:off x="2566958" y="6278077"/>
            <a:ext cx="3275267" cy="445326"/>
          </a:xfrm>
          <a:prstGeom prst="rect">
            <a:avLst/>
          </a:prstGeom>
        </p:spPr>
        <p:txBody>
          <a:bodyPr lIns="0" tIns="0" rIns="0" bIns="0" rtlCol="0" anchor="t">
            <a:spAutoFit/>
          </a:bodyPr>
          <a:lstStyle/>
          <a:p>
            <a:pPr algn="ctr">
              <a:lnSpc>
                <a:spcPts val="3930"/>
              </a:lnSpc>
              <a:spcBef>
                <a:spcPct val="0"/>
              </a:spcBef>
            </a:pPr>
            <a:r>
              <a:rPr lang="en-US" sz="2068" b="1" i="1" spc="31">
                <a:solidFill>
                  <a:srgbClr val="000000"/>
                </a:solidFill>
                <a:latin typeface="Canva Sans Bold Italics"/>
                <a:ea typeface="Canva Sans Bold Italics"/>
                <a:cs typeface="Canva Sans Bold Italics"/>
                <a:sym typeface="Canva Sans Bold Italics"/>
              </a:rPr>
              <a:t>Qn(s_n, a_n)</a:t>
            </a:r>
          </a:p>
        </p:txBody>
      </p:sp>
      <p:sp>
        <p:nvSpPr>
          <p:cNvPr id="16" name="TextBox 16"/>
          <p:cNvSpPr txBox="1"/>
          <p:nvPr/>
        </p:nvSpPr>
        <p:spPr>
          <a:xfrm>
            <a:off x="6602238" y="5802829"/>
            <a:ext cx="3275267" cy="1760074"/>
          </a:xfrm>
          <a:prstGeom prst="rect">
            <a:avLst/>
          </a:prstGeom>
        </p:spPr>
        <p:txBody>
          <a:bodyPr lIns="0" tIns="0" rIns="0" bIns="0" rtlCol="0" anchor="t">
            <a:spAutoFit/>
          </a:bodyPr>
          <a:lstStyle/>
          <a:p>
            <a:pPr algn="ctr">
              <a:lnSpc>
                <a:spcPts val="3550"/>
              </a:lnSpc>
            </a:pPr>
            <a:r>
              <a:rPr lang="en-US" sz="1868" spc="28">
                <a:solidFill>
                  <a:srgbClr val="000000"/>
                </a:solidFill>
                <a:latin typeface="Canva Sans"/>
                <a:ea typeface="Canva Sans"/>
                <a:cs typeface="Canva Sans"/>
                <a:sym typeface="Canva Sans"/>
              </a:rPr>
              <a:t>States</a:t>
            </a:r>
          </a:p>
          <a:p>
            <a:pPr algn="ctr">
              <a:lnSpc>
                <a:spcPts val="3550"/>
              </a:lnSpc>
            </a:pPr>
            <a:r>
              <a:rPr lang="en-US" sz="1868" spc="28">
                <a:solidFill>
                  <a:srgbClr val="000000"/>
                </a:solidFill>
                <a:latin typeface="Canva Sans"/>
                <a:ea typeface="Canva Sans"/>
                <a:cs typeface="Canva Sans"/>
                <a:sym typeface="Canva Sans"/>
              </a:rPr>
              <a:t>Actions</a:t>
            </a:r>
          </a:p>
          <a:p>
            <a:pPr algn="ctr">
              <a:lnSpc>
                <a:spcPts val="3550"/>
              </a:lnSpc>
            </a:pPr>
            <a:r>
              <a:rPr lang="en-US" sz="1868" spc="28">
                <a:solidFill>
                  <a:srgbClr val="000000"/>
                </a:solidFill>
                <a:latin typeface="Canva Sans"/>
                <a:ea typeface="Canva Sans"/>
                <a:cs typeface="Canva Sans"/>
                <a:sym typeface="Canva Sans"/>
              </a:rPr>
              <a:t>Rewards</a:t>
            </a:r>
          </a:p>
          <a:p>
            <a:pPr algn="ctr">
              <a:lnSpc>
                <a:spcPts val="3550"/>
              </a:lnSpc>
              <a:spcBef>
                <a:spcPct val="0"/>
              </a:spcBef>
            </a:pPr>
            <a:r>
              <a:rPr lang="en-US" sz="1868" spc="28">
                <a:solidFill>
                  <a:srgbClr val="000000"/>
                </a:solidFill>
                <a:latin typeface="Canva Sans"/>
                <a:ea typeface="Canva Sans"/>
                <a:cs typeface="Canva Sans"/>
                <a:sym typeface="Canva Sans"/>
              </a:rPr>
              <a:t>Next State</a:t>
            </a:r>
          </a:p>
        </p:txBody>
      </p:sp>
      <p:sp>
        <p:nvSpPr>
          <p:cNvPr id="17" name="TextBox 17"/>
          <p:cNvSpPr txBox="1"/>
          <p:nvPr/>
        </p:nvSpPr>
        <p:spPr>
          <a:xfrm rot="-5400000">
            <a:off x="5434268" y="5728456"/>
            <a:ext cx="3275267" cy="415445"/>
          </a:xfrm>
          <a:prstGeom prst="rect">
            <a:avLst/>
          </a:prstGeom>
        </p:spPr>
        <p:txBody>
          <a:bodyPr lIns="0" tIns="0" rIns="0" bIns="0" rtlCol="0" anchor="t">
            <a:spAutoFit/>
          </a:bodyPr>
          <a:lstStyle/>
          <a:p>
            <a:pPr algn="ctr">
              <a:lnSpc>
                <a:spcPts val="3550"/>
              </a:lnSpc>
              <a:spcBef>
                <a:spcPct val="0"/>
              </a:spcBef>
            </a:pPr>
            <a:r>
              <a:rPr lang="en-US" sz="1868" spc="28">
                <a:solidFill>
                  <a:srgbClr val="000000"/>
                </a:solidFill>
                <a:latin typeface="Canva Sans"/>
                <a:ea typeface="Canva Sans"/>
                <a:cs typeface="Canva Sans"/>
                <a:sym typeface="Canva Sans"/>
              </a:rPr>
              <a:t>Experience Replay Buffer</a:t>
            </a:r>
          </a:p>
        </p:txBody>
      </p:sp>
      <p:sp>
        <p:nvSpPr>
          <p:cNvPr id="18" name="AutoShape 18"/>
          <p:cNvSpPr/>
          <p:nvPr/>
        </p:nvSpPr>
        <p:spPr>
          <a:xfrm>
            <a:off x="5607410" y="2159901"/>
            <a:ext cx="1259631" cy="3239899"/>
          </a:xfrm>
          <a:prstGeom prst="line">
            <a:avLst/>
          </a:prstGeom>
          <a:ln w="38100" cap="flat">
            <a:solidFill>
              <a:srgbClr val="000000"/>
            </a:solidFill>
            <a:prstDash val="sysDot"/>
            <a:headEnd type="none" w="sm" len="sm"/>
            <a:tailEnd type="arrow" w="med" len="sm"/>
          </a:ln>
        </p:spPr>
        <p:txBody>
          <a:bodyPr/>
          <a:lstStyle/>
          <a:p>
            <a:endParaRPr lang="en-GB"/>
          </a:p>
        </p:txBody>
      </p:sp>
      <p:sp>
        <p:nvSpPr>
          <p:cNvPr id="19" name="AutoShape 19"/>
          <p:cNvSpPr/>
          <p:nvPr/>
        </p:nvSpPr>
        <p:spPr>
          <a:xfrm>
            <a:off x="5173802" y="4563067"/>
            <a:ext cx="1693239" cy="1387475"/>
          </a:xfrm>
          <a:prstGeom prst="line">
            <a:avLst/>
          </a:prstGeom>
          <a:ln w="38100" cap="flat">
            <a:solidFill>
              <a:srgbClr val="000000"/>
            </a:solidFill>
            <a:prstDash val="sysDot"/>
            <a:headEnd type="none" w="sm" len="sm"/>
            <a:tailEnd type="arrow" w="med" len="sm"/>
          </a:ln>
        </p:spPr>
        <p:txBody>
          <a:bodyPr/>
          <a:lstStyle/>
          <a:p>
            <a:endParaRPr lang="en-GB"/>
          </a:p>
        </p:txBody>
      </p:sp>
      <p:sp>
        <p:nvSpPr>
          <p:cNvPr id="20" name="AutoShape 20"/>
          <p:cNvSpPr/>
          <p:nvPr/>
        </p:nvSpPr>
        <p:spPr>
          <a:xfrm>
            <a:off x="5250261" y="6411427"/>
            <a:ext cx="1734350" cy="524410"/>
          </a:xfrm>
          <a:prstGeom prst="line">
            <a:avLst/>
          </a:prstGeom>
          <a:ln w="38100" cap="flat">
            <a:solidFill>
              <a:srgbClr val="000000"/>
            </a:solidFill>
            <a:prstDash val="sysDot"/>
            <a:headEnd type="none" w="sm" len="sm"/>
            <a:tailEnd type="arrow" w="med" len="sm"/>
          </a:ln>
        </p:spPr>
        <p:txBody>
          <a:bodyPr/>
          <a:lstStyle/>
          <a:p>
            <a:endParaRPr lang="en-GB"/>
          </a:p>
        </p:txBody>
      </p:sp>
      <p:sp>
        <p:nvSpPr>
          <p:cNvPr id="21" name="AutoShape 21"/>
          <p:cNvSpPr/>
          <p:nvPr/>
        </p:nvSpPr>
        <p:spPr>
          <a:xfrm>
            <a:off x="5173802" y="5950542"/>
            <a:ext cx="1693239" cy="756674"/>
          </a:xfrm>
          <a:prstGeom prst="line">
            <a:avLst/>
          </a:prstGeom>
          <a:ln w="38100" cap="flat">
            <a:solidFill>
              <a:srgbClr val="000000"/>
            </a:solidFill>
            <a:prstDash val="sysDot"/>
            <a:headEnd type="none" w="sm" len="sm"/>
            <a:tailEnd type="arrow" w="med" len="sm"/>
          </a:ln>
        </p:spPr>
        <p:txBody>
          <a:bodyPr/>
          <a:lstStyle/>
          <a:p>
            <a:endParaRPr lang="en-GB"/>
          </a:p>
        </p:txBody>
      </p:sp>
      <p:sp>
        <p:nvSpPr>
          <p:cNvPr id="22" name="AutoShape 22"/>
          <p:cNvSpPr/>
          <p:nvPr/>
        </p:nvSpPr>
        <p:spPr>
          <a:xfrm>
            <a:off x="5250261" y="5209376"/>
            <a:ext cx="1616780" cy="1179579"/>
          </a:xfrm>
          <a:prstGeom prst="line">
            <a:avLst/>
          </a:prstGeom>
          <a:ln w="38100" cap="flat">
            <a:solidFill>
              <a:srgbClr val="000000"/>
            </a:solidFill>
            <a:prstDash val="sysDot"/>
            <a:headEnd type="none" w="sm" len="sm"/>
            <a:tailEnd type="arrow" w="med" len="sm"/>
          </a:ln>
        </p:spPr>
        <p:txBody>
          <a:bodyPr/>
          <a:lstStyle/>
          <a:p>
            <a:endParaRPr lang="en-GB"/>
          </a:p>
        </p:txBody>
      </p:sp>
      <p:grpSp>
        <p:nvGrpSpPr>
          <p:cNvPr id="23" name="Group 23"/>
          <p:cNvGrpSpPr/>
          <p:nvPr/>
        </p:nvGrpSpPr>
        <p:grpSpPr>
          <a:xfrm>
            <a:off x="9876386" y="834070"/>
            <a:ext cx="3563452" cy="6383862"/>
            <a:chOff x="0" y="0"/>
            <a:chExt cx="937403" cy="1679341"/>
          </a:xfrm>
        </p:grpSpPr>
        <p:sp>
          <p:nvSpPr>
            <p:cNvPr id="24" name="Freeform 24"/>
            <p:cNvSpPr/>
            <p:nvPr/>
          </p:nvSpPr>
          <p:spPr>
            <a:xfrm>
              <a:off x="0" y="0"/>
              <a:ext cx="937403" cy="1679341"/>
            </a:xfrm>
            <a:custGeom>
              <a:avLst/>
              <a:gdLst/>
              <a:ahLst/>
              <a:cxnLst/>
              <a:rect l="l" t="t" r="r" b="b"/>
              <a:pathLst>
                <a:path w="937403" h="1679341">
                  <a:moveTo>
                    <a:pt x="0" y="0"/>
                  </a:moveTo>
                  <a:lnTo>
                    <a:pt x="937403" y="0"/>
                  </a:lnTo>
                  <a:lnTo>
                    <a:pt x="937403" y="1679341"/>
                  </a:lnTo>
                  <a:lnTo>
                    <a:pt x="0" y="1679341"/>
                  </a:lnTo>
                  <a:close/>
                </a:path>
              </a:pathLst>
            </a:custGeom>
            <a:ln w="9525" cap="sq">
              <a:solidFill>
                <a:srgbClr val="000000"/>
              </a:solidFill>
              <a:prstDash val="solid"/>
              <a:miter/>
            </a:ln>
          </p:spPr>
          <p:txBody>
            <a:bodyPr/>
            <a:lstStyle/>
            <a:p>
              <a:endParaRPr lang="en-GB"/>
            </a:p>
          </p:txBody>
        </p:sp>
        <p:sp>
          <p:nvSpPr>
            <p:cNvPr id="25" name="TextBox 25"/>
            <p:cNvSpPr txBox="1"/>
            <p:nvPr/>
          </p:nvSpPr>
          <p:spPr>
            <a:xfrm>
              <a:off x="0" y="-171450"/>
              <a:ext cx="937403" cy="1850791"/>
            </a:xfrm>
            <a:prstGeom prst="rect">
              <a:avLst/>
            </a:prstGeom>
          </p:spPr>
          <p:txBody>
            <a:bodyPr lIns="50800" tIns="50800" rIns="50800" bIns="50800" rtlCol="0" anchor="ctr"/>
            <a:lstStyle/>
            <a:p>
              <a:pPr algn="ctr">
                <a:lnSpc>
                  <a:spcPts val="4875"/>
                </a:lnSpc>
              </a:pPr>
              <a:endParaRPr/>
            </a:p>
          </p:txBody>
        </p:sp>
      </p:grpSp>
      <p:grpSp>
        <p:nvGrpSpPr>
          <p:cNvPr id="26" name="Group 26"/>
          <p:cNvGrpSpPr/>
          <p:nvPr/>
        </p:nvGrpSpPr>
        <p:grpSpPr>
          <a:xfrm>
            <a:off x="10649874" y="3595209"/>
            <a:ext cx="1653152" cy="822765"/>
            <a:chOff x="0" y="0"/>
            <a:chExt cx="434879" cy="216437"/>
          </a:xfrm>
        </p:grpSpPr>
        <p:sp>
          <p:nvSpPr>
            <p:cNvPr id="27" name="Freeform 27"/>
            <p:cNvSpPr/>
            <p:nvPr/>
          </p:nvSpPr>
          <p:spPr>
            <a:xfrm>
              <a:off x="0" y="0"/>
              <a:ext cx="434879" cy="216437"/>
            </a:xfrm>
            <a:custGeom>
              <a:avLst/>
              <a:gdLst/>
              <a:ahLst/>
              <a:cxnLst/>
              <a:rect l="l" t="t" r="r" b="b"/>
              <a:pathLst>
                <a:path w="434879" h="216437">
                  <a:moveTo>
                    <a:pt x="0" y="0"/>
                  </a:moveTo>
                  <a:lnTo>
                    <a:pt x="434879" y="0"/>
                  </a:lnTo>
                  <a:lnTo>
                    <a:pt x="434879" y="216437"/>
                  </a:lnTo>
                  <a:lnTo>
                    <a:pt x="0" y="216437"/>
                  </a:lnTo>
                  <a:close/>
                </a:path>
              </a:pathLst>
            </a:custGeom>
            <a:ln w="9525" cap="sq">
              <a:solidFill>
                <a:srgbClr val="000000"/>
              </a:solidFill>
              <a:prstDash val="solid"/>
              <a:miter/>
            </a:ln>
          </p:spPr>
          <p:txBody>
            <a:bodyPr/>
            <a:lstStyle/>
            <a:p>
              <a:endParaRPr lang="en-GB"/>
            </a:p>
          </p:txBody>
        </p:sp>
        <p:sp>
          <p:nvSpPr>
            <p:cNvPr id="28" name="TextBox 28"/>
            <p:cNvSpPr txBox="1"/>
            <p:nvPr/>
          </p:nvSpPr>
          <p:spPr>
            <a:xfrm>
              <a:off x="0" y="-152400"/>
              <a:ext cx="434879" cy="368837"/>
            </a:xfrm>
            <a:prstGeom prst="rect">
              <a:avLst/>
            </a:prstGeom>
          </p:spPr>
          <p:txBody>
            <a:bodyPr lIns="50800" tIns="50800" rIns="50800" bIns="50800" rtlCol="0" anchor="ctr"/>
            <a:lstStyle/>
            <a:p>
              <a:pPr algn="ctr">
                <a:lnSpc>
                  <a:spcPts val="4495"/>
                </a:lnSpc>
              </a:pPr>
              <a:r>
                <a:rPr lang="en-US" sz="2366" spc="35">
                  <a:solidFill>
                    <a:srgbClr val="000000"/>
                  </a:solidFill>
                  <a:latin typeface="Canva Sans"/>
                  <a:ea typeface="Canva Sans"/>
                  <a:cs typeface="Canva Sans"/>
                  <a:sym typeface="Canva Sans"/>
                </a:rPr>
                <a:t>Optimizer</a:t>
              </a:r>
            </a:p>
          </p:txBody>
        </p:sp>
      </p:grpSp>
      <p:sp>
        <p:nvSpPr>
          <p:cNvPr id="29" name="TextBox 29"/>
          <p:cNvSpPr txBox="1"/>
          <p:nvPr/>
        </p:nvSpPr>
        <p:spPr>
          <a:xfrm rot="-2700000">
            <a:off x="6568113" y="1734104"/>
            <a:ext cx="3275267" cy="445326"/>
          </a:xfrm>
          <a:prstGeom prst="rect">
            <a:avLst/>
          </a:prstGeom>
        </p:spPr>
        <p:txBody>
          <a:bodyPr lIns="0" tIns="0" rIns="0" bIns="0" rtlCol="0" anchor="t">
            <a:spAutoFit/>
          </a:bodyPr>
          <a:lstStyle/>
          <a:p>
            <a:pPr algn="ctr">
              <a:lnSpc>
                <a:spcPts val="3930"/>
              </a:lnSpc>
              <a:spcBef>
                <a:spcPct val="0"/>
              </a:spcBef>
            </a:pPr>
            <a:r>
              <a:rPr lang="en-US" sz="2068" b="1" i="1" spc="31">
                <a:solidFill>
                  <a:srgbClr val="000000"/>
                </a:solidFill>
                <a:latin typeface="Canva Sans Bold Italics"/>
                <a:ea typeface="Canva Sans Bold Italics"/>
                <a:cs typeface="Canva Sans Bold Italics"/>
                <a:sym typeface="Canva Sans Bold Italics"/>
              </a:rPr>
              <a:t>Global Reward (r)</a:t>
            </a:r>
          </a:p>
        </p:txBody>
      </p:sp>
      <p:sp>
        <p:nvSpPr>
          <p:cNvPr id="30" name="AutoShape 30"/>
          <p:cNvSpPr/>
          <p:nvPr/>
        </p:nvSpPr>
        <p:spPr>
          <a:xfrm flipH="1">
            <a:off x="10329277" y="1567137"/>
            <a:ext cx="174" cy="727901"/>
          </a:xfrm>
          <a:prstGeom prst="line">
            <a:avLst/>
          </a:prstGeom>
          <a:ln w="95250" cap="flat">
            <a:solidFill>
              <a:srgbClr val="17CF3F"/>
            </a:solidFill>
            <a:prstDash val="solid"/>
            <a:headEnd type="none" w="sm" len="sm"/>
            <a:tailEnd type="arrow" w="med" len="sm"/>
          </a:ln>
        </p:spPr>
        <p:txBody>
          <a:bodyPr/>
          <a:lstStyle/>
          <a:p>
            <a:endParaRPr lang="en-GB"/>
          </a:p>
        </p:txBody>
      </p:sp>
      <p:sp>
        <p:nvSpPr>
          <p:cNvPr id="31" name="Freeform 31"/>
          <p:cNvSpPr/>
          <p:nvPr/>
        </p:nvSpPr>
        <p:spPr>
          <a:xfrm>
            <a:off x="7606401" y="1352570"/>
            <a:ext cx="2184790" cy="2794498"/>
          </a:xfrm>
          <a:custGeom>
            <a:avLst/>
            <a:gdLst/>
            <a:ahLst/>
            <a:cxnLst/>
            <a:rect l="l" t="t" r="r" b="b"/>
            <a:pathLst>
              <a:path w="2184790" h="2794498">
                <a:moveTo>
                  <a:pt x="0" y="0"/>
                </a:moveTo>
                <a:lnTo>
                  <a:pt x="2184790" y="0"/>
                </a:lnTo>
                <a:lnTo>
                  <a:pt x="2184790" y="2794499"/>
                </a:lnTo>
                <a:lnTo>
                  <a:pt x="0" y="2794499"/>
                </a:lnTo>
                <a:lnTo>
                  <a:pt x="0" y="0"/>
                </a:lnTo>
                <a:close/>
              </a:path>
            </a:pathLst>
          </a:custGeom>
          <a:blipFill>
            <a:blip>
              <a:extLst>
                <a:ext uri="{96DAC541-7B7A-43D3-8B79-37D633B846F1}">
                  <asvg:svgBlip xmlns:asvg="http://schemas.microsoft.com/office/drawing/2016/SVG/main" r:embed="rId7"/>
                </a:ext>
              </a:extLst>
            </a:blip>
            <a:stretch>
              <a:fillRect/>
            </a:stretch>
          </a:blipFill>
        </p:spPr>
        <p:txBody>
          <a:bodyPr/>
          <a:lstStyle/>
          <a:p>
            <a:endParaRPr lang="en-GB"/>
          </a:p>
        </p:txBody>
      </p:sp>
      <p:sp>
        <p:nvSpPr>
          <p:cNvPr id="32" name="Freeform 32"/>
          <p:cNvSpPr/>
          <p:nvPr/>
        </p:nvSpPr>
        <p:spPr>
          <a:xfrm rot="114776">
            <a:off x="7655167" y="1876554"/>
            <a:ext cx="1752747" cy="2241885"/>
          </a:xfrm>
          <a:custGeom>
            <a:avLst/>
            <a:gdLst/>
            <a:ahLst/>
            <a:cxnLst/>
            <a:rect l="l" t="t" r="r" b="b"/>
            <a:pathLst>
              <a:path w="1752747" h="2241885">
                <a:moveTo>
                  <a:pt x="0" y="0"/>
                </a:moveTo>
                <a:lnTo>
                  <a:pt x="1752746" y="0"/>
                </a:lnTo>
                <a:lnTo>
                  <a:pt x="1752746" y="2241885"/>
                </a:lnTo>
                <a:lnTo>
                  <a:pt x="0" y="2241885"/>
                </a:lnTo>
                <a:lnTo>
                  <a:pt x="0" y="0"/>
                </a:lnTo>
                <a:close/>
              </a:path>
            </a:pathLst>
          </a:custGeom>
          <a:blipFill>
            <a:blip>
              <a:extLst>
                <a:ext uri="{96DAC541-7B7A-43D3-8B79-37D633B846F1}">
                  <asvg:svgBlip xmlns:asvg="http://schemas.microsoft.com/office/drawing/2016/SVG/main" r:embed="rId7"/>
                </a:ext>
              </a:extLst>
            </a:blip>
            <a:stretch>
              <a:fillRect/>
            </a:stretch>
          </a:blipFill>
        </p:spPr>
        <p:txBody>
          <a:bodyPr/>
          <a:lstStyle/>
          <a:p>
            <a:endParaRPr lang="en-GB"/>
          </a:p>
        </p:txBody>
      </p:sp>
      <p:sp>
        <p:nvSpPr>
          <p:cNvPr id="33" name="AutoShape 33"/>
          <p:cNvSpPr/>
          <p:nvPr/>
        </p:nvSpPr>
        <p:spPr>
          <a:xfrm>
            <a:off x="10710644" y="2867304"/>
            <a:ext cx="659478" cy="657994"/>
          </a:xfrm>
          <a:prstGeom prst="line">
            <a:avLst/>
          </a:prstGeom>
          <a:ln w="114300" cap="flat">
            <a:solidFill>
              <a:srgbClr val="17CF3F"/>
            </a:solidFill>
            <a:prstDash val="solid"/>
            <a:headEnd type="none" w="sm" len="sm"/>
            <a:tailEnd type="arrow" w="med" len="sm"/>
          </a:ln>
        </p:spPr>
        <p:txBody>
          <a:bodyPr/>
          <a:lstStyle/>
          <a:p>
            <a:endParaRPr lang="en-GB"/>
          </a:p>
        </p:txBody>
      </p:sp>
      <p:sp>
        <p:nvSpPr>
          <p:cNvPr id="34" name="AutoShape 34"/>
          <p:cNvSpPr/>
          <p:nvPr/>
        </p:nvSpPr>
        <p:spPr>
          <a:xfrm flipH="1">
            <a:off x="11607881" y="2867304"/>
            <a:ext cx="679627" cy="657994"/>
          </a:xfrm>
          <a:prstGeom prst="line">
            <a:avLst/>
          </a:prstGeom>
          <a:ln w="95250" cap="flat">
            <a:solidFill>
              <a:srgbClr val="17CF3F"/>
            </a:solidFill>
            <a:prstDash val="solid"/>
            <a:headEnd type="none" w="sm" len="sm"/>
            <a:tailEnd type="arrow" w="med" len="sm"/>
          </a:ln>
        </p:spPr>
        <p:txBody>
          <a:bodyPr/>
          <a:lstStyle/>
          <a:p>
            <a:endParaRPr lang="en-GB"/>
          </a:p>
        </p:txBody>
      </p:sp>
      <p:sp>
        <p:nvSpPr>
          <p:cNvPr id="35" name="AutoShape 35"/>
          <p:cNvSpPr/>
          <p:nvPr/>
        </p:nvSpPr>
        <p:spPr>
          <a:xfrm flipH="1">
            <a:off x="11490754" y="4468226"/>
            <a:ext cx="174" cy="727901"/>
          </a:xfrm>
          <a:prstGeom prst="line">
            <a:avLst/>
          </a:prstGeom>
          <a:ln w="95250" cap="flat">
            <a:solidFill>
              <a:srgbClr val="17CF3F"/>
            </a:solidFill>
            <a:prstDash val="solid"/>
            <a:headEnd type="none" w="sm" len="sm"/>
            <a:tailEnd type="arrow" w="med" len="sm"/>
          </a:ln>
        </p:spPr>
        <p:txBody>
          <a:bodyPr/>
          <a:lstStyle/>
          <a:p>
            <a:endParaRPr lang="en-GB"/>
          </a:p>
        </p:txBody>
      </p:sp>
      <p:sp>
        <p:nvSpPr>
          <p:cNvPr id="36" name="AutoShape 36"/>
          <p:cNvSpPr/>
          <p:nvPr/>
        </p:nvSpPr>
        <p:spPr>
          <a:xfrm flipH="1">
            <a:off x="11529444" y="5633564"/>
            <a:ext cx="174" cy="727901"/>
          </a:xfrm>
          <a:prstGeom prst="line">
            <a:avLst/>
          </a:prstGeom>
          <a:ln w="95250" cap="flat">
            <a:solidFill>
              <a:srgbClr val="17CF3F"/>
            </a:solidFill>
            <a:prstDash val="solid"/>
            <a:headEnd type="none" w="sm" len="sm"/>
            <a:tailEnd type="arrow" w="med" len="sm"/>
          </a:ln>
        </p:spPr>
        <p:txBody>
          <a:bodyPr/>
          <a:lstStyle/>
          <a:p>
            <a:endParaRPr lang="en-GB"/>
          </a:p>
        </p:txBody>
      </p:sp>
      <p:grpSp>
        <p:nvGrpSpPr>
          <p:cNvPr id="37" name="Group 37"/>
          <p:cNvGrpSpPr/>
          <p:nvPr/>
        </p:nvGrpSpPr>
        <p:grpSpPr>
          <a:xfrm>
            <a:off x="10062988" y="6388955"/>
            <a:ext cx="3089785" cy="636523"/>
            <a:chOff x="0" y="0"/>
            <a:chExt cx="812800" cy="167444"/>
          </a:xfrm>
        </p:grpSpPr>
        <p:sp>
          <p:nvSpPr>
            <p:cNvPr id="38" name="Freeform 38"/>
            <p:cNvSpPr/>
            <p:nvPr/>
          </p:nvSpPr>
          <p:spPr>
            <a:xfrm>
              <a:off x="0" y="0"/>
              <a:ext cx="812800" cy="167444"/>
            </a:xfrm>
            <a:custGeom>
              <a:avLst/>
              <a:gdLst/>
              <a:ahLst/>
              <a:cxnLst/>
              <a:rect l="l" t="t" r="r" b="b"/>
              <a:pathLst>
                <a:path w="812800" h="167444">
                  <a:moveTo>
                    <a:pt x="406400" y="0"/>
                  </a:moveTo>
                  <a:cubicBezTo>
                    <a:pt x="181951" y="0"/>
                    <a:pt x="0" y="37484"/>
                    <a:pt x="0" y="83722"/>
                  </a:cubicBezTo>
                  <a:cubicBezTo>
                    <a:pt x="0" y="129960"/>
                    <a:pt x="181951" y="167444"/>
                    <a:pt x="406400" y="167444"/>
                  </a:cubicBezTo>
                  <a:cubicBezTo>
                    <a:pt x="630849" y="167444"/>
                    <a:pt x="812800" y="129960"/>
                    <a:pt x="812800" y="83722"/>
                  </a:cubicBezTo>
                  <a:cubicBezTo>
                    <a:pt x="812800" y="37484"/>
                    <a:pt x="630849" y="0"/>
                    <a:pt x="406400" y="0"/>
                  </a:cubicBezTo>
                  <a:close/>
                </a:path>
              </a:pathLst>
            </a:custGeom>
            <a:ln w="9525" cap="sq">
              <a:solidFill>
                <a:srgbClr val="000000"/>
              </a:solidFill>
              <a:prstDash val="sysDot"/>
              <a:miter/>
            </a:ln>
          </p:spPr>
          <p:txBody>
            <a:bodyPr/>
            <a:lstStyle/>
            <a:p>
              <a:endParaRPr lang="en-GB"/>
            </a:p>
          </p:txBody>
        </p:sp>
        <p:sp>
          <p:nvSpPr>
            <p:cNvPr id="39" name="TextBox 39"/>
            <p:cNvSpPr txBox="1"/>
            <p:nvPr/>
          </p:nvSpPr>
          <p:spPr>
            <a:xfrm>
              <a:off x="76200" y="-127177"/>
              <a:ext cx="660400" cy="278923"/>
            </a:xfrm>
            <a:prstGeom prst="rect">
              <a:avLst/>
            </a:prstGeom>
          </p:spPr>
          <p:txBody>
            <a:bodyPr lIns="50800" tIns="50800" rIns="50800" bIns="50800" rtlCol="0" anchor="ctr"/>
            <a:lstStyle/>
            <a:p>
              <a:pPr algn="ctr">
                <a:lnSpc>
                  <a:spcPts val="4115"/>
                </a:lnSpc>
              </a:pPr>
              <a:r>
                <a:rPr lang="en-US" sz="2166" i="1" spc="32">
                  <a:solidFill>
                    <a:srgbClr val="000000"/>
                  </a:solidFill>
                  <a:latin typeface="Canva Sans Italics"/>
                  <a:ea typeface="Canva Sans Italics"/>
                  <a:cs typeface="Canva Sans Italics"/>
                  <a:sym typeface="Canva Sans Italics"/>
                </a:rPr>
                <a:t>Backpropogation</a:t>
              </a:r>
            </a:p>
          </p:txBody>
        </p:sp>
      </p:grpSp>
      <p:sp>
        <p:nvSpPr>
          <p:cNvPr id="40" name="TextBox 40"/>
          <p:cNvSpPr txBox="1"/>
          <p:nvPr/>
        </p:nvSpPr>
        <p:spPr>
          <a:xfrm>
            <a:off x="-191650" y="6802487"/>
            <a:ext cx="3275267" cy="415445"/>
          </a:xfrm>
          <a:prstGeom prst="rect">
            <a:avLst/>
          </a:prstGeom>
        </p:spPr>
        <p:txBody>
          <a:bodyPr lIns="0" tIns="0" rIns="0" bIns="0" rtlCol="0" anchor="t">
            <a:spAutoFit/>
          </a:bodyPr>
          <a:lstStyle/>
          <a:p>
            <a:pPr algn="ctr">
              <a:lnSpc>
                <a:spcPts val="3550"/>
              </a:lnSpc>
              <a:spcBef>
                <a:spcPct val="0"/>
              </a:spcBef>
            </a:pPr>
            <a:r>
              <a:rPr lang="en-US" sz="1868" i="1" spc="28">
                <a:solidFill>
                  <a:srgbClr val="000000"/>
                </a:solidFill>
                <a:latin typeface="Canva Sans Italics"/>
                <a:ea typeface="Canva Sans Italics"/>
                <a:cs typeface="Canva Sans Italics"/>
                <a:sym typeface="Canva Sans Italics"/>
              </a:rPr>
              <a:t>a_n agent n(s_n)</a:t>
            </a:r>
          </a:p>
        </p:txBody>
      </p:sp>
      <p:sp>
        <p:nvSpPr>
          <p:cNvPr id="41" name="AutoShape 41"/>
          <p:cNvSpPr/>
          <p:nvPr/>
        </p:nvSpPr>
        <p:spPr>
          <a:xfrm flipH="1">
            <a:off x="3760828" y="7217933"/>
            <a:ext cx="8326482" cy="731759"/>
          </a:xfrm>
          <a:prstGeom prst="line">
            <a:avLst/>
          </a:prstGeom>
          <a:ln w="19050" cap="flat">
            <a:solidFill>
              <a:srgbClr val="000000"/>
            </a:solidFill>
            <a:prstDash val="lgDash"/>
            <a:headEnd type="none" w="sm" len="sm"/>
            <a:tailEnd type="triangle" w="lg" len="med"/>
          </a:ln>
        </p:spPr>
        <p:txBody>
          <a:bodyPr/>
          <a:lstStyle/>
          <a:p>
            <a:endParaRPr lang="en-GB"/>
          </a:p>
        </p:txBody>
      </p:sp>
      <p:sp>
        <p:nvSpPr>
          <p:cNvPr id="42" name="AutoShape 42"/>
          <p:cNvSpPr/>
          <p:nvPr/>
        </p:nvSpPr>
        <p:spPr>
          <a:xfrm flipH="1" flipV="1">
            <a:off x="1445984" y="5633564"/>
            <a:ext cx="10686117" cy="1584369"/>
          </a:xfrm>
          <a:prstGeom prst="line">
            <a:avLst/>
          </a:prstGeom>
          <a:ln w="19050" cap="flat">
            <a:solidFill>
              <a:srgbClr val="000000"/>
            </a:solidFill>
            <a:prstDash val="lgDash"/>
            <a:headEnd type="none" w="sm" len="sm"/>
            <a:tailEnd type="triangle" w="lg" len="med"/>
          </a:ln>
        </p:spPr>
        <p:txBody>
          <a:bodyPr/>
          <a:lstStyle/>
          <a:p>
            <a:endParaRPr lang="en-GB"/>
          </a:p>
        </p:txBody>
      </p:sp>
      <p:sp>
        <p:nvSpPr>
          <p:cNvPr id="43" name="AutoShape 43"/>
          <p:cNvSpPr/>
          <p:nvPr/>
        </p:nvSpPr>
        <p:spPr>
          <a:xfrm flipH="1" flipV="1">
            <a:off x="1647997" y="2997497"/>
            <a:ext cx="10342492" cy="4220436"/>
          </a:xfrm>
          <a:prstGeom prst="line">
            <a:avLst/>
          </a:prstGeom>
          <a:ln w="19050" cap="flat">
            <a:solidFill>
              <a:srgbClr val="000000"/>
            </a:solidFill>
            <a:prstDash val="lgDash"/>
            <a:headEnd type="none" w="sm" len="sm"/>
            <a:tailEnd type="triangle" w="lg" len="med"/>
          </a:ln>
        </p:spPr>
        <p:txBody>
          <a:bodyPr/>
          <a:lstStyle/>
          <a:p>
            <a:endParaRPr lang="en-GB"/>
          </a:p>
        </p:txBody>
      </p:sp>
      <p:grpSp>
        <p:nvGrpSpPr>
          <p:cNvPr id="44" name="Group 44"/>
          <p:cNvGrpSpPr/>
          <p:nvPr/>
        </p:nvGrpSpPr>
        <p:grpSpPr>
          <a:xfrm>
            <a:off x="8625867" y="7886140"/>
            <a:ext cx="5199839" cy="707613"/>
            <a:chOff x="0" y="0"/>
            <a:chExt cx="1369505" cy="186367"/>
          </a:xfrm>
        </p:grpSpPr>
        <p:sp>
          <p:nvSpPr>
            <p:cNvPr id="45" name="Freeform 45"/>
            <p:cNvSpPr/>
            <p:nvPr/>
          </p:nvSpPr>
          <p:spPr>
            <a:xfrm>
              <a:off x="0" y="0"/>
              <a:ext cx="1369505" cy="186367"/>
            </a:xfrm>
            <a:custGeom>
              <a:avLst/>
              <a:gdLst/>
              <a:ahLst/>
              <a:cxnLst/>
              <a:rect l="l" t="t" r="r" b="b"/>
              <a:pathLst>
                <a:path w="1369505" h="186367">
                  <a:moveTo>
                    <a:pt x="1166305" y="0"/>
                  </a:moveTo>
                  <a:lnTo>
                    <a:pt x="203200" y="0"/>
                  </a:lnTo>
                  <a:lnTo>
                    <a:pt x="0" y="93184"/>
                  </a:lnTo>
                  <a:lnTo>
                    <a:pt x="203200" y="186367"/>
                  </a:lnTo>
                  <a:lnTo>
                    <a:pt x="1166305" y="186367"/>
                  </a:lnTo>
                  <a:lnTo>
                    <a:pt x="1369505" y="93184"/>
                  </a:lnTo>
                  <a:lnTo>
                    <a:pt x="1166305" y="0"/>
                  </a:lnTo>
                  <a:close/>
                </a:path>
              </a:pathLst>
            </a:custGeom>
            <a:solidFill>
              <a:srgbClr val="387EB8"/>
            </a:solidFill>
          </p:spPr>
          <p:txBody>
            <a:bodyPr/>
            <a:lstStyle/>
            <a:p>
              <a:endParaRPr lang="en-GB"/>
            </a:p>
          </p:txBody>
        </p:sp>
        <p:sp>
          <p:nvSpPr>
            <p:cNvPr id="46" name="TextBox 46"/>
            <p:cNvSpPr txBox="1"/>
            <p:nvPr/>
          </p:nvSpPr>
          <p:spPr>
            <a:xfrm>
              <a:off x="152400" y="-171450"/>
              <a:ext cx="1064705" cy="357817"/>
            </a:xfrm>
            <a:prstGeom prst="rect">
              <a:avLst/>
            </a:prstGeom>
          </p:spPr>
          <p:txBody>
            <a:bodyPr lIns="50800" tIns="50800" rIns="50800" bIns="50800" rtlCol="0" anchor="ctr"/>
            <a:lstStyle/>
            <a:p>
              <a:pPr algn="l">
                <a:lnSpc>
                  <a:spcPts val="4875"/>
                </a:lnSpc>
              </a:pPr>
              <a:r>
                <a:rPr lang="en-US" sz="2566" i="1" spc="38">
                  <a:solidFill>
                    <a:srgbClr val="FFFFFF"/>
                  </a:solidFill>
                  <a:latin typeface="Canva Sans Italics"/>
                  <a:ea typeface="Canva Sans Italics"/>
                  <a:cs typeface="Canva Sans Italics"/>
                  <a:sym typeface="Canva Sans Italics"/>
                </a:rPr>
                <a:t>Centralized Training Arc</a:t>
              </a:r>
            </a:p>
          </p:txBody>
        </p:sp>
      </p:grpSp>
      <p:sp>
        <p:nvSpPr>
          <p:cNvPr id="47" name="TextBox 47"/>
          <p:cNvSpPr txBox="1"/>
          <p:nvPr/>
        </p:nvSpPr>
        <p:spPr>
          <a:xfrm>
            <a:off x="-708309" y="1663288"/>
            <a:ext cx="3275267" cy="415445"/>
          </a:xfrm>
          <a:prstGeom prst="rect">
            <a:avLst/>
          </a:prstGeom>
        </p:spPr>
        <p:txBody>
          <a:bodyPr lIns="0" tIns="0" rIns="0" bIns="0" rtlCol="0" anchor="t">
            <a:spAutoFit/>
          </a:bodyPr>
          <a:lstStyle/>
          <a:p>
            <a:pPr algn="ctr">
              <a:lnSpc>
                <a:spcPts val="3550"/>
              </a:lnSpc>
              <a:spcBef>
                <a:spcPct val="0"/>
              </a:spcBef>
            </a:pPr>
            <a:r>
              <a:rPr lang="en-US" sz="1868" i="1" spc="28">
                <a:solidFill>
                  <a:srgbClr val="000000"/>
                </a:solidFill>
                <a:latin typeface="Canva Sans Italics"/>
                <a:ea typeface="Canva Sans Italics"/>
                <a:cs typeface="Canva Sans Italics"/>
                <a:sym typeface="Canva Sans Italics"/>
              </a:rPr>
              <a:t>a_1 agent_1(s_1)</a:t>
            </a:r>
          </a:p>
        </p:txBody>
      </p:sp>
      <p:sp>
        <p:nvSpPr>
          <p:cNvPr id="48" name="TextBox 48"/>
          <p:cNvSpPr txBox="1"/>
          <p:nvPr/>
        </p:nvSpPr>
        <p:spPr>
          <a:xfrm>
            <a:off x="10022431" y="360541"/>
            <a:ext cx="3271361" cy="444954"/>
          </a:xfrm>
          <a:prstGeom prst="rect">
            <a:avLst/>
          </a:prstGeom>
        </p:spPr>
        <p:txBody>
          <a:bodyPr lIns="0" tIns="0" rIns="0" bIns="0" rtlCol="0" anchor="t">
            <a:spAutoFit/>
          </a:bodyPr>
          <a:lstStyle/>
          <a:p>
            <a:pPr algn="ctr">
              <a:lnSpc>
                <a:spcPts val="3926"/>
              </a:lnSpc>
              <a:spcBef>
                <a:spcPct val="0"/>
              </a:spcBef>
            </a:pPr>
            <a:r>
              <a:rPr lang="en-US" sz="2066" spc="30">
                <a:solidFill>
                  <a:srgbClr val="000000"/>
                </a:solidFill>
                <a:latin typeface="Canva Sans"/>
                <a:ea typeface="Canva Sans"/>
                <a:cs typeface="Canva Sans"/>
                <a:sym typeface="Canva Sans"/>
              </a:rPr>
              <a:t>VDN Mixing Network</a:t>
            </a:r>
          </a:p>
        </p:txBody>
      </p:sp>
      <p:sp>
        <p:nvSpPr>
          <p:cNvPr id="49" name="TextBox 49"/>
          <p:cNvSpPr txBox="1"/>
          <p:nvPr/>
        </p:nvSpPr>
        <p:spPr>
          <a:xfrm>
            <a:off x="9876386" y="2266592"/>
            <a:ext cx="1070683" cy="445326"/>
          </a:xfrm>
          <a:prstGeom prst="rect">
            <a:avLst/>
          </a:prstGeom>
        </p:spPr>
        <p:txBody>
          <a:bodyPr lIns="0" tIns="0" rIns="0" bIns="0" rtlCol="0" anchor="t">
            <a:spAutoFit/>
          </a:bodyPr>
          <a:lstStyle/>
          <a:p>
            <a:pPr algn="ctr">
              <a:lnSpc>
                <a:spcPts val="3930"/>
              </a:lnSpc>
              <a:spcBef>
                <a:spcPct val="0"/>
              </a:spcBef>
            </a:pPr>
            <a:r>
              <a:rPr lang="en-US" sz="2068" b="1" i="1" spc="31">
                <a:solidFill>
                  <a:srgbClr val="000000"/>
                </a:solidFill>
                <a:latin typeface="Canva Sans Bold Italics"/>
                <a:ea typeface="Canva Sans Bold Italics"/>
                <a:cs typeface="Canva Sans Bold Italics"/>
                <a:sym typeface="Canva Sans Bold Italics"/>
              </a:rPr>
              <a:t>Q_tot</a:t>
            </a:r>
          </a:p>
        </p:txBody>
      </p:sp>
      <p:sp>
        <p:nvSpPr>
          <p:cNvPr id="50" name="TextBox 50"/>
          <p:cNvSpPr txBox="1"/>
          <p:nvPr/>
        </p:nvSpPr>
        <p:spPr>
          <a:xfrm>
            <a:off x="10494467" y="2266592"/>
            <a:ext cx="3275267" cy="445326"/>
          </a:xfrm>
          <a:prstGeom prst="rect">
            <a:avLst/>
          </a:prstGeom>
        </p:spPr>
        <p:txBody>
          <a:bodyPr lIns="0" tIns="0" rIns="0" bIns="0" rtlCol="0" anchor="t">
            <a:spAutoFit/>
          </a:bodyPr>
          <a:lstStyle/>
          <a:p>
            <a:pPr algn="ctr">
              <a:lnSpc>
                <a:spcPts val="3930"/>
              </a:lnSpc>
              <a:spcBef>
                <a:spcPct val="0"/>
              </a:spcBef>
            </a:pPr>
            <a:r>
              <a:rPr lang="en-US" sz="2068" b="1" i="1" spc="31">
                <a:solidFill>
                  <a:srgbClr val="000000"/>
                </a:solidFill>
                <a:latin typeface="Canva Sans Bold Italics"/>
                <a:ea typeface="Canva Sans Bold Italics"/>
                <a:cs typeface="Canva Sans Bold Italics"/>
                <a:sym typeface="Canva Sans Bold Italics"/>
              </a:rPr>
              <a:t>Global Reward (r)</a:t>
            </a:r>
          </a:p>
        </p:txBody>
      </p:sp>
      <p:sp>
        <p:nvSpPr>
          <p:cNvPr id="51" name="TextBox 51"/>
          <p:cNvSpPr txBox="1"/>
          <p:nvPr/>
        </p:nvSpPr>
        <p:spPr>
          <a:xfrm>
            <a:off x="9877506" y="5110463"/>
            <a:ext cx="3275267" cy="445326"/>
          </a:xfrm>
          <a:prstGeom prst="rect">
            <a:avLst/>
          </a:prstGeom>
        </p:spPr>
        <p:txBody>
          <a:bodyPr lIns="0" tIns="0" rIns="0" bIns="0" rtlCol="0" anchor="t">
            <a:spAutoFit/>
          </a:bodyPr>
          <a:lstStyle/>
          <a:p>
            <a:pPr algn="ctr">
              <a:lnSpc>
                <a:spcPts val="3930"/>
              </a:lnSpc>
              <a:spcBef>
                <a:spcPct val="0"/>
              </a:spcBef>
            </a:pPr>
            <a:r>
              <a:rPr lang="en-US" sz="2068" b="1" i="1" spc="31">
                <a:solidFill>
                  <a:srgbClr val="000000"/>
                </a:solidFill>
                <a:latin typeface="Canva Sans Bold Italics"/>
                <a:ea typeface="Canva Sans Bold Italics"/>
                <a:cs typeface="Canva Sans Bold Italics"/>
                <a:sym typeface="Canva Sans Bold Italics"/>
              </a:rPr>
              <a:t>loss</a:t>
            </a:r>
          </a:p>
        </p:txBody>
      </p:sp>
      <p:grpSp>
        <p:nvGrpSpPr>
          <p:cNvPr id="52" name="Group 52"/>
          <p:cNvGrpSpPr/>
          <p:nvPr/>
        </p:nvGrpSpPr>
        <p:grpSpPr>
          <a:xfrm>
            <a:off x="7296329" y="4147069"/>
            <a:ext cx="1711785" cy="3707246"/>
            <a:chOff x="0" y="0"/>
            <a:chExt cx="450303" cy="975229"/>
          </a:xfrm>
        </p:grpSpPr>
        <p:sp>
          <p:nvSpPr>
            <p:cNvPr id="53" name="Freeform 53"/>
            <p:cNvSpPr/>
            <p:nvPr/>
          </p:nvSpPr>
          <p:spPr>
            <a:xfrm>
              <a:off x="0" y="0"/>
              <a:ext cx="450303" cy="975230"/>
            </a:xfrm>
            <a:custGeom>
              <a:avLst/>
              <a:gdLst/>
              <a:ahLst/>
              <a:cxnLst/>
              <a:rect l="l" t="t" r="r" b="b"/>
              <a:pathLst>
                <a:path w="450303" h="975230">
                  <a:moveTo>
                    <a:pt x="0" y="0"/>
                  </a:moveTo>
                  <a:lnTo>
                    <a:pt x="450303" y="0"/>
                  </a:lnTo>
                  <a:lnTo>
                    <a:pt x="450303" y="975230"/>
                  </a:lnTo>
                  <a:lnTo>
                    <a:pt x="0" y="975230"/>
                  </a:lnTo>
                  <a:close/>
                </a:path>
              </a:pathLst>
            </a:custGeom>
            <a:ln w="9525" cap="sq">
              <a:solidFill>
                <a:srgbClr val="000000"/>
              </a:solidFill>
              <a:prstDash val="solid"/>
              <a:miter/>
            </a:ln>
          </p:spPr>
          <p:txBody>
            <a:bodyPr/>
            <a:lstStyle/>
            <a:p>
              <a:endParaRPr lang="en-GB"/>
            </a:p>
          </p:txBody>
        </p:sp>
        <p:sp>
          <p:nvSpPr>
            <p:cNvPr id="54" name="TextBox 54"/>
            <p:cNvSpPr txBox="1"/>
            <p:nvPr/>
          </p:nvSpPr>
          <p:spPr>
            <a:xfrm>
              <a:off x="0" y="-171450"/>
              <a:ext cx="450303" cy="1146679"/>
            </a:xfrm>
            <a:prstGeom prst="rect">
              <a:avLst/>
            </a:prstGeom>
          </p:spPr>
          <p:txBody>
            <a:bodyPr lIns="50800" tIns="50800" rIns="50800" bIns="50800" rtlCol="0" anchor="ctr"/>
            <a:lstStyle/>
            <a:p>
              <a:pPr algn="ctr">
                <a:lnSpc>
                  <a:spcPts val="4875"/>
                </a:lnSpc>
              </a:pPr>
              <a:endParaRPr/>
            </a:p>
          </p:txBody>
        </p:sp>
      </p:grpSp>
      <p:sp>
        <p:nvSpPr>
          <p:cNvPr id="55" name="Freeform 55"/>
          <p:cNvSpPr/>
          <p:nvPr/>
        </p:nvSpPr>
        <p:spPr>
          <a:xfrm>
            <a:off x="8660746" y="2295038"/>
            <a:ext cx="586239" cy="587807"/>
          </a:xfrm>
          <a:custGeom>
            <a:avLst/>
            <a:gdLst/>
            <a:ahLst/>
            <a:cxnLst/>
            <a:rect l="l" t="t" r="r" b="b"/>
            <a:pathLst>
              <a:path w="586239" h="587807">
                <a:moveTo>
                  <a:pt x="0" y="0"/>
                </a:moveTo>
                <a:lnTo>
                  <a:pt x="586239" y="0"/>
                </a:lnTo>
                <a:lnTo>
                  <a:pt x="586239" y="587807"/>
                </a:lnTo>
                <a:lnTo>
                  <a:pt x="0" y="587807"/>
                </a:lnTo>
                <a:lnTo>
                  <a:pt x="0" y="0"/>
                </a:lnTo>
                <a:close/>
              </a:path>
            </a:pathLst>
          </a:custGeom>
          <a:blipFill>
            <a:blip>
              <a:extLst>
                <a:ext uri="{96DAC541-7B7A-43D3-8B79-37D633B846F1}">
                  <asvg:svgBlip xmlns:asvg="http://schemas.microsoft.com/office/drawing/2016/SVG/main" r:embed="rId8"/>
                </a:ext>
              </a:extLst>
            </a:blip>
            <a:stretch>
              <a:fillRect/>
            </a:stretch>
          </a:blipFill>
        </p:spPr>
        <p:txBody>
          <a:bodyPr/>
          <a:lstStyle/>
          <a:p>
            <a:endParaRPr lang="en-GB"/>
          </a:p>
        </p:txBody>
      </p:sp>
      <p:sp>
        <p:nvSpPr>
          <p:cNvPr id="56" name="Freeform 56"/>
          <p:cNvSpPr/>
          <p:nvPr/>
        </p:nvSpPr>
        <p:spPr>
          <a:xfrm>
            <a:off x="9955909" y="918039"/>
            <a:ext cx="586239" cy="587807"/>
          </a:xfrm>
          <a:custGeom>
            <a:avLst/>
            <a:gdLst/>
            <a:ahLst/>
            <a:cxnLst/>
            <a:rect l="l" t="t" r="r" b="b"/>
            <a:pathLst>
              <a:path w="586239" h="587807">
                <a:moveTo>
                  <a:pt x="0" y="0"/>
                </a:moveTo>
                <a:lnTo>
                  <a:pt x="586240" y="0"/>
                </a:lnTo>
                <a:lnTo>
                  <a:pt x="586240" y="587807"/>
                </a:lnTo>
                <a:lnTo>
                  <a:pt x="0" y="587807"/>
                </a:lnTo>
                <a:lnTo>
                  <a:pt x="0" y="0"/>
                </a:lnTo>
                <a:close/>
              </a:path>
            </a:pathLst>
          </a:custGeom>
          <a:blipFill>
            <a:blip>
              <a:extLst>
                <a:ext uri="{96DAC541-7B7A-43D3-8B79-37D633B846F1}">
                  <asvg:svgBlip xmlns:asvg="http://schemas.microsoft.com/office/drawing/2016/SVG/main" r:embed="rId8"/>
                </a:ext>
              </a:extLst>
            </a:blip>
            <a:stretch>
              <a:fillRect/>
            </a:stretch>
          </a:blipFill>
        </p:spPr>
        <p:txBody>
          <a:bodyPr/>
          <a:lstStyle/>
          <a:p>
            <a:endParaRPr lang="en-GB"/>
          </a:p>
        </p:txBody>
      </p:sp>
      <p:sp>
        <p:nvSpPr>
          <p:cNvPr id="57" name="Freeform 57"/>
          <p:cNvSpPr/>
          <p:nvPr/>
        </p:nvSpPr>
        <p:spPr>
          <a:xfrm>
            <a:off x="7394061" y="4269164"/>
            <a:ext cx="1559805" cy="1563976"/>
          </a:xfrm>
          <a:custGeom>
            <a:avLst/>
            <a:gdLst/>
            <a:ahLst/>
            <a:cxnLst/>
            <a:rect l="l" t="t" r="r" b="b"/>
            <a:pathLst>
              <a:path w="1559805" h="1563976">
                <a:moveTo>
                  <a:pt x="0" y="0"/>
                </a:moveTo>
                <a:lnTo>
                  <a:pt x="1559805" y="0"/>
                </a:lnTo>
                <a:lnTo>
                  <a:pt x="1559805" y="1563975"/>
                </a:lnTo>
                <a:lnTo>
                  <a:pt x="0" y="1563975"/>
                </a:lnTo>
                <a:lnTo>
                  <a:pt x="0" y="0"/>
                </a:lnTo>
                <a:close/>
              </a:path>
            </a:pathLst>
          </a:custGeom>
          <a:blipFill>
            <a:blip>
              <a:extLst>
                <a:ext uri="{96DAC541-7B7A-43D3-8B79-37D633B846F1}">
                  <asvg:svgBlip xmlns:asvg="http://schemas.microsoft.com/office/drawing/2016/SVG/main" r:embed="rId8"/>
                </a:ext>
              </a:extLst>
            </a:blip>
            <a:stretch>
              <a:fillRect/>
            </a:stretch>
          </a:blipFill>
        </p:spPr>
        <p:txBody>
          <a:bodyPr/>
          <a:lstStyle/>
          <a:p>
            <a:endParaRPr lang="en-GB"/>
          </a:p>
        </p:txBody>
      </p:sp>
      <p:grpSp>
        <p:nvGrpSpPr>
          <p:cNvPr id="58" name="Group 58"/>
          <p:cNvGrpSpPr/>
          <p:nvPr/>
        </p:nvGrpSpPr>
        <p:grpSpPr>
          <a:xfrm>
            <a:off x="13152773" y="7886140"/>
            <a:ext cx="6000923" cy="707613"/>
            <a:chOff x="0" y="0"/>
            <a:chExt cx="1580490" cy="186367"/>
          </a:xfrm>
        </p:grpSpPr>
        <p:sp>
          <p:nvSpPr>
            <p:cNvPr id="59" name="Freeform 59"/>
            <p:cNvSpPr/>
            <p:nvPr/>
          </p:nvSpPr>
          <p:spPr>
            <a:xfrm>
              <a:off x="0" y="0"/>
              <a:ext cx="1580490" cy="186367"/>
            </a:xfrm>
            <a:custGeom>
              <a:avLst/>
              <a:gdLst/>
              <a:ahLst/>
              <a:cxnLst/>
              <a:rect l="l" t="t" r="r" b="b"/>
              <a:pathLst>
                <a:path w="1580490" h="186367">
                  <a:moveTo>
                    <a:pt x="1377290" y="0"/>
                  </a:moveTo>
                  <a:lnTo>
                    <a:pt x="203200" y="0"/>
                  </a:lnTo>
                  <a:lnTo>
                    <a:pt x="0" y="93184"/>
                  </a:lnTo>
                  <a:lnTo>
                    <a:pt x="203200" y="186367"/>
                  </a:lnTo>
                  <a:lnTo>
                    <a:pt x="1377290" y="186367"/>
                  </a:lnTo>
                  <a:lnTo>
                    <a:pt x="1580490" y="93184"/>
                  </a:lnTo>
                  <a:lnTo>
                    <a:pt x="1377290" y="0"/>
                  </a:lnTo>
                  <a:close/>
                </a:path>
              </a:pathLst>
            </a:custGeom>
            <a:solidFill>
              <a:srgbClr val="387EB8"/>
            </a:solidFill>
          </p:spPr>
          <p:txBody>
            <a:bodyPr/>
            <a:lstStyle/>
            <a:p>
              <a:endParaRPr lang="en-GB"/>
            </a:p>
          </p:txBody>
        </p:sp>
        <p:sp>
          <p:nvSpPr>
            <p:cNvPr id="60" name="TextBox 60"/>
            <p:cNvSpPr txBox="1"/>
            <p:nvPr/>
          </p:nvSpPr>
          <p:spPr>
            <a:xfrm>
              <a:off x="152400" y="-171450"/>
              <a:ext cx="1275690" cy="357817"/>
            </a:xfrm>
            <a:prstGeom prst="rect">
              <a:avLst/>
            </a:prstGeom>
          </p:spPr>
          <p:txBody>
            <a:bodyPr lIns="50800" tIns="50800" rIns="50800" bIns="50800" rtlCol="0" anchor="ctr"/>
            <a:lstStyle/>
            <a:p>
              <a:pPr algn="r">
                <a:lnSpc>
                  <a:spcPts val="4875"/>
                </a:lnSpc>
              </a:pPr>
              <a:r>
                <a:rPr lang="en-US" sz="2566" i="1" spc="38">
                  <a:solidFill>
                    <a:srgbClr val="FFFFFF"/>
                  </a:solidFill>
                  <a:latin typeface="Canva Sans Italics"/>
                  <a:ea typeface="Canva Sans Italics"/>
                  <a:cs typeface="Canva Sans Italics"/>
                  <a:sym typeface="Canva Sans Italics"/>
                </a:rPr>
                <a:t>Decentralized Execution Arc</a:t>
              </a:r>
            </a:p>
          </p:txBody>
        </p:sp>
      </p:grpSp>
      <p:sp>
        <p:nvSpPr>
          <p:cNvPr id="61" name="Freeform 61"/>
          <p:cNvSpPr/>
          <p:nvPr/>
        </p:nvSpPr>
        <p:spPr>
          <a:xfrm>
            <a:off x="16769049" y="1961656"/>
            <a:ext cx="759837" cy="1007112"/>
          </a:xfrm>
          <a:custGeom>
            <a:avLst/>
            <a:gdLst/>
            <a:ahLst/>
            <a:cxnLst/>
            <a:rect l="l" t="t" r="r" b="b"/>
            <a:pathLst>
              <a:path w="759837" h="1007112">
                <a:moveTo>
                  <a:pt x="0" y="0"/>
                </a:moveTo>
                <a:lnTo>
                  <a:pt x="759837" y="0"/>
                </a:lnTo>
                <a:lnTo>
                  <a:pt x="759837" y="1007111"/>
                </a:lnTo>
                <a:lnTo>
                  <a:pt x="0" y="1007111"/>
                </a:lnTo>
                <a:lnTo>
                  <a:pt x="0" y="0"/>
                </a:lnTo>
                <a:close/>
              </a:path>
            </a:pathLst>
          </a:custGeom>
          <a:blipFill>
            <a:blip r:embed="rId3"/>
            <a:stretch>
              <a:fillRect/>
            </a:stretch>
          </a:blipFill>
        </p:spPr>
        <p:txBody>
          <a:bodyPr/>
          <a:lstStyle/>
          <a:p>
            <a:endParaRPr lang="en-GB"/>
          </a:p>
        </p:txBody>
      </p:sp>
      <p:sp>
        <p:nvSpPr>
          <p:cNvPr id="62" name="Freeform 62"/>
          <p:cNvSpPr/>
          <p:nvPr/>
        </p:nvSpPr>
        <p:spPr>
          <a:xfrm>
            <a:off x="15465184" y="783533"/>
            <a:ext cx="3367567" cy="3363358"/>
          </a:xfrm>
          <a:custGeom>
            <a:avLst/>
            <a:gdLst/>
            <a:ahLst/>
            <a:cxnLst/>
            <a:rect l="l" t="t" r="r" b="b"/>
            <a:pathLst>
              <a:path w="3367567" h="3363358">
                <a:moveTo>
                  <a:pt x="0" y="0"/>
                </a:moveTo>
                <a:lnTo>
                  <a:pt x="3367568" y="0"/>
                </a:lnTo>
                <a:lnTo>
                  <a:pt x="3367568" y="3363358"/>
                </a:lnTo>
                <a:lnTo>
                  <a:pt x="0" y="3363358"/>
                </a:lnTo>
                <a:lnTo>
                  <a:pt x="0" y="0"/>
                </a:lnTo>
                <a:close/>
              </a:path>
            </a:pathLst>
          </a:custGeom>
          <a:blipFill>
            <a:blip r:embed="rId4"/>
            <a:stretch>
              <a:fillRect/>
            </a:stretch>
          </a:blipFill>
        </p:spPr>
        <p:txBody>
          <a:bodyPr/>
          <a:lstStyle/>
          <a:p>
            <a:endParaRPr lang="en-GB"/>
          </a:p>
        </p:txBody>
      </p:sp>
      <p:sp>
        <p:nvSpPr>
          <p:cNvPr id="63" name="Freeform 63"/>
          <p:cNvSpPr/>
          <p:nvPr/>
        </p:nvSpPr>
        <p:spPr>
          <a:xfrm>
            <a:off x="16217943" y="4146891"/>
            <a:ext cx="1862049" cy="1862049"/>
          </a:xfrm>
          <a:custGeom>
            <a:avLst/>
            <a:gdLst/>
            <a:ahLst/>
            <a:cxnLst/>
            <a:rect l="l" t="t" r="r" b="b"/>
            <a:pathLst>
              <a:path w="1862049" h="1862049">
                <a:moveTo>
                  <a:pt x="0" y="0"/>
                </a:moveTo>
                <a:lnTo>
                  <a:pt x="1862050" y="0"/>
                </a:lnTo>
                <a:lnTo>
                  <a:pt x="1862050" y="1862049"/>
                </a:lnTo>
                <a:lnTo>
                  <a:pt x="0" y="1862049"/>
                </a:lnTo>
                <a:lnTo>
                  <a:pt x="0" y="0"/>
                </a:lnTo>
                <a:close/>
              </a:path>
            </a:pathLst>
          </a:custGeom>
          <a:blipFill>
            <a:blip>
              <a:extLst>
                <a:ext uri="{96DAC541-7B7A-43D3-8B79-37D633B846F1}">
                  <asvg:svgBlip xmlns:asvg="http://schemas.microsoft.com/office/drawing/2016/SVG/main" r:embed="rId5"/>
                </a:ext>
              </a:extLst>
            </a:blip>
            <a:stretch>
              <a:fillRect/>
            </a:stretch>
          </a:blipFill>
        </p:spPr>
        <p:txBody>
          <a:bodyPr/>
          <a:lstStyle/>
          <a:p>
            <a:endParaRPr lang="en-GB"/>
          </a:p>
        </p:txBody>
      </p:sp>
      <p:sp>
        <p:nvSpPr>
          <p:cNvPr id="64" name="Freeform 64"/>
          <p:cNvSpPr/>
          <p:nvPr/>
        </p:nvSpPr>
        <p:spPr>
          <a:xfrm>
            <a:off x="16940603" y="5990996"/>
            <a:ext cx="1177978" cy="1664987"/>
          </a:xfrm>
          <a:custGeom>
            <a:avLst/>
            <a:gdLst/>
            <a:ahLst/>
            <a:cxnLst/>
            <a:rect l="l" t="t" r="r" b="b"/>
            <a:pathLst>
              <a:path w="1177978" h="1664987">
                <a:moveTo>
                  <a:pt x="0" y="0"/>
                </a:moveTo>
                <a:lnTo>
                  <a:pt x="1177978" y="0"/>
                </a:lnTo>
                <a:lnTo>
                  <a:pt x="1177978" y="1664987"/>
                </a:lnTo>
                <a:lnTo>
                  <a:pt x="0" y="1664987"/>
                </a:lnTo>
                <a:lnTo>
                  <a:pt x="0" y="0"/>
                </a:lnTo>
                <a:close/>
              </a:path>
            </a:pathLst>
          </a:custGeom>
          <a:blipFill>
            <a:blip>
              <a:extLst>
                <a:ext uri="{96DAC541-7B7A-43D3-8B79-37D633B846F1}">
                  <asvg:svgBlip xmlns:asvg="http://schemas.microsoft.com/office/drawing/2016/SVG/main" r:embed="rId6"/>
                </a:ext>
              </a:extLst>
            </a:blip>
            <a:stretch>
              <a:fillRect/>
            </a:stretch>
          </a:blipFill>
        </p:spPr>
        <p:txBody>
          <a:bodyPr/>
          <a:lstStyle/>
          <a:p>
            <a:endParaRPr lang="en-GB"/>
          </a:p>
        </p:txBody>
      </p:sp>
      <p:sp>
        <p:nvSpPr>
          <p:cNvPr id="65" name="Freeform 65"/>
          <p:cNvSpPr/>
          <p:nvPr/>
        </p:nvSpPr>
        <p:spPr>
          <a:xfrm>
            <a:off x="16728518" y="4469873"/>
            <a:ext cx="759837" cy="1007112"/>
          </a:xfrm>
          <a:custGeom>
            <a:avLst/>
            <a:gdLst/>
            <a:ahLst/>
            <a:cxnLst/>
            <a:rect l="l" t="t" r="r" b="b"/>
            <a:pathLst>
              <a:path w="759837" h="1007112">
                <a:moveTo>
                  <a:pt x="0" y="0"/>
                </a:moveTo>
                <a:lnTo>
                  <a:pt x="759837" y="0"/>
                </a:lnTo>
                <a:lnTo>
                  <a:pt x="759837" y="1007112"/>
                </a:lnTo>
                <a:lnTo>
                  <a:pt x="0" y="1007112"/>
                </a:lnTo>
                <a:lnTo>
                  <a:pt x="0" y="0"/>
                </a:lnTo>
                <a:close/>
              </a:path>
            </a:pathLst>
          </a:custGeom>
          <a:blipFill>
            <a:blip r:embed="rId3"/>
            <a:stretch>
              <a:fillRect/>
            </a:stretch>
          </a:blipFill>
        </p:spPr>
        <p:txBody>
          <a:bodyPr/>
          <a:lstStyle/>
          <a:p>
            <a:endParaRPr lang="en-GB"/>
          </a:p>
        </p:txBody>
      </p:sp>
      <p:sp>
        <p:nvSpPr>
          <p:cNvPr id="66" name="Freeform 66"/>
          <p:cNvSpPr/>
          <p:nvPr/>
        </p:nvSpPr>
        <p:spPr>
          <a:xfrm>
            <a:off x="16769755" y="6253794"/>
            <a:ext cx="759837" cy="1007112"/>
          </a:xfrm>
          <a:custGeom>
            <a:avLst/>
            <a:gdLst/>
            <a:ahLst/>
            <a:cxnLst/>
            <a:rect l="l" t="t" r="r" b="b"/>
            <a:pathLst>
              <a:path w="759837" h="1007112">
                <a:moveTo>
                  <a:pt x="0" y="0"/>
                </a:moveTo>
                <a:lnTo>
                  <a:pt x="759837" y="0"/>
                </a:lnTo>
                <a:lnTo>
                  <a:pt x="759837" y="1007112"/>
                </a:lnTo>
                <a:lnTo>
                  <a:pt x="0" y="1007112"/>
                </a:lnTo>
                <a:lnTo>
                  <a:pt x="0" y="0"/>
                </a:lnTo>
                <a:close/>
              </a:path>
            </a:pathLst>
          </a:custGeom>
          <a:blipFill>
            <a:blip r:embed="rId3"/>
            <a:stretch>
              <a:fillRect/>
            </a:stretch>
          </a:blipFill>
        </p:spPr>
        <p:txBody>
          <a:bodyPr/>
          <a:lstStyle/>
          <a:p>
            <a:endParaRPr lang="en-GB"/>
          </a:p>
        </p:txBody>
      </p:sp>
      <p:sp>
        <p:nvSpPr>
          <p:cNvPr id="67" name="AutoShape 67"/>
          <p:cNvSpPr/>
          <p:nvPr/>
        </p:nvSpPr>
        <p:spPr>
          <a:xfrm>
            <a:off x="13544613" y="-541698"/>
            <a:ext cx="0" cy="8953771"/>
          </a:xfrm>
          <a:prstGeom prst="line">
            <a:avLst/>
          </a:prstGeom>
          <a:ln w="38100" cap="flat">
            <a:solidFill>
              <a:srgbClr val="FF3131"/>
            </a:solidFill>
            <a:prstDash val="solid"/>
            <a:headEnd type="none" w="sm" len="sm"/>
            <a:tailEnd type="none" w="sm" len="sm"/>
          </a:ln>
        </p:spPr>
        <p:txBody>
          <a:bodyPr/>
          <a:lstStyle/>
          <a:p>
            <a:endParaRPr lang="en-GB"/>
          </a:p>
        </p:txBody>
      </p:sp>
      <p:sp>
        <p:nvSpPr>
          <p:cNvPr id="68" name="TextBox 68"/>
          <p:cNvSpPr txBox="1"/>
          <p:nvPr/>
        </p:nvSpPr>
        <p:spPr>
          <a:xfrm>
            <a:off x="14431616" y="1240518"/>
            <a:ext cx="2067136" cy="430733"/>
          </a:xfrm>
          <a:prstGeom prst="rect">
            <a:avLst/>
          </a:prstGeom>
        </p:spPr>
        <p:txBody>
          <a:bodyPr lIns="0" tIns="0" rIns="0" bIns="0" rtlCol="0" anchor="t">
            <a:spAutoFit/>
          </a:bodyPr>
          <a:lstStyle/>
          <a:p>
            <a:pPr algn="r">
              <a:lnSpc>
                <a:spcPts val="1682"/>
              </a:lnSpc>
            </a:pPr>
            <a:r>
              <a:rPr lang="en-US" sz="1666" b="1" i="1" spc="24">
                <a:solidFill>
                  <a:srgbClr val="000000"/>
                </a:solidFill>
                <a:latin typeface="Canva Sans Bold Italics"/>
                <a:ea typeface="Canva Sans Bold Italics"/>
                <a:cs typeface="Canva Sans Bold Italics"/>
                <a:sym typeface="Canva Sans Bold Italics"/>
              </a:rPr>
              <a:t>Trained Local Policy Network</a:t>
            </a:r>
          </a:p>
        </p:txBody>
      </p:sp>
      <p:sp>
        <p:nvSpPr>
          <p:cNvPr id="69" name="TextBox 69"/>
          <p:cNvSpPr txBox="1"/>
          <p:nvPr/>
        </p:nvSpPr>
        <p:spPr>
          <a:xfrm>
            <a:off x="14661382" y="4216894"/>
            <a:ext cx="2067136" cy="430733"/>
          </a:xfrm>
          <a:prstGeom prst="rect">
            <a:avLst/>
          </a:prstGeom>
        </p:spPr>
        <p:txBody>
          <a:bodyPr lIns="0" tIns="0" rIns="0" bIns="0" rtlCol="0" anchor="t">
            <a:spAutoFit/>
          </a:bodyPr>
          <a:lstStyle/>
          <a:p>
            <a:pPr algn="r">
              <a:lnSpc>
                <a:spcPts val="1682"/>
              </a:lnSpc>
            </a:pPr>
            <a:r>
              <a:rPr lang="en-US" sz="1666" b="1" i="1" spc="24">
                <a:solidFill>
                  <a:srgbClr val="000000"/>
                </a:solidFill>
                <a:latin typeface="Canva Sans Bold Italics"/>
                <a:ea typeface="Canva Sans Bold Italics"/>
                <a:cs typeface="Canva Sans Bold Italics"/>
                <a:sym typeface="Canva Sans Bold Italics"/>
              </a:rPr>
              <a:t>Trained Local Policy Network</a:t>
            </a:r>
          </a:p>
        </p:txBody>
      </p:sp>
      <p:sp>
        <p:nvSpPr>
          <p:cNvPr id="70" name="TextBox 70"/>
          <p:cNvSpPr txBox="1"/>
          <p:nvPr/>
        </p:nvSpPr>
        <p:spPr>
          <a:xfrm>
            <a:off x="14801913" y="5768260"/>
            <a:ext cx="2067136" cy="430733"/>
          </a:xfrm>
          <a:prstGeom prst="rect">
            <a:avLst/>
          </a:prstGeom>
        </p:spPr>
        <p:txBody>
          <a:bodyPr lIns="0" tIns="0" rIns="0" bIns="0" rtlCol="0" anchor="t">
            <a:spAutoFit/>
          </a:bodyPr>
          <a:lstStyle/>
          <a:p>
            <a:pPr algn="r">
              <a:lnSpc>
                <a:spcPts val="1682"/>
              </a:lnSpc>
            </a:pPr>
            <a:r>
              <a:rPr lang="en-US" sz="1666" b="1" i="1" spc="24">
                <a:solidFill>
                  <a:srgbClr val="000000"/>
                </a:solidFill>
                <a:latin typeface="Canva Sans Bold Italics"/>
                <a:ea typeface="Canva Sans Bold Italics"/>
                <a:cs typeface="Canva Sans Bold Italics"/>
                <a:sym typeface="Canva Sans Bold Italics"/>
              </a:rPr>
              <a:t>Trained Local Policy Network</a:t>
            </a:r>
          </a:p>
        </p:txBody>
      </p:sp>
    </p:spTree>
  </p:cSld>
  <p:clrMapOvr>
    <a:masterClrMapping/>
  </p:clrMapOvr>
  <p:transition>
    <p:fade/>
  </p:transition>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2212</Words>
  <Application>Microsoft Office PowerPoint</Application>
  <PresentationFormat>Custom</PresentationFormat>
  <Paragraphs>354</Paragraphs>
  <Slides>25</Slides>
  <Notes>4</Notes>
  <HiddenSlides>0</HiddenSlides>
  <MMClips>0</MMClips>
  <ScaleCrop>false</ScaleCrop>
  <HeadingPairs>
    <vt:vector size="8" baseType="variant">
      <vt:variant>
        <vt:lpstr>Fonts Used</vt:lpstr>
      </vt:variant>
      <vt:variant>
        <vt:i4>14</vt:i4>
      </vt:variant>
      <vt:variant>
        <vt:lpstr>Theme</vt:lpstr>
      </vt:variant>
      <vt:variant>
        <vt:i4>1</vt:i4>
      </vt:variant>
      <vt:variant>
        <vt:lpstr>Embedded OLE Servers</vt:lpstr>
      </vt:variant>
      <vt:variant>
        <vt:i4>1</vt:i4>
      </vt:variant>
      <vt:variant>
        <vt:lpstr>Slide Titles</vt:lpstr>
      </vt:variant>
      <vt:variant>
        <vt:i4>25</vt:i4>
      </vt:variant>
    </vt:vector>
  </HeadingPairs>
  <TitlesOfParts>
    <vt:vector size="41" baseType="lpstr">
      <vt:lpstr>Canva Sans Bold</vt:lpstr>
      <vt:lpstr>Canva Sans</vt:lpstr>
      <vt:lpstr>Calibri</vt:lpstr>
      <vt:lpstr>Canva Sans Italics</vt:lpstr>
      <vt:lpstr>Open Sans Bold</vt:lpstr>
      <vt:lpstr>Canva Sans Bold Italics</vt:lpstr>
      <vt:lpstr>Times New Roman</vt:lpstr>
      <vt:lpstr>Open Sans</vt:lpstr>
      <vt:lpstr>Arial</vt:lpstr>
      <vt:lpstr>The Seasons Bold</vt:lpstr>
      <vt:lpstr>Times New Roman Bold Italics</vt:lpstr>
      <vt:lpstr>The Seasons</vt:lpstr>
      <vt:lpstr>Lato Bold</vt:lpstr>
      <vt:lpstr>Times New Roman Bold</vt:lpstr>
      <vt:lpstr>Office Theme</vt:lpstr>
      <vt:lpstr>Worksheet</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PP2 of Smart Traffic Flow Optimization with Multi Agent Reinforcement Learning</dc:title>
  <dc:creator>Sangeerthan Sivananthan</dc:creator>
  <cp:lastModifiedBy>SANGEERTHAN S it22346568</cp:lastModifiedBy>
  <cp:revision>3</cp:revision>
  <dcterms:created xsi:type="dcterms:W3CDTF">2006-08-16T00:00:00Z</dcterms:created>
  <dcterms:modified xsi:type="dcterms:W3CDTF">2026-05-04T02:05:42Z</dcterms:modified>
  <dc:identifier>DAHDJMAq1HA</dc:identifier>
</cp:coreProperties>
</file>