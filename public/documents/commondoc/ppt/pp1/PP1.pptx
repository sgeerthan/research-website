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8288000" cy="10287000"/>
  <p:notesSz cx="6858000" cy="9144000"/>
  <p:embeddedFontLst>
    <p:embeddedFont>
      <p:font typeface="Canva Sans" panose="020B0604020202020204" charset="0"/>
      <p:regular r:id="rId26"/>
    </p:embeddedFont>
    <p:embeddedFont>
      <p:font typeface="Canva Sans Bold" panose="020B0604020202020204" charset="0"/>
      <p:regular r:id="rId27"/>
    </p:embeddedFont>
    <p:embeddedFont>
      <p:font typeface="Canva Sans Bold Italics" panose="020B0604020202020204" charset="0"/>
      <p:regular r:id="rId28"/>
    </p:embeddedFont>
    <p:embeddedFont>
      <p:font typeface="Canva Sans Italics" panose="020B0604020202020204" charset="0"/>
      <p:regular r:id="rId29"/>
    </p:embeddedFont>
    <p:embeddedFont>
      <p:font typeface="Lato Bold" panose="020B0604020202020204" charset="0"/>
      <p:regular r:id="rId30"/>
    </p:embeddedFont>
    <p:embeddedFont>
      <p:font typeface="Open Sans" panose="020B0606030504020204" pitchFamily="34" charset="0"/>
      <p:regular r:id="rId31"/>
    </p:embeddedFont>
    <p:embeddedFont>
      <p:font typeface="Open Sans Bold" panose="020B0806030504020204" charset="0"/>
      <p:regular r:id="rId32"/>
    </p:embeddedFont>
    <p:embeddedFont>
      <p:font typeface="The Seasons" panose="020B0604020202020204" charset="0"/>
      <p:regular r:id="rId33"/>
    </p:embeddedFont>
    <p:embeddedFont>
      <p:font typeface="The Seasons Bold"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7" d="100"/>
          <a:sy n="37" d="100"/>
        </p:scale>
        <p:origin x="98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04.05.2026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multi agentic network. each takes their local observations (queue lengths, waiting times etc) and outputs and actions. </a:t>
            </a:r>
          </a:p>
          <a:p>
            <a:endParaRPr lang="en-US"/>
          </a:p>
          <a:p>
            <a:r>
              <a:rPr lang="en-US"/>
              <a:t>these observations and actions are used to create their Q value through their NN and all are stored in this experience replay buffer.</a:t>
            </a:r>
          </a:p>
          <a:p>
            <a:endParaRPr lang="en-US"/>
          </a:p>
          <a:p>
            <a:r>
              <a:rPr lang="en-US"/>
              <a:t>a small batch of these expereinces along with the cumulative Q value will be fed into the VDN mixing network and there it will will compared within the optimizer (adam) to output the loss through thr loss fucntion. </a:t>
            </a:r>
          </a:p>
          <a:p>
            <a:endParaRPr lang="en-US"/>
          </a:p>
          <a:p>
            <a:endParaRPr lang="en-US"/>
          </a:p>
          <a:p>
            <a:r>
              <a:rPr lang="en-US"/>
              <a:t> the error signal from this loss is backpropagated through the Mixing Network and down into the individual networks of every agent. This updates all agent networks to improve their collective performance.</a:t>
            </a:r>
          </a:p>
          <a:p>
            <a:endParaRPr lang="en-US"/>
          </a:p>
          <a:p>
            <a:r>
              <a:rPr lang="en-US"/>
              <a:t>loop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Academic Value &amp; Funding:</a:t>
            </a:r>
          </a:p>
          <a:p>
            <a:endParaRPr lang="en-US"/>
          </a:p>
          <a:p>
            <a:r>
              <a:rPr lang="en-US"/>
              <a:t>Project recognized under final-year research, reducing future academic costs.</a:t>
            </a:r>
          </a:p>
          <a:p>
            <a:endParaRPr lang="en-US"/>
          </a:p>
          <a:p>
            <a:r>
              <a:rPr lang="en-US"/>
              <a:t>Potential for university research grants or government innovation funds (ITS/AI).</a:t>
            </a:r>
          </a:p>
          <a:p>
            <a:endParaRPr lang="en-US"/>
          </a:p>
          <a:p>
            <a:r>
              <a:rPr lang="en-US"/>
              <a:t>Commercialization &amp; Cost Recovery:</a:t>
            </a:r>
          </a:p>
          <a:p>
            <a:endParaRPr lang="en-US"/>
          </a:p>
          <a:p>
            <a:r>
              <a:rPr lang="en-US"/>
              <a:t>Licensing to municipalities / smart city projects for real-time traffic management.</a:t>
            </a:r>
          </a:p>
          <a:p>
            <a:endParaRPr lang="en-US"/>
          </a:p>
          <a:p>
            <a:r>
              <a:rPr lang="en-US"/>
              <a:t>Subscription-based dashboard service for traffic departments (monthly hosting fees).</a:t>
            </a:r>
          </a:p>
          <a:p>
            <a:endParaRPr lang="en-US"/>
          </a:p>
          <a:p>
            <a:r>
              <a:rPr lang="en-US"/>
              <a:t>Partnerships with transportation authorities → deployment reduces congestion &amp; fuel loss → cost justified.</a:t>
            </a:r>
          </a:p>
          <a:p>
            <a:endParaRPr lang="en-US"/>
          </a:p>
          <a:p>
            <a:r>
              <a:rPr lang="en-US"/>
              <a:t>Scalability &amp; Sustainability:</a:t>
            </a:r>
          </a:p>
          <a:p>
            <a:endParaRPr lang="en-US"/>
          </a:p>
          <a:p>
            <a:r>
              <a:rPr lang="en-US"/>
              <a:t>Cloud-based infrastructure can be scaled with minimal recurring costs.</a:t>
            </a:r>
          </a:p>
          <a:p>
            <a:endParaRPr lang="en-US"/>
          </a:p>
          <a:p>
            <a:r>
              <a:rPr lang="en-US"/>
              <a:t>Once deployed, low maintenance compared to infrastructure-heavy solutions.</a:t>
            </a:r>
          </a:p>
          <a:p>
            <a:endParaRPr lang="en-US"/>
          </a:p>
          <a:p>
            <a:r>
              <a:rPr lang="en-US"/>
              <a:t>Future integration into Sri Lanka Intelligent Transportation Systems (ITS) can open commercialization opportunities.</a:t>
            </a:r>
          </a:p>
          <a:p>
            <a:endParaRPr lang="en-US"/>
          </a:p>
          <a:p>
            <a:r>
              <a:rPr lang="en-US"/>
              <a:t>Recovery Path: Initial cost (~LKR 130,000) is recovered through a combination of research funding, institutional adoption, and future commercialization of the traffic optimization platform.</a:t>
            </a:r>
          </a:p>
          <a:p>
            <a:endParaRPr lang="en-US"/>
          </a:p>
          <a:p>
            <a:endParaRPr lang="en-US"/>
          </a:p>
          <a:p>
            <a:r>
              <a:rPr lang="en-US"/>
              <a:t>----------------</a:t>
            </a:r>
          </a:p>
          <a:p>
            <a:r>
              <a:rPr lang="en-US"/>
              <a:t>commercialization</a:t>
            </a:r>
          </a:p>
          <a:p>
            <a:r>
              <a:rPr lang="en-US"/>
              <a:t>Municipalities &amp; City Councils:  Offer them a software-driven solution to reduce congestion and without the massive cost of expensive smart infrastructure. Companies that already provide hardware/software to cities. License your algorithm as a "Smart Coordination Module" they can integrate into their existing offerings, making their products more advanced and competitive.</a:t>
            </a:r>
          </a:p>
          <a:p>
            <a:endParaRPr lang="en-US"/>
          </a:p>
          <a:p>
            <a:r>
              <a:rPr lang="en-US"/>
              <a:t>in doing so;</a:t>
            </a:r>
          </a:p>
          <a:p>
            <a:r>
              <a:rPr lang="en-US"/>
              <a:t>Step 1;Protect the Intellectual Property (IP). File for a software patent</a:t>
            </a:r>
          </a:p>
          <a:p>
            <a:r>
              <a:rPr lang="en-US"/>
              <a:t>Step 2;</a:t>
            </a:r>
          </a:p>
          <a:p>
            <a:r>
              <a:rPr lang="en-US"/>
              <a:t>Step 3;</a:t>
            </a:r>
          </a:p>
          <a:p>
            <a:r>
              <a:rPr lang="en-US"/>
              <a:t>Step 4;Choose a Licensing Business Model.</a:t>
            </a:r>
          </a:p>
          <a:p>
            <a:r>
              <a:rPr lang="en-US"/>
              <a:t>Software-as-a-Service (SaaS)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Target Market (What to say)</a:t>
            </a:r>
          </a:p>
          <a:p>
            <a:endParaRPr lang="en-US"/>
          </a:p>
          <a:p>
            <a:r>
              <a:rPr lang="en-US"/>
              <a:t>“Our main target market includes government traffic management authorities and city councils, who are actively seeking smart traffic solutions for urban congestion.</a:t>
            </a:r>
          </a:p>
          <a:p>
            <a:endParaRPr lang="en-US"/>
          </a:p>
          <a:p>
            <a:r>
              <a:rPr lang="en-US"/>
              <a:t>We also focus on emergency services like ambulances, fire brigades, and police departments, who benefit from faster signal preemption.</a:t>
            </a:r>
          </a:p>
          <a:p>
            <a:endParaRPr lang="en-US"/>
          </a:p>
          <a:p>
            <a:r>
              <a:rPr lang="en-US"/>
              <a:t>Another key segment is smart city solution providers and IoT companies that want to integrate AI-based traffic systems.</a:t>
            </a:r>
          </a:p>
          <a:p>
            <a:endParaRPr lang="en-US"/>
          </a:p>
          <a:p>
            <a:r>
              <a:rPr lang="en-US"/>
              <a:t>Global development projects and NGOs working on smart infrastructure are also potential customers, as they fund modernization of traffic systems.”</a:t>
            </a:r>
          </a:p>
          <a:p>
            <a:endParaRPr lang="en-US"/>
          </a:p>
          <a:p>
            <a:r>
              <a:rPr lang="en-US"/>
              <a:t>🔹 2. Customer Profile (What to say)</a:t>
            </a:r>
          </a:p>
          <a:p>
            <a:endParaRPr lang="en-US"/>
          </a:p>
          <a:p>
            <a:r>
              <a:rPr lang="en-US"/>
              <a:t>“Our customers include traffic control center operators who need real-time dashboards to make decisions quickly.</a:t>
            </a:r>
          </a:p>
          <a:p>
            <a:endParaRPr lang="en-US"/>
          </a:p>
          <a:p>
            <a:r>
              <a:rPr lang="en-US"/>
              <a:t>City planners and officials will use this system for long-term infrastructure decisions based on traffic data.</a:t>
            </a:r>
          </a:p>
          <a:p>
            <a:endParaRPr lang="en-US"/>
          </a:p>
          <a:p>
            <a:r>
              <a:rPr lang="en-US"/>
              <a:t>Emergency dispatch teams will directly benefit by having priority at intersections, reducing response time.</a:t>
            </a:r>
          </a:p>
          <a:p>
            <a:endParaRPr lang="en-US"/>
          </a:p>
          <a:p>
            <a:r>
              <a:rPr lang="en-US"/>
              <a:t>Finally, everyday pedestrians and drivers are indirect beneficiaries—experiencing safer crossings, fewer delays, and smoother commutes.”</a:t>
            </a:r>
          </a:p>
          <a:p>
            <a:endParaRPr lang="en-US"/>
          </a:p>
          <a:p>
            <a:r>
              <a:rPr lang="en-US"/>
              <a:t>🔹 3. Value Proposition (What to say)</a:t>
            </a:r>
          </a:p>
          <a:p>
            <a:endParaRPr lang="en-US"/>
          </a:p>
          <a:p>
            <a:r>
              <a:rPr lang="en-US"/>
              <a:t>“Unlike traditional fixed-time or simple adaptive traffic systems, our system introduces multi-agent reinforcement learning for traffic signals, allowing intersections to communicate and learn optimal patterns.</a:t>
            </a:r>
          </a:p>
          <a:p>
            <a:endParaRPr lang="en-US"/>
          </a:p>
          <a:p>
            <a:r>
              <a:rPr lang="en-US"/>
              <a:t>We use computer vision models to classify pedestrians by age and detect mobility aids like wheelchairs, ensuring vulnerability-aware crossings.</a:t>
            </a:r>
          </a:p>
          <a:p>
            <a:endParaRPr lang="en-US"/>
          </a:p>
          <a:p>
            <a:r>
              <a:rPr lang="en-US"/>
              <a:t>The system integrates YOLOv8-based emergency vehicle detection, enabling real-time signal preemption.</a:t>
            </a:r>
          </a:p>
          <a:p>
            <a:endParaRPr lang="en-US"/>
          </a:p>
          <a:p>
            <a:r>
              <a:rPr lang="en-US"/>
              <a:t>By running this in the SUMO simulator first, we guarantee safe, risk-free testing before deployment.</a:t>
            </a:r>
          </a:p>
          <a:p>
            <a:endParaRPr lang="en-US"/>
          </a:p>
          <a:p>
            <a:r>
              <a:rPr lang="en-US"/>
              <a:t>All this is managed via an intuitive dashboard for monitoring, making it both powerful and user-friendly.”</a:t>
            </a:r>
          </a:p>
          <a:p>
            <a:endParaRPr lang="en-US"/>
          </a:p>
          <a:p>
            <a:r>
              <a:rPr lang="en-US"/>
              <a:t>🔹 4. Intellectual Property Rights (What to say)</a:t>
            </a:r>
          </a:p>
          <a:p>
            <a:endParaRPr lang="en-US"/>
          </a:p>
          <a:p>
            <a:r>
              <a:rPr lang="en-US"/>
              <a:t>“Our codebase, algorithms, and datasets will be copyright protected.</a:t>
            </a:r>
          </a:p>
          <a:p>
            <a:endParaRPr lang="en-US"/>
          </a:p>
          <a:p>
            <a:r>
              <a:rPr lang="en-US"/>
              <a:t>The pedestrian-aware MARL control algorithms and dashboard integration are patentable innovations.</a:t>
            </a:r>
          </a:p>
          <a:p>
            <a:endParaRPr lang="en-US"/>
          </a:p>
          <a:p>
            <a:r>
              <a:rPr lang="en-US"/>
              <a:t>Our labeled datasets for pedestrians and mobility detection will be proprietary assets.</a:t>
            </a:r>
          </a:p>
          <a:p>
            <a:endParaRPr lang="en-US"/>
          </a:p>
          <a:p>
            <a:r>
              <a:rPr lang="en-US"/>
              <a:t>Branding, like ‘SafeCity AI Traffic Manager,’ will be trademark protected, and commercialization will follow a licensing or SaaS business model for cities.”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drive.google.com/file/d/19A2HQQNmodHreLTcJSCrmI4FNYjO6MdJ/view?usp=sharing"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2.png"/><Relationship Id="rId7" Type="http://schemas.openxmlformats.org/officeDocument/2006/relationships/image" Target="../media/image11.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10" Type="http://schemas.openxmlformats.org/officeDocument/2006/relationships/image" Target="../media/image2.png"/><Relationship Id="rId4" Type="http://schemas.openxmlformats.org/officeDocument/2006/relationships/image" Target="../media/image9.svg"/><Relationship Id="rId9" Type="http://schemas.openxmlformats.org/officeDocument/2006/relationships/image" Target="../media/image14.svg"/></Relationships>
</file>

<file path=ppt/slides/_rels/slide1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2.png"/><Relationship Id="rId7" Type="http://schemas.openxmlformats.org/officeDocument/2006/relationships/image" Target="../media/image18.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sv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18.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725837" y="407239"/>
            <a:ext cx="11770257" cy="11716811"/>
            <a:chOff x="0" y="0"/>
            <a:chExt cx="6378940" cy="6349975"/>
          </a:xfrm>
        </p:grpSpPr>
        <p:sp>
          <p:nvSpPr>
            <p:cNvPr id="3" name="Freeform 3"/>
            <p:cNvSpPr/>
            <p:nvPr/>
          </p:nvSpPr>
          <p:spPr>
            <a:xfrm>
              <a:off x="0" y="0"/>
              <a:ext cx="6378940" cy="6349975"/>
            </a:xfrm>
            <a:custGeom>
              <a:avLst/>
              <a:gdLst/>
              <a:ahLst/>
              <a:cxnLst/>
              <a:rect l="l" t="t" r="r" b="b"/>
              <a:pathLst>
                <a:path w="6378940" h="6349975">
                  <a:moveTo>
                    <a:pt x="6378940" y="3175025"/>
                  </a:moveTo>
                  <a:cubicBezTo>
                    <a:pt x="6378940" y="4928451"/>
                    <a:pt x="4950937" y="6349975"/>
                    <a:pt x="3189470" y="6349975"/>
                  </a:cubicBezTo>
                  <a:cubicBezTo>
                    <a:pt x="1427977" y="6349975"/>
                    <a:pt x="0" y="4928451"/>
                    <a:pt x="0" y="3175025"/>
                  </a:cubicBezTo>
                  <a:cubicBezTo>
                    <a:pt x="0" y="1421511"/>
                    <a:pt x="1427977" y="0"/>
                    <a:pt x="3189470" y="0"/>
                  </a:cubicBezTo>
                  <a:cubicBezTo>
                    <a:pt x="4950963" y="0"/>
                    <a:pt x="6378940" y="1421511"/>
                    <a:pt x="6378940" y="3175025"/>
                  </a:cubicBezTo>
                  <a:close/>
                </a:path>
              </a:pathLst>
            </a:custGeom>
            <a:blipFill>
              <a:blip r:embed="rId2"/>
              <a:stretch>
                <a:fillRect t="-228" b="-228"/>
              </a:stretch>
            </a:blipFill>
          </p:spPr>
          <p:txBody>
            <a:bodyPr/>
            <a:lstStyle/>
            <a:p>
              <a:endParaRPr lang="en-GB"/>
            </a:p>
          </p:txBody>
        </p:sp>
      </p:grpSp>
      <p:sp>
        <p:nvSpPr>
          <p:cNvPr id="4" name="AutoShape 4"/>
          <p:cNvSpPr/>
          <p:nvPr/>
        </p:nvSpPr>
        <p:spPr>
          <a:xfrm rot="-5400000">
            <a:off x="546454" y="7751947"/>
            <a:ext cx="983543" cy="0"/>
          </a:xfrm>
          <a:prstGeom prst="line">
            <a:avLst/>
          </a:prstGeom>
          <a:ln w="19050" cap="flat">
            <a:solidFill>
              <a:srgbClr val="88A201"/>
            </a:solidFill>
            <a:prstDash val="solid"/>
            <a:headEnd type="none" w="sm" len="sm"/>
            <a:tailEnd type="none" w="sm" len="sm"/>
          </a:ln>
        </p:spPr>
        <p:txBody>
          <a:bodyPr/>
          <a:lstStyle/>
          <a:p>
            <a:endParaRPr lang="en-GB"/>
          </a:p>
        </p:txBody>
      </p:sp>
      <p:sp>
        <p:nvSpPr>
          <p:cNvPr id="5" name="Freeform 5"/>
          <p:cNvSpPr/>
          <p:nvPr/>
        </p:nvSpPr>
        <p:spPr>
          <a:xfrm>
            <a:off x="0" y="9024768"/>
            <a:ext cx="5109349" cy="1208574"/>
          </a:xfrm>
          <a:custGeom>
            <a:avLst/>
            <a:gdLst/>
            <a:ahLst/>
            <a:cxnLst/>
            <a:rect l="l" t="t" r="r" b="b"/>
            <a:pathLst>
              <a:path w="5109349" h="1208574">
                <a:moveTo>
                  <a:pt x="0" y="0"/>
                </a:moveTo>
                <a:lnTo>
                  <a:pt x="5109349" y="0"/>
                </a:lnTo>
                <a:lnTo>
                  <a:pt x="5109349" y="1208574"/>
                </a:lnTo>
                <a:lnTo>
                  <a:pt x="0" y="1208574"/>
                </a:lnTo>
                <a:lnTo>
                  <a:pt x="0" y="0"/>
                </a:lnTo>
                <a:close/>
              </a:path>
            </a:pathLst>
          </a:custGeom>
          <a:blipFill>
            <a:blip r:embed="rId3"/>
            <a:stretch>
              <a:fillRect/>
            </a:stretch>
          </a:blipFill>
        </p:spPr>
        <p:txBody>
          <a:bodyPr/>
          <a:lstStyle/>
          <a:p>
            <a:endParaRPr lang="en-GB"/>
          </a:p>
        </p:txBody>
      </p:sp>
      <p:sp>
        <p:nvSpPr>
          <p:cNvPr id="6" name="TextBox 6"/>
          <p:cNvSpPr txBox="1"/>
          <p:nvPr/>
        </p:nvSpPr>
        <p:spPr>
          <a:xfrm>
            <a:off x="1354776" y="7439209"/>
            <a:ext cx="7547247" cy="587375"/>
          </a:xfrm>
          <a:prstGeom prst="rect">
            <a:avLst/>
          </a:prstGeom>
        </p:spPr>
        <p:txBody>
          <a:bodyPr lIns="0" tIns="0" rIns="0" bIns="0" rtlCol="0" anchor="t">
            <a:spAutoFit/>
          </a:bodyPr>
          <a:lstStyle/>
          <a:p>
            <a:pPr marL="0" lvl="0" indent="0" algn="l">
              <a:lnSpc>
                <a:spcPts val="4899"/>
              </a:lnSpc>
            </a:pPr>
            <a:r>
              <a:rPr lang="en-US" sz="3499">
                <a:solidFill>
                  <a:srgbClr val="3D2812"/>
                </a:solidFill>
                <a:latin typeface="Open Sans"/>
                <a:ea typeface="Open Sans"/>
                <a:cs typeface="Open Sans"/>
                <a:sym typeface="Open Sans"/>
              </a:rPr>
              <a:t>Group 25-26J-473 </a:t>
            </a:r>
          </a:p>
        </p:txBody>
      </p:sp>
      <p:sp>
        <p:nvSpPr>
          <p:cNvPr id="7" name="TextBox 7"/>
          <p:cNvSpPr txBox="1"/>
          <p:nvPr/>
        </p:nvSpPr>
        <p:spPr>
          <a:xfrm>
            <a:off x="1182213" y="1503145"/>
            <a:ext cx="7361279" cy="4762500"/>
          </a:xfrm>
          <a:prstGeom prst="rect">
            <a:avLst/>
          </a:prstGeom>
        </p:spPr>
        <p:txBody>
          <a:bodyPr lIns="0" tIns="0" rIns="0" bIns="0" rtlCol="0" anchor="t">
            <a:spAutoFit/>
          </a:bodyPr>
          <a:lstStyle/>
          <a:p>
            <a:pPr marL="0" lvl="0" indent="0" algn="l">
              <a:lnSpc>
                <a:spcPts val="7560"/>
              </a:lnSpc>
            </a:pPr>
            <a:r>
              <a:rPr lang="en-US" sz="6300" b="1">
                <a:solidFill>
                  <a:srgbClr val="3D2812"/>
                </a:solidFill>
                <a:latin typeface="Open Sans Bold"/>
                <a:ea typeface="Open Sans Bold"/>
                <a:cs typeface="Open Sans Bold"/>
                <a:sym typeface="Open Sans Bold"/>
              </a:rPr>
              <a:t>Smart Traffic Flow Optimization with Multi Agent Reinforcement Learning </a:t>
            </a:r>
          </a:p>
        </p:txBody>
      </p:sp>
      <p:sp>
        <p:nvSpPr>
          <p:cNvPr id="8" name="TextBox 8"/>
          <p:cNvSpPr txBox="1"/>
          <p:nvPr/>
        </p:nvSpPr>
        <p:spPr>
          <a:xfrm>
            <a:off x="17784258" y="9694139"/>
            <a:ext cx="293901" cy="722184"/>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91578" y="3320298"/>
            <a:ext cx="3891132" cy="5502931"/>
            <a:chOff x="0" y="0"/>
            <a:chExt cx="3133810" cy="4431908"/>
          </a:xfrm>
        </p:grpSpPr>
        <p:sp>
          <p:nvSpPr>
            <p:cNvPr id="3" name="Freeform 3"/>
            <p:cNvSpPr/>
            <p:nvPr/>
          </p:nvSpPr>
          <p:spPr>
            <a:xfrm>
              <a:off x="0" y="0"/>
              <a:ext cx="3133810" cy="4431909"/>
            </a:xfrm>
            <a:custGeom>
              <a:avLst/>
              <a:gdLst/>
              <a:ahLst/>
              <a:cxnLst/>
              <a:rect l="l" t="t" r="r" b="b"/>
              <a:pathLst>
                <a:path w="3133810" h="4431909">
                  <a:moveTo>
                    <a:pt x="3009350" y="4431909"/>
                  </a:moveTo>
                  <a:lnTo>
                    <a:pt x="124460" y="4431909"/>
                  </a:lnTo>
                  <a:cubicBezTo>
                    <a:pt x="55880" y="4431909"/>
                    <a:pt x="0" y="4376028"/>
                    <a:pt x="0" y="4307448"/>
                  </a:cubicBezTo>
                  <a:lnTo>
                    <a:pt x="0" y="124460"/>
                  </a:lnTo>
                  <a:cubicBezTo>
                    <a:pt x="0" y="55880"/>
                    <a:pt x="55880" y="0"/>
                    <a:pt x="124460" y="0"/>
                  </a:cubicBezTo>
                  <a:lnTo>
                    <a:pt x="3009350" y="0"/>
                  </a:lnTo>
                  <a:cubicBezTo>
                    <a:pt x="3077930" y="0"/>
                    <a:pt x="3133810" y="55880"/>
                    <a:pt x="3133810" y="124460"/>
                  </a:cubicBezTo>
                  <a:lnTo>
                    <a:pt x="3133810" y="4307449"/>
                  </a:lnTo>
                  <a:cubicBezTo>
                    <a:pt x="3133810" y="4376028"/>
                    <a:pt x="3077930" y="4431909"/>
                    <a:pt x="3009350" y="4431909"/>
                  </a:cubicBezTo>
                  <a:close/>
                </a:path>
              </a:pathLst>
            </a:custGeom>
            <a:solidFill>
              <a:srgbClr val="FEF2D4"/>
            </a:solidFill>
          </p:spPr>
          <p:txBody>
            <a:bodyPr/>
            <a:lstStyle/>
            <a:p>
              <a:endParaRPr lang="en-GB"/>
            </a:p>
          </p:txBody>
        </p:sp>
      </p:grpSp>
      <p:grpSp>
        <p:nvGrpSpPr>
          <p:cNvPr id="4" name="Group 4"/>
          <p:cNvGrpSpPr/>
          <p:nvPr/>
        </p:nvGrpSpPr>
        <p:grpSpPr>
          <a:xfrm>
            <a:off x="9400719" y="3320298"/>
            <a:ext cx="3891132" cy="5502931"/>
            <a:chOff x="0" y="0"/>
            <a:chExt cx="3133810" cy="4431908"/>
          </a:xfrm>
        </p:grpSpPr>
        <p:sp>
          <p:nvSpPr>
            <p:cNvPr id="5" name="Freeform 5"/>
            <p:cNvSpPr/>
            <p:nvPr/>
          </p:nvSpPr>
          <p:spPr>
            <a:xfrm>
              <a:off x="0" y="0"/>
              <a:ext cx="3133810" cy="4431909"/>
            </a:xfrm>
            <a:custGeom>
              <a:avLst/>
              <a:gdLst/>
              <a:ahLst/>
              <a:cxnLst/>
              <a:rect l="l" t="t" r="r" b="b"/>
              <a:pathLst>
                <a:path w="3133810" h="4431909">
                  <a:moveTo>
                    <a:pt x="3009350" y="4431909"/>
                  </a:moveTo>
                  <a:lnTo>
                    <a:pt x="124460" y="4431909"/>
                  </a:lnTo>
                  <a:cubicBezTo>
                    <a:pt x="55880" y="4431909"/>
                    <a:pt x="0" y="4376028"/>
                    <a:pt x="0" y="4307448"/>
                  </a:cubicBezTo>
                  <a:lnTo>
                    <a:pt x="0" y="124460"/>
                  </a:lnTo>
                  <a:cubicBezTo>
                    <a:pt x="0" y="55880"/>
                    <a:pt x="55880" y="0"/>
                    <a:pt x="124460" y="0"/>
                  </a:cubicBezTo>
                  <a:lnTo>
                    <a:pt x="3009350" y="0"/>
                  </a:lnTo>
                  <a:cubicBezTo>
                    <a:pt x="3077930" y="0"/>
                    <a:pt x="3133810" y="55880"/>
                    <a:pt x="3133810" y="124460"/>
                  </a:cubicBezTo>
                  <a:lnTo>
                    <a:pt x="3133810" y="4307449"/>
                  </a:lnTo>
                  <a:cubicBezTo>
                    <a:pt x="3133810" y="4376028"/>
                    <a:pt x="3077930" y="4431909"/>
                    <a:pt x="3009350" y="4431909"/>
                  </a:cubicBezTo>
                  <a:close/>
                </a:path>
              </a:pathLst>
            </a:custGeom>
            <a:solidFill>
              <a:srgbClr val="FEF2D4"/>
            </a:solidFill>
          </p:spPr>
          <p:txBody>
            <a:bodyPr/>
            <a:lstStyle/>
            <a:p>
              <a:endParaRPr lang="en-GB"/>
            </a:p>
          </p:txBody>
        </p:sp>
      </p:grpSp>
      <p:grpSp>
        <p:nvGrpSpPr>
          <p:cNvPr id="6" name="Group 6"/>
          <p:cNvGrpSpPr/>
          <p:nvPr/>
        </p:nvGrpSpPr>
        <p:grpSpPr>
          <a:xfrm>
            <a:off x="13805290" y="3320298"/>
            <a:ext cx="3891132" cy="5502931"/>
            <a:chOff x="0" y="0"/>
            <a:chExt cx="3133810" cy="4431908"/>
          </a:xfrm>
        </p:grpSpPr>
        <p:sp>
          <p:nvSpPr>
            <p:cNvPr id="7" name="Freeform 7"/>
            <p:cNvSpPr/>
            <p:nvPr/>
          </p:nvSpPr>
          <p:spPr>
            <a:xfrm>
              <a:off x="0" y="0"/>
              <a:ext cx="3133810" cy="4431909"/>
            </a:xfrm>
            <a:custGeom>
              <a:avLst/>
              <a:gdLst/>
              <a:ahLst/>
              <a:cxnLst/>
              <a:rect l="l" t="t" r="r" b="b"/>
              <a:pathLst>
                <a:path w="3133810" h="4431909">
                  <a:moveTo>
                    <a:pt x="3009350" y="4431909"/>
                  </a:moveTo>
                  <a:lnTo>
                    <a:pt x="124460" y="4431909"/>
                  </a:lnTo>
                  <a:cubicBezTo>
                    <a:pt x="55880" y="4431909"/>
                    <a:pt x="0" y="4376028"/>
                    <a:pt x="0" y="4307448"/>
                  </a:cubicBezTo>
                  <a:lnTo>
                    <a:pt x="0" y="124460"/>
                  </a:lnTo>
                  <a:cubicBezTo>
                    <a:pt x="0" y="55880"/>
                    <a:pt x="55880" y="0"/>
                    <a:pt x="124460" y="0"/>
                  </a:cubicBezTo>
                  <a:lnTo>
                    <a:pt x="3009350" y="0"/>
                  </a:lnTo>
                  <a:cubicBezTo>
                    <a:pt x="3077930" y="0"/>
                    <a:pt x="3133810" y="55880"/>
                    <a:pt x="3133810" y="124460"/>
                  </a:cubicBezTo>
                  <a:lnTo>
                    <a:pt x="3133810" y="4307449"/>
                  </a:lnTo>
                  <a:cubicBezTo>
                    <a:pt x="3133810" y="4376028"/>
                    <a:pt x="3077930" y="4431909"/>
                    <a:pt x="3009350" y="4431909"/>
                  </a:cubicBezTo>
                  <a:close/>
                </a:path>
              </a:pathLst>
            </a:custGeom>
            <a:solidFill>
              <a:srgbClr val="FEF2D4"/>
            </a:solidFill>
          </p:spPr>
          <p:txBody>
            <a:bodyPr/>
            <a:lstStyle/>
            <a:p>
              <a:endParaRPr lang="en-GB"/>
            </a:p>
          </p:txBody>
        </p:sp>
      </p:grpSp>
      <p:grpSp>
        <p:nvGrpSpPr>
          <p:cNvPr id="8" name="Group 8"/>
          <p:cNvGrpSpPr/>
          <p:nvPr/>
        </p:nvGrpSpPr>
        <p:grpSpPr>
          <a:xfrm>
            <a:off x="4996148" y="3320298"/>
            <a:ext cx="3891132" cy="5502931"/>
            <a:chOff x="0" y="0"/>
            <a:chExt cx="3133810" cy="4431908"/>
          </a:xfrm>
        </p:grpSpPr>
        <p:sp>
          <p:nvSpPr>
            <p:cNvPr id="9" name="Freeform 9"/>
            <p:cNvSpPr/>
            <p:nvPr/>
          </p:nvSpPr>
          <p:spPr>
            <a:xfrm>
              <a:off x="0" y="0"/>
              <a:ext cx="3133810" cy="4431909"/>
            </a:xfrm>
            <a:custGeom>
              <a:avLst/>
              <a:gdLst/>
              <a:ahLst/>
              <a:cxnLst/>
              <a:rect l="l" t="t" r="r" b="b"/>
              <a:pathLst>
                <a:path w="3133810" h="4431909">
                  <a:moveTo>
                    <a:pt x="3009350" y="4431909"/>
                  </a:moveTo>
                  <a:lnTo>
                    <a:pt x="124460" y="4431909"/>
                  </a:lnTo>
                  <a:cubicBezTo>
                    <a:pt x="55880" y="4431909"/>
                    <a:pt x="0" y="4376028"/>
                    <a:pt x="0" y="4307448"/>
                  </a:cubicBezTo>
                  <a:lnTo>
                    <a:pt x="0" y="124460"/>
                  </a:lnTo>
                  <a:cubicBezTo>
                    <a:pt x="0" y="55880"/>
                    <a:pt x="55880" y="0"/>
                    <a:pt x="124460" y="0"/>
                  </a:cubicBezTo>
                  <a:lnTo>
                    <a:pt x="3009350" y="0"/>
                  </a:lnTo>
                  <a:cubicBezTo>
                    <a:pt x="3077930" y="0"/>
                    <a:pt x="3133810" y="55880"/>
                    <a:pt x="3133810" y="124460"/>
                  </a:cubicBezTo>
                  <a:lnTo>
                    <a:pt x="3133810" y="4307449"/>
                  </a:lnTo>
                  <a:cubicBezTo>
                    <a:pt x="3133810" y="4376028"/>
                    <a:pt x="3077930" y="4431909"/>
                    <a:pt x="3009350" y="4431909"/>
                  </a:cubicBezTo>
                  <a:close/>
                </a:path>
              </a:pathLst>
            </a:custGeom>
            <a:solidFill>
              <a:srgbClr val="FEF2D4"/>
            </a:solidFill>
          </p:spPr>
          <p:txBody>
            <a:bodyPr/>
            <a:lstStyle/>
            <a:p>
              <a:endParaRPr lang="en-GB"/>
            </a:p>
          </p:txBody>
        </p:sp>
      </p:grpSp>
      <p:sp>
        <p:nvSpPr>
          <p:cNvPr id="10" name="Freeform 10"/>
          <p:cNvSpPr/>
          <p:nvPr/>
        </p:nvSpPr>
        <p:spPr>
          <a:xfrm>
            <a:off x="5602115" y="3728249"/>
            <a:ext cx="2679199" cy="3572266"/>
          </a:xfrm>
          <a:custGeom>
            <a:avLst/>
            <a:gdLst/>
            <a:ahLst/>
            <a:cxnLst/>
            <a:rect l="l" t="t" r="r" b="b"/>
            <a:pathLst>
              <a:path w="2679199" h="3572266">
                <a:moveTo>
                  <a:pt x="0" y="0"/>
                </a:moveTo>
                <a:lnTo>
                  <a:pt x="2679199" y="0"/>
                </a:lnTo>
                <a:lnTo>
                  <a:pt x="2679199" y="3572265"/>
                </a:lnTo>
                <a:lnTo>
                  <a:pt x="0" y="3572265"/>
                </a:lnTo>
                <a:lnTo>
                  <a:pt x="0" y="0"/>
                </a:lnTo>
                <a:close/>
              </a:path>
            </a:pathLst>
          </a:custGeom>
          <a:blipFill>
            <a:blip r:embed="rId2"/>
            <a:stretch>
              <a:fillRect/>
            </a:stretch>
          </a:blipFill>
        </p:spPr>
        <p:txBody>
          <a:bodyPr/>
          <a:lstStyle/>
          <a:p>
            <a:endParaRPr lang="en-GB"/>
          </a:p>
        </p:txBody>
      </p:sp>
      <p:sp>
        <p:nvSpPr>
          <p:cNvPr id="11" name="Freeform 11"/>
          <p:cNvSpPr/>
          <p:nvPr/>
        </p:nvSpPr>
        <p:spPr>
          <a:xfrm>
            <a:off x="0" y="9078426"/>
            <a:ext cx="5109349" cy="1208574"/>
          </a:xfrm>
          <a:custGeom>
            <a:avLst/>
            <a:gdLst/>
            <a:ahLst/>
            <a:cxnLst/>
            <a:rect l="l" t="t" r="r" b="b"/>
            <a:pathLst>
              <a:path w="5109349" h="1208574">
                <a:moveTo>
                  <a:pt x="0" y="0"/>
                </a:moveTo>
                <a:lnTo>
                  <a:pt x="5109349" y="0"/>
                </a:lnTo>
                <a:lnTo>
                  <a:pt x="5109349" y="1208574"/>
                </a:lnTo>
                <a:lnTo>
                  <a:pt x="0" y="1208574"/>
                </a:lnTo>
                <a:lnTo>
                  <a:pt x="0" y="0"/>
                </a:lnTo>
                <a:close/>
              </a:path>
            </a:pathLst>
          </a:custGeom>
          <a:blipFill>
            <a:blip r:embed="rId3"/>
            <a:stretch>
              <a:fillRect/>
            </a:stretch>
          </a:blipFill>
        </p:spPr>
        <p:txBody>
          <a:bodyPr/>
          <a:lstStyle/>
          <a:p>
            <a:endParaRPr lang="en-GB"/>
          </a:p>
        </p:txBody>
      </p:sp>
      <p:sp>
        <p:nvSpPr>
          <p:cNvPr id="12" name="Freeform 12"/>
          <p:cNvSpPr/>
          <p:nvPr/>
        </p:nvSpPr>
        <p:spPr>
          <a:xfrm>
            <a:off x="14415802" y="3728249"/>
            <a:ext cx="2843498" cy="3572266"/>
          </a:xfrm>
          <a:custGeom>
            <a:avLst/>
            <a:gdLst/>
            <a:ahLst/>
            <a:cxnLst/>
            <a:rect l="l" t="t" r="r" b="b"/>
            <a:pathLst>
              <a:path w="2843498" h="3572266">
                <a:moveTo>
                  <a:pt x="0" y="0"/>
                </a:moveTo>
                <a:lnTo>
                  <a:pt x="2843498" y="0"/>
                </a:lnTo>
                <a:lnTo>
                  <a:pt x="2843498" y="3572265"/>
                </a:lnTo>
                <a:lnTo>
                  <a:pt x="0" y="3572265"/>
                </a:lnTo>
                <a:lnTo>
                  <a:pt x="0" y="0"/>
                </a:lnTo>
                <a:close/>
              </a:path>
            </a:pathLst>
          </a:custGeom>
          <a:blipFill>
            <a:blip r:embed="rId4"/>
            <a:stretch>
              <a:fillRect l="-5040" r="-5040"/>
            </a:stretch>
          </a:blipFill>
        </p:spPr>
        <p:txBody>
          <a:bodyPr/>
          <a:lstStyle/>
          <a:p>
            <a:endParaRPr lang="en-GB"/>
          </a:p>
        </p:txBody>
      </p:sp>
      <p:sp>
        <p:nvSpPr>
          <p:cNvPr id="13" name="Freeform 13"/>
          <p:cNvSpPr/>
          <p:nvPr/>
        </p:nvSpPr>
        <p:spPr>
          <a:xfrm>
            <a:off x="1352503" y="3591488"/>
            <a:ext cx="2359868" cy="3709027"/>
          </a:xfrm>
          <a:custGeom>
            <a:avLst/>
            <a:gdLst/>
            <a:ahLst/>
            <a:cxnLst/>
            <a:rect l="l" t="t" r="r" b="b"/>
            <a:pathLst>
              <a:path w="2359868" h="3709027">
                <a:moveTo>
                  <a:pt x="0" y="0"/>
                </a:moveTo>
                <a:lnTo>
                  <a:pt x="2359868" y="0"/>
                </a:lnTo>
                <a:lnTo>
                  <a:pt x="2359868" y="3709026"/>
                </a:lnTo>
                <a:lnTo>
                  <a:pt x="0" y="3709026"/>
                </a:lnTo>
                <a:lnTo>
                  <a:pt x="0" y="0"/>
                </a:lnTo>
                <a:close/>
              </a:path>
            </a:pathLst>
          </a:custGeom>
          <a:blipFill>
            <a:blip r:embed="rId5"/>
            <a:stretch>
              <a:fillRect/>
            </a:stretch>
          </a:blipFill>
        </p:spPr>
        <p:txBody>
          <a:bodyPr/>
          <a:lstStyle/>
          <a:p>
            <a:endParaRPr lang="en-GB"/>
          </a:p>
        </p:txBody>
      </p:sp>
      <p:sp>
        <p:nvSpPr>
          <p:cNvPr id="14" name="Freeform 14"/>
          <p:cNvSpPr/>
          <p:nvPr/>
        </p:nvSpPr>
        <p:spPr>
          <a:xfrm>
            <a:off x="9897572" y="3707211"/>
            <a:ext cx="2851820" cy="3624339"/>
          </a:xfrm>
          <a:custGeom>
            <a:avLst/>
            <a:gdLst/>
            <a:ahLst/>
            <a:cxnLst/>
            <a:rect l="l" t="t" r="r" b="b"/>
            <a:pathLst>
              <a:path w="2851820" h="3624339">
                <a:moveTo>
                  <a:pt x="0" y="0"/>
                </a:moveTo>
                <a:lnTo>
                  <a:pt x="2851820" y="0"/>
                </a:lnTo>
                <a:lnTo>
                  <a:pt x="2851820" y="3624339"/>
                </a:lnTo>
                <a:lnTo>
                  <a:pt x="0" y="3624339"/>
                </a:lnTo>
                <a:lnTo>
                  <a:pt x="0" y="0"/>
                </a:lnTo>
                <a:close/>
              </a:path>
            </a:pathLst>
          </a:custGeom>
          <a:blipFill>
            <a:blip r:embed="rId6"/>
            <a:stretch>
              <a:fillRect t="-452" b="-730"/>
            </a:stretch>
          </a:blipFill>
        </p:spPr>
        <p:txBody>
          <a:bodyPr/>
          <a:lstStyle/>
          <a:p>
            <a:endParaRPr lang="en-GB"/>
          </a:p>
        </p:txBody>
      </p:sp>
      <p:sp>
        <p:nvSpPr>
          <p:cNvPr id="15" name="TextBox 15"/>
          <p:cNvSpPr txBox="1"/>
          <p:nvPr/>
        </p:nvSpPr>
        <p:spPr>
          <a:xfrm>
            <a:off x="3712371" y="1463770"/>
            <a:ext cx="10863257" cy="1219200"/>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3D2812"/>
                </a:solidFill>
                <a:latin typeface="Open Sans Bold"/>
                <a:ea typeface="Open Sans Bold"/>
                <a:cs typeface="Open Sans Bold"/>
                <a:sym typeface="Open Sans Bold"/>
              </a:rPr>
              <a:t>Our Team</a:t>
            </a:r>
          </a:p>
        </p:txBody>
      </p:sp>
      <p:sp>
        <p:nvSpPr>
          <p:cNvPr id="16" name="TextBox 16"/>
          <p:cNvSpPr txBox="1"/>
          <p:nvPr/>
        </p:nvSpPr>
        <p:spPr>
          <a:xfrm>
            <a:off x="978026" y="7511689"/>
            <a:ext cx="3118235" cy="897636"/>
          </a:xfrm>
          <a:prstGeom prst="rect">
            <a:avLst/>
          </a:prstGeom>
        </p:spPr>
        <p:txBody>
          <a:bodyPr lIns="0" tIns="0" rIns="0" bIns="0" rtlCol="0" anchor="t">
            <a:spAutoFit/>
          </a:bodyPr>
          <a:lstStyle/>
          <a:p>
            <a:pPr algn="ctr">
              <a:lnSpc>
                <a:spcPts val="3666"/>
              </a:lnSpc>
            </a:pPr>
            <a:r>
              <a:rPr lang="en-US" sz="2820">
                <a:solidFill>
                  <a:srgbClr val="3D2812"/>
                </a:solidFill>
                <a:latin typeface="Open Sans"/>
                <a:ea typeface="Open Sans"/>
                <a:cs typeface="Open Sans"/>
                <a:sym typeface="Open Sans"/>
              </a:rPr>
              <a:t>Luvinson I</a:t>
            </a:r>
          </a:p>
          <a:p>
            <a:pPr marL="0" lvl="0" indent="0" algn="ctr">
              <a:lnSpc>
                <a:spcPts val="3666"/>
              </a:lnSpc>
              <a:spcBef>
                <a:spcPct val="0"/>
              </a:spcBef>
            </a:pPr>
            <a:r>
              <a:rPr lang="en-US" sz="2820">
                <a:solidFill>
                  <a:srgbClr val="3D2812"/>
                </a:solidFill>
                <a:latin typeface="Open Sans"/>
                <a:ea typeface="Open Sans"/>
                <a:cs typeface="Open Sans"/>
                <a:sym typeface="Open Sans"/>
              </a:rPr>
              <a:t>IT22323316</a:t>
            </a:r>
          </a:p>
        </p:txBody>
      </p:sp>
      <p:sp>
        <p:nvSpPr>
          <p:cNvPr id="17" name="TextBox 17"/>
          <p:cNvSpPr txBox="1"/>
          <p:nvPr/>
        </p:nvSpPr>
        <p:spPr>
          <a:xfrm>
            <a:off x="9787168" y="7511689"/>
            <a:ext cx="3118235" cy="897636"/>
          </a:xfrm>
          <a:prstGeom prst="rect">
            <a:avLst/>
          </a:prstGeom>
        </p:spPr>
        <p:txBody>
          <a:bodyPr lIns="0" tIns="0" rIns="0" bIns="0" rtlCol="0" anchor="t">
            <a:spAutoFit/>
          </a:bodyPr>
          <a:lstStyle/>
          <a:p>
            <a:pPr algn="ctr">
              <a:lnSpc>
                <a:spcPts val="3666"/>
              </a:lnSpc>
            </a:pPr>
            <a:r>
              <a:rPr lang="en-US" sz="2820">
                <a:solidFill>
                  <a:srgbClr val="3D2812"/>
                </a:solidFill>
                <a:latin typeface="Open Sans"/>
                <a:ea typeface="Open Sans"/>
                <a:cs typeface="Open Sans"/>
                <a:sym typeface="Open Sans"/>
              </a:rPr>
              <a:t>Krushanth A</a:t>
            </a:r>
          </a:p>
          <a:p>
            <a:pPr marL="0" lvl="0" indent="0" algn="ctr">
              <a:lnSpc>
                <a:spcPts val="3666"/>
              </a:lnSpc>
              <a:spcBef>
                <a:spcPct val="0"/>
              </a:spcBef>
            </a:pPr>
            <a:r>
              <a:rPr lang="en-US" sz="2820">
                <a:solidFill>
                  <a:srgbClr val="3D2812"/>
                </a:solidFill>
                <a:latin typeface="Open Sans"/>
                <a:ea typeface="Open Sans"/>
                <a:cs typeface="Open Sans"/>
                <a:sym typeface="Open Sans"/>
              </a:rPr>
              <a:t>IT22920218</a:t>
            </a:r>
          </a:p>
        </p:txBody>
      </p:sp>
      <p:sp>
        <p:nvSpPr>
          <p:cNvPr id="18" name="TextBox 18"/>
          <p:cNvSpPr txBox="1"/>
          <p:nvPr/>
        </p:nvSpPr>
        <p:spPr>
          <a:xfrm>
            <a:off x="14191738" y="7511689"/>
            <a:ext cx="3118235" cy="897636"/>
          </a:xfrm>
          <a:prstGeom prst="rect">
            <a:avLst/>
          </a:prstGeom>
        </p:spPr>
        <p:txBody>
          <a:bodyPr lIns="0" tIns="0" rIns="0" bIns="0" rtlCol="0" anchor="t">
            <a:spAutoFit/>
          </a:bodyPr>
          <a:lstStyle/>
          <a:p>
            <a:pPr algn="ctr">
              <a:lnSpc>
                <a:spcPts val="3666"/>
              </a:lnSpc>
            </a:pPr>
            <a:r>
              <a:rPr lang="en-US" sz="2820">
                <a:solidFill>
                  <a:srgbClr val="3D2812"/>
                </a:solidFill>
                <a:latin typeface="Open Sans"/>
                <a:ea typeface="Open Sans"/>
                <a:cs typeface="Open Sans"/>
                <a:sym typeface="Open Sans"/>
              </a:rPr>
              <a:t>Fernandopulle S N</a:t>
            </a:r>
          </a:p>
          <a:p>
            <a:pPr marL="0" lvl="0" indent="0" algn="ctr">
              <a:lnSpc>
                <a:spcPts val="3666"/>
              </a:lnSpc>
              <a:spcBef>
                <a:spcPct val="0"/>
              </a:spcBef>
            </a:pPr>
            <a:r>
              <a:rPr lang="en-US" sz="2820">
                <a:solidFill>
                  <a:srgbClr val="3D2812"/>
                </a:solidFill>
                <a:latin typeface="Open Sans"/>
                <a:ea typeface="Open Sans"/>
                <a:cs typeface="Open Sans"/>
                <a:sym typeface="Open Sans"/>
              </a:rPr>
              <a:t>IT22000576</a:t>
            </a:r>
          </a:p>
        </p:txBody>
      </p:sp>
      <p:sp>
        <p:nvSpPr>
          <p:cNvPr id="19" name="TextBox 19"/>
          <p:cNvSpPr txBox="1"/>
          <p:nvPr/>
        </p:nvSpPr>
        <p:spPr>
          <a:xfrm>
            <a:off x="5382597" y="7511689"/>
            <a:ext cx="3118235" cy="897636"/>
          </a:xfrm>
          <a:prstGeom prst="rect">
            <a:avLst/>
          </a:prstGeom>
        </p:spPr>
        <p:txBody>
          <a:bodyPr lIns="0" tIns="0" rIns="0" bIns="0" rtlCol="0" anchor="t">
            <a:spAutoFit/>
          </a:bodyPr>
          <a:lstStyle/>
          <a:p>
            <a:pPr algn="ctr">
              <a:lnSpc>
                <a:spcPts val="3666"/>
              </a:lnSpc>
            </a:pPr>
            <a:r>
              <a:rPr lang="en-US" sz="2820">
                <a:solidFill>
                  <a:srgbClr val="3D2812"/>
                </a:solidFill>
                <a:latin typeface="Open Sans"/>
                <a:ea typeface="Open Sans"/>
                <a:cs typeface="Open Sans"/>
                <a:sym typeface="Open Sans"/>
              </a:rPr>
              <a:t>Sangeerthan S</a:t>
            </a:r>
          </a:p>
          <a:p>
            <a:pPr marL="0" lvl="0" indent="0" algn="ctr">
              <a:lnSpc>
                <a:spcPts val="3666"/>
              </a:lnSpc>
              <a:spcBef>
                <a:spcPct val="0"/>
              </a:spcBef>
            </a:pPr>
            <a:r>
              <a:rPr lang="en-US" sz="2820">
                <a:solidFill>
                  <a:srgbClr val="3D2812"/>
                </a:solidFill>
                <a:latin typeface="Open Sans"/>
                <a:ea typeface="Open Sans"/>
                <a:cs typeface="Open Sans"/>
                <a:sym typeface="Open Sans"/>
              </a:rPr>
              <a:t>IT22346568</a:t>
            </a:r>
          </a:p>
        </p:txBody>
      </p:sp>
      <p:sp>
        <p:nvSpPr>
          <p:cNvPr id="20" name="TextBox 20"/>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728493"/>
            <a:ext cx="771999" cy="771999"/>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EF2D4"/>
            </a:solidFill>
          </p:spPr>
          <p:txBody>
            <a:bodyPr/>
            <a:lstStyle/>
            <a:p>
              <a:endParaRPr lang="en-GB"/>
            </a:p>
          </p:txBody>
        </p:sp>
      </p:grpSp>
      <p:grpSp>
        <p:nvGrpSpPr>
          <p:cNvPr id="4" name="Group 4"/>
          <p:cNvGrpSpPr/>
          <p:nvPr/>
        </p:nvGrpSpPr>
        <p:grpSpPr>
          <a:xfrm>
            <a:off x="1028700" y="4008333"/>
            <a:ext cx="771999" cy="771999"/>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EF2D4"/>
            </a:solidFill>
          </p:spPr>
          <p:txBody>
            <a:bodyPr/>
            <a:lstStyle/>
            <a:p>
              <a:endParaRPr lang="en-GB"/>
            </a:p>
          </p:txBody>
        </p:sp>
      </p:grpSp>
      <p:grpSp>
        <p:nvGrpSpPr>
          <p:cNvPr id="6" name="Group 6"/>
          <p:cNvGrpSpPr/>
          <p:nvPr/>
        </p:nvGrpSpPr>
        <p:grpSpPr>
          <a:xfrm>
            <a:off x="1028700" y="6568014"/>
            <a:ext cx="771999" cy="771999"/>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EF2D4"/>
            </a:solidFill>
          </p:spPr>
          <p:txBody>
            <a:bodyPr/>
            <a:lstStyle/>
            <a:p>
              <a:endParaRPr lang="en-GB"/>
            </a:p>
          </p:txBody>
        </p:sp>
      </p:grpSp>
      <p:grpSp>
        <p:nvGrpSpPr>
          <p:cNvPr id="8" name="Group 8"/>
          <p:cNvGrpSpPr/>
          <p:nvPr/>
        </p:nvGrpSpPr>
        <p:grpSpPr>
          <a:xfrm>
            <a:off x="1028700" y="5288174"/>
            <a:ext cx="771999" cy="771999"/>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EF2D4"/>
            </a:solidFill>
          </p:spPr>
          <p:txBody>
            <a:bodyPr/>
            <a:lstStyle/>
            <a:p>
              <a:endParaRPr lang="en-GB"/>
            </a:p>
          </p:txBody>
        </p:sp>
      </p:grpSp>
      <p:sp>
        <p:nvSpPr>
          <p:cNvPr id="10" name="Freeform 10"/>
          <p:cNvSpPr/>
          <p:nvPr/>
        </p:nvSpPr>
        <p:spPr>
          <a:xfrm>
            <a:off x="11914396" y="1028700"/>
            <a:ext cx="5847658" cy="7805002"/>
          </a:xfrm>
          <a:custGeom>
            <a:avLst/>
            <a:gdLst/>
            <a:ahLst/>
            <a:cxnLst/>
            <a:rect l="l" t="t" r="r" b="b"/>
            <a:pathLst>
              <a:path w="5847658" h="7805002">
                <a:moveTo>
                  <a:pt x="0" y="0"/>
                </a:moveTo>
                <a:lnTo>
                  <a:pt x="5847658" y="0"/>
                </a:lnTo>
                <a:lnTo>
                  <a:pt x="5847658" y="7805002"/>
                </a:lnTo>
                <a:lnTo>
                  <a:pt x="0" y="7805002"/>
                </a:lnTo>
                <a:lnTo>
                  <a:pt x="0" y="0"/>
                </a:lnTo>
                <a:close/>
              </a:path>
            </a:pathLst>
          </a:custGeom>
          <a:blipFill>
            <a:blip r:embed="rId2"/>
            <a:stretch>
              <a:fillRect l="-66734" r="-5766"/>
            </a:stretch>
          </a:blipFill>
        </p:spPr>
        <p:txBody>
          <a:bodyPr/>
          <a:lstStyle/>
          <a:p>
            <a:endParaRPr lang="en-GB"/>
          </a:p>
        </p:txBody>
      </p:sp>
      <p:sp>
        <p:nvSpPr>
          <p:cNvPr id="11" name="Freeform 11"/>
          <p:cNvSpPr/>
          <p:nvPr/>
        </p:nvSpPr>
        <p:spPr>
          <a:xfrm>
            <a:off x="0" y="9078426"/>
            <a:ext cx="5109349" cy="1208574"/>
          </a:xfrm>
          <a:custGeom>
            <a:avLst/>
            <a:gdLst/>
            <a:ahLst/>
            <a:cxnLst/>
            <a:rect l="l" t="t" r="r" b="b"/>
            <a:pathLst>
              <a:path w="5109349" h="1208574">
                <a:moveTo>
                  <a:pt x="0" y="0"/>
                </a:moveTo>
                <a:lnTo>
                  <a:pt x="5109349" y="0"/>
                </a:lnTo>
                <a:lnTo>
                  <a:pt x="5109349" y="1208574"/>
                </a:lnTo>
                <a:lnTo>
                  <a:pt x="0" y="1208574"/>
                </a:lnTo>
                <a:lnTo>
                  <a:pt x="0" y="0"/>
                </a:lnTo>
                <a:close/>
              </a:path>
            </a:pathLst>
          </a:custGeom>
          <a:blipFill>
            <a:blip r:embed="rId3"/>
            <a:stretch>
              <a:fillRect/>
            </a:stretch>
          </a:blipFill>
        </p:spPr>
        <p:txBody>
          <a:bodyPr/>
          <a:lstStyle/>
          <a:p>
            <a:endParaRPr lang="en-GB"/>
          </a:p>
        </p:txBody>
      </p:sp>
      <p:sp>
        <p:nvSpPr>
          <p:cNvPr id="12" name="TextBox 12"/>
          <p:cNvSpPr txBox="1"/>
          <p:nvPr/>
        </p:nvSpPr>
        <p:spPr>
          <a:xfrm>
            <a:off x="2444517" y="2498034"/>
            <a:ext cx="8860991" cy="963930"/>
          </a:xfrm>
          <a:prstGeom prst="rect">
            <a:avLst/>
          </a:prstGeom>
        </p:spPr>
        <p:txBody>
          <a:bodyPr lIns="0" tIns="0" rIns="0" bIns="0" rtlCol="0" anchor="t">
            <a:spAutoFit/>
          </a:bodyPr>
          <a:lstStyle/>
          <a:p>
            <a:pPr algn="l">
              <a:lnSpc>
                <a:spcPts val="8400"/>
              </a:lnSpc>
            </a:pPr>
            <a:r>
              <a:rPr lang="en-US" sz="4200">
                <a:solidFill>
                  <a:srgbClr val="3D2812"/>
                </a:solidFill>
                <a:latin typeface="Open Sans"/>
                <a:ea typeface="Open Sans"/>
                <a:cs typeface="Open Sans"/>
                <a:sym typeface="Open Sans"/>
              </a:rPr>
              <a:t>Research Problem &amp; It’s Impact</a:t>
            </a:r>
          </a:p>
        </p:txBody>
      </p:sp>
      <p:sp>
        <p:nvSpPr>
          <p:cNvPr id="13" name="TextBox 13"/>
          <p:cNvSpPr txBox="1"/>
          <p:nvPr/>
        </p:nvSpPr>
        <p:spPr>
          <a:xfrm>
            <a:off x="1142094" y="2718062"/>
            <a:ext cx="545211" cy="669036"/>
          </a:xfrm>
          <a:prstGeom prst="rect">
            <a:avLst/>
          </a:prstGeom>
        </p:spPr>
        <p:txBody>
          <a:bodyPr lIns="0" tIns="0" rIns="0" bIns="0" rtlCol="0" anchor="t">
            <a:spAutoFit/>
          </a:bodyPr>
          <a:lstStyle/>
          <a:p>
            <a:pPr algn="ctr">
              <a:lnSpc>
                <a:spcPts val="5652"/>
              </a:lnSpc>
            </a:pPr>
            <a:r>
              <a:rPr lang="en-US" sz="3600" b="1">
                <a:solidFill>
                  <a:srgbClr val="3D2812"/>
                </a:solidFill>
                <a:latin typeface="Open Sans Bold"/>
                <a:ea typeface="Open Sans Bold"/>
                <a:cs typeface="Open Sans Bold"/>
                <a:sym typeface="Open Sans Bold"/>
              </a:rPr>
              <a:t>1</a:t>
            </a:r>
          </a:p>
        </p:txBody>
      </p:sp>
      <p:sp>
        <p:nvSpPr>
          <p:cNvPr id="14" name="TextBox 14"/>
          <p:cNvSpPr txBox="1"/>
          <p:nvPr/>
        </p:nvSpPr>
        <p:spPr>
          <a:xfrm>
            <a:off x="2444517" y="3780103"/>
            <a:ext cx="7322748" cy="963930"/>
          </a:xfrm>
          <a:prstGeom prst="rect">
            <a:avLst/>
          </a:prstGeom>
        </p:spPr>
        <p:txBody>
          <a:bodyPr lIns="0" tIns="0" rIns="0" bIns="0" rtlCol="0" anchor="t">
            <a:spAutoFit/>
          </a:bodyPr>
          <a:lstStyle/>
          <a:p>
            <a:pPr marL="0" lvl="1" indent="0" algn="l">
              <a:lnSpc>
                <a:spcPts val="8400"/>
              </a:lnSpc>
              <a:spcBef>
                <a:spcPct val="0"/>
              </a:spcBef>
            </a:pPr>
            <a:r>
              <a:rPr lang="en-US" sz="4200">
                <a:solidFill>
                  <a:srgbClr val="3D2812"/>
                </a:solidFill>
                <a:latin typeface="Open Sans"/>
                <a:ea typeface="Open Sans"/>
                <a:cs typeface="Open Sans"/>
                <a:sym typeface="Open Sans"/>
              </a:rPr>
              <a:t>Problem Solution</a:t>
            </a:r>
          </a:p>
        </p:txBody>
      </p:sp>
      <p:sp>
        <p:nvSpPr>
          <p:cNvPr id="15" name="TextBox 15"/>
          <p:cNvSpPr txBox="1"/>
          <p:nvPr/>
        </p:nvSpPr>
        <p:spPr>
          <a:xfrm>
            <a:off x="1142094" y="3997902"/>
            <a:ext cx="545211" cy="669036"/>
          </a:xfrm>
          <a:prstGeom prst="rect">
            <a:avLst/>
          </a:prstGeom>
        </p:spPr>
        <p:txBody>
          <a:bodyPr lIns="0" tIns="0" rIns="0" bIns="0" rtlCol="0" anchor="t">
            <a:spAutoFit/>
          </a:bodyPr>
          <a:lstStyle/>
          <a:p>
            <a:pPr marL="0" lvl="1" indent="0" algn="ctr">
              <a:lnSpc>
                <a:spcPts val="5652"/>
              </a:lnSpc>
              <a:spcBef>
                <a:spcPct val="0"/>
              </a:spcBef>
            </a:pPr>
            <a:r>
              <a:rPr lang="en-US" sz="3600" b="1" u="none">
                <a:solidFill>
                  <a:srgbClr val="3D2812"/>
                </a:solidFill>
                <a:latin typeface="Open Sans Bold"/>
                <a:ea typeface="Open Sans Bold"/>
                <a:cs typeface="Open Sans Bold"/>
                <a:sym typeface="Open Sans Bold"/>
              </a:rPr>
              <a:t>2</a:t>
            </a:r>
          </a:p>
        </p:txBody>
      </p:sp>
      <p:sp>
        <p:nvSpPr>
          <p:cNvPr id="16" name="TextBox 16"/>
          <p:cNvSpPr txBox="1"/>
          <p:nvPr/>
        </p:nvSpPr>
        <p:spPr>
          <a:xfrm>
            <a:off x="2444517" y="6244164"/>
            <a:ext cx="8316197" cy="1694688"/>
          </a:xfrm>
          <a:prstGeom prst="rect">
            <a:avLst/>
          </a:prstGeom>
        </p:spPr>
        <p:txBody>
          <a:bodyPr lIns="0" tIns="0" rIns="0" bIns="0" rtlCol="0" anchor="t">
            <a:spAutoFit/>
          </a:bodyPr>
          <a:lstStyle/>
          <a:p>
            <a:pPr algn="l">
              <a:lnSpc>
                <a:spcPts val="8400"/>
              </a:lnSpc>
            </a:pPr>
            <a:r>
              <a:rPr lang="en-US" sz="4200">
                <a:solidFill>
                  <a:srgbClr val="3D2812"/>
                </a:solidFill>
                <a:latin typeface="Open Sans"/>
                <a:ea typeface="Open Sans"/>
                <a:cs typeface="Open Sans"/>
                <a:sym typeface="Open Sans"/>
              </a:rPr>
              <a:t>Overall System Diagram and</a:t>
            </a:r>
          </a:p>
          <a:p>
            <a:pPr marL="0" lvl="1" indent="0" algn="l">
              <a:lnSpc>
                <a:spcPts val="3192"/>
              </a:lnSpc>
            </a:pPr>
            <a:r>
              <a:rPr lang="en-US" sz="4200">
                <a:solidFill>
                  <a:srgbClr val="3D2812"/>
                </a:solidFill>
                <a:latin typeface="Open Sans"/>
                <a:ea typeface="Open Sans"/>
                <a:cs typeface="Open Sans"/>
                <a:sym typeface="Open Sans"/>
              </a:rPr>
              <a:t>Design Excellece</a:t>
            </a:r>
          </a:p>
        </p:txBody>
      </p:sp>
      <p:sp>
        <p:nvSpPr>
          <p:cNvPr id="17" name="TextBox 17"/>
          <p:cNvSpPr txBox="1"/>
          <p:nvPr/>
        </p:nvSpPr>
        <p:spPr>
          <a:xfrm>
            <a:off x="1142094" y="6557583"/>
            <a:ext cx="545211" cy="669036"/>
          </a:xfrm>
          <a:prstGeom prst="rect">
            <a:avLst/>
          </a:prstGeom>
        </p:spPr>
        <p:txBody>
          <a:bodyPr lIns="0" tIns="0" rIns="0" bIns="0" rtlCol="0" anchor="t">
            <a:spAutoFit/>
          </a:bodyPr>
          <a:lstStyle/>
          <a:p>
            <a:pPr marL="0" lvl="1" indent="0" algn="ctr">
              <a:lnSpc>
                <a:spcPts val="5652"/>
              </a:lnSpc>
              <a:spcBef>
                <a:spcPct val="0"/>
              </a:spcBef>
            </a:pPr>
            <a:r>
              <a:rPr lang="en-US" sz="3600" b="1" u="none">
                <a:solidFill>
                  <a:srgbClr val="3D2812"/>
                </a:solidFill>
                <a:latin typeface="Open Sans Bold"/>
                <a:ea typeface="Open Sans Bold"/>
                <a:cs typeface="Open Sans Bold"/>
                <a:sym typeface="Open Sans Bold"/>
              </a:rPr>
              <a:t>4</a:t>
            </a:r>
          </a:p>
        </p:txBody>
      </p:sp>
      <p:sp>
        <p:nvSpPr>
          <p:cNvPr id="18" name="TextBox 18"/>
          <p:cNvSpPr txBox="1"/>
          <p:nvPr/>
        </p:nvSpPr>
        <p:spPr>
          <a:xfrm>
            <a:off x="2444517" y="5062171"/>
            <a:ext cx="9469879" cy="963930"/>
          </a:xfrm>
          <a:prstGeom prst="rect">
            <a:avLst/>
          </a:prstGeom>
        </p:spPr>
        <p:txBody>
          <a:bodyPr lIns="0" tIns="0" rIns="0" bIns="0" rtlCol="0" anchor="t">
            <a:spAutoFit/>
          </a:bodyPr>
          <a:lstStyle/>
          <a:p>
            <a:pPr marL="0" lvl="1" indent="0" algn="l">
              <a:lnSpc>
                <a:spcPts val="8400"/>
              </a:lnSpc>
              <a:spcBef>
                <a:spcPct val="0"/>
              </a:spcBef>
            </a:pPr>
            <a:r>
              <a:rPr lang="en-US" sz="4200">
                <a:solidFill>
                  <a:srgbClr val="3D2812"/>
                </a:solidFill>
                <a:latin typeface="Open Sans"/>
                <a:ea typeface="Open Sans"/>
                <a:cs typeface="Open Sans"/>
                <a:sym typeface="Open Sans"/>
              </a:rPr>
              <a:t>Beneficiaries by the solution</a:t>
            </a:r>
          </a:p>
        </p:txBody>
      </p:sp>
      <p:sp>
        <p:nvSpPr>
          <p:cNvPr id="19" name="TextBox 19"/>
          <p:cNvSpPr txBox="1"/>
          <p:nvPr/>
        </p:nvSpPr>
        <p:spPr>
          <a:xfrm>
            <a:off x="1142094" y="5277743"/>
            <a:ext cx="545211" cy="669036"/>
          </a:xfrm>
          <a:prstGeom prst="rect">
            <a:avLst/>
          </a:prstGeom>
        </p:spPr>
        <p:txBody>
          <a:bodyPr lIns="0" tIns="0" rIns="0" bIns="0" rtlCol="0" anchor="t">
            <a:spAutoFit/>
          </a:bodyPr>
          <a:lstStyle/>
          <a:p>
            <a:pPr marL="0" lvl="1" indent="0" algn="ctr">
              <a:lnSpc>
                <a:spcPts val="5652"/>
              </a:lnSpc>
              <a:spcBef>
                <a:spcPct val="0"/>
              </a:spcBef>
            </a:pPr>
            <a:r>
              <a:rPr lang="en-US" sz="3600" b="1" u="none">
                <a:solidFill>
                  <a:srgbClr val="3D2812"/>
                </a:solidFill>
                <a:latin typeface="Open Sans Bold"/>
                <a:ea typeface="Open Sans Bold"/>
                <a:cs typeface="Open Sans Bold"/>
                <a:sym typeface="Open Sans Bold"/>
              </a:rPr>
              <a:t>3</a:t>
            </a:r>
          </a:p>
        </p:txBody>
      </p:sp>
      <p:sp>
        <p:nvSpPr>
          <p:cNvPr id="20" name="TextBox 20"/>
          <p:cNvSpPr txBox="1"/>
          <p:nvPr/>
        </p:nvSpPr>
        <p:spPr>
          <a:xfrm>
            <a:off x="1028700" y="1019175"/>
            <a:ext cx="5684700" cy="1038225"/>
          </a:xfrm>
          <a:prstGeom prst="rect">
            <a:avLst/>
          </a:prstGeom>
        </p:spPr>
        <p:txBody>
          <a:bodyPr lIns="0" tIns="0" rIns="0" bIns="0" rtlCol="0" anchor="t">
            <a:spAutoFit/>
          </a:bodyPr>
          <a:lstStyle/>
          <a:p>
            <a:pPr marL="0" lvl="0" indent="0" algn="l">
              <a:lnSpc>
                <a:spcPts val="8160"/>
              </a:lnSpc>
              <a:spcBef>
                <a:spcPct val="0"/>
              </a:spcBef>
            </a:pPr>
            <a:r>
              <a:rPr lang="en-US" sz="6800" b="1">
                <a:solidFill>
                  <a:srgbClr val="3D2812"/>
                </a:solidFill>
                <a:latin typeface="Open Sans Bold"/>
                <a:ea typeface="Open Sans Bold"/>
                <a:cs typeface="Open Sans Bold"/>
                <a:sym typeface="Open Sans Bold"/>
              </a:rPr>
              <a:t>Introduction</a:t>
            </a:r>
          </a:p>
        </p:txBody>
      </p:sp>
      <p:sp>
        <p:nvSpPr>
          <p:cNvPr id="21" name="TextBox 21"/>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078426"/>
            <a:ext cx="5109349" cy="1208574"/>
          </a:xfrm>
          <a:custGeom>
            <a:avLst/>
            <a:gdLst/>
            <a:ahLst/>
            <a:cxnLst/>
            <a:rect l="l" t="t" r="r" b="b"/>
            <a:pathLst>
              <a:path w="5109349" h="1208574">
                <a:moveTo>
                  <a:pt x="0" y="0"/>
                </a:moveTo>
                <a:lnTo>
                  <a:pt x="5109349" y="0"/>
                </a:lnTo>
                <a:lnTo>
                  <a:pt x="5109349" y="1208574"/>
                </a:lnTo>
                <a:lnTo>
                  <a:pt x="0" y="1208574"/>
                </a:lnTo>
                <a:lnTo>
                  <a:pt x="0" y="0"/>
                </a:lnTo>
                <a:close/>
              </a:path>
            </a:pathLst>
          </a:custGeom>
          <a:blipFill>
            <a:blip r:embed="rId2"/>
            <a:stretch>
              <a:fillRect/>
            </a:stretch>
          </a:blipFill>
        </p:spPr>
        <p:txBody>
          <a:bodyPr/>
          <a:lstStyle/>
          <a:p>
            <a:endParaRPr lang="en-GB"/>
          </a:p>
        </p:txBody>
      </p:sp>
      <p:sp>
        <p:nvSpPr>
          <p:cNvPr id="4" name="TextBox 4"/>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4</a:t>
            </a:r>
          </a:p>
        </p:txBody>
      </p:sp>
      <p:sp>
        <p:nvSpPr>
          <p:cNvPr id="5" name="TextBox 4">
            <a:extLst>
              <a:ext uri="{FF2B5EF4-FFF2-40B4-BE49-F238E27FC236}">
                <a16:creationId xmlns:a16="http://schemas.microsoft.com/office/drawing/2014/main" id="{324251EA-3690-59C2-A168-CBC47C029A36}"/>
              </a:ext>
            </a:extLst>
          </p:cNvPr>
          <p:cNvSpPr txBox="1"/>
          <p:nvPr/>
        </p:nvSpPr>
        <p:spPr>
          <a:xfrm>
            <a:off x="2362200" y="2171700"/>
            <a:ext cx="13792200" cy="3785652"/>
          </a:xfrm>
          <a:prstGeom prst="rect">
            <a:avLst/>
          </a:prstGeom>
          <a:noFill/>
        </p:spPr>
        <p:txBody>
          <a:bodyPr wrap="square" rtlCol="0">
            <a:spAutoFit/>
          </a:bodyPr>
          <a:lstStyle/>
          <a:p>
            <a:r>
              <a:rPr lang="en-GB" sz="4800" dirty="0"/>
              <a:t>Research Problem ,Research Gap and Solution</a:t>
            </a:r>
          </a:p>
          <a:p>
            <a:endParaRPr lang="en-GB" sz="4800" dirty="0"/>
          </a:p>
          <a:p>
            <a:r>
              <a:rPr lang="en-GB" sz="4800" dirty="0"/>
              <a:t>Video Link - </a:t>
            </a:r>
            <a:r>
              <a:rPr lang="en-GB" sz="4800" dirty="0">
                <a:hlinkClick r:id="rId3"/>
              </a:rPr>
              <a:t>https://drive.google.com/file/d/19A2HQQNmodHreLTcJSCrmI4FNYjO6MdJ/view?usp=sharing</a:t>
            </a:r>
            <a:r>
              <a:rPr lang="en-GB" sz="4800"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3881788" y="1028700"/>
            <a:ext cx="3377512" cy="4343215"/>
          </a:xfrm>
          <a:custGeom>
            <a:avLst/>
            <a:gdLst/>
            <a:ahLst/>
            <a:cxnLst/>
            <a:rect l="l" t="t" r="r" b="b"/>
            <a:pathLst>
              <a:path w="3377512" h="4343215">
                <a:moveTo>
                  <a:pt x="0" y="0"/>
                </a:moveTo>
                <a:lnTo>
                  <a:pt x="3377512" y="0"/>
                </a:lnTo>
                <a:lnTo>
                  <a:pt x="3377512" y="4343215"/>
                </a:lnTo>
                <a:lnTo>
                  <a:pt x="0" y="4343215"/>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1181100" y="3895217"/>
            <a:ext cx="12025716" cy="2287017"/>
          </a:xfrm>
          <a:prstGeom prst="rect">
            <a:avLst/>
          </a:prstGeom>
        </p:spPr>
        <p:txBody>
          <a:bodyPr lIns="0" tIns="0" rIns="0" bIns="0" rtlCol="0" anchor="t">
            <a:spAutoFit/>
          </a:bodyPr>
          <a:lstStyle/>
          <a:p>
            <a:pPr marL="0" lvl="0" indent="0" algn="just">
              <a:lnSpc>
                <a:spcPts val="9321"/>
              </a:lnSpc>
            </a:pPr>
            <a:r>
              <a:rPr lang="en-US" sz="5899" b="1" spc="88">
                <a:solidFill>
                  <a:srgbClr val="3D2812"/>
                </a:solidFill>
                <a:latin typeface="Canva Sans Bold"/>
                <a:ea typeface="Canva Sans Bold"/>
                <a:cs typeface="Canva Sans Bold"/>
                <a:sym typeface="Canva Sans Bold"/>
              </a:rPr>
              <a:t>IT22920218   |   Krushanth A</a:t>
            </a:r>
          </a:p>
          <a:p>
            <a:pPr marL="0" lvl="0" indent="0" algn="just">
              <a:lnSpc>
                <a:spcPts val="9321"/>
              </a:lnSpc>
            </a:pPr>
            <a:r>
              <a:rPr lang="en-US" sz="5899" b="1" spc="88">
                <a:solidFill>
                  <a:srgbClr val="3D2812"/>
                </a:solidFill>
                <a:latin typeface="Canva Sans Bold"/>
                <a:ea typeface="Canva Sans Bold"/>
                <a:cs typeface="Canva Sans Bold"/>
                <a:sym typeface="Canva Sans Bold"/>
              </a:rPr>
              <a:t>Software Engineering</a:t>
            </a:r>
          </a:p>
        </p:txBody>
      </p:sp>
      <p:sp>
        <p:nvSpPr>
          <p:cNvPr id="4" name="TextBox 4"/>
          <p:cNvSpPr txBox="1"/>
          <p:nvPr/>
        </p:nvSpPr>
        <p:spPr>
          <a:xfrm>
            <a:off x="1181100" y="6938682"/>
            <a:ext cx="14083673" cy="2342498"/>
          </a:xfrm>
          <a:prstGeom prst="rect">
            <a:avLst/>
          </a:prstGeom>
        </p:spPr>
        <p:txBody>
          <a:bodyPr lIns="0" tIns="0" rIns="0" bIns="0" rtlCol="0" anchor="t">
            <a:spAutoFit/>
          </a:bodyPr>
          <a:lstStyle/>
          <a:p>
            <a:pPr marL="0" lvl="0" indent="0" algn="l">
              <a:lnSpc>
                <a:spcPts val="5998"/>
              </a:lnSpc>
            </a:pPr>
            <a:r>
              <a:rPr lang="en-US" sz="4614" b="1" spc="69">
                <a:solidFill>
                  <a:srgbClr val="3D2812"/>
                </a:solidFill>
                <a:latin typeface="The Seasons Bold"/>
                <a:ea typeface="The Seasons Bold"/>
                <a:cs typeface="The Seasons Bold"/>
                <a:sym typeface="The Seasons Bold"/>
              </a:rPr>
              <a:t> Reinforcement Learning Problem Formulation for Traffic Signal Control Agents</a:t>
            </a:r>
          </a:p>
          <a:p>
            <a:pPr marL="0" lvl="0" indent="0" algn="l">
              <a:lnSpc>
                <a:spcPts val="5998"/>
              </a:lnSpc>
            </a:pPr>
            <a:endParaRPr lang="en-US" sz="4614" b="1" spc="69">
              <a:solidFill>
                <a:srgbClr val="3D2812"/>
              </a:solidFill>
              <a:latin typeface="The Seasons Bold"/>
              <a:ea typeface="The Seasons Bold"/>
              <a:cs typeface="The Seasons Bold"/>
              <a:sym typeface="The Seasons Bold"/>
            </a:endParaRPr>
          </a:p>
        </p:txBody>
      </p:sp>
      <p:sp>
        <p:nvSpPr>
          <p:cNvPr id="5" name="TextBox 5"/>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5</a:t>
            </a:r>
          </a:p>
        </p:txBody>
      </p:sp>
      <p:grpSp>
        <p:nvGrpSpPr>
          <p:cNvPr id="6" name="Group 6"/>
          <p:cNvGrpSpPr/>
          <p:nvPr/>
        </p:nvGrpSpPr>
        <p:grpSpPr>
          <a:xfrm>
            <a:off x="152400" y="9322212"/>
            <a:ext cx="16965984" cy="964788"/>
            <a:chOff x="0" y="0"/>
            <a:chExt cx="22621312" cy="1286384"/>
          </a:xfrm>
        </p:grpSpPr>
        <p:sp>
          <p:nvSpPr>
            <p:cNvPr id="7" name="Freeform 7"/>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3"/>
              <a:stretch>
                <a:fillRect/>
              </a:stretch>
            </a:blipFill>
          </p:spPr>
          <p:txBody>
            <a:bodyPr/>
            <a:lstStyle/>
            <a:p>
              <a:endParaRPr lang="en-GB"/>
            </a:p>
          </p:txBody>
        </p:sp>
        <p:sp>
          <p:nvSpPr>
            <p:cNvPr id="8" name="TextBox 8"/>
            <p:cNvSpPr txBox="1"/>
            <p:nvPr/>
          </p:nvSpPr>
          <p:spPr>
            <a:xfrm>
              <a:off x="5939922" y="435762"/>
              <a:ext cx="16681390"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IT22920218      |       Krushanth A      |       25-26J-473        |       Date: 06/01/2026</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7744518"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6</a:t>
            </a:r>
          </a:p>
        </p:txBody>
      </p:sp>
      <p:grpSp>
        <p:nvGrpSpPr>
          <p:cNvPr id="3" name="Group 3"/>
          <p:cNvGrpSpPr/>
          <p:nvPr/>
        </p:nvGrpSpPr>
        <p:grpSpPr>
          <a:xfrm>
            <a:off x="152400" y="9474612"/>
            <a:ext cx="16446351" cy="964788"/>
            <a:chOff x="0" y="0"/>
            <a:chExt cx="21928468" cy="1286384"/>
          </a:xfrm>
        </p:grpSpPr>
        <p:sp>
          <p:nvSpPr>
            <p:cNvPr id="4" name="Freeform 4"/>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2"/>
              <a:stretch>
                <a:fillRect/>
              </a:stretch>
            </a:blipFill>
          </p:spPr>
          <p:txBody>
            <a:bodyPr/>
            <a:lstStyle/>
            <a:p>
              <a:endParaRPr lang="en-GB"/>
            </a:p>
          </p:txBody>
        </p:sp>
        <p:sp>
          <p:nvSpPr>
            <p:cNvPr id="5" name="TextBox 5"/>
            <p:cNvSpPr txBox="1"/>
            <p:nvPr/>
          </p:nvSpPr>
          <p:spPr>
            <a:xfrm>
              <a:off x="5438298" y="538417"/>
              <a:ext cx="11493275"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IT22920218       |       Krushanth A      |       25-26J-473 </a:t>
              </a:r>
            </a:p>
          </p:txBody>
        </p:sp>
        <p:sp>
          <p:nvSpPr>
            <p:cNvPr id="6" name="TextBox 6"/>
            <p:cNvSpPr txBox="1"/>
            <p:nvPr/>
          </p:nvSpPr>
          <p:spPr>
            <a:xfrm>
              <a:off x="17904380" y="471742"/>
              <a:ext cx="4024088" cy="692757"/>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grpSp>
      <p:sp>
        <p:nvSpPr>
          <p:cNvPr id="7" name="TextBox 7"/>
          <p:cNvSpPr txBox="1"/>
          <p:nvPr/>
        </p:nvSpPr>
        <p:spPr>
          <a:xfrm>
            <a:off x="2656804" y="294820"/>
            <a:ext cx="13941947" cy="562430"/>
          </a:xfrm>
          <a:prstGeom prst="rect">
            <a:avLst/>
          </a:prstGeom>
        </p:spPr>
        <p:txBody>
          <a:bodyPr lIns="0" tIns="0" rIns="0" bIns="0" rtlCol="0" anchor="t">
            <a:spAutoFit/>
          </a:bodyPr>
          <a:lstStyle/>
          <a:p>
            <a:pPr algn="ctr">
              <a:lnSpc>
                <a:spcPts val="4875"/>
              </a:lnSpc>
              <a:spcBef>
                <a:spcPct val="0"/>
              </a:spcBef>
            </a:pPr>
            <a:r>
              <a:rPr lang="en-US" sz="2566" i="1" spc="38">
                <a:solidFill>
                  <a:srgbClr val="000000"/>
                </a:solidFill>
                <a:latin typeface="Canva Sans Italics"/>
                <a:ea typeface="Canva Sans Italics"/>
                <a:cs typeface="Canva Sans Italics"/>
                <a:sym typeface="Canva Sans Italics"/>
              </a:rPr>
              <a:t>EMERGENCY VEHICLE DETECTION AND TRIGGERING SIGNAL</a:t>
            </a:r>
          </a:p>
        </p:txBody>
      </p:sp>
      <p:sp>
        <p:nvSpPr>
          <p:cNvPr id="8" name="TextBox 8"/>
          <p:cNvSpPr txBox="1"/>
          <p:nvPr/>
        </p:nvSpPr>
        <p:spPr>
          <a:xfrm>
            <a:off x="1282304" y="1916430"/>
            <a:ext cx="16690947" cy="3775710"/>
          </a:xfrm>
          <a:prstGeom prst="rect">
            <a:avLst/>
          </a:prstGeom>
        </p:spPr>
        <p:txBody>
          <a:bodyPr lIns="0" tIns="0" rIns="0" bIns="0" rtlCol="0" anchor="t">
            <a:spAutoFit/>
          </a:bodyPr>
          <a:lstStyle/>
          <a:p>
            <a:pPr algn="l">
              <a:lnSpc>
                <a:spcPts val="4349"/>
              </a:lnSpc>
            </a:pPr>
            <a:r>
              <a:rPr lang="en-US" sz="2899" b="1">
                <a:solidFill>
                  <a:srgbClr val="3D2812"/>
                </a:solidFill>
                <a:latin typeface="Canva Sans Bold"/>
                <a:ea typeface="Canva Sans Bold"/>
                <a:cs typeface="Canva Sans Bold"/>
                <a:sym typeface="Canva Sans Bold"/>
              </a:rPr>
              <a:t>Optimizing Traffic Signal Control</a:t>
            </a:r>
          </a:p>
          <a:p>
            <a:pPr marL="626109" lvl="1" indent="-313054" algn="l">
              <a:lnSpc>
                <a:spcPts val="4349"/>
              </a:lnSpc>
              <a:buFont typeface="Arial"/>
              <a:buChar char="•"/>
            </a:pPr>
            <a:r>
              <a:rPr lang="en-US" sz="2899">
                <a:solidFill>
                  <a:srgbClr val="3D2812"/>
                </a:solidFill>
                <a:latin typeface="Canva Sans"/>
                <a:ea typeface="Canva Sans"/>
                <a:cs typeface="Canva Sans"/>
                <a:sym typeface="Canva Sans"/>
              </a:rPr>
              <a:t>State Observation – Monitor real-time traffic conditions such as vehicle counts, queue lengths, and active signal phases from the traffic environment</a:t>
            </a:r>
            <a:r>
              <a:rPr lang="en-US" sz="2899" b="1">
                <a:solidFill>
                  <a:srgbClr val="3D2812"/>
                </a:solidFill>
                <a:latin typeface="Canva Sans Bold"/>
                <a:ea typeface="Canva Sans Bold"/>
                <a:cs typeface="Canva Sans Bold"/>
                <a:sym typeface="Canva Sans Bold"/>
              </a:rPr>
              <a:t>.</a:t>
            </a:r>
          </a:p>
          <a:p>
            <a:pPr marL="626109" lvl="1" indent="-313054" algn="l">
              <a:lnSpc>
                <a:spcPts val="4349"/>
              </a:lnSpc>
              <a:buFont typeface="Arial"/>
              <a:buChar char="•"/>
            </a:pPr>
            <a:r>
              <a:rPr lang="en-US" sz="2899">
                <a:solidFill>
                  <a:srgbClr val="3D2812"/>
                </a:solidFill>
                <a:latin typeface="Canva Sans"/>
                <a:ea typeface="Canva Sans"/>
                <a:cs typeface="Canva Sans"/>
                <a:sym typeface="Canva Sans"/>
              </a:rPr>
              <a:t>Action Selection – Dynamically decide whether to extend, switch, or hold traffic signal phases based on current intersection conditions.</a:t>
            </a:r>
          </a:p>
          <a:p>
            <a:pPr algn="l">
              <a:lnSpc>
                <a:spcPts val="4349"/>
              </a:lnSpc>
            </a:pPr>
            <a:r>
              <a:rPr lang="en-US" sz="2899">
                <a:solidFill>
                  <a:srgbClr val="3D2812"/>
                </a:solidFill>
                <a:latin typeface="Canva Sans"/>
                <a:ea typeface="Canva Sans"/>
                <a:cs typeface="Canva Sans"/>
                <a:sym typeface="Canva Sans"/>
              </a:rPr>
              <a:t>Memory-Based Learning – Store past traffic states and signal decisions to guide future actions and improve decision quality over time.</a:t>
            </a:r>
          </a:p>
        </p:txBody>
      </p:sp>
      <p:sp>
        <p:nvSpPr>
          <p:cNvPr id="9" name="TextBox 9"/>
          <p:cNvSpPr txBox="1"/>
          <p:nvPr/>
        </p:nvSpPr>
        <p:spPr>
          <a:xfrm>
            <a:off x="1538468" y="6562248"/>
            <a:ext cx="11149636" cy="2912364"/>
          </a:xfrm>
          <a:prstGeom prst="rect">
            <a:avLst/>
          </a:prstGeom>
        </p:spPr>
        <p:txBody>
          <a:bodyPr lIns="0" tIns="0" rIns="0" bIns="0" rtlCol="0" anchor="t">
            <a:spAutoFit/>
          </a:bodyPr>
          <a:lstStyle/>
          <a:p>
            <a:pPr marL="626109" lvl="1" indent="-313054" algn="l">
              <a:lnSpc>
                <a:spcPts val="4697"/>
              </a:lnSpc>
              <a:buFont typeface="Arial"/>
              <a:buChar char="•"/>
            </a:pPr>
            <a:r>
              <a:rPr lang="en-US" sz="2899">
                <a:solidFill>
                  <a:srgbClr val="000000"/>
                </a:solidFill>
                <a:latin typeface="Canva Sans"/>
                <a:ea typeface="Canva Sans"/>
                <a:cs typeface="Canva Sans"/>
                <a:sym typeface="Canva Sans"/>
              </a:rPr>
              <a:t>Real-time adaptive traffic signal control based on live traffic conditions</a:t>
            </a:r>
          </a:p>
          <a:p>
            <a:pPr marL="626109" lvl="1" indent="-313054" algn="l">
              <a:lnSpc>
                <a:spcPts val="4697"/>
              </a:lnSpc>
              <a:buFont typeface="Arial"/>
              <a:buChar char="•"/>
            </a:pPr>
            <a:r>
              <a:rPr lang="en-US" sz="2899">
                <a:solidFill>
                  <a:srgbClr val="000000"/>
                </a:solidFill>
                <a:latin typeface="Canva Sans"/>
                <a:ea typeface="Canva Sans"/>
                <a:cs typeface="Canva Sans"/>
                <a:sym typeface="Canva Sans"/>
              </a:rPr>
              <a:t>Reduced vehicle waiting time and intersection congestion</a:t>
            </a:r>
          </a:p>
          <a:p>
            <a:pPr marL="626109" lvl="1" indent="-313054" algn="l">
              <a:lnSpc>
                <a:spcPts val="4697"/>
              </a:lnSpc>
              <a:buFont typeface="Arial"/>
              <a:buChar char="•"/>
            </a:pPr>
            <a:r>
              <a:rPr lang="en-US" sz="2899">
                <a:solidFill>
                  <a:srgbClr val="000000"/>
                </a:solidFill>
                <a:latin typeface="Canva Sans"/>
                <a:ea typeface="Canva Sans"/>
                <a:cs typeface="Canva Sans"/>
                <a:sym typeface="Canva Sans"/>
              </a:rPr>
              <a:t>Autonomous signal decision-making without fixed-time schedules</a:t>
            </a:r>
          </a:p>
        </p:txBody>
      </p:sp>
      <p:sp>
        <p:nvSpPr>
          <p:cNvPr id="10" name="TextBox 10"/>
          <p:cNvSpPr txBox="1"/>
          <p:nvPr/>
        </p:nvSpPr>
        <p:spPr>
          <a:xfrm>
            <a:off x="1181100" y="1114425"/>
            <a:ext cx="10401601" cy="563880"/>
          </a:xfrm>
          <a:prstGeom prst="rect">
            <a:avLst/>
          </a:prstGeom>
        </p:spPr>
        <p:txBody>
          <a:bodyPr lIns="0" tIns="0" rIns="0" bIns="0" rtlCol="0" anchor="t">
            <a:spAutoFit/>
          </a:bodyPr>
          <a:lstStyle/>
          <a:p>
            <a:pPr algn="l">
              <a:lnSpc>
                <a:spcPts val="4620"/>
              </a:lnSpc>
            </a:pPr>
            <a:r>
              <a:rPr lang="en-US" sz="3300" b="1">
                <a:solidFill>
                  <a:srgbClr val="3D2812"/>
                </a:solidFill>
                <a:latin typeface="Canva Sans Bold"/>
                <a:ea typeface="Canva Sans Bold"/>
                <a:cs typeface="Canva Sans Bold"/>
                <a:sym typeface="Canva Sans Bold"/>
              </a:rPr>
              <a:t>Solution Approach for the Identified Sub-Problem</a:t>
            </a:r>
          </a:p>
        </p:txBody>
      </p:sp>
      <p:sp>
        <p:nvSpPr>
          <p:cNvPr id="11" name="TextBox 11"/>
          <p:cNvSpPr txBox="1"/>
          <p:nvPr/>
        </p:nvSpPr>
        <p:spPr>
          <a:xfrm>
            <a:off x="1181100" y="6029325"/>
            <a:ext cx="10401601" cy="563880"/>
          </a:xfrm>
          <a:prstGeom prst="rect">
            <a:avLst/>
          </a:prstGeom>
        </p:spPr>
        <p:txBody>
          <a:bodyPr lIns="0" tIns="0" rIns="0" bIns="0" rtlCol="0" anchor="t">
            <a:spAutoFit/>
          </a:bodyPr>
          <a:lstStyle/>
          <a:p>
            <a:pPr algn="l">
              <a:lnSpc>
                <a:spcPts val="4620"/>
              </a:lnSpc>
            </a:pPr>
            <a:r>
              <a:rPr lang="en-US" sz="3300" b="1">
                <a:solidFill>
                  <a:srgbClr val="3D2812"/>
                </a:solidFill>
                <a:latin typeface="Canva Sans Bold"/>
                <a:ea typeface="Canva Sans Bold"/>
                <a:cs typeface="Canva Sans Bold"/>
                <a:sym typeface="Canva Sans Bold"/>
              </a:rPr>
              <a:t> User Requirements Fulfilled by the Solution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7744518"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7</a:t>
            </a:r>
          </a:p>
        </p:txBody>
      </p:sp>
      <p:grpSp>
        <p:nvGrpSpPr>
          <p:cNvPr id="3" name="Group 3"/>
          <p:cNvGrpSpPr/>
          <p:nvPr/>
        </p:nvGrpSpPr>
        <p:grpSpPr>
          <a:xfrm>
            <a:off x="152400" y="9474612"/>
            <a:ext cx="16446351" cy="964788"/>
            <a:chOff x="0" y="0"/>
            <a:chExt cx="21928468" cy="1286384"/>
          </a:xfrm>
        </p:grpSpPr>
        <p:sp>
          <p:nvSpPr>
            <p:cNvPr id="4" name="Freeform 4"/>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2"/>
              <a:stretch>
                <a:fillRect/>
              </a:stretch>
            </a:blipFill>
          </p:spPr>
          <p:txBody>
            <a:bodyPr/>
            <a:lstStyle/>
            <a:p>
              <a:endParaRPr lang="en-GB"/>
            </a:p>
          </p:txBody>
        </p:sp>
        <p:sp>
          <p:nvSpPr>
            <p:cNvPr id="5" name="TextBox 5"/>
            <p:cNvSpPr txBox="1"/>
            <p:nvPr/>
          </p:nvSpPr>
          <p:spPr>
            <a:xfrm>
              <a:off x="5438298" y="538417"/>
              <a:ext cx="11493275"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IT22346568       |       Sangeerthan S      |       25-26J-473 </a:t>
              </a:r>
            </a:p>
          </p:txBody>
        </p:sp>
        <p:sp>
          <p:nvSpPr>
            <p:cNvPr id="6" name="TextBox 6"/>
            <p:cNvSpPr txBox="1"/>
            <p:nvPr/>
          </p:nvSpPr>
          <p:spPr>
            <a:xfrm>
              <a:off x="17904380" y="471742"/>
              <a:ext cx="4024088" cy="692757"/>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grpSp>
      <p:sp>
        <p:nvSpPr>
          <p:cNvPr id="7" name="TextBox 7"/>
          <p:cNvSpPr txBox="1"/>
          <p:nvPr/>
        </p:nvSpPr>
        <p:spPr>
          <a:xfrm>
            <a:off x="2656804" y="294820"/>
            <a:ext cx="13941947" cy="562430"/>
          </a:xfrm>
          <a:prstGeom prst="rect">
            <a:avLst/>
          </a:prstGeom>
        </p:spPr>
        <p:txBody>
          <a:bodyPr lIns="0" tIns="0" rIns="0" bIns="0" rtlCol="0" anchor="t">
            <a:spAutoFit/>
          </a:bodyPr>
          <a:lstStyle/>
          <a:p>
            <a:pPr algn="ctr">
              <a:lnSpc>
                <a:spcPts val="4875"/>
              </a:lnSpc>
              <a:spcBef>
                <a:spcPct val="0"/>
              </a:spcBef>
            </a:pPr>
            <a:r>
              <a:rPr lang="en-US" sz="2566" i="1" spc="38">
                <a:solidFill>
                  <a:srgbClr val="000000"/>
                </a:solidFill>
                <a:latin typeface="Canva Sans Italics"/>
                <a:ea typeface="Canva Sans Italics"/>
                <a:cs typeface="Canva Sans Italics"/>
                <a:sym typeface="Canva Sans Italics"/>
              </a:rPr>
              <a:t>EMERGENCY VEHICLE DETECTION AND TRIGGERING SIGNAL</a:t>
            </a:r>
          </a:p>
        </p:txBody>
      </p:sp>
      <p:sp>
        <p:nvSpPr>
          <p:cNvPr id="8" name="TextBox 8"/>
          <p:cNvSpPr txBox="1"/>
          <p:nvPr/>
        </p:nvSpPr>
        <p:spPr>
          <a:xfrm>
            <a:off x="1181075" y="1114425"/>
            <a:ext cx="6505724" cy="563880"/>
          </a:xfrm>
          <a:prstGeom prst="rect">
            <a:avLst/>
          </a:prstGeom>
        </p:spPr>
        <p:txBody>
          <a:bodyPr lIns="0" tIns="0" rIns="0" bIns="0" rtlCol="0" anchor="t">
            <a:spAutoFit/>
          </a:bodyPr>
          <a:lstStyle/>
          <a:p>
            <a:pPr algn="ctr">
              <a:lnSpc>
                <a:spcPts val="4620"/>
              </a:lnSpc>
            </a:pPr>
            <a:r>
              <a:rPr lang="en-US" sz="3300" b="1">
                <a:solidFill>
                  <a:srgbClr val="000000"/>
                </a:solidFill>
                <a:latin typeface="Canva Sans Bold"/>
                <a:ea typeface="Canva Sans Bold"/>
                <a:cs typeface="Canva Sans Bold"/>
                <a:sym typeface="Canva Sans Bold"/>
              </a:rPr>
              <a:t>Design Excellence/Contribution</a:t>
            </a:r>
          </a:p>
        </p:txBody>
      </p:sp>
      <p:sp>
        <p:nvSpPr>
          <p:cNvPr id="9" name="TextBox 9"/>
          <p:cNvSpPr txBox="1"/>
          <p:nvPr/>
        </p:nvSpPr>
        <p:spPr>
          <a:xfrm>
            <a:off x="1065476" y="1057275"/>
            <a:ext cx="16346224" cy="5320919"/>
          </a:xfrm>
          <a:prstGeom prst="rect">
            <a:avLst/>
          </a:prstGeom>
        </p:spPr>
        <p:txBody>
          <a:bodyPr lIns="0" tIns="0" rIns="0" bIns="0" rtlCol="0" anchor="t">
            <a:spAutoFit/>
          </a:bodyPr>
          <a:lstStyle/>
          <a:p>
            <a:pPr algn="l">
              <a:lnSpc>
                <a:spcPts val="4756"/>
              </a:lnSpc>
            </a:pPr>
            <a:endParaRPr/>
          </a:p>
          <a:p>
            <a:pPr marL="626111" lvl="1" indent="-313055" algn="l">
              <a:lnSpc>
                <a:spcPts val="4756"/>
              </a:lnSpc>
              <a:buFont typeface="Arial"/>
              <a:buChar char="•"/>
            </a:pPr>
            <a:r>
              <a:rPr lang="en-US" sz="2900" spc="89">
                <a:solidFill>
                  <a:srgbClr val="000000"/>
                </a:solidFill>
                <a:latin typeface="Canva Sans"/>
                <a:ea typeface="Canva Sans"/>
                <a:cs typeface="Canva Sans"/>
                <a:sym typeface="Canva Sans"/>
              </a:rPr>
              <a:t>Single-Agent Reinforcement Learning Architecture – Utilizes a learning-based traffic signal controller that adapts signal timing decisions based on real-time traffic conditions.</a:t>
            </a:r>
          </a:p>
          <a:p>
            <a:pPr marL="626111" lvl="1" indent="-313055" algn="l">
              <a:lnSpc>
                <a:spcPts val="4756"/>
              </a:lnSpc>
              <a:buFont typeface="Arial"/>
              <a:buChar char="•"/>
            </a:pPr>
            <a:r>
              <a:rPr lang="en-US" sz="2900" spc="89">
                <a:solidFill>
                  <a:srgbClr val="000000"/>
                </a:solidFill>
                <a:latin typeface="Canva Sans"/>
                <a:ea typeface="Canva Sans"/>
                <a:cs typeface="Canva Sans"/>
                <a:sym typeface="Canva Sans"/>
              </a:rPr>
              <a:t>Memory-Based Decision Mechanism – Leverages historical traffic state–action outcomes to guide future signal control decisions and improve performance over time.</a:t>
            </a:r>
          </a:p>
          <a:p>
            <a:pPr algn="l">
              <a:lnSpc>
                <a:spcPts val="4756"/>
              </a:lnSpc>
            </a:pPr>
            <a:endParaRPr lang="en-US" sz="2900" spc="89">
              <a:solidFill>
                <a:srgbClr val="000000"/>
              </a:solidFill>
              <a:latin typeface="Canva Sans"/>
              <a:ea typeface="Canva Sans"/>
              <a:cs typeface="Canva Sans"/>
              <a:sym typeface="Canva Sans"/>
            </a:endParaRPr>
          </a:p>
          <a:p>
            <a:pPr algn="l">
              <a:lnSpc>
                <a:spcPts val="4060"/>
              </a:lnSpc>
            </a:pPr>
            <a:endParaRPr lang="en-US" sz="2900" spc="89">
              <a:solidFill>
                <a:srgbClr val="000000"/>
              </a:solidFill>
              <a:latin typeface="Canva Sans"/>
              <a:ea typeface="Canva Sans"/>
              <a:cs typeface="Canva Sans"/>
              <a:sym typeface="Canva Sans"/>
            </a:endParaRPr>
          </a:p>
        </p:txBody>
      </p:sp>
      <p:sp>
        <p:nvSpPr>
          <p:cNvPr id="10" name="TextBox 10"/>
          <p:cNvSpPr txBox="1"/>
          <p:nvPr/>
        </p:nvSpPr>
        <p:spPr>
          <a:xfrm>
            <a:off x="1181100" y="5076825"/>
            <a:ext cx="5804595" cy="563880"/>
          </a:xfrm>
          <a:prstGeom prst="rect">
            <a:avLst/>
          </a:prstGeom>
        </p:spPr>
        <p:txBody>
          <a:bodyPr lIns="0" tIns="0" rIns="0" bIns="0" rtlCol="0" anchor="t">
            <a:spAutoFit/>
          </a:bodyPr>
          <a:lstStyle/>
          <a:p>
            <a:pPr algn="ctr">
              <a:lnSpc>
                <a:spcPts val="4620"/>
              </a:lnSpc>
            </a:pPr>
            <a:r>
              <a:rPr lang="en-US" sz="3300" b="1">
                <a:solidFill>
                  <a:srgbClr val="000000"/>
                </a:solidFill>
                <a:latin typeface="Canva Sans Bold"/>
                <a:ea typeface="Canva Sans Bold"/>
                <a:cs typeface="Canva Sans Bold"/>
                <a:sym typeface="Canva Sans Bold"/>
              </a:rPr>
              <a:t>User Feedback on Prototype</a:t>
            </a:r>
          </a:p>
        </p:txBody>
      </p:sp>
      <p:sp>
        <p:nvSpPr>
          <p:cNvPr id="11" name="TextBox 11"/>
          <p:cNvSpPr txBox="1"/>
          <p:nvPr/>
        </p:nvSpPr>
        <p:spPr>
          <a:xfrm>
            <a:off x="1065476" y="5614559"/>
            <a:ext cx="16969827" cy="2920619"/>
          </a:xfrm>
          <a:prstGeom prst="rect">
            <a:avLst/>
          </a:prstGeom>
        </p:spPr>
        <p:txBody>
          <a:bodyPr lIns="0" tIns="0" rIns="0" bIns="0" rtlCol="0" anchor="t">
            <a:spAutoFit/>
          </a:bodyPr>
          <a:lstStyle/>
          <a:p>
            <a:pPr marL="626111" lvl="1" indent="-313055" algn="l">
              <a:lnSpc>
                <a:spcPts val="4756"/>
              </a:lnSpc>
              <a:buFont typeface="Arial"/>
              <a:buChar char="•"/>
            </a:pPr>
            <a:r>
              <a:rPr lang="en-US" sz="2900" spc="89">
                <a:solidFill>
                  <a:srgbClr val="000000"/>
                </a:solidFill>
                <a:latin typeface="Canva Sans"/>
                <a:ea typeface="Canva Sans"/>
                <a:cs typeface="Canva Sans"/>
                <a:sym typeface="Canva Sans"/>
              </a:rPr>
              <a:t>Users reported that the traffic signal control interface was easy to understand and intuitive, especially the clear visualization of junction status and active signal phases.</a:t>
            </a:r>
          </a:p>
          <a:p>
            <a:pPr marL="626111" lvl="1" indent="-313055" algn="l">
              <a:lnSpc>
                <a:spcPts val="4756"/>
              </a:lnSpc>
              <a:buFont typeface="Arial"/>
              <a:buChar char="•"/>
            </a:pPr>
            <a:r>
              <a:rPr lang="en-US" sz="2900" spc="89">
                <a:solidFill>
                  <a:srgbClr val="000000"/>
                </a:solidFill>
                <a:latin typeface="Canva Sans"/>
                <a:ea typeface="Canva Sans"/>
                <a:cs typeface="Canva Sans"/>
                <a:sym typeface="Canva Sans"/>
              </a:rPr>
              <a:t>Users appreciated the decision explanation feature, which improved trust in automated signal control.</a:t>
            </a:r>
          </a:p>
          <a:p>
            <a:pPr algn="l">
              <a:lnSpc>
                <a:spcPts val="4060"/>
              </a:lnSpc>
            </a:pPr>
            <a:endParaRPr lang="en-US" sz="2900" spc="89">
              <a:solidFill>
                <a:srgbClr val="000000"/>
              </a:solidFill>
              <a:latin typeface="Canva Sans"/>
              <a:ea typeface="Canva Sans"/>
              <a:cs typeface="Canva Sans"/>
              <a:sym typeface="Canv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0" y="9322212"/>
            <a:ext cx="4078723" cy="964788"/>
          </a:xfrm>
          <a:custGeom>
            <a:avLst/>
            <a:gdLst/>
            <a:ahLst/>
            <a:cxnLst/>
            <a:rect l="l" t="t" r="r" b="b"/>
            <a:pathLst>
              <a:path w="4078723" h="964788">
                <a:moveTo>
                  <a:pt x="0" y="0"/>
                </a:moveTo>
                <a:lnTo>
                  <a:pt x="4078723" y="0"/>
                </a:lnTo>
                <a:lnTo>
                  <a:pt x="4078723" y="964788"/>
                </a:lnTo>
                <a:lnTo>
                  <a:pt x="0" y="964788"/>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1028700" y="2608456"/>
            <a:ext cx="13415210" cy="2287017"/>
          </a:xfrm>
          <a:prstGeom prst="rect">
            <a:avLst/>
          </a:prstGeom>
        </p:spPr>
        <p:txBody>
          <a:bodyPr lIns="0" tIns="0" rIns="0" bIns="0" rtlCol="0" anchor="t">
            <a:spAutoFit/>
          </a:bodyPr>
          <a:lstStyle/>
          <a:p>
            <a:pPr marL="0" lvl="0" indent="0" algn="just">
              <a:lnSpc>
                <a:spcPts val="9321"/>
              </a:lnSpc>
            </a:pPr>
            <a:r>
              <a:rPr lang="en-US" sz="5899" b="1" spc="88">
                <a:solidFill>
                  <a:srgbClr val="3D2812"/>
                </a:solidFill>
                <a:latin typeface="Canva Sans Bold"/>
                <a:ea typeface="Canva Sans Bold"/>
                <a:cs typeface="Canva Sans Bold"/>
                <a:sym typeface="Canva Sans Bold"/>
              </a:rPr>
              <a:t>IT22000576   |   Fernandopulle S N</a:t>
            </a:r>
          </a:p>
          <a:p>
            <a:pPr marL="0" lvl="0" indent="0" algn="just">
              <a:lnSpc>
                <a:spcPts val="9321"/>
              </a:lnSpc>
            </a:pPr>
            <a:r>
              <a:rPr lang="en-US" sz="5899" b="1" spc="88">
                <a:solidFill>
                  <a:srgbClr val="3D2812"/>
                </a:solidFill>
                <a:latin typeface="Canva Sans Bold"/>
                <a:ea typeface="Canva Sans Bold"/>
                <a:cs typeface="Canva Sans Bold"/>
                <a:sym typeface="Canva Sans Bold"/>
              </a:rPr>
              <a:t>Software Engineering</a:t>
            </a:r>
          </a:p>
        </p:txBody>
      </p:sp>
      <p:sp>
        <p:nvSpPr>
          <p:cNvPr id="4" name="TextBox 4"/>
          <p:cNvSpPr txBox="1"/>
          <p:nvPr/>
        </p:nvSpPr>
        <p:spPr>
          <a:xfrm>
            <a:off x="775248" y="5486618"/>
            <a:ext cx="15809684" cy="3118894"/>
          </a:xfrm>
          <a:prstGeom prst="rect">
            <a:avLst/>
          </a:prstGeom>
        </p:spPr>
        <p:txBody>
          <a:bodyPr lIns="0" tIns="0" rIns="0" bIns="0" rtlCol="0" anchor="t">
            <a:spAutoFit/>
          </a:bodyPr>
          <a:lstStyle/>
          <a:p>
            <a:pPr marL="0" lvl="0" indent="0" algn="l">
              <a:lnSpc>
                <a:spcPts val="5998"/>
              </a:lnSpc>
            </a:pPr>
            <a:r>
              <a:rPr lang="en-US" sz="4614" b="1" spc="69">
                <a:solidFill>
                  <a:srgbClr val="3D2812"/>
                </a:solidFill>
                <a:latin typeface="The Seasons Bold"/>
                <a:ea typeface="The Seasons Bold"/>
                <a:cs typeface="The Seasons Bold"/>
                <a:sym typeface="The Seasons Bold"/>
              </a:rPr>
              <a:t>CENTRALIZED TRAINING AND DECENTRALIZED </a:t>
            </a:r>
          </a:p>
          <a:p>
            <a:pPr marL="0" lvl="0" indent="0" algn="l">
              <a:lnSpc>
                <a:spcPts val="5998"/>
              </a:lnSpc>
            </a:pPr>
            <a:r>
              <a:rPr lang="en-US" sz="4614" b="1" spc="69">
                <a:solidFill>
                  <a:srgbClr val="3D2812"/>
                </a:solidFill>
                <a:latin typeface="The Seasons Bold"/>
                <a:ea typeface="The Seasons Bold"/>
                <a:cs typeface="The Seasons Bold"/>
                <a:sym typeface="The Seasons Bold"/>
              </a:rPr>
              <a:t>EXECUTION OF MULTI-AGENT REINFORCEMENT LEARNING SYSTEM FOR COOPERATIVE TRAFFIC SIGNAL CONTROL</a:t>
            </a:r>
          </a:p>
        </p:txBody>
      </p:sp>
      <p:sp>
        <p:nvSpPr>
          <p:cNvPr id="5" name="Freeform 5"/>
          <p:cNvSpPr/>
          <p:nvPr/>
        </p:nvSpPr>
        <p:spPr>
          <a:xfrm>
            <a:off x="14596310" y="2070606"/>
            <a:ext cx="2843498" cy="3572266"/>
          </a:xfrm>
          <a:custGeom>
            <a:avLst/>
            <a:gdLst/>
            <a:ahLst/>
            <a:cxnLst/>
            <a:rect l="l" t="t" r="r" b="b"/>
            <a:pathLst>
              <a:path w="2843498" h="3572266">
                <a:moveTo>
                  <a:pt x="0" y="0"/>
                </a:moveTo>
                <a:lnTo>
                  <a:pt x="2843499" y="0"/>
                </a:lnTo>
                <a:lnTo>
                  <a:pt x="2843499" y="3572266"/>
                </a:lnTo>
                <a:lnTo>
                  <a:pt x="0" y="3572266"/>
                </a:lnTo>
                <a:lnTo>
                  <a:pt x="0" y="0"/>
                </a:lnTo>
                <a:close/>
              </a:path>
            </a:pathLst>
          </a:custGeom>
          <a:blipFill>
            <a:blip r:embed="rId3"/>
            <a:stretch>
              <a:fillRect l="-5040" r="-5040"/>
            </a:stretch>
          </a:blipFill>
        </p:spPr>
        <p:txBody>
          <a:bodyPr/>
          <a:lstStyle/>
          <a:p>
            <a:endParaRPr lang="en-GB"/>
          </a:p>
        </p:txBody>
      </p:sp>
      <p:sp>
        <p:nvSpPr>
          <p:cNvPr id="6" name="TextBox 6"/>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0" y="9322212"/>
            <a:ext cx="16965984" cy="964788"/>
            <a:chOff x="0" y="0"/>
            <a:chExt cx="22621312" cy="1286384"/>
          </a:xfrm>
        </p:grpSpPr>
        <p:sp>
          <p:nvSpPr>
            <p:cNvPr id="3" name="Freeform 3"/>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3"/>
              <a:stretch>
                <a:fillRect/>
              </a:stretch>
            </a:blipFill>
          </p:spPr>
          <p:txBody>
            <a:bodyPr/>
            <a:lstStyle/>
            <a:p>
              <a:endParaRPr lang="en-GB"/>
            </a:p>
          </p:txBody>
        </p:sp>
        <p:sp>
          <p:nvSpPr>
            <p:cNvPr id="4" name="TextBox 4"/>
            <p:cNvSpPr txBox="1"/>
            <p:nvPr/>
          </p:nvSpPr>
          <p:spPr>
            <a:xfrm>
              <a:off x="5939922" y="435762"/>
              <a:ext cx="16681390"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IT22000576       |       Fernandopulle S N      |       25-26J-473        |       Date: 06/01/2026</a:t>
              </a:r>
            </a:p>
          </p:txBody>
        </p:sp>
      </p:grpSp>
      <p:sp>
        <p:nvSpPr>
          <p:cNvPr id="5" name="TextBox 5"/>
          <p:cNvSpPr txBox="1"/>
          <p:nvPr/>
        </p:nvSpPr>
        <p:spPr>
          <a:xfrm>
            <a:off x="76200" y="86677"/>
            <a:ext cx="18032177" cy="669925"/>
          </a:xfrm>
          <a:prstGeom prst="rect">
            <a:avLst/>
          </a:prstGeom>
        </p:spPr>
        <p:txBody>
          <a:bodyPr lIns="0" tIns="0" rIns="0" bIns="0" rtlCol="0" anchor="t">
            <a:spAutoFit/>
          </a:bodyPr>
          <a:lstStyle/>
          <a:p>
            <a:pPr marL="0" lvl="0" indent="0" algn="l">
              <a:lnSpc>
                <a:spcPts val="2599"/>
              </a:lnSpc>
            </a:pPr>
            <a:r>
              <a:rPr lang="en-US" sz="1999" spc="29">
                <a:solidFill>
                  <a:srgbClr val="3D2812"/>
                </a:solidFill>
                <a:latin typeface="The Seasons"/>
                <a:ea typeface="The Seasons"/>
                <a:cs typeface="The Seasons"/>
                <a:sym typeface="The Seasons"/>
              </a:rPr>
              <a:t>COMPONENT 2 : CENTRALIZED TRAINING AND DECENTRALIZED EXECUTION OF REINFORCEMENT LEARNING AGENT SYSTEM FOR COOPERATIVE TRAFFIC SIGNAL CONTROL</a:t>
            </a:r>
          </a:p>
        </p:txBody>
      </p:sp>
      <p:sp>
        <p:nvSpPr>
          <p:cNvPr id="6" name="TextBox 6"/>
          <p:cNvSpPr txBox="1"/>
          <p:nvPr/>
        </p:nvSpPr>
        <p:spPr>
          <a:xfrm>
            <a:off x="3094226" y="1235553"/>
            <a:ext cx="15232472" cy="2980690"/>
          </a:xfrm>
          <a:prstGeom prst="rect">
            <a:avLst/>
          </a:prstGeom>
        </p:spPr>
        <p:txBody>
          <a:bodyPr lIns="0" tIns="0" rIns="0" bIns="0" rtlCol="0" anchor="t">
            <a:spAutoFit/>
          </a:bodyPr>
          <a:lstStyle/>
          <a:p>
            <a:pPr marL="734061" lvl="1" indent="-367031" algn="l">
              <a:lnSpc>
                <a:spcPts val="4760"/>
              </a:lnSpc>
              <a:buFont typeface="Arial"/>
              <a:buChar char="•"/>
            </a:pPr>
            <a:r>
              <a:rPr lang="en-US" sz="3400">
                <a:solidFill>
                  <a:srgbClr val="3D2812"/>
                </a:solidFill>
                <a:latin typeface="Canva Sans"/>
                <a:ea typeface="Canva Sans"/>
                <a:cs typeface="Canva Sans"/>
                <a:sym typeface="Canva Sans"/>
              </a:rPr>
              <a:t>Current traffic light control systems operate in isolation, each focusing only on its own individual intersections. </a:t>
            </a:r>
          </a:p>
          <a:p>
            <a:pPr marL="734061" lvl="1" indent="-367031" algn="l">
              <a:lnSpc>
                <a:spcPts val="4760"/>
              </a:lnSpc>
              <a:buFont typeface="Arial"/>
              <a:buChar char="•"/>
            </a:pPr>
            <a:r>
              <a:rPr lang="en-US" sz="3400">
                <a:solidFill>
                  <a:srgbClr val="3D2812"/>
                </a:solidFill>
                <a:latin typeface="Canva Sans"/>
                <a:ea typeface="Canva Sans"/>
                <a:cs typeface="Canva Sans"/>
                <a:sym typeface="Canva Sans"/>
              </a:rPr>
              <a:t>This fragmented approach fails to address the interconnected nature of urban traffic, often leading to cascading congestion and inefficiencies across the wider road network.</a:t>
            </a:r>
          </a:p>
        </p:txBody>
      </p:sp>
      <p:grpSp>
        <p:nvGrpSpPr>
          <p:cNvPr id="7" name="Group 7"/>
          <p:cNvGrpSpPr/>
          <p:nvPr/>
        </p:nvGrpSpPr>
        <p:grpSpPr>
          <a:xfrm rot="5400000">
            <a:off x="8541552" y="1822395"/>
            <a:ext cx="3569156" cy="10293581"/>
            <a:chOff x="0" y="0"/>
            <a:chExt cx="678082" cy="1955614"/>
          </a:xfrm>
        </p:grpSpPr>
        <p:sp>
          <p:nvSpPr>
            <p:cNvPr id="8" name="Freeform 8"/>
            <p:cNvSpPr/>
            <p:nvPr/>
          </p:nvSpPr>
          <p:spPr>
            <a:xfrm>
              <a:off x="0" y="0"/>
              <a:ext cx="678082" cy="1955614"/>
            </a:xfrm>
            <a:custGeom>
              <a:avLst/>
              <a:gdLst/>
              <a:ahLst/>
              <a:cxnLst/>
              <a:rect l="l" t="t" r="r" b="b"/>
              <a:pathLst>
                <a:path w="678082" h="1955614">
                  <a:moveTo>
                    <a:pt x="0" y="0"/>
                  </a:moveTo>
                  <a:lnTo>
                    <a:pt x="678082" y="0"/>
                  </a:lnTo>
                  <a:lnTo>
                    <a:pt x="678082" y="1955614"/>
                  </a:lnTo>
                  <a:lnTo>
                    <a:pt x="0" y="1955614"/>
                  </a:lnTo>
                  <a:close/>
                </a:path>
              </a:pathLst>
            </a:custGeom>
            <a:solidFill>
              <a:srgbClr val="737373"/>
            </a:solidFill>
          </p:spPr>
          <p:txBody>
            <a:bodyPr/>
            <a:lstStyle/>
            <a:p>
              <a:endParaRPr lang="en-GB"/>
            </a:p>
          </p:txBody>
        </p:sp>
        <p:sp>
          <p:nvSpPr>
            <p:cNvPr id="9" name="TextBox 9"/>
            <p:cNvSpPr txBox="1"/>
            <p:nvPr/>
          </p:nvSpPr>
          <p:spPr>
            <a:xfrm>
              <a:off x="0" y="-171450"/>
              <a:ext cx="678082" cy="2127064"/>
            </a:xfrm>
            <a:prstGeom prst="rect">
              <a:avLst/>
            </a:prstGeom>
          </p:spPr>
          <p:txBody>
            <a:bodyPr lIns="50800" tIns="50800" rIns="50800" bIns="50800" rtlCol="0" anchor="ctr"/>
            <a:lstStyle/>
            <a:p>
              <a:pPr algn="ctr">
                <a:lnSpc>
                  <a:spcPts val="4875"/>
                </a:lnSpc>
              </a:pPr>
              <a:endParaRPr/>
            </a:p>
          </p:txBody>
        </p:sp>
      </p:grpSp>
      <p:grpSp>
        <p:nvGrpSpPr>
          <p:cNvPr id="10" name="Group 10"/>
          <p:cNvGrpSpPr/>
          <p:nvPr/>
        </p:nvGrpSpPr>
        <p:grpSpPr>
          <a:xfrm rot="-10800000">
            <a:off x="11762771" y="4225768"/>
            <a:ext cx="1772322" cy="5197047"/>
            <a:chOff x="0" y="0"/>
            <a:chExt cx="336713" cy="987355"/>
          </a:xfrm>
        </p:grpSpPr>
        <p:sp>
          <p:nvSpPr>
            <p:cNvPr id="11" name="Freeform 11"/>
            <p:cNvSpPr/>
            <p:nvPr/>
          </p:nvSpPr>
          <p:spPr>
            <a:xfrm>
              <a:off x="0" y="0"/>
              <a:ext cx="336713" cy="987355"/>
            </a:xfrm>
            <a:custGeom>
              <a:avLst/>
              <a:gdLst/>
              <a:ahLst/>
              <a:cxnLst/>
              <a:rect l="l" t="t" r="r" b="b"/>
              <a:pathLst>
                <a:path w="336713" h="987355">
                  <a:moveTo>
                    <a:pt x="0" y="0"/>
                  </a:moveTo>
                  <a:lnTo>
                    <a:pt x="336713" y="0"/>
                  </a:lnTo>
                  <a:lnTo>
                    <a:pt x="336713" y="987355"/>
                  </a:lnTo>
                  <a:lnTo>
                    <a:pt x="0" y="987355"/>
                  </a:lnTo>
                  <a:close/>
                </a:path>
              </a:pathLst>
            </a:custGeom>
            <a:solidFill>
              <a:srgbClr val="737373"/>
            </a:solidFill>
          </p:spPr>
          <p:txBody>
            <a:bodyPr/>
            <a:lstStyle/>
            <a:p>
              <a:endParaRPr lang="en-GB"/>
            </a:p>
          </p:txBody>
        </p:sp>
        <p:sp>
          <p:nvSpPr>
            <p:cNvPr id="12" name="TextBox 12"/>
            <p:cNvSpPr txBox="1"/>
            <p:nvPr/>
          </p:nvSpPr>
          <p:spPr>
            <a:xfrm>
              <a:off x="0" y="-171450"/>
              <a:ext cx="336713" cy="1158805"/>
            </a:xfrm>
            <a:prstGeom prst="rect">
              <a:avLst/>
            </a:prstGeom>
          </p:spPr>
          <p:txBody>
            <a:bodyPr lIns="50800" tIns="50800" rIns="50800" bIns="50800" rtlCol="0" anchor="ctr"/>
            <a:lstStyle/>
            <a:p>
              <a:pPr algn="ctr">
                <a:lnSpc>
                  <a:spcPts val="4875"/>
                </a:lnSpc>
              </a:pPr>
              <a:endParaRPr/>
            </a:p>
          </p:txBody>
        </p:sp>
      </p:grpSp>
      <p:sp>
        <p:nvSpPr>
          <p:cNvPr id="13" name="Freeform 13"/>
          <p:cNvSpPr/>
          <p:nvPr/>
        </p:nvSpPr>
        <p:spPr>
          <a:xfrm>
            <a:off x="12129286" y="7127640"/>
            <a:ext cx="931958" cy="1444896"/>
          </a:xfrm>
          <a:custGeom>
            <a:avLst/>
            <a:gdLst/>
            <a:ahLst/>
            <a:cxnLst/>
            <a:rect l="l" t="t" r="r" b="b"/>
            <a:pathLst>
              <a:path w="931958" h="1444896">
                <a:moveTo>
                  <a:pt x="0" y="0"/>
                </a:moveTo>
                <a:lnTo>
                  <a:pt x="931958" y="0"/>
                </a:lnTo>
                <a:lnTo>
                  <a:pt x="931958" y="1444896"/>
                </a:lnTo>
                <a:lnTo>
                  <a:pt x="0" y="144489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14" name="Freeform 14"/>
          <p:cNvSpPr/>
          <p:nvPr/>
        </p:nvSpPr>
        <p:spPr>
          <a:xfrm>
            <a:off x="12143930" y="5415448"/>
            <a:ext cx="902670" cy="1399489"/>
          </a:xfrm>
          <a:custGeom>
            <a:avLst/>
            <a:gdLst/>
            <a:ahLst/>
            <a:cxnLst/>
            <a:rect l="l" t="t" r="r" b="b"/>
            <a:pathLst>
              <a:path w="902670" h="1399489">
                <a:moveTo>
                  <a:pt x="0" y="0"/>
                </a:moveTo>
                <a:lnTo>
                  <a:pt x="902670" y="0"/>
                </a:lnTo>
                <a:lnTo>
                  <a:pt x="902670" y="1399489"/>
                </a:lnTo>
                <a:lnTo>
                  <a:pt x="0" y="13994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5" name="Freeform 15"/>
          <p:cNvSpPr/>
          <p:nvPr/>
        </p:nvSpPr>
        <p:spPr>
          <a:xfrm rot="5400000">
            <a:off x="8978828" y="5301905"/>
            <a:ext cx="617320" cy="1309962"/>
          </a:xfrm>
          <a:custGeom>
            <a:avLst/>
            <a:gdLst/>
            <a:ahLst/>
            <a:cxnLst/>
            <a:rect l="l" t="t" r="r" b="b"/>
            <a:pathLst>
              <a:path w="617320" h="1309962">
                <a:moveTo>
                  <a:pt x="0" y="0"/>
                </a:moveTo>
                <a:lnTo>
                  <a:pt x="617320" y="0"/>
                </a:lnTo>
                <a:lnTo>
                  <a:pt x="617320" y="1309963"/>
                </a:lnTo>
                <a:lnTo>
                  <a:pt x="0" y="130996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6" name="Freeform 16"/>
          <p:cNvSpPr/>
          <p:nvPr/>
        </p:nvSpPr>
        <p:spPr>
          <a:xfrm rot="5400000">
            <a:off x="7463979" y="5295355"/>
            <a:ext cx="604220" cy="1309962"/>
          </a:xfrm>
          <a:custGeom>
            <a:avLst/>
            <a:gdLst/>
            <a:ahLst/>
            <a:cxnLst/>
            <a:rect l="l" t="t" r="r" b="b"/>
            <a:pathLst>
              <a:path w="604220" h="1309962">
                <a:moveTo>
                  <a:pt x="0" y="0"/>
                </a:moveTo>
                <a:lnTo>
                  <a:pt x="604220" y="0"/>
                </a:lnTo>
                <a:lnTo>
                  <a:pt x="604220" y="1309963"/>
                </a:lnTo>
                <a:lnTo>
                  <a:pt x="0" y="130996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7" name="Freeform 17"/>
          <p:cNvSpPr/>
          <p:nvPr/>
        </p:nvSpPr>
        <p:spPr>
          <a:xfrm rot="5400000">
            <a:off x="10498227" y="5273664"/>
            <a:ext cx="599308" cy="1309962"/>
          </a:xfrm>
          <a:custGeom>
            <a:avLst/>
            <a:gdLst/>
            <a:ahLst/>
            <a:cxnLst/>
            <a:rect l="l" t="t" r="r" b="b"/>
            <a:pathLst>
              <a:path w="599308" h="1309962">
                <a:moveTo>
                  <a:pt x="0" y="0"/>
                </a:moveTo>
                <a:lnTo>
                  <a:pt x="599308" y="0"/>
                </a:lnTo>
                <a:lnTo>
                  <a:pt x="599308" y="1309963"/>
                </a:lnTo>
                <a:lnTo>
                  <a:pt x="0" y="1309963"/>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GB"/>
          </a:p>
        </p:txBody>
      </p:sp>
      <p:sp>
        <p:nvSpPr>
          <p:cNvPr id="18" name="Freeform 18"/>
          <p:cNvSpPr/>
          <p:nvPr/>
        </p:nvSpPr>
        <p:spPr>
          <a:xfrm rot="5400000">
            <a:off x="14028442" y="7232965"/>
            <a:ext cx="661652" cy="1306967"/>
          </a:xfrm>
          <a:custGeom>
            <a:avLst/>
            <a:gdLst/>
            <a:ahLst/>
            <a:cxnLst/>
            <a:rect l="l" t="t" r="r" b="b"/>
            <a:pathLst>
              <a:path w="661652" h="1306967">
                <a:moveTo>
                  <a:pt x="0" y="0"/>
                </a:moveTo>
                <a:lnTo>
                  <a:pt x="661652" y="0"/>
                </a:lnTo>
                <a:lnTo>
                  <a:pt x="661652" y="1306967"/>
                </a:lnTo>
                <a:lnTo>
                  <a:pt x="0" y="1306967"/>
                </a:lnTo>
                <a:lnTo>
                  <a:pt x="0" y="0"/>
                </a:lnTo>
                <a:close/>
              </a:path>
            </a:pathLst>
          </a:custGeom>
          <a:blipFill>
            <a:blip r:embed="rId9"/>
            <a:stretch>
              <a:fillRect/>
            </a:stretch>
          </a:blipFill>
        </p:spPr>
        <p:txBody>
          <a:bodyPr/>
          <a:lstStyle/>
          <a:p>
            <a:endParaRPr lang="en-GB"/>
          </a:p>
        </p:txBody>
      </p:sp>
      <p:sp>
        <p:nvSpPr>
          <p:cNvPr id="19" name="AutoShape 19"/>
          <p:cNvSpPr/>
          <p:nvPr/>
        </p:nvSpPr>
        <p:spPr>
          <a:xfrm>
            <a:off x="5179340" y="6956930"/>
            <a:ext cx="10293581" cy="12256"/>
          </a:xfrm>
          <a:prstGeom prst="line">
            <a:avLst/>
          </a:prstGeom>
          <a:ln w="95250" cap="flat">
            <a:solidFill>
              <a:srgbClr val="FFFFFF"/>
            </a:solidFill>
            <a:prstDash val="solid"/>
            <a:headEnd type="none" w="sm" len="sm"/>
            <a:tailEnd type="none" w="sm" len="sm"/>
          </a:ln>
        </p:spPr>
        <p:txBody>
          <a:bodyPr/>
          <a:lstStyle/>
          <a:p>
            <a:endParaRPr lang="en-GB"/>
          </a:p>
        </p:txBody>
      </p:sp>
      <p:grpSp>
        <p:nvGrpSpPr>
          <p:cNvPr id="20" name="Group 20"/>
          <p:cNvGrpSpPr/>
          <p:nvPr/>
        </p:nvGrpSpPr>
        <p:grpSpPr>
          <a:xfrm>
            <a:off x="-4125398" y="1246541"/>
            <a:ext cx="8346046" cy="7793918"/>
            <a:chOff x="0" y="0"/>
            <a:chExt cx="11128062" cy="10391891"/>
          </a:xfrm>
        </p:grpSpPr>
        <p:grpSp>
          <p:nvGrpSpPr>
            <p:cNvPr id="21" name="Group 21"/>
            <p:cNvGrpSpPr/>
            <p:nvPr/>
          </p:nvGrpSpPr>
          <p:grpSpPr>
            <a:xfrm>
              <a:off x="0" y="0"/>
              <a:ext cx="10391891" cy="10391891"/>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E0054">
                      <a:alpha val="100000"/>
                    </a:srgbClr>
                  </a:gs>
                  <a:gs pos="50000">
                    <a:srgbClr val="080029">
                      <a:alpha val="100000"/>
                    </a:srgbClr>
                  </a:gs>
                  <a:gs pos="100000">
                    <a:srgbClr val="0E0054">
                      <a:alpha val="100000"/>
                    </a:srgbClr>
                  </a:gs>
                </a:gsLst>
                <a:lin ang="0"/>
              </a:gradFill>
            </p:spPr>
            <p:txBody>
              <a:bodyPr/>
              <a:lstStyle/>
              <a:p>
                <a:endParaRPr lang="en-GB"/>
              </a:p>
            </p:txBody>
          </p:sp>
          <p:sp>
            <p:nvSpPr>
              <p:cNvPr id="23" name="TextBox 23"/>
              <p:cNvSpPr txBox="1"/>
              <p:nvPr/>
            </p:nvSpPr>
            <p:spPr>
              <a:xfrm>
                <a:off x="76200" y="-95250"/>
                <a:ext cx="660400" cy="831850"/>
              </a:xfrm>
              <a:prstGeom prst="rect">
                <a:avLst/>
              </a:prstGeom>
            </p:spPr>
            <p:txBody>
              <a:bodyPr lIns="50800" tIns="50800" rIns="50800" bIns="50800" rtlCol="0" anchor="ctr"/>
              <a:lstStyle/>
              <a:p>
                <a:pPr algn="ctr">
                  <a:lnSpc>
                    <a:spcPts val="4875"/>
                  </a:lnSpc>
                </a:pPr>
                <a:endParaRPr/>
              </a:p>
            </p:txBody>
          </p:sp>
        </p:grpSp>
        <p:sp>
          <p:nvSpPr>
            <p:cNvPr id="24" name="TextBox 24"/>
            <p:cNvSpPr txBox="1"/>
            <p:nvPr/>
          </p:nvSpPr>
          <p:spPr>
            <a:xfrm>
              <a:off x="4714577" y="3462724"/>
              <a:ext cx="6413485" cy="2765425"/>
            </a:xfrm>
            <a:prstGeom prst="rect">
              <a:avLst/>
            </a:prstGeom>
          </p:spPr>
          <p:txBody>
            <a:bodyPr lIns="0" tIns="0" rIns="0" bIns="0" rtlCol="0" anchor="t">
              <a:spAutoFit/>
            </a:bodyPr>
            <a:lstStyle/>
            <a:p>
              <a:pPr algn="ctr">
                <a:lnSpc>
                  <a:spcPts val="8400"/>
                </a:lnSpc>
              </a:pPr>
              <a:r>
                <a:rPr lang="en-US" sz="6000" b="1">
                  <a:solidFill>
                    <a:srgbClr val="FFFFFF"/>
                  </a:solidFill>
                  <a:latin typeface="Lato Bold"/>
                  <a:ea typeface="Lato Bold"/>
                  <a:cs typeface="Lato Bold"/>
                  <a:sym typeface="Lato Bold"/>
                </a:rPr>
                <a:t>Problem Definition </a:t>
              </a:r>
            </a:p>
          </p:txBody>
        </p:sp>
        <p:sp>
          <p:nvSpPr>
            <p:cNvPr id="25" name="TextBox 25"/>
            <p:cNvSpPr txBox="1"/>
            <p:nvPr/>
          </p:nvSpPr>
          <p:spPr>
            <a:xfrm rot="-10800000">
              <a:off x="301196" y="3163945"/>
              <a:ext cx="5101265" cy="4187825"/>
            </a:xfrm>
            <a:prstGeom prst="rect">
              <a:avLst/>
            </a:prstGeom>
          </p:spPr>
          <p:txBody>
            <a:bodyPr lIns="0" tIns="0" rIns="0" bIns="0" rtlCol="0" anchor="t">
              <a:spAutoFit/>
            </a:bodyPr>
            <a:lstStyle/>
            <a:p>
              <a:pPr algn="ctr">
                <a:lnSpc>
                  <a:spcPts val="8400"/>
                </a:lnSpc>
              </a:pPr>
              <a:r>
                <a:rPr lang="en-US" sz="6000" b="1">
                  <a:solidFill>
                    <a:srgbClr val="FFFFFF"/>
                  </a:solidFill>
                  <a:latin typeface="Lato Bold"/>
                  <a:ea typeface="Lato Bold"/>
                  <a:cs typeface="Lato Bold"/>
                  <a:sym typeface="Lato Bold"/>
                </a:rPr>
                <a:t>Limitations of Current Systems</a:t>
              </a:r>
            </a:p>
          </p:txBody>
        </p:sp>
      </p:grpSp>
      <p:sp>
        <p:nvSpPr>
          <p:cNvPr id="26" name="TextBox 26"/>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5400000">
            <a:off x="13908914" y="3333940"/>
            <a:ext cx="2146040" cy="6189262"/>
            <a:chOff x="0" y="0"/>
            <a:chExt cx="678082" cy="1955614"/>
          </a:xfrm>
        </p:grpSpPr>
        <p:sp>
          <p:nvSpPr>
            <p:cNvPr id="3" name="Freeform 3"/>
            <p:cNvSpPr/>
            <p:nvPr/>
          </p:nvSpPr>
          <p:spPr>
            <a:xfrm>
              <a:off x="0" y="0"/>
              <a:ext cx="678082" cy="1955614"/>
            </a:xfrm>
            <a:custGeom>
              <a:avLst/>
              <a:gdLst/>
              <a:ahLst/>
              <a:cxnLst/>
              <a:rect l="l" t="t" r="r" b="b"/>
              <a:pathLst>
                <a:path w="678082" h="1955614">
                  <a:moveTo>
                    <a:pt x="0" y="0"/>
                  </a:moveTo>
                  <a:lnTo>
                    <a:pt x="678082" y="0"/>
                  </a:lnTo>
                  <a:lnTo>
                    <a:pt x="678082" y="1955614"/>
                  </a:lnTo>
                  <a:lnTo>
                    <a:pt x="0" y="1955614"/>
                  </a:lnTo>
                  <a:close/>
                </a:path>
              </a:pathLst>
            </a:custGeom>
            <a:solidFill>
              <a:srgbClr val="737373"/>
            </a:solidFill>
          </p:spPr>
          <p:txBody>
            <a:bodyPr/>
            <a:lstStyle/>
            <a:p>
              <a:endParaRPr lang="en-GB"/>
            </a:p>
          </p:txBody>
        </p:sp>
        <p:sp>
          <p:nvSpPr>
            <p:cNvPr id="4" name="TextBox 4"/>
            <p:cNvSpPr txBox="1"/>
            <p:nvPr/>
          </p:nvSpPr>
          <p:spPr>
            <a:xfrm>
              <a:off x="0" y="-171450"/>
              <a:ext cx="678082" cy="2127064"/>
            </a:xfrm>
            <a:prstGeom prst="rect">
              <a:avLst/>
            </a:prstGeom>
          </p:spPr>
          <p:txBody>
            <a:bodyPr lIns="50800" tIns="50800" rIns="50800" bIns="50800" rtlCol="0" anchor="ctr"/>
            <a:lstStyle/>
            <a:p>
              <a:pPr algn="ctr">
                <a:lnSpc>
                  <a:spcPts val="4875"/>
                </a:lnSpc>
              </a:pPr>
              <a:endParaRPr/>
            </a:p>
          </p:txBody>
        </p:sp>
      </p:grpSp>
      <p:grpSp>
        <p:nvGrpSpPr>
          <p:cNvPr id="5" name="Group 5"/>
          <p:cNvGrpSpPr/>
          <p:nvPr/>
        </p:nvGrpSpPr>
        <p:grpSpPr>
          <a:xfrm>
            <a:off x="-4021889" y="3802745"/>
            <a:ext cx="8043778" cy="2530475"/>
            <a:chOff x="0" y="0"/>
            <a:chExt cx="10725037" cy="3373967"/>
          </a:xfrm>
        </p:grpSpPr>
        <p:sp>
          <p:nvSpPr>
            <p:cNvPr id="6" name="TextBox 6"/>
            <p:cNvSpPr txBox="1"/>
            <p:nvPr/>
          </p:nvSpPr>
          <p:spPr>
            <a:xfrm>
              <a:off x="5623772" y="363645"/>
              <a:ext cx="5101265" cy="2297642"/>
            </a:xfrm>
            <a:prstGeom prst="rect">
              <a:avLst/>
            </a:prstGeom>
          </p:spPr>
          <p:txBody>
            <a:bodyPr lIns="0" tIns="0" rIns="0" bIns="0" rtlCol="0" anchor="t">
              <a:spAutoFit/>
            </a:bodyPr>
            <a:lstStyle/>
            <a:p>
              <a:pPr algn="ctr">
                <a:lnSpc>
                  <a:spcPts val="7000"/>
                </a:lnSpc>
              </a:pPr>
              <a:r>
                <a:rPr lang="en-US" sz="5000" b="1">
                  <a:solidFill>
                    <a:srgbClr val="FFFFFF"/>
                  </a:solidFill>
                  <a:latin typeface="Lato Bold"/>
                  <a:ea typeface="Lato Bold"/>
                  <a:cs typeface="Lato Bold"/>
                  <a:sym typeface="Lato Bold"/>
                </a:rPr>
                <a:t>Problem Definition </a:t>
              </a:r>
            </a:p>
          </p:txBody>
        </p:sp>
        <p:sp>
          <p:nvSpPr>
            <p:cNvPr id="7" name="TextBox 7"/>
            <p:cNvSpPr txBox="1"/>
            <p:nvPr/>
          </p:nvSpPr>
          <p:spPr>
            <a:xfrm rot="-10800000">
              <a:off x="0" y="0"/>
              <a:ext cx="5101265" cy="3478742"/>
            </a:xfrm>
            <a:prstGeom prst="rect">
              <a:avLst/>
            </a:prstGeom>
          </p:spPr>
          <p:txBody>
            <a:bodyPr lIns="0" tIns="0" rIns="0" bIns="0" rtlCol="0" anchor="t">
              <a:spAutoFit/>
            </a:bodyPr>
            <a:lstStyle/>
            <a:p>
              <a:pPr algn="ctr">
                <a:lnSpc>
                  <a:spcPts val="7000"/>
                </a:lnSpc>
              </a:pPr>
              <a:r>
                <a:rPr lang="en-US" sz="5000" b="1">
                  <a:solidFill>
                    <a:srgbClr val="FFFFFF"/>
                  </a:solidFill>
                  <a:latin typeface="Lato Bold"/>
                  <a:ea typeface="Lato Bold"/>
                  <a:cs typeface="Lato Bold"/>
                  <a:sym typeface="Lato Bold"/>
                </a:rPr>
                <a:t>Limitations of Current Systems</a:t>
              </a:r>
            </a:p>
          </p:txBody>
        </p:sp>
      </p:grpSp>
      <p:grpSp>
        <p:nvGrpSpPr>
          <p:cNvPr id="8" name="Group 8"/>
          <p:cNvGrpSpPr/>
          <p:nvPr/>
        </p:nvGrpSpPr>
        <p:grpSpPr>
          <a:xfrm rot="-10800000">
            <a:off x="15845749" y="4779025"/>
            <a:ext cx="1065651" cy="3124849"/>
            <a:chOff x="0" y="0"/>
            <a:chExt cx="336713" cy="987355"/>
          </a:xfrm>
        </p:grpSpPr>
        <p:sp>
          <p:nvSpPr>
            <p:cNvPr id="9" name="Freeform 9"/>
            <p:cNvSpPr/>
            <p:nvPr/>
          </p:nvSpPr>
          <p:spPr>
            <a:xfrm>
              <a:off x="0" y="0"/>
              <a:ext cx="336713" cy="987355"/>
            </a:xfrm>
            <a:custGeom>
              <a:avLst/>
              <a:gdLst/>
              <a:ahLst/>
              <a:cxnLst/>
              <a:rect l="l" t="t" r="r" b="b"/>
              <a:pathLst>
                <a:path w="336713" h="987355">
                  <a:moveTo>
                    <a:pt x="0" y="0"/>
                  </a:moveTo>
                  <a:lnTo>
                    <a:pt x="336713" y="0"/>
                  </a:lnTo>
                  <a:lnTo>
                    <a:pt x="336713" y="987355"/>
                  </a:lnTo>
                  <a:lnTo>
                    <a:pt x="0" y="987355"/>
                  </a:lnTo>
                  <a:close/>
                </a:path>
              </a:pathLst>
            </a:custGeom>
            <a:solidFill>
              <a:srgbClr val="737373"/>
            </a:solidFill>
          </p:spPr>
          <p:txBody>
            <a:bodyPr/>
            <a:lstStyle/>
            <a:p>
              <a:endParaRPr lang="en-GB"/>
            </a:p>
          </p:txBody>
        </p:sp>
        <p:sp>
          <p:nvSpPr>
            <p:cNvPr id="10" name="TextBox 10"/>
            <p:cNvSpPr txBox="1"/>
            <p:nvPr/>
          </p:nvSpPr>
          <p:spPr>
            <a:xfrm>
              <a:off x="0" y="-171450"/>
              <a:ext cx="336713" cy="1158805"/>
            </a:xfrm>
            <a:prstGeom prst="rect">
              <a:avLst/>
            </a:prstGeom>
          </p:spPr>
          <p:txBody>
            <a:bodyPr lIns="50800" tIns="50800" rIns="50800" bIns="50800" rtlCol="0" anchor="ctr"/>
            <a:lstStyle/>
            <a:p>
              <a:pPr algn="ctr">
                <a:lnSpc>
                  <a:spcPts val="4875"/>
                </a:lnSpc>
              </a:pPr>
              <a:endParaRPr/>
            </a:p>
          </p:txBody>
        </p:sp>
      </p:grpSp>
      <p:sp>
        <p:nvSpPr>
          <p:cNvPr id="11" name="Freeform 11"/>
          <p:cNvSpPr/>
          <p:nvPr/>
        </p:nvSpPr>
        <p:spPr>
          <a:xfrm>
            <a:off x="16066125" y="6523845"/>
            <a:ext cx="560362" cy="868778"/>
          </a:xfrm>
          <a:custGeom>
            <a:avLst/>
            <a:gdLst/>
            <a:ahLst/>
            <a:cxnLst/>
            <a:rect l="l" t="t" r="r" b="b"/>
            <a:pathLst>
              <a:path w="560362" h="868778">
                <a:moveTo>
                  <a:pt x="0" y="0"/>
                </a:moveTo>
                <a:lnTo>
                  <a:pt x="560362" y="0"/>
                </a:lnTo>
                <a:lnTo>
                  <a:pt x="560362" y="868778"/>
                </a:lnTo>
                <a:lnTo>
                  <a:pt x="0" y="86877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2" name="Freeform 12"/>
          <p:cNvSpPr/>
          <p:nvPr/>
        </p:nvSpPr>
        <p:spPr>
          <a:xfrm rot="-10727559">
            <a:off x="16074930" y="5494348"/>
            <a:ext cx="542752" cy="841476"/>
          </a:xfrm>
          <a:custGeom>
            <a:avLst/>
            <a:gdLst/>
            <a:ahLst/>
            <a:cxnLst/>
            <a:rect l="l" t="t" r="r" b="b"/>
            <a:pathLst>
              <a:path w="542752" h="841476">
                <a:moveTo>
                  <a:pt x="0" y="0"/>
                </a:moveTo>
                <a:lnTo>
                  <a:pt x="542752" y="0"/>
                </a:lnTo>
                <a:lnTo>
                  <a:pt x="542752" y="841477"/>
                </a:lnTo>
                <a:lnTo>
                  <a:pt x="0" y="8414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13" name="Freeform 13"/>
          <p:cNvSpPr/>
          <p:nvPr/>
        </p:nvSpPr>
        <p:spPr>
          <a:xfrm rot="5400000">
            <a:off x="14171837" y="5426078"/>
            <a:ext cx="371178" cy="787646"/>
          </a:xfrm>
          <a:custGeom>
            <a:avLst/>
            <a:gdLst/>
            <a:ahLst/>
            <a:cxnLst/>
            <a:rect l="l" t="t" r="r" b="b"/>
            <a:pathLst>
              <a:path w="371178" h="787646">
                <a:moveTo>
                  <a:pt x="0" y="0"/>
                </a:moveTo>
                <a:lnTo>
                  <a:pt x="371178" y="0"/>
                </a:lnTo>
                <a:lnTo>
                  <a:pt x="371178" y="787646"/>
                </a:lnTo>
                <a:lnTo>
                  <a:pt x="0" y="78764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4" name="Freeform 14"/>
          <p:cNvSpPr/>
          <p:nvPr/>
        </p:nvSpPr>
        <p:spPr>
          <a:xfrm rot="5400000">
            <a:off x="13260997" y="5422140"/>
            <a:ext cx="363302" cy="787646"/>
          </a:xfrm>
          <a:custGeom>
            <a:avLst/>
            <a:gdLst/>
            <a:ahLst/>
            <a:cxnLst/>
            <a:rect l="l" t="t" r="r" b="b"/>
            <a:pathLst>
              <a:path w="363302" h="787646">
                <a:moveTo>
                  <a:pt x="0" y="0"/>
                </a:moveTo>
                <a:lnTo>
                  <a:pt x="363302" y="0"/>
                </a:lnTo>
                <a:lnTo>
                  <a:pt x="363302" y="787646"/>
                </a:lnTo>
                <a:lnTo>
                  <a:pt x="0" y="78764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5" name="Freeform 15"/>
          <p:cNvSpPr/>
          <p:nvPr/>
        </p:nvSpPr>
        <p:spPr>
          <a:xfrm rot="5400000">
            <a:off x="15085412" y="5409098"/>
            <a:ext cx="360348" cy="787646"/>
          </a:xfrm>
          <a:custGeom>
            <a:avLst/>
            <a:gdLst/>
            <a:ahLst/>
            <a:cxnLst/>
            <a:rect l="l" t="t" r="r" b="b"/>
            <a:pathLst>
              <a:path w="360348" h="787646">
                <a:moveTo>
                  <a:pt x="0" y="0"/>
                </a:moveTo>
                <a:lnTo>
                  <a:pt x="360348" y="0"/>
                </a:lnTo>
                <a:lnTo>
                  <a:pt x="360348" y="787646"/>
                </a:lnTo>
                <a:lnTo>
                  <a:pt x="0" y="78764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6" name="Freeform 16"/>
          <p:cNvSpPr/>
          <p:nvPr/>
        </p:nvSpPr>
        <p:spPr>
          <a:xfrm rot="5400000">
            <a:off x="17208038" y="6587174"/>
            <a:ext cx="397834" cy="785845"/>
          </a:xfrm>
          <a:custGeom>
            <a:avLst/>
            <a:gdLst/>
            <a:ahLst/>
            <a:cxnLst/>
            <a:rect l="l" t="t" r="r" b="b"/>
            <a:pathLst>
              <a:path w="397834" h="785845">
                <a:moveTo>
                  <a:pt x="0" y="0"/>
                </a:moveTo>
                <a:lnTo>
                  <a:pt x="397834" y="0"/>
                </a:lnTo>
                <a:lnTo>
                  <a:pt x="397834" y="785845"/>
                </a:lnTo>
                <a:lnTo>
                  <a:pt x="0" y="785845"/>
                </a:lnTo>
                <a:lnTo>
                  <a:pt x="0" y="0"/>
                </a:lnTo>
                <a:close/>
              </a:path>
            </a:pathLst>
          </a:custGeom>
          <a:blipFill>
            <a:blip r:embed="rId8"/>
            <a:stretch>
              <a:fillRect/>
            </a:stretch>
          </a:blipFill>
        </p:spPr>
        <p:txBody>
          <a:bodyPr/>
          <a:lstStyle/>
          <a:p>
            <a:endParaRPr lang="en-GB"/>
          </a:p>
        </p:txBody>
      </p:sp>
      <p:sp>
        <p:nvSpPr>
          <p:cNvPr id="17" name="AutoShape 17"/>
          <p:cNvSpPr/>
          <p:nvPr/>
        </p:nvSpPr>
        <p:spPr>
          <a:xfrm>
            <a:off x="11887303" y="6421201"/>
            <a:ext cx="6189262" cy="7369"/>
          </a:xfrm>
          <a:prstGeom prst="line">
            <a:avLst/>
          </a:prstGeom>
          <a:ln w="57150" cap="flat">
            <a:solidFill>
              <a:srgbClr val="FFFFFF"/>
            </a:solidFill>
            <a:prstDash val="solid"/>
            <a:headEnd type="none" w="sm" len="sm"/>
            <a:tailEnd type="none" w="sm" len="sm"/>
          </a:ln>
        </p:spPr>
        <p:txBody>
          <a:bodyPr/>
          <a:lstStyle/>
          <a:p>
            <a:endParaRPr lang="en-GB"/>
          </a:p>
        </p:txBody>
      </p:sp>
      <p:grpSp>
        <p:nvGrpSpPr>
          <p:cNvPr id="18" name="Group 18"/>
          <p:cNvGrpSpPr/>
          <p:nvPr/>
        </p:nvGrpSpPr>
        <p:grpSpPr>
          <a:xfrm rot="-10800000">
            <a:off x="5530798" y="4866146"/>
            <a:ext cx="1065651" cy="3124849"/>
            <a:chOff x="0" y="0"/>
            <a:chExt cx="336713" cy="987355"/>
          </a:xfrm>
        </p:grpSpPr>
        <p:sp>
          <p:nvSpPr>
            <p:cNvPr id="19" name="Freeform 19"/>
            <p:cNvSpPr/>
            <p:nvPr/>
          </p:nvSpPr>
          <p:spPr>
            <a:xfrm>
              <a:off x="0" y="0"/>
              <a:ext cx="336713" cy="987355"/>
            </a:xfrm>
            <a:custGeom>
              <a:avLst/>
              <a:gdLst/>
              <a:ahLst/>
              <a:cxnLst/>
              <a:rect l="l" t="t" r="r" b="b"/>
              <a:pathLst>
                <a:path w="336713" h="987355">
                  <a:moveTo>
                    <a:pt x="0" y="0"/>
                  </a:moveTo>
                  <a:lnTo>
                    <a:pt x="336713" y="0"/>
                  </a:lnTo>
                  <a:lnTo>
                    <a:pt x="336713" y="987355"/>
                  </a:lnTo>
                  <a:lnTo>
                    <a:pt x="0" y="987355"/>
                  </a:lnTo>
                  <a:close/>
                </a:path>
              </a:pathLst>
            </a:custGeom>
            <a:solidFill>
              <a:srgbClr val="737373"/>
            </a:solidFill>
          </p:spPr>
          <p:txBody>
            <a:bodyPr/>
            <a:lstStyle/>
            <a:p>
              <a:endParaRPr lang="en-GB"/>
            </a:p>
          </p:txBody>
        </p:sp>
        <p:sp>
          <p:nvSpPr>
            <p:cNvPr id="20" name="TextBox 20"/>
            <p:cNvSpPr txBox="1"/>
            <p:nvPr/>
          </p:nvSpPr>
          <p:spPr>
            <a:xfrm>
              <a:off x="0" y="-171450"/>
              <a:ext cx="336713" cy="1158805"/>
            </a:xfrm>
            <a:prstGeom prst="rect">
              <a:avLst/>
            </a:prstGeom>
          </p:spPr>
          <p:txBody>
            <a:bodyPr lIns="50800" tIns="50800" rIns="50800" bIns="50800" rtlCol="0" anchor="ctr"/>
            <a:lstStyle/>
            <a:p>
              <a:pPr algn="ctr">
                <a:lnSpc>
                  <a:spcPts val="4875"/>
                </a:lnSpc>
              </a:pPr>
              <a:endParaRPr/>
            </a:p>
          </p:txBody>
        </p:sp>
      </p:grpSp>
      <p:grpSp>
        <p:nvGrpSpPr>
          <p:cNvPr id="21" name="Group 21"/>
          <p:cNvGrpSpPr/>
          <p:nvPr/>
        </p:nvGrpSpPr>
        <p:grpSpPr>
          <a:xfrm rot="5400000">
            <a:off x="7444379" y="1925691"/>
            <a:ext cx="2146040" cy="8991020"/>
            <a:chOff x="0" y="0"/>
            <a:chExt cx="678082" cy="2840883"/>
          </a:xfrm>
        </p:grpSpPr>
        <p:sp>
          <p:nvSpPr>
            <p:cNvPr id="22" name="Freeform 22"/>
            <p:cNvSpPr/>
            <p:nvPr/>
          </p:nvSpPr>
          <p:spPr>
            <a:xfrm>
              <a:off x="0" y="0"/>
              <a:ext cx="678082" cy="2840883"/>
            </a:xfrm>
            <a:custGeom>
              <a:avLst/>
              <a:gdLst/>
              <a:ahLst/>
              <a:cxnLst/>
              <a:rect l="l" t="t" r="r" b="b"/>
              <a:pathLst>
                <a:path w="678082" h="2840883">
                  <a:moveTo>
                    <a:pt x="0" y="0"/>
                  </a:moveTo>
                  <a:lnTo>
                    <a:pt x="678082" y="0"/>
                  </a:lnTo>
                  <a:lnTo>
                    <a:pt x="678082" y="2840883"/>
                  </a:lnTo>
                  <a:lnTo>
                    <a:pt x="0" y="2840883"/>
                  </a:lnTo>
                  <a:close/>
                </a:path>
              </a:pathLst>
            </a:custGeom>
            <a:solidFill>
              <a:srgbClr val="737373"/>
            </a:solidFill>
          </p:spPr>
          <p:txBody>
            <a:bodyPr/>
            <a:lstStyle/>
            <a:p>
              <a:endParaRPr lang="en-GB"/>
            </a:p>
          </p:txBody>
        </p:sp>
        <p:sp>
          <p:nvSpPr>
            <p:cNvPr id="23" name="TextBox 23"/>
            <p:cNvSpPr txBox="1"/>
            <p:nvPr/>
          </p:nvSpPr>
          <p:spPr>
            <a:xfrm>
              <a:off x="0" y="-171450"/>
              <a:ext cx="678082" cy="3012333"/>
            </a:xfrm>
            <a:prstGeom prst="rect">
              <a:avLst/>
            </a:prstGeom>
          </p:spPr>
          <p:txBody>
            <a:bodyPr lIns="50800" tIns="50800" rIns="50800" bIns="50800" rtlCol="0" anchor="ctr"/>
            <a:lstStyle/>
            <a:p>
              <a:pPr algn="ctr">
                <a:lnSpc>
                  <a:spcPts val="4875"/>
                </a:lnSpc>
              </a:pPr>
              <a:endParaRPr/>
            </a:p>
          </p:txBody>
        </p:sp>
      </p:grpSp>
      <p:sp>
        <p:nvSpPr>
          <p:cNvPr id="24" name="Freeform 24"/>
          <p:cNvSpPr/>
          <p:nvPr/>
        </p:nvSpPr>
        <p:spPr>
          <a:xfrm rot="-10727559">
            <a:off x="5881844" y="6531713"/>
            <a:ext cx="542752" cy="841476"/>
          </a:xfrm>
          <a:custGeom>
            <a:avLst/>
            <a:gdLst/>
            <a:ahLst/>
            <a:cxnLst/>
            <a:rect l="l" t="t" r="r" b="b"/>
            <a:pathLst>
              <a:path w="542752" h="841476">
                <a:moveTo>
                  <a:pt x="0" y="0"/>
                </a:moveTo>
                <a:lnTo>
                  <a:pt x="542752" y="0"/>
                </a:lnTo>
                <a:lnTo>
                  <a:pt x="542752" y="841476"/>
                </a:lnTo>
                <a:lnTo>
                  <a:pt x="0" y="84147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25" name="Freeform 25"/>
          <p:cNvSpPr/>
          <p:nvPr/>
        </p:nvSpPr>
        <p:spPr>
          <a:xfrm rot="5400000">
            <a:off x="4259050" y="5437294"/>
            <a:ext cx="371178" cy="787646"/>
          </a:xfrm>
          <a:custGeom>
            <a:avLst/>
            <a:gdLst/>
            <a:ahLst/>
            <a:cxnLst/>
            <a:rect l="l" t="t" r="r" b="b"/>
            <a:pathLst>
              <a:path w="371178" h="787646">
                <a:moveTo>
                  <a:pt x="0" y="0"/>
                </a:moveTo>
                <a:lnTo>
                  <a:pt x="371178" y="0"/>
                </a:lnTo>
                <a:lnTo>
                  <a:pt x="371178" y="787646"/>
                </a:lnTo>
                <a:lnTo>
                  <a:pt x="0" y="78764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26" name="Freeform 26"/>
          <p:cNvSpPr/>
          <p:nvPr/>
        </p:nvSpPr>
        <p:spPr>
          <a:xfrm rot="-5400000">
            <a:off x="5153091" y="5421214"/>
            <a:ext cx="397834" cy="785845"/>
          </a:xfrm>
          <a:custGeom>
            <a:avLst/>
            <a:gdLst/>
            <a:ahLst/>
            <a:cxnLst/>
            <a:rect l="l" t="t" r="r" b="b"/>
            <a:pathLst>
              <a:path w="397834" h="785845">
                <a:moveTo>
                  <a:pt x="0" y="0"/>
                </a:moveTo>
                <a:lnTo>
                  <a:pt x="397834" y="0"/>
                </a:lnTo>
                <a:lnTo>
                  <a:pt x="397834" y="785845"/>
                </a:lnTo>
                <a:lnTo>
                  <a:pt x="0" y="785845"/>
                </a:lnTo>
                <a:lnTo>
                  <a:pt x="0" y="0"/>
                </a:lnTo>
                <a:close/>
              </a:path>
            </a:pathLst>
          </a:custGeom>
          <a:blipFill>
            <a:blip r:embed="rId8"/>
            <a:stretch>
              <a:fillRect/>
            </a:stretch>
          </a:blipFill>
        </p:spPr>
        <p:txBody>
          <a:bodyPr/>
          <a:lstStyle/>
          <a:p>
            <a:endParaRPr lang="en-GB"/>
          </a:p>
        </p:txBody>
      </p:sp>
      <p:sp>
        <p:nvSpPr>
          <p:cNvPr id="27" name="AutoShape 27"/>
          <p:cNvSpPr/>
          <p:nvPr/>
        </p:nvSpPr>
        <p:spPr>
          <a:xfrm>
            <a:off x="4021889" y="6421201"/>
            <a:ext cx="8991020" cy="0"/>
          </a:xfrm>
          <a:prstGeom prst="line">
            <a:avLst/>
          </a:prstGeom>
          <a:ln w="57150" cap="flat">
            <a:solidFill>
              <a:srgbClr val="FFFFFF"/>
            </a:solidFill>
            <a:prstDash val="solid"/>
            <a:headEnd type="none" w="sm" len="sm"/>
            <a:tailEnd type="none" w="sm" len="sm"/>
          </a:ln>
        </p:spPr>
        <p:txBody>
          <a:bodyPr/>
          <a:lstStyle/>
          <a:p>
            <a:endParaRPr lang="en-GB"/>
          </a:p>
        </p:txBody>
      </p:sp>
      <p:sp>
        <p:nvSpPr>
          <p:cNvPr id="28" name="Freeform 28"/>
          <p:cNvSpPr/>
          <p:nvPr/>
        </p:nvSpPr>
        <p:spPr>
          <a:xfrm rot="-5400000">
            <a:off x="9523419" y="6558628"/>
            <a:ext cx="371178" cy="787646"/>
          </a:xfrm>
          <a:custGeom>
            <a:avLst/>
            <a:gdLst/>
            <a:ahLst/>
            <a:cxnLst/>
            <a:rect l="l" t="t" r="r" b="b"/>
            <a:pathLst>
              <a:path w="371178" h="787646">
                <a:moveTo>
                  <a:pt x="0" y="0"/>
                </a:moveTo>
                <a:lnTo>
                  <a:pt x="371178" y="0"/>
                </a:lnTo>
                <a:lnTo>
                  <a:pt x="371178" y="787646"/>
                </a:lnTo>
                <a:lnTo>
                  <a:pt x="0" y="78764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29" name="Freeform 29"/>
          <p:cNvSpPr/>
          <p:nvPr/>
        </p:nvSpPr>
        <p:spPr>
          <a:xfrm rot="-5400000">
            <a:off x="11394443" y="6567489"/>
            <a:ext cx="353456" cy="787646"/>
          </a:xfrm>
          <a:custGeom>
            <a:avLst/>
            <a:gdLst/>
            <a:ahLst/>
            <a:cxnLst/>
            <a:rect l="l" t="t" r="r" b="b"/>
            <a:pathLst>
              <a:path w="353456" h="787646">
                <a:moveTo>
                  <a:pt x="0" y="0"/>
                </a:moveTo>
                <a:lnTo>
                  <a:pt x="353456" y="0"/>
                </a:lnTo>
                <a:lnTo>
                  <a:pt x="353456" y="787646"/>
                </a:lnTo>
                <a:lnTo>
                  <a:pt x="0" y="787646"/>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GB"/>
          </a:p>
        </p:txBody>
      </p:sp>
      <p:sp>
        <p:nvSpPr>
          <p:cNvPr id="30" name="Freeform 30"/>
          <p:cNvSpPr/>
          <p:nvPr/>
        </p:nvSpPr>
        <p:spPr>
          <a:xfrm rot="-5400000">
            <a:off x="10442135" y="6562566"/>
            <a:ext cx="363302" cy="787646"/>
          </a:xfrm>
          <a:custGeom>
            <a:avLst/>
            <a:gdLst/>
            <a:ahLst/>
            <a:cxnLst/>
            <a:rect l="l" t="t" r="r" b="b"/>
            <a:pathLst>
              <a:path w="363302" h="787646">
                <a:moveTo>
                  <a:pt x="0" y="0"/>
                </a:moveTo>
                <a:lnTo>
                  <a:pt x="363302" y="0"/>
                </a:lnTo>
                <a:lnTo>
                  <a:pt x="363302" y="787647"/>
                </a:lnTo>
                <a:lnTo>
                  <a:pt x="0" y="78764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1" name="Freeform 31"/>
          <p:cNvSpPr/>
          <p:nvPr/>
        </p:nvSpPr>
        <p:spPr>
          <a:xfrm rot="-5400000">
            <a:off x="8620674" y="6575609"/>
            <a:ext cx="360348" cy="787646"/>
          </a:xfrm>
          <a:custGeom>
            <a:avLst/>
            <a:gdLst/>
            <a:ahLst/>
            <a:cxnLst/>
            <a:rect l="l" t="t" r="r" b="b"/>
            <a:pathLst>
              <a:path w="360348" h="787646">
                <a:moveTo>
                  <a:pt x="0" y="0"/>
                </a:moveTo>
                <a:lnTo>
                  <a:pt x="360348" y="0"/>
                </a:lnTo>
                <a:lnTo>
                  <a:pt x="360348" y="787646"/>
                </a:lnTo>
                <a:lnTo>
                  <a:pt x="0" y="78764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GB"/>
          </a:p>
        </p:txBody>
      </p:sp>
      <p:sp>
        <p:nvSpPr>
          <p:cNvPr id="32" name="Freeform 32"/>
          <p:cNvSpPr/>
          <p:nvPr/>
        </p:nvSpPr>
        <p:spPr>
          <a:xfrm rot="-5400000">
            <a:off x="7711151" y="6581024"/>
            <a:ext cx="371178" cy="787646"/>
          </a:xfrm>
          <a:custGeom>
            <a:avLst/>
            <a:gdLst/>
            <a:ahLst/>
            <a:cxnLst/>
            <a:rect l="l" t="t" r="r" b="b"/>
            <a:pathLst>
              <a:path w="371178" h="787646">
                <a:moveTo>
                  <a:pt x="0" y="0"/>
                </a:moveTo>
                <a:lnTo>
                  <a:pt x="371178" y="0"/>
                </a:lnTo>
                <a:lnTo>
                  <a:pt x="371178" y="787646"/>
                </a:lnTo>
                <a:lnTo>
                  <a:pt x="0" y="78764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33" name="Freeform 33"/>
          <p:cNvSpPr/>
          <p:nvPr/>
        </p:nvSpPr>
        <p:spPr>
          <a:xfrm rot="5400000">
            <a:off x="6790454" y="6598905"/>
            <a:ext cx="397834" cy="785845"/>
          </a:xfrm>
          <a:custGeom>
            <a:avLst/>
            <a:gdLst/>
            <a:ahLst/>
            <a:cxnLst/>
            <a:rect l="l" t="t" r="r" b="b"/>
            <a:pathLst>
              <a:path w="397834" h="785845">
                <a:moveTo>
                  <a:pt x="0" y="0"/>
                </a:moveTo>
                <a:lnTo>
                  <a:pt x="397834" y="0"/>
                </a:lnTo>
                <a:lnTo>
                  <a:pt x="397834" y="785845"/>
                </a:lnTo>
                <a:lnTo>
                  <a:pt x="0" y="785845"/>
                </a:lnTo>
                <a:lnTo>
                  <a:pt x="0" y="0"/>
                </a:lnTo>
                <a:close/>
              </a:path>
            </a:pathLst>
          </a:custGeom>
          <a:blipFill>
            <a:blip r:embed="rId8"/>
            <a:stretch>
              <a:fillRect/>
            </a:stretch>
          </a:blipFill>
        </p:spPr>
        <p:txBody>
          <a:bodyPr/>
          <a:lstStyle/>
          <a:p>
            <a:endParaRPr lang="en-GB"/>
          </a:p>
        </p:txBody>
      </p:sp>
      <p:sp>
        <p:nvSpPr>
          <p:cNvPr id="34" name="Freeform 34"/>
          <p:cNvSpPr/>
          <p:nvPr/>
        </p:nvSpPr>
        <p:spPr>
          <a:xfrm>
            <a:off x="5849747" y="5431667"/>
            <a:ext cx="560362" cy="868778"/>
          </a:xfrm>
          <a:custGeom>
            <a:avLst/>
            <a:gdLst/>
            <a:ahLst/>
            <a:cxnLst/>
            <a:rect l="l" t="t" r="r" b="b"/>
            <a:pathLst>
              <a:path w="560362" h="868778">
                <a:moveTo>
                  <a:pt x="0" y="0"/>
                </a:moveTo>
                <a:lnTo>
                  <a:pt x="560362" y="0"/>
                </a:lnTo>
                <a:lnTo>
                  <a:pt x="560362" y="868778"/>
                </a:lnTo>
                <a:lnTo>
                  <a:pt x="0" y="86877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5" name="Freeform 35"/>
          <p:cNvSpPr/>
          <p:nvPr/>
        </p:nvSpPr>
        <p:spPr>
          <a:xfrm rot="5400000">
            <a:off x="12322047" y="6546201"/>
            <a:ext cx="397834" cy="785845"/>
          </a:xfrm>
          <a:custGeom>
            <a:avLst/>
            <a:gdLst/>
            <a:ahLst/>
            <a:cxnLst/>
            <a:rect l="l" t="t" r="r" b="b"/>
            <a:pathLst>
              <a:path w="397834" h="785845">
                <a:moveTo>
                  <a:pt x="0" y="0"/>
                </a:moveTo>
                <a:lnTo>
                  <a:pt x="397834" y="0"/>
                </a:lnTo>
                <a:lnTo>
                  <a:pt x="397834" y="785845"/>
                </a:lnTo>
                <a:lnTo>
                  <a:pt x="0" y="785845"/>
                </a:lnTo>
                <a:lnTo>
                  <a:pt x="0" y="0"/>
                </a:lnTo>
                <a:close/>
              </a:path>
            </a:pathLst>
          </a:custGeom>
          <a:blipFill>
            <a:blip r:embed="rId8"/>
            <a:stretch>
              <a:fillRect/>
            </a:stretch>
          </a:blipFill>
        </p:spPr>
        <p:txBody>
          <a:bodyPr/>
          <a:lstStyle/>
          <a:p>
            <a:endParaRPr lang="en-GB"/>
          </a:p>
        </p:txBody>
      </p:sp>
      <p:sp>
        <p:nvSpPr>
          <p:cNvPr id="36" name="Freeform 36"/>
          <p:cNvSpPr/>
          <p:nvPr/>
        </p:nvSpPr>
        <p:spPr>
          <a:xfrm rot="-5400000">
            <a:off x="13230004" y="6545300"/>
            <a:ext cx="353456" cy="787646"/>
          </a:xfrm>
          <a:custGeom>
            <a:avLst/>
            <a:gdLst/>
            <a:ahLst/>
            <a:cxnLst/>
            <a:rect l="l" t="t" r="r" b="b"/>
            <a:pathLst>
              <a:path w="353456" h="787646">
                <a:moveTo>
                  <a:pt x="0" y="0"/>
                </a:moveTo>
                <a:lnTo>
                  <a:pt x="353456" y="0"/>
                </a:lnTo>
                <a:lnTo>
                  <a:pt x="353456" y="787646"/>
                </a:lnTo>
                <a:lnTo>
                  <a:pt x="0" y="787646"/>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GB"/>
          </a:p>
        </p:txBody>
      </p:sp>
      <p:sp>
        <p:nvSpPr>
          <p:cNvPr id="37" name="Freeform 37"/>
          <p:cNvSpPr/>
          <p:nvPr/>
        </p:nvSpPr>
        <p:spPr>
          <a:xfrm rot="-5400000">
            <a:off x="14171837" y="6545300"/>
            <a:ext cx="371178" cy="787646"/>
          </a:xfrm>
          <a:custGeom>
            <a:avLst/>
            <a:gdLst/>
            <a:ahLst/>
            <a:cxnLst/>
            <a:rect l="l" t="t" r="r" b="b"/>
            <a:pathLst>
              <a:path w="371178" h="787646">
                <a:moveTo>
                  <a:pt x="0" y="0"/>
                </a:moveTo>
                <a:lnTo>
                  <a:pt x="371178" y="0"/>
                </a:lnTo>
                <a:lnTo>
                  <a:pt x="371178" y="787646"/>
                </a:lnTo>
                <a:lnTo>
                  <a:pt x="0" y="78764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38" name="TextBox 38"/>
          <p:cNvSpPr txBox="1"/>
          <p:nvPr/>
        </p:nvSpPr>
        <p:spPr>
          <a:xfrm>
            <a:off x="3094226" y="1235553"/>
            <a:ext cx="15232472" cy="2980690"/>
          </a:xfrm>
          <a:prstGeom prst="rect">
            <a:avLst/>
          </a:prstGeom>
        </p:spPr>
        <p:txBody>
          <a:bodyPr lIns="0" tIns="0" rIns="0" bIns="0" rtlCol="0" anchor="t">
            <a:spAutoFit/>
          </a:bodyPr>
          <a:lstStyle/>
          <a:p>
            <a:pPr marL="734061" lvl="1" indent="-367031" algn="l">
              <a:lnSpc>
                <a:spcPts val="4760"/>
              </a:lnSpc>
              <a:buFont typeface="Arial"/>
              <a:buChar char="•"/>
            </a:pPr>
            <a:r>
              <a:rPr lang="en-US" sz="3400">
                <a:solidFill>
                  <a:srgbClr val="3D2812"/>
                </a:solidFill>
                <a:latin typeface="Canva Sans"/>
                <a:ea typeface="Canva Sans"/>
                <a:cs typeface="Canva Sans"/>
                <a:sym typeface="Canva Sans"/>
              </a:rPr>
              <a:t>Current traffic light control systems operate in isolation, each focusing only on its own individual intersections. </a:t>
            </a:r>
          </a:p>
          <a:p>
            <a:pPr marL="734061" lvl="1" indent="-367031" algn="l">
              <a:lnSpc>
                <a:spcPts val="4760"/>
              </a:lnSpc>
              <a:buFont typeface="Arial"/>
              <a:buChar char="•"/>
            </a:pPr>
            <a:r>
              <a:rPr lang="en-US" sz="3400">
                <a:solidFill>
                  <a:srgbClr val="3D2812"/>
                </a:solidFill>
                <a:latin typeface="Canva Sans"/>
                <a:ea typeface="Canva Sans"/>
                <a:cs typeface="Canva Sans"/>
                <a:sym typeface="Canva Sans"/>
              </a:rPr>
              <a:t>This fragmented approach fails to address the interconnected nature of urban traffic, often leading to cascading congestion and inefficiencies across the wider road network.</a:t>
            </a:r>
          </a:p>
        </p:txBody>
      </p:sp>
      <p:grpSp>
        <p:nvGrpSpPr>
          <p:cNvPr id="39" name="Group 39"/>
          <p:cNvGrpSpPr/>
          <p:nvPr/>
        </p:nvGrpSpPr>
        <p:grpSpPr>
          <a:xfrm>
            <a:off x="-4125398" y="1246541"/>
            <a:ext cx="8346046" cy="7793918"/>
            <a:chOff x="0" y="0"/>
            <a:chExt cx="11128062" cy="10391891"/>
          </a:xfrm>
        </p:grpSpPr>
        <p:grpSp>
          <p:nvGrpSpPr>
            <p:cNvPr id="40" name="Group 40"/>
            <p:cNvGrpSpPr/>
            <p:nvPr/>
          </p:nvGrpSpPr>
          <p:grpSpPr>
            <a:xfrm>
              <a:off x="0" y="0"/>
              <a:ext cx="10391891" cy="10391891"/>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E0054">
                      <a:alpha val="100000"/>
                    </a:srgbClr>
                  </a:gs>
                  <a:gs pos="50000">
                    <a:srgbClr val="080029">
                      <a:alpha val="100000"/>
                    </a:srgbClr>
                  </a:gs>
                  <a:gs pos="100000">
                    <a:srgbClr val="0E0054">
                      <a:alpha val="100000"/>
                    </a:srgbClr>
                  </a:gs>
                </a:gsLst>
                <a:lin ang="0"/>
              </a:gradFill>
            </p:spPr>
            <p:txBody>
              <a:bodyPr/>
              <a:lstStyle/>
              <a:p>
                <a:endParaRPr lang="en-GB"/>
              </a:p>
            </p:txBody>
          </p:sp>
          <p:sp>
            <p:nvSpPr>
              <p:cNvPr id="42" name="TextBox 42"/>
              <p:cNvSpPr txBox="1"/>
              <p:nvPr/>
            </p:nvSpPr>
            <p:spPr>
              <a:xfrm>
                <a:off x="76200" y="-95250"/>
                <a:ext cx="660400" cy="831850"/>
              </a:xfrm>
              <a:prstGeom prst="rect">
                <a:avLst/>
              </a:prstGeom>
            </p:spPr>
            <p:txBody>
              <a:bodyPr lIns="50800" tIns="50800" rIns="50800" bIns="50800" rtlCol="0" anchor="ctr"/>
              <a:lstStyle/>
              <a:p>
                <a:pPr algn="ctr">
                  <a:lnSpc>
                    <a:spcPts val="4875"/>
                  </a:lnSpc>
                </a:pPr>
                <a:endParaRPr/>
              </a:p>
            </p:txBody>
          </p:sp>
        </p:grpSp>
        <p:sp>
          <p:nvSpPr>
            <p:cNvPr id="43" name="TextBox 43"/>
            <p:cNvSpPr txBox="1"/>
            <p:nvPr/>
          </p:nvSpPr>
          <p:spPr>
            <a:xfrm>
              <a:off x="4714577" y="3462724"/>
              <a:ext cx="6413485" cy="2765425"/>
            </a:xfrm>
            <a:prstGeom prst="rect">
              <a:avLst/>
            </a:prstGeom>
          </p:spPr>
          <p:txBody>
            <a:bodyPr lIns="0" tIns="0" rIns="0" bIns="0" rtlCol="0" anchor="t">
              <a:spAutoFit/>
            </a:bodyPr>
            <a:lstStyle/>
            <a:p>
              <a:pPr algn="ctr">
                <a:lnSpc>
                  <a:spcPts val="8400"/>
                </a:lnSpc>
              </a:pPr>
              <a:r>
                <a:rPr lang="en-US" sz="6000" b="1">
                  <a:solidFill>
                    <a:srgbClr val="FFFFFF"/>
                  </a:solidFill>
                  <a:latin typeface="Lato Bold"/>
                  <a:ea typeface="Lato Bold"/>
                  <a:cs typeface="Lato Bold"/>
                  <a:sym typeface="Lato Bold"/>
                </a:rPr>
                <a:t>Problem Definition </a:t>
              </a:r>
            </a:p>
          </p:txBody>
        </p:sp>
        <p:sp>
          <p:nvSpPr>
            <p:cNvPr id="44" name="TextBox 44"/>
            <p:cNvSpPr txBox="1"/>
            <p:nvPr/>
          </p:nvSpPr>
          <p:spPr>
            <a:xfrm rot="-10800000">
              <a:off x="301196" y="3163945"/>
              <a:ext cx="5101265" cy="4187825"/>
            </a:xfrm>
            <a:prstGeom prst="rect">
              <a:avLst/>
            </a:prstGeom>
          </p:spPr>
          <p:txBody>
            <a:bodyPr lIns="0" tIns="0" rIns="0" bIns="0" rtlCol="0" anchor="t">
              <a:spAutoFit/>
            </a:bodyPr>
            <a:lstStyle/>
            <a:p>
              <a:pPr algn="ctr">
                <a:lnSpc>
                  <a:spcPts val="8400"/>
                </a:lnSpc>
              </a:pPr>
              <a:r>
                <a:rPr lang="en-US" sz="6000" b="1">
                  <a:solidFill>
                    <a:srgbClr val="FFFFFF"/>
                  </a:solidFill>
                  <a:latin typeface="Lato Bold"/>
                  <a:ea typeface="Lato Bold"/>
                  <a:cs typeface="Lato Bold"/>
                  <a:sym typeface="Lato Bold"/>
                </a:rPr>
                <a:t>Limitations of Current Systems</a:t>
              </a:r>
            </a:p>
          </p:txBody>
        </p:sp>
      </p:grpSp>
      <p:grpSp>
        <p:nvGrpSpPr>
          <p:cNvPr id="45" name="Group 45"/>
          <p:cNvGrpSpPr/>
          <p:nvPr/>
        </p:nvGrpSpPr>
        <p:grpSpPr>
          <a:xfrm>
            <a:off x="0" y="9322212"/>
            <a:ext cx="16965984" cy="964788"/>
            <a:chOff x="0" y="0"/>
            <a:chExt cx="22621312" cy="1286384"/>
          </a:xfrm>
        </p:grpSpPr>
        <p:sp>
          <p:nvSpPr>
            <p:cNvPr id="46" name="Freeform 46"/>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10"/>
              <a:stretch>
                <a:fillRect/>
              </a:stretch>
            </a:blipFill>
          </p:spPr>
          <p:txBody>
            <a:bodyPr/>
            <a:lstStyle/>
            <a:p>
              <a:endParaRPr lang="en-GB"/>
            </a:p>
          </p:txBody>
        </p:sp>
        <p:sp>
          <p:nvSpPr>
            <p:cNvPr id="47" name="TextBox 47"/>
            <p:cNvSpPr txBox="1"/>
            <p:nvPr/>
          </p:nvSpPr>
          <p:spPr>
            <a:xfrm>
              <a:off x="5939922" y="435762"/>
              <a:ext cx="16681390"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IT22000576       |       Fernandopulle S N      |       25-26J-473        |       Date: 06/01/2026</a:t>
              </a:r>
            </a:p>
          </p:txBody>
        </p:sp>
      </p:grpSp>
      <p:sp>
        <p:nvSpPr>
          <p:cNvPr id="48" name="TextBox 48"/>
          <p:cNvSpPr txBox="1"/>
          <p:nvPr/>
        </p:nvSpPr>
        <p:spPr>
          <a:xfrm>
            <a:off x="76200" y="86677"/>
            <a:ext cx="18032177" cy="669925"/>
          </a:xfrm>
          <a:prstGeom prst="rect">
            <a:avLst/>
          </a:prstGeom>
        </p:spPr>
        <p:txBody>
          <a:bodyPr lIns="0" tIns="0" rIns="0" bIns="0" rtlCol="0" anchor="t">
            <a:spAutoFit/>
          </a:bodyPr>
          <a:lstStyle/>
          <a:p>
            <a:pPr marL="0" lvl="0" indent="0" algn="l">
              <a:lnSpc>
                <a:spcPts val="2599"/>
              </a:lnSpc>
            </a:pPr>
            <a:r>
              <a:rPr lang="en-US" sz="1999" spc="29">
                <a:solidFill>
                  <a:srgbClr val="3D2812"/>
                </a:solidFill>
                <a:latin typeface="The Seasons"/>
                <a:ea typeface="The Seasons"/>
                <a:cs typeface="The Seasons"/>
                <a:sym typeface="The Seasons"/>
              </a:rPr>
              <a:t>COMPONENT 2: CENTRALIZED TRAINING AND DECENTRALIZED EXECUTION OF REINFORCEMENT LEARNING AGENT SYSTEM FOR COOPERATIVE TRAFFIC SIGNAL CONTROL</a:t>
            </a:r>
          </a:p>
        </p:txBody>
      </p:sp>
      <p:sp>
        <p:nvSpPr>
          <p:cNvPr id="49" name="TextBox 49"/>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10</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0" y="9322212"/>
            <a:ext cx="16965984" cy="964788"/>
            <a:chOff x="0" y="0"/>
            <a:chExt cx="22621312" cy="1286384"/>
          </a:xfrm>
        </p:grpSpPr>
        <p:sp>
          <p:nvSpPr>
            <p:cNvPr id="3" name="Freeform 3"/>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3"/>
              <a:stretch>
                <a:fillRect/>
              </a:stretch>
            </a:blipFill>
          </p:spPr>
          <p:txBody>
            <a:bodyPr/>
            <a:lstStyle/>
            <a:p>
              <a:endParaRPr lang="en-GB"/>
            </a:p>
          </p:txBody>
        </p:sp>
        <p:sp>
          <p:nvSpPr>
            <p:cNvPr id="4" name="TextBox 4"/>
            <p:cNvSpPr txBox="1"/>
            <p:nvPr/>
          </p:nvSpPr>
          <p:spPr>
            <a:xfrm>
              <a:off x="5939922" y="435762"/>
              <a:ext cx="16681390"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IT22000576       |       Fernandopulle S N      |       25-26J-473        |       Date: 06/01/2026</a:t>
              </a:r>
            </a:p>
          </p:txBody>
        </p:sp>
      </p:grpSp>
      <p:grpSp>
        <p:nvGrpSpPr>
          <p:cNvPr id="5" name="Group 5"/>
          <p:cNvGrpSpPr/>
          <p:nvPr/>
        </p:nvGrpSpPr>
        <p:grpSpPr>
          <a:xfrm rot="-10800000">
            <a:off x="-4375349" y="1265591"/>
            <a:ext cx="8255398" cy="7793918"/>
            <a:chOff x="0" y="0"/>
            <a:chExt cx="11007197" cy="10391891"/>
          </a:xfrm>
        </p:grpSpPr>
        <p:grpSp>
          <p:nvGrpSpPr>
            <p:cNvPr id="6" name="Group 6"/>
            <p:cNvGrpSpPr/>
            <p:nvPr/>
          </p:nvGrpSpPr>
          <p:grpSpPr>
            <a:xfrm rot="-10800000">
              <a:off x="615307" y="0"/>
              <a:ext cx="10391891" cy="1039189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E0054">
                      <a:alpha val="100000"/>
                    </a:srgbClr>
                  </a:gs>
                  <a:gs pos="50000">
                    <a:srgbClr val="080029">
                      <a:alpha val="100000"/>
                    </a:srgbClr>
                  </a:gs>
                  <a:gs pos="100000">
                    <a:srgbClr val="0E0054">
                      <a:alpha val="100000"/>
                    </a:srgbClr>
                  </a:gs>
                </a:gsLst>
                <a:lin ang="0"/>
              </a:gradFill>
              <a:ln w="9525" cap="sq">
                <a:solidFill>
                  <a:srgbClr val="FFFFFF"/>
                </a:solidFill>
                <a:prstDash val="solid"/>
                <a:miter/>
              </a:ln>
            </p:spPr>
            <p:txBody>
              <a:bodyPr/>
              <a:lstStyle/>
              <a:p>
                <a:endParaRPr lang="en-GB"/>
              </a:p>
            </p:txBody>
          </p:sp>
          <p:sp>
            <p:nvSpPr>
              <p:cNvPr id="8" name="TextBox 8"/>
              <p:cNvSpPr txBox="1"/>
              <p:nvPr/>
            </p:nvSpPr>
            <p:spPr>
              <a:xfrm>
                <a:off x="76200" y="-95250"/>
                <a:ext cx="660400" cy="831850"/>
              </a:xfrm>
              <a:prstGeom prst="rect">
                <a:avLst/>
              </a:prstGeom>
            </p:spPr>
            <p:txBody>
              <a:bodyPr lIns="50800" tIns="50800" rIns="50800" bIns="50800" rtlCol="0" anchor="ctr"/>
              <a:lstStyle/>
              <a:p>
                <a:pPr algn="ctr">
                  <a:lnSpc>
                    <a:spcPts val="4875"/>
                  </a:lnSpc>
                </a:pPr>
                <a:endParaRPr/>
              </a:p>
            </p:txBody>
          </p:sp>
        </p:grpSp>
        <p:sp>
          <p:nvSpPr>
            <p:cNvPr id="9" name="TextBox 9"/>
            <p:cNvSpPr txBox="1"/>
            <p:nvPr/>
          </p:nvSpPr>
          <p:spPr>
            <a:xfrm rot="-10800000">
              <a:off x="0" y="4125642"/>
              <a:ext cx="5894016" cy="2765425"/>
            </a:xfrm>
            <a:prstGeom prst="rect">
              <a:avLst/>
            </a:prstGeom>
          </p:spPr>
          <p:txBody>
            <a:bodyPr lIns="0" tIns="0" rIns="0" bIns="0" rtlCol="0" anchor="t">
              <a:spAutoFit/>
            </a:bodyPr>
            <a:lstStyle/>
            <a:p>
              <a:pPr algn="ctr">
                <a:lnSpc>
                  <a:spcPts val="8400"/>
                </a:lnSpc>
              </a:pPr>
              <a:r>
                <a:rPr lang="en-US" sz="6000" b="1">
                  <a:solidFill>
                    <a:srgbClr val="FFFFFF"/>
                  </a:solidFill>
                  <a:latin typeface="Lato Bold"/>
                  <a:ea typeface="Lato Bold"/>
                  <a:cs typeface="Lato Bold"/>
                  <a:sym typeface="Lato Bold"/>
                </a:rPr>
                <a:t>System</a:t>
              </a:r>
            </a:p>
            <a:p>
              <a:pPr algn="ctr">
                <a:lnSpc>
                  <a:spcPts val="8400"/>
                </a:lnSpc>
              </a:pPr>
              <a:r>
                <a:rPr lang="en-US" sz="6000" b="1">
                  <a:solidFill>
                    <a:srgbClr val="FFFFFF"/>
                  </a:solidFill>
                  <a:latin typeface="Lato Bold"/>
                  <a:ea typeface="Lato Bold"/>
                  <a:cs typeface="Lato Bold"/>
                  <a:sym typeface="Lato Bold"/>
                </a:rPr>
                <a:t>Overview</a:t>
              </a:r>
            </a:p>
          </p:txBody>
        </p:sp>
        <p:sp>
          <p:nvSpPr>
            <p:cNvPr id="10" name="TextBox 10"/>
            <p:cNvSpPr txBox="1"/>
            <p:nvPr/>
          </p:nvSpPr>
          <p:spPr>
            <a:xfrm>
              <a:off x="5731736" y="2593484"/>
              <a:ext cx="5101265" cy="4832984"/>
            </a:xfrm>
            <a:prstGeom prst="rect">
              <a:avLst/>
            </a:prstGeom>
          </p:spPr>
          <p:txBody>
            <a:bodyPr lIns="0" tIns="0" rIns="0" bIns="0" rtlCol="0" anchor="t">
              <a:spAutoFit/>
            </a:bodyPr>
            <a:lstStyle/>
            <a:p>
              <a:pPr algn="ctr">
                <a:lnSpc>
                  <a:spcPts val="8400"/>
                </a:lnSpc>
              </a:pPr>
              <a:r>
                <a:rPr lang="en-US" sz="6000" b="1">
                  <a:solidFill>
                    <a:srgbClr val="FFFFFF"/>
                  </a:solidFill>
                  <a:latin typeface="Lato Bold"/>
                  <a:ea typeface="Lato Bold"/>
                  <a:cs typeface="Lato Bold"/>
                  <a:sym typeface="Lato Bold"/>
                </a:rPr>
                <a:t>Work</a:t>
              </a:r>
            </a:p>
            <a:p>
              <a:pPr algn="ctr">
                <a:lnSpc>
                  <a:spcPts val="7560"/>
                </a:lnSpc>
              </a:pPr>
              <a:r>
                <a:rPr lang="en-US" sz="5400" b="1">
                  <a:solidFill>
                    <a:srgbClr val="FFFFFF"/>
                  </a:solidFill>
                  <a:latin typeface="Lato Bold"/>
                  <a:ea typeface="Lato Bold"/>
                  <a:cs typeface="Lato Bold"/>
                  <a:sym typeface="Lato Bold"/>
                </a:rPr>
                <a:t>Breakdown &amp; real-world</a:t>
              </a:r>
            </a:p>
            <a:p>
              <a:pPr algn="l">
                <a:lnSpc>
                  <a:spcPts val="5460"/>
                </a:lnSpc>
              </a:pPr>
              <a:r>
                <a:rPr lang="en-US" sz="3900" b="1">
                  <a:solidFill>
                    <a:srgbClr val="FFFFFF"/>
                  </a:solidFill>
                  <a:latin typeface="Lato Bold"/>
                  <a:ea typeface="Lato Bold"/>
                  <a:cs typeface="Lato Bold"/>
                  <a:sym typeface="Lato Bold"/>
                </a:rPr>
                <a:t>Implementation</a:t>
              </a:r>
            </a:p>
          </p:txBody>
        </p:sp>
      </p:grpSp>
      <p:sp>
        <p:nvSpPr>
          <p:cNvPr id="11" name="Freeform 11"/>
          <p:cNvSpPr/>
          <p:nvPr/>
        </p:nvSpPr>
        <p:spPr>
          <a:xfrm>
            <a:off x="6759590" y="2352701"/>
            <a:ext cx="806693" cy="1069217"/>
          </a:xfrm>
          <a:custGeom>
            <a:avLst/>
            <a:gdLst/>
            <a:ahLst/>
            <a:cxnLst/>
            <a:rect l="l" t="t" r="r" b="b"/>
            <a:pathLst>
              <a:path w="806693" h="1069217">
                <a:moveTo>
                  <a:pt x="0" y="0"/>
                </a:moveTo>
                <a:lnTo>
                  <a:pt x="806693" y="0"/>
                </a:lnTo>
                <a:lnTo>
                  <a:pt x="806693" y="1069216"/>
                </a:lnTo>
                <a:lnTo>
                  <a:pt x="0" y="1069216"/>
                </a:lnTo>
                <a:lnTo>
                  <a:pt x="0" y="0"/>
                </a:lnTo>
                <a:close/>
              </a:path>
            </a:pathLst>
          </a:custGeom>
          <a:blipFill>
            <a:blip r:embed="rId4"/>
            <a:stretch>
              <a:fillRect/>
            </a:stretch>
          </a:blipFill>
        </p:spPr>
        <p:txBody>
          <a:bodyPr/>
          <a:lstStyle/>
          <a:p>
            <a:endParaRPr lang="en-GB"/>
          </a:p>
        </p:txBody>
      </p:sp>
      <p:sp>
        <p:nvSpPr>
          <p:cNvPr id="12" name="Freeform 12"/>
          <p:cNvSpPr/>
          <p:nvPr/>
        </p:nvSpPr>
        <p:spPr>
          <a:xfrm>
            <a:off x="5375320" y="1101927"/>
            <a:ext cx="3575233" cy="3570764"/>
          </a:xfrm>
          <a:custGeom>
            <a:avLst/>
            <a:gdLst/>
            <a:ahLst/>
            <a:cxnLst/>
            <a:rect l="l" t="t" r="r" b="b"/>
            <a:pathLst>
              <a:path w="3575233" h="3570764">
                <a:moveTo>
                  <a:pt x="0" y="0"/>
                </a:moveTo>
                <a:lnTo>
                  <a:pt x="3575233" y="0"/>
                </a:lnTo>
                <a:lnTo>
                  <a:pt x="3575233" y="3570764"/>
                </a:lnTo>
                <a:lnTo>
                  <a:pt x="0" y="3570764"/>
                </a:lnTo>
                <a:lnTo>
                  <a:pt x="0" y="0"/>
                </a:lnTo>
                <a:close/>
              </a:path>
            </a:pathLst>
          </a:custGeom>
          <a:blipFill>
            <a:blip r:embed="rId5"/>
            <a:stretch>
              <a:fillRect/>
            </a:stretch>
          </a:blipFill>
        </p:spPr>
        <p:txBody>
          <a:bodyPr/>
          <a:lstStyle/>
          <a:p>
            <a:endParaRPr lang="en-GB"/>
          </a:p>
        </p:txBody>
      </p:sp>
      <p:sp>
        <p:nvSpPr>
          <p:cNvPr id="13" name="Freeform 13"/>
          <p:cNvSpPr/>
          <p:nvPr/>
        </p:nvSpPr>
        <p:spPr>
          <a:xfrm>
            <a:off x="6174499" y="4672691"/>
            <a:ext cx="1976875" cy="1976875"/>
          </a:xfrm>
          <a:custGeom>
            <a:avLst/>
            <a:gdLst/>
            <a:ahLst/>
            <a:cxnLst/>
            <a:rect l="l" t="t" r="r" b="b"/>
            <a:pathLst>
              <a:path w="1976875" h="1976875">
                <a:moveTo>
                  <a:pt x="0" y="0"/>
                </a:moveTo>
                <a:lnTo>
                  <a:pt x="1976875" y="0"/>
                </a:lnTo>
                <a:lnTo>
                  <a:pt x="1976875" y="1976875"/>
                </a:lnTo>
                <a:lnTo>
                  <a:pt x="0" y="197687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4" name="Freeform 14"/>
          <p:cNvSpPr/>
          <p:nvPr/>
        </p:nvSpPr>
        <p:spPr>
          <a:xfrm>
            <a:off x="6941723" y="6630516"/>
            <a:ext cx="1250620" cy="1767661"/>
          </a:xfrm>
          <a:custGeom>
            <a:avLst/>
            <a:gdLst/>
            <a:ahLst/>
            <a:cxnLst/>
            <a:rect l="l" t="t" r="r" b="b"/>
            <a:pathLst>
              <a:path w="1250620" h="1767661">
                <a:moveTo>
                  <a:pt x="0" y="0"/>
                </a:moveTo>
                <a:lnTo>
                  <a:pt x="1250619" y="0"/>
                </a:lnTo>
                <a:lnTo>
                  <a:pt x="1250619" y="1767661"/>
                </a:lnTo>
                <a:lnTo>
                  <a:pt x="0" y="176766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5" name="Freeform 15"/>
          <p:cNvSpPr/>
          <p:nvPr/>
        </p:nvSpPr>
        <p:spPr>
          <a:xfrm>
            <a:off x="6716559" y="5015591"/>
            <a:ext cx="806693" cy="1069217"/>
          </a:xfrm>
          <a:custGeom>
            <a:avLst/>
            <a:gdLst/>
            <a:ahLst/>
            <a:cxnLst/>
            <a:rect l="l" t="t" r="r" b="b"/>
            <a:pathLst>
              <a:path w="806693" h="1069217">
                <a:moveTo>
                  <a:pt x="0" y="0"/>
                </a:moveTo>
                <a:lnTo>
                  <a:pt x="806693" y="0"/>
                </a:lnTo>
                <a:lnTo>
                  <a:pt x="806693" y="1069217"/>
                </a:lnTo>
                <a:lnTo>
                  <a:pt x="0" y="1069217"/>
                </a:lnTo>
                <a:lnTo>
                  <a:pt x="0" y="0"/>
                </a:lnTo>
                <a:close/>
              </a:path>
            </a:pathLst>
          </a:custGeom>
          <a:blipFill>
            <a:blip r:embed="rId4"/>
            <a:stretch>
              <a:fillRect/>
            </a:stretch>
          </a:blipFill>
        </p:spPr>
        <p:txBody>
          <a:bodyPr/>
          <a:lstStyle/>
          <a:p>
            <a:endParaRPr lang="en-GB"/>
          </a:p>
        </p:txBody>
      </p:sp>
      <p:sp>
        <p:nvSpPr>
          <p:cNvPr id="16" name="Freeform 16"/>
          <p:cNvSpPr/>
          <p:nvPr/>
        </p:nvSpPr>
        <p:spPr>
          <a:xfrm>
            <a:off x="6760339" y="6909520"/>
            <a:ext cx="806693" cy="1069217"/>
          </a:xfrm>
          <a:custGeom>
            <a:avLst/>
            <a:gdLst/>
            <a:ahLst/>
            <a:cxnLst/>
            <a:rect l="l" t="t" r="r" b="b"/>
            <a:pathLst>
              <a:path w="806693" h="1069217">
                <a:moveTo>
                  <a:pt x="0" y="0"/>
                </a:moveTo>
                <a:lnTo>
                  <a:pt x="806693" y="0"/>
                </a:lnTo>
                <a:lnTo>
                  <a:pt x="806693" y="1069216"/>
                </a:lnTo>
                <a:lnTo>
                  <a:pt x="0" y="1069216"/>
                </a:lnTo>
                <a:lnTo>
                  <a:pt x="0" y="0"/>
                </a:lnTo>
                <a:close/>
              </a:path>
            </a:pathLst>
          </a:custGeom>
          <a:blipFill>
            <a:blip r:embed="rId4"/>
            <a:stretch>
              <a:fillRect/>
            </a:stretch>
          </a:blipFill>
        </p:spPr>
        <p:txBody>
          <a:bodyPr/>
          <a:lstStyle/>
          <a:p>
            <a:endParaRPr lang="en-GB"/>
          </a:p>
        </p:txBody>
      </p:sp>
      <p:sp>
        <p:nvSpPr>
          <p:cNvPr id="17" name="TextBox 17"/>
          <p:cNvSpPr txBox="1"/>
          <p:nvPr/>
        </p:nvSpPr>
        <p:spPr>
          <a:xfrm>
            <a:off x="4085836" y="5010150"/>
            <a:ext cx="3271361" cy="415109"/>
          </a:xfrm>
          <a:prstGeom prst="rect">
            <a:avLst/>
          </a:prstGeom>
        </p:spPr>
        <p:txBody>
          <a:bodyPr lIns="0" tIns="0" rIns="0" bIns="0" rtlCol="0" anchor="t">
            <a:spAutoFit/>
          </a:bodyPr>
          <a:lstStyle/>
          <a:p>
            <a:pPr algn="ctr">
              <a:lnSpc>
                <a:spcPts val="3546"/>
              </a:lnSpc>
              <a:spcBef>
                <a:spcPct val="0"/>
              </a:spcBef>
            </a:pPr>
            <a:r>
              <a:rPr lang="en-US" sz="1866" i="1" spc="27">
                <a:solidFill>
                  <a:srgbClr val="000000"/>
                </a:solidFill>
                <a:latin typeface="Canva Sans Italics"/>
                <a:ea typeface="Canva Sans Italics"/>
                <a:cs typeface="Canva Sans Italics"/>
                <a:sym typeface="Canva Sans Italics"/>
              </a:rPr>
              <a:t>a_2 agent_2(s_2)</a:t>
            </a:r>
          </a:p>
        </p:txBody>
      </p:sp>
      <p:sp>
        <p:nvSpPr>
          <p:cNvPr id="18" name="TextBox 18"/>
          <p:cNvSpPr txBox="1"/>
          <p:nvPr/>
        </p:nvSpPr>
        <p:spPr>
          <a:xfrm>
            <a:off x="7357197" y="2170337"/>
            <a:ext cx="3271361" cy="444954"/>
          </a:xfrm>
          <a:prstGeom prst="rect">
            <a:avLst/>
          </a:prstGeom>
        </p:spPr>
        <p:txBody>
          <a:bodyPr lIns="0" tIns="0" rIns="0" bIns="0" rtlCol="0" anchor="t">
            <a:spAutoFit/>
          </a:bodyPr>
          <a:lstStyle/>
          <a:p>
            <a:pPr algn="ctr">
              <a:lnSpc>
                <a:spcPts val="3926"/>
              </a:lnSpc>
              <a:spcBef>
                <a:spcPct val="0"/>
              </a:spcBef>
            </a:pPr>
            <a:r>
              <a:rPr lang="en-US" sz="2066" b="1" i="1" spc="30">
                <a:solidFill>
                  <a:srgbClr val="000000"/>
                </a:solidFill>
                <a:latin typeface="Canva Sans Bold Italics"/>
                <a:ea typeface="Canva Sans Bold Italics"/>
                <a:cs typeface="Canva Sans Bold Italics"/>
                <a:sym typeface="Canva Sans Bold Italics"/>
              </a:rPr>
              <a:t>Q1(s_1, a_1)</a:t>
            </a:r>
          </a:p>
        </p:txBody>
      </p:sp>
      <p:sp>
        <p:nvSpPr>
          <p:cNvPr id="19" name="TextBox 19"/>
          <p:cNvSpPr txBox="1"/>
          <p:nvPr/>
        </p:nvSpPr>
        <p:spPr>
          <a:xfrm>
            <a:off x="6841154" y="4882241"/>
            <a:ext cx="3271361" cy="444954"/>
          </a:xfrm>
          <a:prstGeom prst="rect">
            <a:avLst/>
          </a:prstGeom>
        </p:spPr>
        <p:txBody>
          <a:bodyPr lIns="0" tIns="0" rIns="0" bIns="0" rtlCol="0" anchor="t">
            <a:spAutoFit/>
          </a:bodyPr>
          <a:lstStyle/>
          <a:p>
            <a:pPr algn="ctr">
              <a:lnSpc>
                <a:spcPts val="3926"/>
              </a:lnSpc>
              <a:spcBef>
                <a:spcPct val="0"/>
              </a:spcBef>
            </a:pPr>
            <a:r>
              <a:rPr lang="en-US" sz="2066" b="1" i="1" spc="30">
                <a:solidFill>
                  <a:srgbClr val="000000"/>
                </a:solidFill>
                <a:latin typeface="Canva Sans Bold Italics"/>
                <a:ea typeface="Canva Sans Bold Italics"/>
                <a:cs typeface="Canva Sans Bold Italics"/>
                <a:sym typeface="Canva Sans Bold Italics"/>
              </a:rPr>
              <a:t>Q2(s_2, a_2)</a:t>
            </a:r>
          </a:p>
        </p:txBody>
      </p:sp>
      <p:sp>
        <p:nvSpPr>
          <p:cNvPr id="20" name="TextBox 20"/>
          <p:cNvSpPr txBox="1"/>
          <p:nvPr/>
        </p:nvSpPr>
        <p:spPr>
          <a:xfrm>
            <a:off x="6841154" y="6728397"/>
            <a:ext cx="3271361" cy="444954"/>
          </a:xfrm>
          <a:prstGeom prst="rect">
            <a:avLst/>
          </a:prstGeom>
        </p:spPr>
        <p:txBody>
          <a:bodyPr lIns="0" tIns="0" rIns="0" bIns="0" rtlCol="0" anchor="t">
            <a:spAutoFit/>
          </a:bodyPr>
          <a:lstStyle/>
          <a:p>
            <a:pPr algn="ctr">
              <a:lnSpc>
                <a:spcPts val="3926"/>
              </a:lnSpc>
              <a:spcBef>
                <a:spcPct val="0"/>
              </a:spcBef>
            </a:pPr>
            <a:r>
              <a:rPr lang="en-US" sz="2066" b="1" i="1" spc="30">
                <a:solidFill>
                  <a:srgbClr val="000000"/>
                </a:solidFill>
                <a:latin typeface="Canva Sans Bold Italics"/>
                <a:ea typeface="Canva Sans Bold Italics"/>
                <a:cs typeface="Canva Sans Bold Italics"/>
                <a:sym typeface="Canva Sans Bold Italics"/>
              </a:rPr>
              <a:t>Qn(s_n, a_n)</a:t>
            </a:r>
          </a:p>
        </p:txBody>
      </p:sp>
      <p:sp>
        <p:nvSpPr>
          <p:cNvPr id="21" name="TextBox 21"/>
          <p:cNvSpPr txBox="1"/>
          <p:nvPr/>
        </p:nvSpPr>
        <p:spPr>
          <a:xfrm>
            <a:off x="10871622" y="6253715"/>
            <a:ext cx="3271361" cy="1758134"/>
          </a:xfrm>
          <a:prstGeom prst="rect">
            <a:avLst/>
          </a:prstGeom>
        </p:spPr>
        <p:txBody>
          <a:bodyPr lIns="0" tIns="0" rIns="0" bIns="0" rtlCol="0" anchor="t">
            <a:spAutoFit/>
          </a:bodyPr>
          <a:lstStyle/>
          <a:p>
            <a:pPr algn="ctr">
              <a:lnSpc>
                <a:spcPts val="3546"/>
              </a:lnSpc>
            </a:pPr>
            <a:r>
              <a:rPr lang="en-US" sz="1866" spc="27">
                <a:solidFill>
                  <a:srgbClr val="000000"/>
                </a:solidFill>
                <a:latin typeface="Canva Sans"/>
                <a:ea typeface="Canva Sans"/>
                <a:cs typeface="Canva Sans"/>
                <a:sym typeface="Canva Sans"/>
              </a:rPr>
              <a:t>States</a:t>
            </a:r>
          </a:p>
          <a:p>
            <a:pPr algn="ctr">
              <a:lnSpc>
                <a:spcPts val="3546"/>
              </a:lnSpc>
            </a:pPr>
            <a:r>
              <a:rPr lang="en-US" sz="1866" spc="27">
                <a:solidFill>
                  <a:srgbClr val="000000"/>
                </a:solidFill>
                <a:latin typeface="Canva Sans"/>
                <a:ea typeface="Canva Sans"/>
                <a:cs typeface="Canva Sans"/>
                <a:sym typeface="Canva Sans"/>
              </a:rPr>
              <a:t>Actions</a:t>
            </a:r>
          </a:p>
          <a:p>
            <a:pPr algn="ctr">
              <a:lnSpc>
                <a:spcPts val="3546"/>
              </a:lnSpc>
            </a:pPr>
            <a:r>
              <a:rPr lang="en-US" sz="1866" spc="27">
                <a:solidFill>
                  <a:srgbClr val="000000"/>
                </a:solidFill>
                <a:latin typeface="Canva Sans"/>
                <a:ea typeface="Canva Sans"/>
                <a:cs typeface="Canva Sans"/>
                <a:sym typeface="Canva Sans"/>
              </a:rPr>
              <a:t>Rewards</a:t>
            </a:r>
          </a:p>
          <a:p>
            <a:pPr algn="ctr">
              <a:lnSpc>
                <a:spcPts val="3546"/>
              </a:lnSpc>
              <a:spcBef>
                <a:spcPct val="0"/>
              </a:spcBef>
            </a:pPr>
            <a:r>
              <a:rPr lang="en-US" sz="1866" spc="27">
                <a:solidFill>
                  <a:srgbClr val="000000"/>
                </a:solidFill>
                <a:latin typeface="Canva Sans"/>
                <a:ea typeface="Canva Sans"/>
                <a:cs typeface="Canva Sans"/>
                <a:sym typeface="Canva Sans"/>
              </a:rPr>
              <a:t>Next State</a:t>
            </a:r>
          </a:p>
        </p:txBody>
      </p:sp>
      <p:sp>
        <p:nvSpPr>
          <p:cNvPr id="22" name="TextBox 22"/>
          <p:cNvSpPr txBox="1"/>
          <p:nvPr/>
        </p:nvSpPr>
        <p:spPr>
          <a:xfrm rot="-5400000">
            <a:off x="9704965" y="6179511"/>
            <a:ext cx="3271361" cy="415109"/>
          </a:xfrm>
          <a:prstGeom prst="rect">
            <a:avLst/>
          </a:prstGeom>
        </p:spPr>
        <p:txBody>
          <a:bodyPr lIns="0" tIns="0" rIns="0" bIns="0" rtlCol="0" anchor="t">
            <a:spAutoFit/>
          </a:bodyPr>
          <a:lstStyle/>
          <a:p>
            <a:pPr algn="ctr">
              <a:lnSpc>
                <a:spcPts val="3546"/>
              </a:lnSpc>
              <a:spcBef>
                <a:spcPct val="0"/>
              </a:spcBef>
            </a:pPr>
            <a:r>
              <a:rPr lang="en-US" sz="1866" spc="27">
                <a:solidFill>
                  <a:srgbClr val="000000"/>
                </a:solidFill>
                <a:latin typeface="Canva Sans"/>
                <a:ea typeface="Canva Sans"/>
                <a:cs typeface="Canva Sans"/>
                <a:sym typeface="Canva Sans"/>
              </a:rPr>
              <a:t>Experience Replay Buffer</a:t>
            </a:r>
          </a:p>
        </p:txBody>
      </p:sp>
      <p:sp>
        <p:nvSpPr>
          <p:cNvPr id="23" name="AutoShape 23"/>
          <p:cNvSpPr/>
          <p:nvPr/>
        </p:nvSpPr>
        <p:spPr>
          <a:xfrm>
            <a:off x="9877980" y="2615291"/>
            <a:ext cx="1258129" cy="3236036"/>
          </a:xfrm>
          <a:prstGeom prst="line">
            <a:avLst/>
          </a:prstGeom>
          <a:ln w="38100" cap="flat">
            <a:solidFill>
              <a:srgbClr val="000000"/>
            </a:solidFill>
            <a:prstDash val="sysDot"/>
            <a:headEnd type="none" w="sm" len="sm"/>
            <a:tailEnd type="arrow" w="med" len="sm"/>
          </a:ln>
        </p:spPr>
        <p:txBody>
          <a:bodyPr/>
          <a:lstStyle/>
          <a:p>
            <a:endParaRPr lang="en-GB"/>
          </a:p>
        </p:txBody>
      </p:sp>
      <p:sp>
        <p:nvSpPr>
          <p:cNvPr id="24" name="AutoShape 24"/>
          <p:cNvSpPr/>
          <p:nvPr/>
        </p:nvSpPr>
        <p:spPr>
          <a:xfrm>
            <a:off x="9444889" y="5015591"/>
            <a:ext cx="1691220" cy="1385820"/>
          </a:xfrm>
          <a:prstGeom prst="line">
            <a:avLst/>
          </a:prstGeom>
          <a:ln w="38100" cap="flat">
            <a:solidFill>
              <a:srgbClr val="000000"/>
            </a:solidFill>
            <a:prstDash val="sysDot"/>
            <a:headEnd type="none" w="sm" len="sm"/>
            <a:tailEnd type="arrow" w="med" len="sm"/>
          </a:ln>
        </p:spPr>
        <p:txBody>
          <a:bodyPr/>
          <a:lstStyle/>
          <a:p>
            <a:endParaRPr lang="en-GB"/>
          </a:p>
        </p:txBody>
      </p:sp>
      <p:sp>
        <p:nvSpPr>
          <p:cNvPr id="25" name="AutoShape 25"/>
          <p:cNvSpPr/>
          <p:nvPr/>
        </p:nvSpPr>
        <p:spPr>
          <a:xfrm>
            <a:off x="9521257" y="6861747"/>
            <a:ext cx="1732281" cy="523785"/>
          </a:xfrm>
          <a:prstGeom prst="line">
            <a:avLst/>
          </a:prstGeom>
          <a:ln w="38100" cap="flat">
            <a:solidFill>
              <a:srgbClr val="000000"/>
            </a:solidFill>
            <a:prstDash val="sysDot"/>
            <a:headEnd type="none" w="sm" len="sm"/>
            <a:tailEnd type="arrow" w="med" len="sm"/>
          </a:ln>
        </p:spPr>
        <p:txBody>
          <a:bodyPr/>
          <a:lstStyle/>
          <a:p>
            <a:endParaRPr lang="en-GB"/>
          </a:p>
        </p:txBody>
      </p:sp>
      <p:sp>
        <p:nvSpPr>
          <p:cNvPr id="26" name="AutoShape 26"/>
          <p:cNvSpPr/>
          <p:nvPr/>
        </p:nvSpPr>
        <p:spPr>
          <a:xfrm>
            <a:off x="9444889" y="6401411"/>
            <a:ext cx="1691220" cy="755772"/>
          </a:xfrm>
          <a:prstGeom prst="line">
            <a:avLst/>
          </a:prstGeom>
          <a:ln w="38100" cap="flat">
            <a:solidFill>
              <a:srgbClr val="000000"/>
            </a:solidFill>
            <a:prstDash val="sysDot"/>
            <a:headEnd type="none" w="sm" len="sm"/>
            <a:tailEnd type="arrow" w="med" len="sm"/>
          </a:ln>
        </p:spPr>
        <p:txBody>
          <a:bodyPr/>
          <a:lstStyle/>
          <a:p>
            <a:endParaRPr lang="en-GB"/>
          </a:p>
        </p:txBody>
      </p:sp>
      <p:sp>
        <p:nvSpPr>
          <p:cNvPr id="27" name="AutoShape 27"/>
          <p:cNvSpPr/>
          <p:nvPr/>
        </p:nvSpPr>
        <p:spPr>
          <a:xfrm>
            <a:off x="9521257" y="5661129"/>
            <a:ext cx="1614852" cy="1178172"/>
          </a:xfrm>
          <a:prstGeom prst="line">
            <a:avLst/>
          </a:prstGeom>
          <a:ln w="38100" cap="flat">
            <a:solidFill>
              <a:srgbClr val="000000"/>
            </a:solidFill>
            <a:prstDash val="sysDot"/>
            <a:headEnd type="none" w="sm" len="sm"/>
            <a:tailEnd type="arrow" w="med" len="sm"/>
          </a:ln>
        </p:spPr>
        <p:txBody>
          <a:bodyPr/>
          <a:lstStyle/>
          <a:p>
            <a:endParaRPr lang="en-GB"/>
          </a:p>
        </p:txBody>
      </p:sp>
      <p:grpSp>
        <p:nvGrpSpPr>
          <p:cNvPr id="28" name="Group 28"/>
          <p:cNvGrpSpPr/>
          <p:nvPr/>
        </p:nvGrpSpPr>
        <p:grpSpPr>
          <a:xfrm>
            <a:off x="14141865" y="1291041"/>
            <a:ext cx="3559202" cy="6376249"/>
            <a:chOff x="0" y="0"/>
            <a:chExt cx="937403" cy="1679341"/>
          </a:xfrm>
        </p:grpSpPr>
        <p:sp>
          <p:nvSpPr>
            <p:cNvPr id="29" name="Freeform 29"/>
            <p:cNvSpPr/>
            <p:nvPr/>
          </p:nvSpPr>
          <p:spPr>
            <a:xfrm>
              <a:off x="0" y="0"/>
              <a:ext cx="937403" cy="1679341"/>
            </a:xfrm>
            <a:custGeom>
              <a:avLst/>
              <a:gdLst/>
              <a:ahLst/>
              <a:cxnLst/>
              <a:rect l="l" t="t" r="r" b="b"/>
              <a:pathLst>
                <a:path w="937403" h="1679341">
                  <a:moveTo>
                    <a:pt x="0" y="0"/>
                  </a:moveTo>
                  <a:lnTo>
                    <a:pt x="937403" y="0"/>
                  </a:lnTo>
                  <a:lnTo>
                    <a:pt x="937403" y="1679341"/>
                  </a:lnTo>
                  <a:lnTo>
                    <a:pt x="0" y="1679341"/>
                  </a:lnTo>
                  <a:close/>
                </a:path>
              </a:pathLst>
            </a:custGeom>
            <a:ln w="9525" cap="sq">
              <a:solidFill>
                <a:srgbClr val="000000"/>
              </a:solidFill>
              <a:prstDash val="solid"/>
              <a:miter/>
            </a:ln>
          </p:spPr>
          <p:txBody>
            <a:bodyPr/>
            <a:lstStyle/>
            <a:p>
              <a:endParaRPr lang="en-GB"/>
            </a:p>
          </p:txBody>
        </p:sp>
        <p:sp>
          <p:nvSpPr>
            <p:cNvPr id="30" name="TextBox 30"/>
            <p:cNvSpPr txBox="1"/>
            <p:nvPr/>
          </p:nvSpPr>
          <p:spPr>
            <a:xfrm>
              <a:off x="0" y="-171450"/>
              <a:ext cx="937403" cy="1850791"/>
            </a:xfrm>
            <a:prstGeom prst="rect">
              <a:avLst/>
            </a:prstGeom>
          </p:spPr>
          <p:txBody>
            <a:bodyPr lIns="50800" tIns="50800" rIns="50800" bIns="50800" rtlCol="0" anchor="ctr"/>
            <a:lstStyle/>
            <a:p>
              <a:pPr algn="ctr">
                <a:lnSpc>
                  <a:spcPts val="4875"/>
                </a:lnSpc>
              </a:pPr>
              <a:endParaRPr/>
            </a:p>
          </p:txBody>
        </p:sp>
      </p:grpSp>
      <p:grpSp>
        <p:nvGrpSpPr>
          <p:cNvPr id="31" name="Group 31"/>
          <p:cNvGrpSpPr/>
          <p:nvPr/>
        </p:nvGrpSpPr>
        <p:grpSpPr>
          <a:xfrm>
            <a:off x="14914430" y="4048887"/>
            <a:ext cx="1651180" cy="821784"/>
            <a:chOff x="0" y="0"/>
            <a:chExt cx="434879" cy="216437"/>
          </a:xfrm>
        </p:grpSpPr>
        <p:sp>
          <p:nvSpPr>
            <p:cNvPr id="32" name="Freeform 32"/>
            <p:cNvSpPr/>
            <p:nvPr/>
          </p:nvSpPr>
          <p:spPr>
            <a:xfrm>
              <a:off x="0" y="0"/>
              <a:ext cx="434879" cy="216437"/>
            </a:xfrm>
            <a:custGeom>
              <a:avLst/>
              <a:gdLst/>
              <a:ahLst/>
              <a:cxnLst/>
              <a:rect l="l" t="t" r="r" b="b"/>
              <a:pathLst>
                <a:path w="434879" h="216437">
                  <a:moveTo>
                    <a:pt x="0" y="0"/>
                  </a:moveTo>
                  <a:lnTo>
                    <a:pt x="434879" y="0"/>
                  </a:lnTo>
                  <a:lnTo>
                    <a:pt x="434879" y="216437"/>
                  </a:lnTo>
                  <a:lnTo>
                    <a:pt x="0" y="216437"/>
                  </a:lnTo>
                  <a:close/>
                </a:path>
              </a:pathLst>
            </a:custGeom>
            <a:ln w="9525" cap="sq">
              <a:solidFill>
                <a:srgbClr val="000000"/>
              </a:solidFill>
              <a:prstDash val="solid"/>
              <a:miter/>
            </a:ln>
          </p:spPr>
          <p:txBody>
            <a:bodyPr/>
            <a:lstStyle/>
            <a:p>
              <a:endParaRPr lang="en-GB"/>
            </a:p>
          </p:txBody>
        </p:sp>
        <p:sp>
          <p:nvSpPr>
            <p:cNvPr id="33" name="TextBox 33"/>
            <p:cNvSpPr txBox="1"/>
            <p:nvPr/>
          </p:nvSpPr>
          <p:spPr>
            <a:xfrm>
              <a:off x="0" y="-152400"/>
              <a:ext cx="434879" cy="368837"/>
            </a:xfrm>
            <a:prstGeom prst="rect">
              <a:avLst/>
            </a:prstGeom>
          </p:spPr>
          <p:txBody>
            <a:bodyPr lIns="50800" tIns="50800" rIns="50800" bIns="50800" rtlCol="0" anchor="ctr"/>
            <a:lstStyle/>
            <a:p>
              <a:pPr algn="ctr">
                <a:lnSpc>
                  <a:spcPts val="4495"/>
                </a:lnSpc>
              </a:pPr>
              <a:r>
                <a:rPr lang="en-US" sz="2366" spc="35">
                  <a:solidFill>
                    <a:srgbClr val="000000"/>
                  </a:solidFill>
                  <a:latin typeface="Canva Sans"/>
                  <a:ea typeface="Canva Sans"/>
                  <a:cs typeface="Canva Sans"/>
                  <a:sym typeface="Canva Sans"/>
                </a:rPr>
                <a:t>Optimizer</a:t>
              </a:r>
            </a:p>
          </p:txBody>
        </p:sp>
      </p:grpSp>
      <p:sp>
        <p:nvSpPr>
          <p:cNvPr id="34" name="TextBox 34"/>
          <p:cNvSpPr txBox="1"/>
          <p:nvPr/>
        </p:nvSpPr>
        <p:spPr>
          <a:xfrm rot="-2700000">
            <a:off x="10837482" y="2189866"/>
            <a:ext cx="3271361" cy="444954"/>
          </a:xfrm>
          <a:prstGeom prst="rect">
            <a:avLst/>
          </a:prstGeom>
        </p:spPr>
        <p:txBody>
          <a:bodyPr lIns="0" tIns="0" rIns="0" bIns="0" rtlCol="0" anchor="t">
            <a:spAutoFit/>
          </a:bodyPr>
          <a:lstStyle/>
          <a:p>
            <a:pPr algn="ctr">
              <a:lnSpc>
                <a:spcPts val="3926"/>
              </a:lnSpc>
              <a:spcBef>
                <a:spcPct val="0"/>
              </a:spcBef>
            </a:pPr>
            <a:r>
              <a:rPr lang="en-US" sz="2066" b="1" i="1" spc="30">
                <a:solidFill>
                  <a:srgbClr val="000000"/>
                </a:solidFill>
                <a:latin typeface="Canva Sans Bold Italics"/>
                <a:ea typeface="Canva Sans Bold Italics"/>
                <a:cs typeface="Canva Sans Bold Italics"/>
                <a:sym typeface="Canva Sans Bold Italics"/>
              </a:rPr>
              <a:t>Global Reward (r)</a:t>
            </a:r>
          </a:p>
        </p:txBody>
      </p:sp>
      <p:sp>
        <p:nvSpPr>
          <p:cNvPr id="35" name="AutoShape 35"/>
          <p:cNvSpPr/>
          <p:nvPr/>
        </p:nvSpPr>
        <p:spPr>
          <a:xfrm flipH="1">
            <a:off x="14594216" y="2023234"/>
            <a:ext cx="174" cy="727033"/>
          </a:xfrm>
          <a:prstGeom prst="line">
            <a:avLst/>
          </a:prstGeom>
          <a:ln w="95250" cap="flat">
            <a:solidFill>
              <a:srgbClr val="17CF3F"/>
            </a:solidFill>
            <a:prstDash val="solid"/>
            <a:headEnd type="none" w="sm" len="sm"/>
            <a:tailEnd type="arrow" w="med" len="sm"/>
          </a:ln>
        </p:spPr>
        <p:txBody>
          <a:bodyPr/>
          <a:lstStyle/>
          <a:p>
            <a:endParaRPr lang="en-GB"/>
          </a:p>
        </p:txBody>
      </p:sp>
      <p:sp>
        <p:nvSpPr>
          <p:cNvPr id="36" name="Freeform 36"/>
          <p:cNvSpPr/>
          <p:nvPr/>
        </p:nvSpPr>
        <p:spPr>
          <a:xfrm>
            <a:off x="11874588" y="1808923"/>
            <a:ext cx="2182184" cy="2791166"/>
          </a:xfrm>
          <a:custGeom>
            <a:avLst/>
            <a:gdLst/>
            <a:ahLst/>
            <a:cxnLst/>
            <a:rect l="l" t="t" r="r" b="b"/>
            <a:pathLst>
              <a:path w="2182184" h="2791166">
                <a:moveTo>
                  <a:pt x="0" y="0"/>
                </a:moveTo>
                <a:lnTo>
                  <a:pt x="2182184" y="0"/>
                </a:lnTo>
                <a:lnTo>
                  <a:pt x="2182184" y="2791166"/>
                </a:lnTo>
                <a:lnTo>
                  <a:pt x="0" y="2791166"/>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GB"/>
          </a:p>
        </p:txBody>
      </p:sp>
      <p:sp>
        <p:nvSpPr>
          <p:cNvPr id="37" name="Freeform 37"/>
          <p:cNvSpPr/>
          <p:nvPr/>
        </p:nvSpPr>
        <p:spPr>
          <a:xfrm rot="114776">
            <a:off x="11923295" y="2332282"/>
            <a:ext cx="1750656" cy="2239211"/>
          </a:xfrm>
          <a:custGeom>
            <a:avLst/>
            <a:gdLst/>
            <a:ahLst/>
            <a:cxnLst/>
            <a:rect l="l" t="t" r="r" b="b"/>
            <a:pathLst>
              <a:path w="1750656" h="2239211">
                <a:moveTo>
                  <a:pt x="0" y="0"/>
                </a:moveTo>
                <a:lnTo>
                  <a:pt x="1750656" y="0"/>
                </a:lnTo>
                <a:lnTo>
                  <a:pt x="1750656" y="2239211"/>
                </a:lnTo>
                <a:lnTo>
                  <a:pt x="0" y="223921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GB"/>
          </a:p>
        </p:txBody>
      </p:sp>
      <p:sp>
        <p:nvSpPr>
          <p:cNvPr id="38" name="AutoShape 38"/>
          <p:cNvSpPr/>
          <p:nvPr/>
        </p:nvSpPr>
        <p:spPr>
          <a:xfrm>
            <a:off x="14975129" y="3321850"/>
            <a:ext cx="658691" cy="657209"/>
          </a:xfrm>
          <a:prstGeom prst="line">
            <a:avLst/>
          </a:prstGeom>
          <a:ln w="114300" cap="flat">
            <a:solidFill>
              <a:srgbClr val="17CF3F"/>
            </a:solidFill>
            <a:prstDash val="solid"/>
            <a:headEnd type="none" w="sm" len="sm"/>
            <a:tailEnd type="arrow" w="med" len="sm"/>
          </a:ln>
        </p:spPr>
        <p:txBody>
          <a:bodyPr/>
          <a:lstStyle/>
          <a:p>
            <a:endParaRPr lang="en-GB"/>
          </a:p>
        </p:txBody>
      </p:sp>
      <p:sp>
        <p:nvSpPr>
          <p:cNvPr id="39" name="AutoShape 39"/>
          <p:cNvSpPr/>
          <p:nvPr/>
        </p:nvSpPr>
        <p:spPr>
          <a:xfrm flipH="1">
            <a:off x="15871295" y="3321850"/>
            <a:ext cx="678816" cy="657209"/>
          </a:xfrm>
          <a:prstGeom prst="line">
            <a:avLst/>
          </a:prstGeom>
          <a:ln w="95250" cap="flat">
            <a:solidFill>
              <a:srgbClr val="17CF3F"/>
            </a:solidFill>
            <a:prstDash val="solid"/>
            <a:headEnd type="none" w="sm" len="sm"/>
            <a:tailEnd type="arrow" w="med" len="sm"/>
          </a:ln>
        </p:spPr>
        <p:txBody>
          <a:bodyPr/>
          <a:lstStyle/>
          <a:p>
            <a:endParaRPr lang="en-GB"/>
          </a:p>
        </p:txBody>
      </p:sp>
      <p:sp>
        <p:nvSpPr>
          <p:cNvPr id="40" name="AutoShape 40"/>
          <p:cNvSpPr/>
          <p:nvPr/>
        </p:nvSpPr>
        <p:spPr>
          <a:xfrm flipH="1">
            <a:off x="15754308" y="4920863"/>
            <a:ext cx="174" cy="727033"/>
          </a:xfrm>
          <a:prstGeom prst="line">
            <a:avLst/>
          </a:prstGeom>
          <a:ln w="95250" cap="flat">
            <a:solidFill>
              <a:srgbClr val="17CF3F"/>
            </a:solidFill>
            <a:prstDash val="solid"/>
            <a:headEnd type="none" w="sm" len="sm"/>
            <a:tailEnd type="arrow" w="med" len="sm"/>
          </a:ln>
        </p:spPr>
        <p:txBody>
          <a:bodyPr/>
          <a:lstStyle/>
          <a:p>
            <a:endParaRPr lang="en-GB"/>
          </a:p>
        </p:txBody>
      </p:sp>
      <p:sp>
        <p:nvSpPr>
          <p:cNvPr id="41" name="AutoShape 41"/>
          <p:cNvSpPr/>
          <p:nvPr/>
        </p:nvSpPr>
        <p:spPr>
          <a:xfrm flipH="1">
            <a:off x="15792952" y="6084811"/>
            <a:ext cx="174" cy="727033"/>
          </a:xfrm>
          <a:prstGeom prst="line">
            <a:avLst/>
          </a:prstGeom>
          <a:ln w="95250" cap="flat">
            <a:solidFill>
              <a:srgbClr val="17CF3F"/>
            </a:solidFill>
            <a:prstDash val="solid"/>
            <a:headEnd type="none" w="sm" len="sm"/>
            <a:tailEnd type="arrow" w="med" len="sm"/>
          </a:ln>
        </p:spPr>
        <p:txBody>
          <a:bodyPr/>
          <a:lstStyle/>
          <a:p>
            <a:endParaRPr lang="en-GB"/>
          </a:p>
        </p:txBody>
      </p:sp>
      <p:grpSp>
        <p:nvGrpSpPr>
          <p:cNvPr id="42" name="Group 42"/>
          <p:cNvGrpSpPr/>
          <p:nvPr/>
        </p:nvGrpSpPr>
        <p:grpSpPr>
          <a:xfrm>
            <a:off x="14328245" y="6839301"/>
            <a:ext cx="3086100" cy="635764"/>
            <a:chOff x="0" y="0"/>
            <a:chExt cx="812800" cy="167444"/>
          </a:xfrm>
        </p:grpSpPr>
        <p:sp>
          <p:nvSpPr>
            <p:cNvPr id="43" name="Freeform 43"/>
            <p:cNvSpPr/>
            <p:nvPr/>
          </p:nvSpPr>
          <p:spPr>
            <a:xfrm>
              <a:off x="0" y="0"/>
              <a:ext cx="812800" cy="167444"/>
            </a:xfrm>
            <a:custGeom>
              <a:avLst/>
              <a:gdLst/>
              <a:ahLst/>
              <a:cxnLst/>
              <a:rect l="l" t="t" r="r" b="b"/>
              <a:pathLst>
                <a:path w="812800" h="167444">
                  <a:moveTo>
                    <a:pt x="406400" y="0"/>
                  </a:moveTo>
                  <a:cubicBezTo>
                    <a:pt x="181951" y="0"/>
                    <a:pt x="0" y="37484"/>
                    <a:pt x="0" y="83722"/>
                  </a:cubicBezTo>
                  <a:cubicBezTo>
                    <a:pt x="0" y="129960"/>
                    <a:pt x="181951" y="167444"/>
                    <a:pt x="406400" y="167444"/>
                  </a:cubicBezTo>
                  <a:cubicBezTo>
                    <a:pt x="630849" y="167444"/>
                    <a:pt x="812800" y="129960"/>
                    <a:pt x="812800" y="83722"/>
                  </a:cubicBezTo>
                  <a:cubicBezTo>
                    <a:pt x="812800" y="37484"/>
                    <a:pt x="630849" y="0"/>
                    <a:pt x="406400" y="0"/>
                  </a:cubicBezTo>
                  <a:close/>
                </a:path>
              </a:pathLst>
            </a:custGeom>
            <a:ln w="9525" cap="sq">
              <a:solidFill>
                <a:srgbClr val="000000"/>
              </a:solidFill>
              <a:prstDash val="sysDot"/>
              <a:miter/>
            </a:ln>
          </p:spPr>
          <p:txBody>
            <a:bodyPr/>
            <a:lstStyle/>
            <a:p>
              <a:endParaRPr lang="en-GB"/>
            </a:p>
          </p:txBody>
        </p:sp>
        <p:sp>
          <p:nvSpPr>
            <p:cNvPr id="44" name="TextBox 44"/>
            <p:cNvSpPr txBox="1"/>
            <p:nvPr/>
          </p:nvSpPr>
          <p:spPr>
            <a:xfrm>
              <a:off x="76200" y="-127177"/>
              <a:ext cx="660400" cy="278923"/>
            </a:xfrm>
            <a:prstGeom prst="rect">
              <a:avLst/>
            </a:prstGeom>
          </p:spPr>
          <p:txBody>
            <a:bodyPr lIns="50800" tIns="50800" rIns="50800" bIns="50800" rtlCol="0" anchor="ctr"/>
            <a:lstStyle/>
            <a:p>
              <a:pPr algn="ctr">
                <a:lnSpc>
                  <a:spcPts val="4115"/>
                </a:lnSpc>
              </a:pPr>
              <a:r>
                <a:rPr lang="en-US" sz="2166" i="1" spc="32">
                  <a:solidFill>
                    <a:srgbClr val="000000"/>
                  </a:solidFill>
                  <a:latin typeface="Canva Sans Italics"/>
                  <a:ea typeface="Canva Sans Italics"/>
                  <a:cs typeface="Canva Sans Italics"/>
                  <a:sym typeface="Canva Sans Italics"/>
                </a:rPr>
                <a:t>Backpropogation</a:t>
              </a:r>
            </a:p>
          </p:txBody>
        </p:sp>
      </p:grpSp>
      <p:sp>
        <p:nvSpPr>
          <p:cNvPr id="45" name="TextBox 45"/>
          <p:cNvSpPr txBox="1"/>
          <p:nvPr/>
        </p:nvSpPr>
        <p:spPr>
          <a:xfrm>
            <a:off x="4085836" y="7252181"/>
            <a:ext cx="3271361" cy="415109"/>
          </a:xfrm>
          <a:prstGeom prst="rect">
            <a:avLst/>
          </a:prstGeom>
        </p:spPr>
        <p:txBody>
          <a:bodyPr lIns="0" tIns="0" rIns="0" bIns="0" rtlCol="0" anchor="t">
            <a:spAutoFit/>
          </a:bodyPr>
          <a:lstStyle/>
          <a:p>
            <a:pPr algn="ctr">
              <a:lnSpc>
                <a:spcPts val="3546"/>
              </a:lnSpc>
              <a:spcBef>
                <a:spcPct val="0"/>
              </a:spcBef>
            </a:pPr>
            <a:r>
              <a:rPr lang="en-US" sz="1866" i="1" spc="27">
                <a:solidFill>
                  <a:srgbClr val="000000"/>
                </a:solidFill>
                <a:latin typeface="Canva Sans Italics"/>
                <a:ea typeface="Canva Sans Italics"/>
                <a:cs typeface="Canva Sans Italics"/>
                <a:sym typeface="Canva Sans Italics"/>
              </a:rPr>
              <a:t>a_n agent n(s_n)</a:t>
            </a:r>
          </a:p>
        </p:txBody>
      </p:sp>
      <p:sp>
        <p:nvSpPr>
          <p:cNvPr id="46" name="AutoShape 46"/>
          <p:cNvSpPr/>
          <p:nvPr/>
        </p:nvSpPr>
        <p:spPr>
          <a:xfrm flipH="1">
            <a:off x="8033600" y="7667290"/>
            <a:ext cx="8316552" cy="585533"/>
          </a:xfrm>
          <a:prstGeom prst="line">
            <a:avLst/>
          </a:prstGeom>
          <a:ln w="19050" cap="flat">
            <a:solidFill>
              <a:srgbClr val="000000"/>
            </a:solidFill>
            <a:prstDash val="lgDash"/>
            <a:headEnd type="none" w="sm" len="sm"/>
            <a:tailEnd type="triangle" w="lg" len="med"/>
          </a:ln>
        </p:spPr>
        <p:txBody>
          <a:bodyPr/>
          <a:lstStyle/>
          <a:p>
            <a:endParaRPr lang="en-GB"/>
          </a:p>
        </p:txBody>
      </p:sp>
      <p:sp>
        <p:nvSpPr>
          <p:cNvPr id="47" name="AutoShape 47"/>
          <p:cNvSpPr/>
          <p:nvPr/>
        </p:nvSpPr>
        <p:spPr>
          <a:xfrm flipH="1" flipV="1">
            <a:off x="5721516" y="6084811"/>
            <a:ext cx="10673373" cy="1582479"/>
          </a:xfrm>
          <a:prstGeom prst="line">
            <a:avLst/>
          </a:prstGeom>
          <a:ln w="19050" cap="flat">
            <a:solidFill>
              <a:srgbClr val="000000"/>
            </a:solidFill>
            <a:prstDash val="lgDash"/>
            <a:headEnd type="none" w="sm" len="sm"/>
            <a:tailEnd type="triangle" w="lg" len="med"/>
          </a:ln>
        </p:spPr>
        <p:txBody>
          <a:bodyPr/>
          <a:lstStyle/>
          <a:p>
            <a:endParaRPr lang="en-GB"/>
          </a:p>
        </p:txBody>
      </p:sp>
      <p:sp>
        <p:nvSpPr>
          <p:cNvPr id="48" name="AutoShape 48"/>
          <p:cNvSpPr/>
          <p:nvPr/>
        </p:nvSpPr>
        <p:spPr>
          <a:xfrm flipH="1" flipV="1">
            <a:off x="5923289" y="3451888"/>
            <a:ext cx="10330158" cy="4215403"/>
          </a:xfrm>
          <a:prstGeom prst="line">
            <a:avLst/>
          </a:prstGeom>
          <a:ln w="19050" cap="flat">
            <a:solidFill>
              <a:srgbClr val="000000"/>
            </a:solidFill>
            <a:prstDash val="lgDash"/>
            <a:headEnd type="none" w="sm" len="sm"/>
            <a:tailEnd type="triangle" w="lg" len="med"/>
          </a:ln>
        </p:spPr>
        <p:txBody>
          <a:bodyPr/>
          <a:lstStyle/>
          <a:p>
            <a:endParaRPr lang="en-GB"/>
          </a:p>
        </p:txBody>
      </p:sp>
      <p:grpSp>
        <p:nvGrpSpPr>
          <p:cNvPr id="49" name="Group 49"/>
          <p:cNvGrpSpPr/>
          <p:nvPr/>
        </p:nvGrpSpPr>
        <p:grpSpPr>
          <a:xfrm>
            <a:off x="13367513" y="8329023"/>
            <a:ext cx="7783574" cy="707613"/>
            <a:chOff x="0" y="0"/>
            <a:chExt cx="2049995" cy="186367"/>
          </a:xfrm>
        </p:grpSpPr>
        <p:sp>
          <p:nvSpPr>
            <p:cNvPr id="50" name="Freeform 50"/>
            <p:cNvSpPr/>
            <p:nvPr/>
          </p:nvSpPr>
          <p:spPr>
            <a:xfrm>
              <a:off x="0" y="0"/>
              <a:ext cx="2049995" cy="186367"/>
            </a:xfrm>
            <a:custGeom>
              <a:avLst/>
              <a:gdLst/>
              <a:ahLst/>
              <a:cxnLst/>
              <a:rect l="l" t="t" r="r" b="b"/>
              <a:pathLst>
                <a:path w="2049995" h="186367">
                  <a:moveTo>
                    <a:pt x="1846795" y="0"/>
                  </a:moveTo>
                  <a:lnTo>
                    <a:pt x="203200" y="0"/>
                  </a:lnTo>
                  <a:lnTo>
                    <a:pt x="0" y="93184"/>
                  </a:lnTo>
                  <a:lnTo>
                    <a:pt x="203200" y="186367"/>
                  </a:lnTo>
                  <a:lnTo>
                    <a:pt x="1846795" y="186367"/>
                  </a:lnTo>
                  <a:lnTo>
                    <a:pt x="2049995" y="93184"/>
                  </a:lnTo>
                  <a:lnTo>
                    <a:pt x="1846795" y="0"/>
                  </a:lnTo>
                  <a:close/>
                </a:path>
              </a:pathLst>
            </a:custGeom>
            <a:solidFill>
              <a:srgbClr val="387EB8"/>
            </a:solidFill>
          </p:spPr>
          <p:txBody>
            <a:bodyPr/>
            <a:lstStyle/>
            <a:p>
              <a:endParaRPr lang="en-GB"/>
            </a:p>
          </p:txBody>
        </p:sp>
        <p:sp>
          <p:nvSpPr>
            <p:cNvPr id="51" name="TextBox 51"/>
            <p:cNvSpPr txBox="1"/>
            <p:nvPr/>
          </p:nvSpPr>
          <p:spPr>
            <a:xfrm>
              <a:off x="152400" y="-171450"/>
              <a:ext cx="1745195" cy="357817"/>
            </a:xfrm>
            <a:prstGeom prst="rect">
              <a:avLst/>
            </a:prstGeom>
          </p:spPr>
          <p:txBody>
            <a:bodyPr lIns="50800" tIns="50800" rIns="50800" bIns="50800" rtlCol="0" anchor="ctr"/>
            <a:lstStyle/>
            <a:p>
              <a:pPr algn="l">
                <a:lnSpc>
                  <a:spcPts val="4875"/>
                </a:lnSpc>
              </a:pPr>
              <a:r>
                <a:rPr lang="en-US" sz="2566" i="1" spc="38">
                  <a:solidFill>
                    <a:srgbClr val="FFFFFF"/>
                  </a:solidFill>
                  <a:latin typeface="Canva Sans Italics"/>
                  <a:ea typeface="Canva Sans Italics"/>
                  <a:cs typeface="Canva Sans Italics"/>
                  <a:sym typeface="Canva Sans Italics"/>
                </a:rPr>
                <a:t>Centralized Training Arc</a:t>
              </a:r>
            </a:p>
          </p:txBody>
        </p:sp>
      </p:grpSp>
      <p:sp>
        <p:nvSpPr>
          <p:cNvPr id="52" name="TextBox 52"/>
          <p:cNvSpPr txBox="1"/>
          <p:nvPr/>
        </p:nvSpPr>
        <p:spPr>
          <a:xfrm>
            <a:off x="76200" y="86677"/>
            <a:ext cx="18032177" cy="669925"/>
          </a:xfrm>
          <a:prstGeom prst="rect">
            <a:avLst/>
          </a:prstGeom>
        </p:spPr>
        <p:txBody>
          <a:bodyPr lIns="0" tIns="0" rIns="0" bIns="0" rtlCol="0" anchor="t">
            <a:spAutoFit/>
          </a:bodyPr>
          <a:lstStyle/>
          <a:p>
            <a:pPr marL="0" lvl="0" indent="0" algn="l">
              <a:lnSpc>
                <a:spcPts val="2599"/>
              </a:lnSpc>
            </a:pPr>
            <a:r>
              <a:rPr lang="en-US" sz="1999" spc="29">
                <a:solidFill>
                  <a:srgbClr val="3D2812"/>
                </a:solidFill>
                <a:latin typeface="The Seasons"/>
                <a:ea typeface="The Seasons"/>
                <a:cs typeface="The Seasons"/>
                <a:sym typeface="The Seasons"/>
              </a:rPr>
              <a:t>COMPONENT 2 : CENTRALIZED TRAINING AND DECENTRALIZED EXECUTION OF REINFORCEMENT LEARNING AGENT SYSTEM FOR COOPERATIVE TRAFFIC SIGNAL CONTROL</a:t>
            </a:r>
          </a:p>
        </p:txBody>
      </p:sp>
      <p:sp>
        <p:nvSpPr>
          <p:cNvPr id="53" name="TextBox 53"/>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11</a:t>
            </a:r>
          </a:p>
        </p:txBody>
      </p:sp>
      <p:sp>
        <p:nvSpPr>
          <p:cNvPr id="54" name="TextBox 54"/>
          <p:cNvSpPr txBox="1"/>
          <p:nvPr/>
        </p:nvSpPr>
        <p:spPr>
          <a:xfrm>
            <a:off x="3569793" y="2119111"/>
            <a:ext cx="3271361" cy="415109"/>
          </a:xfrm>
          <a:prstGeom prst="rect">
            <a:avLst/>
          </a:prstGeom>
        </p:spPr>
        <p:txBody>
          <a:bodyPr lIns="0" tIns="0" rIns="0" bIns="0" rtlCol="0" anchor="t">
            <a:spAutoFit/>
          </a:bodyPr>
          <a:lstStyle/>
          <a:p>
            <a:pPr algn="ctr">
              <a:lnSpc>
                <a:spcPts val="3546"/>
              </a:lnSpc>
              <a:spcBef>
                <a:spcPct val="0"/>
              </a:spcBef>
            </a:pPr>
            <a:r>
              <a:rPr lang="en-US" sz="1866" i="1" spc="27">
                <a:solidFill>
                  <a:srgbClr val="000000"/>
                </a:solidFill>
                <a:latin typeface="Canva Sans Italics"/>
                <a:ea typeface="Canva Sans Italics"/>
                <a:cs typeface="Canva Sans Italics"/>
                <a:sym typeface="Canva Sans Italics"/>
              </a:rPr>
              <a:t>a_1 agent_1(s_1)</a:t>
            </a:r>
          </a:p>
        </p:txBody>
      </p:sp>
      <p:sp>
        <p:nvSpPr>
          <p:cNvPr id="55" name="TextBox 55"/>
          <p:cNvSpPr txBox="1"/>
          <p:nvPr/>
        </p:nvSpPr>
        <p:spPr>
          <a:xfrm>
            <a:off x="14355706" y="798462"/>
            <a:ext cx="3271361" cy="444954"/>
          </a:xfrm>
          <a:prstGeom prst="rect">
            <a:avLst/>
          </a:prstGeom>
        </p:spPr>
        <p:txBody>
          <a:bodyPr lIns="0" tIns="0" rIns="0" bIns="0" rtlCol="0" anchor="t">
            <a:spAutoFit/>
          </a:bodyPr>
          <a:lstStyle/>
          <a:p>
            <a:pPr algn="ctr">
              <a:lnSpc>
                <a:spcPts val="3926"/>
              </a:lnSpc>
              <a:spcBef>
                <a:spcPct val="0"/>
              </a:spcBef>
            </a:pPr>
            <a:r>
              <a:rPr lang="en-US" sz="2066" spc="30">
                <a:solidFill>
                  <a:srgbClr val="000000"/>
                </a:solidFill>
                <a:latin typeface="Canva Sans"/>
                <a:ea typeface="Canva Sans"/>
                <a:cs typeface="Canva Sans"/>
                <a:sym typeface="Canva Sans"/>
              </a:rPr>
              <a:t>VDN Mixing Network</a:t>
            </a:r>
          </a:p>
        </p:txBody>
      </p:sp>
      <p:sp>
        <p:nvSpPr>
          <p:cNvPr id="56" name="TextBox 56"/>
          <p:cNvSpPr txBox="1"/>
          <p:nvPr/>
        </p:nvSpPr>
        <p:spPr>
          <a:xfrm>
            <a:off x="14141865" y="2721695"/>
            <a:ext cx="1069406" cy="444954"/>
          </a:xfrm>
          <a:prstGeom prst="rect">
            <a:avLst/>
          </a:prstGeom>
        </p:spPr>
        <p:txBody>
          <a:bodyPr lIns="0" tIns="0" rIns="0" bIns="0" rtlCol="0" anchor="t">
            <a:spAutoFit/>
          </a:bodyPr>
          <a:lstStyle/>
          <a:p>
            <a:pPr algn="ctr">
              <a:lnSpc>
                <a:spcPts val="3926"/>
              </a:lnSpc>
              <a:spcBef>
                <a:spcPct val="0"/>
              </a:spcBef>
            </a:pPr>
            <a:r>
              <a:rPr lang="en-US" sz="2066" b="1" i="1" spc="30">
                <a:solidFill>
                  <a:srgbClr val="000000"/>
                </a:solidFill>
                <a:latin typeface="Canva Sans Bold Italics"/>
                <a:ea typeface="Canva Sans Bold Italics"/>
                <a:cs typeface="Canva Sans Bold Italics"/>
                <a:sym typeface="Canva Sans Bold Italics"/>
              </a:rPr>
              <a:t>Q_tot</a:t>
            </a:r>
          </a:p>
        </p:txBody>
      </p:sp>
      <p:sp>
        <p:nvSpPr>
          <p:cNvPr id="57" name="TextBox 57"/>
          <p:cNvSpPr txBox="1"/>
          <p:nvPr/>
        </p:nvSpPr>
        <p:spPr>
          <a:xfrm>
            <a:off x="14759209" y="2721695"/>
            <a:ext cx="3271361" cy="444954"/>
          </a:xfrm>
          <a:prstGeom prst="rect">
            <a:avLst/>
          </a:prstGeom>
        </p:spPr>
        <p:txBody>
          <a:bodyPr lIns="0" tIns="0" rIns="0" bIns="0" rtlCol="0" anchor="t">
            <a:spAutoFit/>
          </a:bodyPr>
          <a:lstStyle/>
          <a:p>
            <a:pPr algn="ctr">
              <a:lnSpc>
                <a:spcPts val="3926"/>
              </a:lnSpc>
              <a:spcBef>
                <a:spcPct val="0"/>
              </a:spcBef>
            </a:pPr>
            <a:r>
              <a:rPr lang="en-US" sz="2066" b="1" i="1" spc="30">
                <a:solidFill>
                  <a:srgbClr val="000000"/>
                </a:solidFill>
                <a:latin typeface="Canva Sans Bold Italics"/>
                <a:ea typeface="Canva Sans Bold Italics"/>
                <a:cs typeface="Canva Sans Bold Italics"/>
                <a:sym typeface="Canva Sans Bold Italics"/>
              </a:rPr>
              <a:t>Global Reward (r)</a:t>
            </a:r>
          </a:p>
        </p:txBody>
      </p:sp>
      <p:sp>
        <p:nvSpPr>
          <p:cNvPr id="58" name="TextBox 58"/>
          <p:cNvSpPr txBox="1"/>
          <p:nvPr/>
        </p:nvSpPr>
        <p:spPr>
          <a:xfrm>
            <a:off x="14142983" y="5562175"/>
            <a:ext cx="3271361" cy="444954"/>
          </a:xfrm>
          <a:prstGeom prst="rect">
            <a:avLst/>
          </a:prstGeom>
        </p:spPr>
        <p:txBody>
          <a:bodyPr lIns="0" tIns="0" rIns="0" bIns="0" rtlCol="0" anchor="t">
            <a:spAutoFit/>
          </a:bodyPr>
          <a:lstStyle/>
          <a:p>
            <a:pPr algn="ctr">
              <a:lnSpc>
                <a:spcPts val="3926"/>
              </a:lnSpc>
              <a:spcBef>
                <a:spcPct val="0"/>
              </a:spcBef>
            </a:pPr>
            <a:r>
              <a:rPr lang="en-US" sz="2066" b="1" i="1" spc="30">
                <a:solidFill>
                  <a:srgbClr val="000000"/>
                </a:solidFill>
                <a:latin typeface="Canva Sans Bold Italics"/>
                <a:ea typeface="Canva Sans Bold Italics"/>
                <a:cs typeface="Canva Sans Bold Italics"/>
                <a:sym typeface="Canva Sans Bold Italics"/>
              </a:rPr>
              <a:t>loss</a:t>
            </a:r>
          </a:p>
        </p:txBody>
      </p:sp>
      <p:grpSp>
        <p:nvGrpSpPr>
          <p:cNvPr id="59" name="Group 59"/>
          <p:cNvGrpSpPr/>
          <p:nvPr/>
        </p:nvGrpSpPr>
        <p:grpSpPr>
          <a:xfrm>
            <a:off x="11564885" y="4600089"/>
            <a:ext cx="1709744" cy="3702824"/>
            <a:chOff x="0" y="0"/>
            <a:chExt cx="450303" cy="975229"/>
          </a:xfrm>
        </p:grpSpPr>
        <p:sp>
          <p:nvSpPr>
            <p:cNvPr id="60" name="Freeform 60"/>
            <p:cNvSpPr/>
            <p:nvPr/>
          </p:nvSpPr>
          <p:spPr>
            <a:xfrm>
              <a:off x="0" y="0"/>
              <a:ext cx="450303" cy="975230"/>
            </a:xfrm>
            <a:custGeom>
              <a:avLst/>
              <a:gdLst/>
              <a:ahLst/>
              <a:cxnLst/>
              <a:rect l="l" t="t" r="r" b="b"/>
              <a:pathLst>
                <a:path w="450303" h="975230">
                  <a:moveTo>
                    <a:pt x="0" y="0"/>
                  </a:moveTo>
                  <a:lnTo>
                    <a:pt x="450303" y="0"/>
                  </a:lnTo>
                  <a:lnTo>
                    <a:pt x="450303" y="975230"/>
                  </a:lnTo>
                  <a:lnTo>
                    <a:pt x="0" y="975230"/>
                  </a:lnTo>
                  <a:close/>
                </a:path>
              </a:pathLst>
            </a:custGeom>
            <a:ln w="9525" cap="sq">
              <a:solidFill>
                <a:srgbClr val="000000"/>
              </a:solidFill>
              <a:prstDash val="solid"/>
              <a:miter/>
            </a:ln>
          </p:spPr>
          <p:txBody>
            <a:bodyPr/>
            <a:lstStyle/>
            <a:p>
              <a:endParaRPr lang="en-GB"/>
            </a:p>
          </p:txBody>
        </p:sp>
        <p:sp>
          <p:nvSpPr>
            <p:cNvPr id="61" name="TextBox 61"/>
            <p:cNvSpPr txBox="1"/>
            <p:nvPr/>
          </p:nvSpPr>
          <p:spPr>
            <a:xfrm>
              <a:off x="0" y="-171450"/>
              <a:ext cx="450303" cy="1146679"/>
            </a:xfrm>
            <a:prstGeom prst="rect">
              <a:avLst/>
            </a:prstGeom>
          </p:spPr>
          <p:txBody>
            <a:bodyPr lIns="50800" tIns="50800" rIns="50800" bIns="50800" rtlCol="0" anchor="ctr"/>
            <a:lstStyle/>
            <a:p>
              <a:pPr algn="ctr">
                <a:lnSpc>
                  <a:spcPts val="4875"/>
                </a:lnSpc>
              </a:pPr>
              <a:endParaRPr/>
            </a:p>
          </p:txBody>
        </p:sp>
      </p:grpSp>
      <p:sp>
        <p:nvSpPr>
          <p:cNvPr id="62" name="Freeform 62"/>
          <p:cNvSpPr/>
          <p:nvPr/>
        </p:nvSpPr>
        <p:spPr>
          <a:xfrm>
            <a:off x="12927675" y="2750267"/>
            <a:ext cx="585540" cy="587106"/>
          </a:xfrm>
          <a:custGeom>
            <a:avLst/>
            <a:gdLst/>
            <a:ahLst/>
            <a:cxnLst/>
            <a:rect l="l" t="t" r="r" b="b"/>
            <a:pathLst>
              <a:path w="585540" h="587106">
                <a:moveTo>
                  <a:pt x="0" y="0"/>
                </a:moveTo>
                <a:lnTo>
                  <a:pt x="585540" y="0"/>
                </a:lnTo>
                <a:lnTo>
                  <a:pt x="585540" y="587106"/>
                </a:lnTo>
                <a:lnTo>
                  <a:pt x="0" y="587106"/>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GB"/>
          </a:p>
        </p:txBody>
      </p:sp>
      <p:sp>
        <p:nvSpPr>
          <p:cNvPr id="63" name="Freeform 63"/>
          <p:cNvSpPr/>
          <p:nvPr/>
        </p:nvSpPr>
        <p:spPr>
          <a:xfrm>
            <a:off x="14221293" y="1374910"/>
            <a:ext cx="585540" cy="587106"/>
          </a:xfrm>
          <a:custGeom>
            <a:avLst/>
            <a:gdLst/>
            <a:ahLst/>
            <a:cxnLst/>
            <a:rect l="l" t="t" r="r" b="b"/>
            <a:pathLst>
              <a:path w="585540" h="587106">
                <a:moveTo>
                  <a:pt x="0" y="0"/>
                </a:moveTo>
                <a:lnTo>
                  <a:pt x="585541" y="0"/>
                </a:lnTo>
                <a:lnTo>
                  <a:pt x="585541" y="587106"/>
                </a:lnTo>
                <a:lnTo>
                  <a:pt x="0" y="587106"/>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GB"/>
          </a:p>
        </p:txBody>
      </p:sp>
      <p:sp>
        <p:nvSpPr>
          <p:cNvPr id="64" name="Freeform 64"/>
          <p:cNvSpPr/>
          <p:nvPr/>
        </p:nvSpPr>
        <p:spPr>
          <a:xfrm>
            <a:off x="11662500" y="4722038"/>
            <a:ext cx="1557945" cy="1562110"/>
          </a:xfrm>
          <a:custGeom>
            <a:avLst/>
            <a:gdLst/>
            <a:ahLst/>
            <a:cxnLst/>
            <a:rect l="l" t="t" r="r" b="b"/>
            <a:pathLst>
              <a:path w="1557945" h="1562110">
                <a:moveTo>
                  <a:pt x="0" y="0"/>
                </a:moveTo>
                <a:lnTo>
                  <a:pt x="1557945" y="0"/>
                </a:lnTo>
                <a:lnTo>
                  <a:pt x="1557945" y="1562111"/>
                </a:lnTo>
                <a:lnTo>
                  <a:pt x="0" y="1562111"/>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GB"/>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0" y="9322212"/>
            <a:ext cx="16965984" cy="964788"/>
            <a:chOff x="0" y="0"/>
            <a:chExt cx="22621312" cy="1286384"/>
          </a:xfrm>
        </p:grpSpPr>
        <p:sp>
          <p:nvSpPr>
            <p:cNvPr id="3" name="Freeform 3"/>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3"/>
              <a:stretch>
                <a:fillRect/>
              </a:stretch>
            </a:blipFill>
          </p:spPr>
          <p:txBody>
            <a:bodyPr/>
            <a:lstStyle/>
            <a:p>
              <a:endParaRPr lang="en-GB"/>
            </a:p>
          </p:txBody>
        </p:sp>
        <p:sp>
          <p:nvSpPr>
            <p:cNvPr id="4" name="TextBox 4"/>
            <p:cNvSpPr txBox="1"/>
            <p:nvPr/>
          </p:nvSpPr>
          <p:spPr>
            <a:xfrm>
              <a:off x="5939922" y="435762"/>
              <a:ext cx="16681390"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IT22000576       |       Fernandopulle S N      |       25-26J-473        |       Date: 06/01/2026</a:t>
              </a:r>
            </a:p>
          </p:txBody>
        </p:sp>
      </p:grpSp>
      <p:grpSp>
        <p:nvGrpSpPr>
          <p:cNvPr id="5" name="Group 5"/>
          <p:cNvGrpSpPr/>
          <p:nvPr/>
        </p:nvGrpSpPr>
        <p:grpSpPr>
          <a:xfrm rot="-10800000">
            <a:off x="-4375349" y="1265591"/>
            <a:ext cx="8255398" cy="7793918"/>
            <a:chOff x="0" y="0"/>
            <a:chExt cx="11007197" cy="10391891"/>
          </a:xfrm>
        </p:grpSpPr>
        <p:grpSp>
          <p:nvGrpSpPr>
            <p:cNvPr id="6" name="Group 6"/>
            <p:cNvGrpSpPr/>
            <p:nvPr/>
          </p:nvGrpSpPr>
          <p:grpSpPr>
            <a:xfrm rot="-10800000">
              <a:off x="615307" y="0"/>
              <a:ext cx="10391891" cy="1039189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E0054">
                      <a:alpha val="100000"/>
                    </a:srgbClr>
                  </a:gs>
                  <a:gs pos="50000">
                    <a:srgbClr val="080029">
                      <a:alpha val="100000"/>
                    </a:srgbClr>
                  </a:gs>
                  <a:gs pos="100000">
                    <a:srgbClr val="0E0054">
                      <a:alpha val="100000"/>
                    </a:srgbClr>
                  </a:gs>
                </a:gsLst>
                <a:lin ang="0"/>
              </a:gradFill>
              <a:ln w="9525" cap="sq">
                <a:solidFill>
                  <a:srgbClr val="FFFFFF"/>
                </a:solidFill>
                <a:prstDash val="solid"/>
                <a:miter/>
              </a:ln>
            </p:spPr>
            <p:txBody>
              <a:bodyPr/>
              <a:lstStyle/>
              <a:p>
                <a:endParaRPr lang="en-GB"/>
              </a:p>
            </p:txBody>
          </p:sp>
          <p:sp>
            <p:nvSpPr>
              <p:cNvPr id="8" name="TextBox 8"/>
              <p:cNvSpPr txBox="1"/>
              <p:nvPr/>
            </p:nvSpPr>
            <p:spPr>
              <a:xfrm>
                <a:off x="76200" y="-95250"/>
                <a:ext cx="660400" cy="831850"/>
              </a:xfrm>
              <a:prstGeom prst="rect">
                <a:avLst/>
              </a:prstGeom>
            </p:spPr>
            <p:txBody>
              <a:bodyPr lIns="50800" tIns="50800" rIns="50800" bIns="50800" rtlCol="0" anchor="ctr"/>
              <a:lstStyle/>
              <a:p>
                <a:pPr algn="ctr">
                  <a:lnSpc>
                    <a:spcPts val="4875"/>
                  </a:lnSpc>
                </a:pPr>
                <a:endParaRPr/>
              </a:p>
            </p:txBody>
          </p:sp>
        </p:grpSp>
        <p:sp>
          <p:nvSpPr>
            <p:cNvPr id="9" name="TextBox 9"/>
            <p:cNvSpPr txBox="1"/>
            <p:nvPr/>
          </p:nvSpPr>
          <p:spPr>
            <a:xfrm rot="-10800000">
              <a:off x="0" y="4125642"/>
              <a:ext cx="5894016" cy="2765425"/>
            </a:xfrm>
            <a:prstGeom prst="rect">
              <a:avLst/>
            </a:prstGeom>
          </p:spPr>
          <p:txBody>
            <a:bodyPr lIns="0" tIns="0" rIns="0" bIns="0" rtlCol="0" anchor="t">
              <a:spAutoFit/>
            </a:bodyPr>
            <a:lstStyle/>
            <a:p>
              <a:pPr algn="ctr">
                <a:lnSpc>
                  <a:spcPts val="8400"/>
                </a:lnSpc>
              </a:pPr>
              <a:r>
                <a:rPr lang="en-US" sz="6000" b="1">
                  <a:solidFill>
                    <a:srgbClr val="FFFFFF"/>
                  </a:solidFill>
                  <a:latin typeface="Lato Bold"/>
                  <a:ea typeface="Lato Bold"/>
                  <a:cs typeface="Lato Bold"/>
                  <a:sym typeface="Lato Bold"/>
                </a:rPr>
                <a:t>System</a:t>
              </a:r>
            </a:p>
            <a:p>
              <a:pPr algn="ctr">
                <a:lnSpc>
                  <a:spcPts val="8400"/>
                </a:lnSpc>
              </a:pPr>
              <a:r>
                <a:rPr lang="en-US" sz="6000" b="1">
                  <a:solidFill>
                    <a:srgbClr val="FFFFFF"/>
                  </a:solidFill>
                  <a:latin typeface="Lato Bold"/>
                  <a:ea typeface="Lato Bold"/>
                  <a:cs typeface="Lato Bold"/>
                  <a:sym typeface="Lato Bold"/>
                </a:rPr>
                <a:t>Overview</a:t>
              </a:r>
            </a:p>
          </p:txBody>
        </p:sp>
        <p:sp>
          <p:nvSpPr>
            <p:cNvPr id="10" name="TextBox 10"/>
            <p:cNvSpPr txBox="1"/>
            <p:nvPr/>
          </p:nvSpPr>
          <p:spPr>
            <a:xfrm>
              <a:off x="5731736" y="2593484"/>
              <a:ext cx="5101265" cy="4832984"/>
            </a:xfrm>
            <a:prstGeom prst="rect">
              <a:avLst/>
            </a:prstGeom>
          </p:spPr>
          <p:txBody>
            <a:bodyPr lIns="0" tIns="0" rIns="0" bIns="0" rtlCol="0" anchor="t">
              <a:spAutoFit/>
            </a:bodyPr>
            <a:lstStyle/>
            <a:p>
              <a:pPr algn="ctr">
                <a:lnSpc>
                  <a:spcPts val="8400"/>
                </a:lnSpc>
              </a:pPr>
              <a:r>
                <a:rPr lang="en-US" sz="6000" b="1">
                  <a:solidFill>
                    <a:srgbClr val="FFFFFF"/>
                  </a:solidFill>
                  <a:latin typeface="Lato Bold"/>
                  <a:ea typeface="Lato Bold"/>
                  <a:cs typeface="Lato Bold"/>
                  <a:sym typeface="Lato Bold"/>
                </a:rPr>
                <a:t>Work</a:t>
              </a:r>
            </a:p>
            <a:p>
              <a:pPr algn="ctr">
                <a:lnSpc>
                  <a:spcPts val="7560"/>
                </a:lnSpc>
              </a:pPr>
              <a:r>
                <a:rPr lang="en-US" sz="5400" b="1">
                  <a:solidFill>
                    <a:srgbClr val="FFFFFF"/>
                  </a:solidFill>
                  <a:latin typeface="Lato Bold"/>
                  <a:ea typeface="Lato Bold"/>
                  <a:cs typeface="Lato Bold"/>
                  <a:sym typeface="Lato Bold"/>
                </a:rPr>
                <a:t>Breakdown &amp; real-world</a:t>
              </a:r>
            </a:p>
            <a:p>
              <a:pPr algn="l">
                <a:lnSpc>
                  <a:spcPts val="5460"/>
                </a:lnSpc>
              </a:pPr>
              <a:r>
                <a:rPr lang="en-US" sz="3900" b="1">
                  <a:solidFill>
                    <a:srgbClr val="FFFFFF"/>
                  </a:solidFill>
                  <a:latin typeface="Lato Bold"/>
                  <a:ea typeface="Lato Bold"/>
                  <a:cs typeface="Lato Bold"/>
                  <a:sym typeface="Lato Bold"/>
                </a:rPr>
                <a:t>Implementation</a:t>
              </a:r>
            </a:p>
          </p:txBody>
        </p:sp>
      </p:grpSp>
      <p:sp>
        <p:nvSpPr>
          <p:cNvPr id="11" name="Freeform 11"/>
          <p:cNvSpPr/>
          <p:nvPr/>
        </p:nvSpPr>
        <p:spPr>
          <a:xfrm>
            <a:off x="7438324" y="2352701"/>
            <a:ext cx="806693" cy="1069217"/>
          </a:xfrm>
          <a:custGeom>
            <a:avLst/>
            <a:gdLst/>
            <a:ahLst/>
            <a:cxnLst/>
            <a:rect l="l" t="t" r="r" b="b"/>
            <a:pathLst>
              <a:path w="806693" h="1069217">
                <a:moveTo>
                  <a:pt x="0" y="0"/>
                </a:moveTo>
                <a:lnTo>
                  <a:pt x="806694" y="0"/>
                </a:lnTo>
                <a:lnTo>
                  <a:pt x="806694" y="1069216"/>
                </a:lnTo>
                <a:lnTo>
                  <a:pt x="0" y="1069216"/>
                </a:lnTo>
                <a:lnTo>
                  <a:pt x="0" y="0"/>
                </a:lnTo>
                <a:close/>
              </a:path>
            </a:pathLst>
          </a:custGeom>
          <a:blipFill>
            <a:blip r:embed="rId4"/>
            <a:stretch>
              <a:fillRect/>
            </a:stretch>
          </a:blipFill>
        </p:spPr>
        <p:txBody>
          <a:bodyPr/>
          <a:lstStyle/>
          <a:p>
            <a:endParaRPr lang="en-GB"/>
          </a:p>
        </p:txBody>
      </p:sp>
      <p:sp>
        <p:nvSpPr>
          <p:cNvPr id="12" name="Freeform 12"/>
          <p:cNvSpPr/>
          <p:nvPr/>
        </p:nvSpPr>
        <p:spPr>
          <a:xfrm>
            <a:off x="6054054" y="1101927"/>
            <a:ext cx="3575233" cy="3570764"/>
          </a:xfrm>
          <a:custGeom>
            <a:avLst/>
            <a:gdLst/>
            <a:ahLst/>
            <a:cxnLst/>
            <a:rect l="l" t="t" r="r" b="b"/>
            <a:pathLst>
              <a:path w="3575233" h="3570764">
                <a:moveTo>
                  <a:pt x="0" y="0"/>
                </a:moveTo>
                <a:lnTo>
                  <a:pt x="3575233" y="0"/>
                </a:lnTo>
                <a:lnTo>
                  <a:pt x="3575233" y="3570764"/>
                </a:lnTo>
                <a:lnTo>
                  <a:pt x="0" y="3570764"/>
                </a:lnTo>
                <a:lnTo>
                  <a:pt x="0" y="0"/>
                </a:lnTo>
                <a:close/>
              </a:path>
            </a:pathLst>
          </a:custGeom>
          <a:blipFill>
            <a:blip r:embed="rId5"/>
            <a:stretch>
              <a:fillRect/>
            </a:stretch>
          </a:blipFill>
        </p:spPr>
        <p:txBody>
          <a:bodyPr/>
          <a:lstStyle/>
          <a:p>
            <a:endParaRPr lang="en-GB"/>
          </a:p>
        </p:txBody>
      </p:sp>
      <p:sp>
        <p:nvSpPr>
          <p:cNvPr id="13" name="Freeform 13"/>
          <p:cNvSpPr/>
          <p:nvPr/>
        </p:nvSpPr>
        <p:spPr>
          <a:xfrm>
            <a:off x="6853233" y="4672691"/>
            <a:ext cx="1976875" cy="1976875"/>
          </a:xfrm>
          <a:custGeom>
            <a:avLst/>
            <a:gdLst/>
            <a:ahLst/>
            <a:cxnLst/>
            <a:rect l="l" t="t" r="r" b="b"/>
            <a:pathLst>
              <a:path w="1976875" h="1976875">
                <a:moveTo>
                  <a:pt x="0" y="0"/>
                </a:moveTo>
                <a:lnTo>
                  <a:pt x="1976875" y="0"/>
                </a:lnTo>
                <a:lnTo>
                  <a:pt x="1976875" y="1976875"/>
                </a:lnTo>
                <a:lnTo>
                  <a:pt x="0" y="197687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4" name="Freeform 14"/>
          <p:cNvSpPr/>
          <p:nvPr/>
        </p:nvSpPr>
        <p:spPr>
          <a:xfrm>
            <a:off x="7620457" y="6630516"/>
            <a:ext cx="1250620" cy="1767661"/>
          </a:xfrm>
          <a:custGeom>
            <a:avLst/>
            <a:gdLst/>
            <a:ahLst/>
            <a:cxnLst/>
            <a:rect l="l" t="t" r="r" b="b"/>
            <a:pathLst>
              <a:path w="1250620" h="1767661">
                <a:moveTo>
                  <a:pt x="0" y="0"/>
                </a:moveTo>
                <a:lnTo>
                  <a:pt x="1250620" y="0"/>
                </a:lnTo>
                <a:lnTo>
                  <a:pt x="1250620" y="1767661"/>
                </a:lnTo>
                <a:lnTo>
                  <a:pt x="0" y="176766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5" name="Freeform 15"/>
          <p:cNvSpPr/>
          <p:nvPr/>
        </p:nvSpPr>
        <p:spPr>
          <a:xfrm>
            <a:off x="7395293" y="5015591"/>
            <a:ext cx="806693" cy="1069217"/>
          </a:xfrm>
          <a:custGeom>
            <a:avLst/>
            <a:gdLst/>
            <a:ahLst/>
            <a:cxnLst/>
            <a:rect l="l" t="t" r="r" b="b"/>
            <a:pathLst>
              <a:path w="806693" h="1069217">
                <a:moveTo>
                  <a:pt x="0" y="0"/>
                </a:moveTo>
                <a:lnTo>
                  <a:pt x="806694" y="0"/>
                </a:lnTo>
                <a:lnTo>
                  <a:pt x="806694" y="1069217"/>
                </a:lnTo>
                <a:lnTo>
                  <a:pt x="0" y="1069217"/>
                </a:lnTo>
                <a:lnTo>
                  <a:pt x="0" y="0"/>
                </a:lnTo>
                <a:close/>
              </a:path>
            </a:pathLst>
          </a:custGeom>
          <a:blipFill>
            <a:blip r:embed="rId4"/>
            <a:stretch>
              <a:fillRect/>
            </a:stretch>
          </a:blipFill>
        </p:spPr>
        <p:txBody>
          <a:bodyPr/>
          <a:lstStyle/>
          <a:p>
            <a:endParaRPr lang="en-GB"/>
          </a:p>
        </p:txBody>
      </p:sp>
      <p:sp>
        <p:nvSpPr>
          <p:cNvPr id="16" name="Freeform 16"/>
          <p:cNvSpPr/>
          <p:nvPr/>
        </p:nvSpPr>
        <p:spPr>
          <a:xfrm>
            <a:off x="7439073" y="6909520"/>
            <a:ext cx="806693" cy="1069217"/>
          </a:xfrm>
          <a:custGeom>
            <a:avLst/>
            <a:gdLst/>
            <a:ahLst/>
            <a:cxnLst/>
            <a:rect l="l" t="t" r="r" b="b"/>
            <a:pathLst>
              <a:path w="806693" h="1069217">
                <a:moveTo>
                  <a:pt x="0" y="0"/>
                </a:moveTo>
                <a:lnTo>
                  <a:pt x="806694" y="0"/>
                </a:lnTo>
                <a:lnTo>
                  <a:pt x="806694" y="1069216"/>
                </a:lnTo>
                <a:lnTo>
                  <a:pt x="0" y="1069216"/>
                </a:lnTo>
                <a:lnTo>
                  <a:pt x="0" y="0"/>
                </a:lnTo>
                <a:close/>
              </a:path>
            </a:pathLst>
          </a:custGeom>
          <a:blipFill>
            <a:blip r:embed="rId4"/>
            <a:stretch>
              <a:fillRect/>
            </a:stretch>
          </a:blipFill>
        </p:spPr>
        <p:txBody>
          <a:bodyPr/>
          <a:lstStyle/>
          <a:p>
            <a:endParaRPr lang="en-GB"/>
          </a:p>
        </p:txBody>
      </p:sp>
      <p:sp>
        <p:nvSpPr>
          <p:cNvPr id="17" name="Freeform 17"/>
          <p:cNvSpPr/>
          <p:nvPr/>
        </p:nvSpPr>
        <p:spPr>
          <a:xfrm>
            <a:off x="3705231" y="7017549"/>
            <a:ext cx="1556331" cy="1461006"/>
          </a:xfrm>
          <a:custGeom>
            <a:avLst/>
            <a:gdLst/>
            <a:ahLst/>
            <a:cxnLst/>
            <a:rect l="l" t="t" r="r" b="b"/>
            <a:pathLst>
              <a:path w="1556331" h="1461006">
                <a:moveTo>
                  <a:pt x="0" y="0"/>
                </a:moveTo>
                <a:lnTo>
                  <a:pt x="1556331" y="0"/>
                </a:lnTo>
                <a:lnTo>
                  <a:pt x="1556331" y="1461005"/>
                </a:lnTo>
                <a:lnTo>
                  <a:pt x="0" y="1461005"/>
                </a:lnTo>
                <a:lnTo>
                  <a:pt x="0" y="0"/>
                </a:lnTo>
                <a:close/>
              </a:path>
            </a:pathLst>
          </a:custGeom>
          <a:blipFill>
            <a:blip r:embed="rId8"/>
            <a:stretch>
              <a:fillRect/>
            </a:stretch>
          </a:blipFill>
        </p:spPr>
        <p:txBody>
          <a:bodyPr/>
          <a:lstStyle/>
          <a:p>
            <a:endParaRPr lang="en-GB"/>
          </a:p>
        </p:txBody>
      </p:sp>
      <p:sp>
        <p:nvSpPr>
          <p:cNvPr id="18" name="TextBox 18"/>
          <p:cNvSpPr txBox="1"/>
          <p:nvPr/>
        </p:nvSpPr>
        <p:spPr>
          <a:xfrm>
            <a:off x="76200" y="86677"/>
            <a:ext cx="18032177" cy="669925"/>
          </a:xfrm>
          <a:prstGeom prst="rect">
            <a:avLst/>
          </a:prstGeom>
        </p:spPr>
        <p:txBody>
          <a:bodyPr lIns="0" tIns="0" rIns="0" bIns="0" rtlCol="0" anchor="t">
            <a:spAutoFit/>
          </a:bodyPr>
          <a:lstStyle/>
          <a:p>
            <a:pPr marL="0" lvl="0" indent="0" algn="l">
              <a:lnSpc>
                <a:spcPts val="2599"/>
              </a:lnSpc>
            </a:pPr>
            <a:r>
              <a:rPr lang="en-US" sz="1999" spc="29">
                <a:solidFill>
                  <a:srgbClr val="3D2812"/>
                </a:solidFill>
                <a:latin typeface="The Seasons"/>
                <a:ea typeface="The Seasons"/>
                <a:cs typeface="The Seasons"/>
                <a:sym typeface="The Seasons"/>
              </a:rPr>
              <a:t>COMPONENT 2: CENTRALIZED TRAINING AND DECENTRALIZED EXECUTION OF REINFORCEMENT LEARNING AGENT SYSTEM FOR COOPERATIVE TRAFFIC SIGNAL CONTROL</a:t>
            </a:r>
          </a:p>
        </p:txBody>
      </p:sp>
      <p:sp>
        <p:nvSpPr>
          <p:cNvPr id="19" name="TextBox 19"/>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12</a:t>
            </a:r>
          </a:p>
        </p:txBody>
      </p:sp>
      <p:sp>
        <p:nvSpPr>
          <p:cNvPr id="20" name="Freeform 20"/>
          <p:cNvSpPr/>
          <p:nvPr/>
        </p:nvSpPr>
        <p:spPr>
          <a:xfrm>
            <a:off x="3592650" y="4819697"/>
            <a:ext cx="1556331" cy="1461006"/>
          </a:xfrm>
          <a:custGeom>
            <a:avLst/>
            <a:gdLst/>
            <a:ahLst/>
            <a:cxnLst/>
            <a:rect l="l" t="t" r="r" b="b"/>
            <a:pathLst>
              <a:path w="1556331" h="1461006">
                <a:moveTo>
                  <a:pt x="0" y="0"/>
                </a:moveTo>
                <a:lnTo>
                  <a:pt x="1556330" y="0"/>
                </a:lnTo>
                <a:lnTo>
                  <a:pt x="1556330" y="1461005"/>
                </a:lnTo>
                <a:lnTo>
                  <a:pt x="0" y="1461005"/>
                </a:lnTo>
                <a:lnTo>
                  <a:pt x="0" y="0"/>
                </a:lnTo>
                <a:close/>
              </a:path>
            </a:pathLst>
          </a:custGeom>
          <a:blipFill>
            <a:blip r:embed="rId8"/>
            <a:stretch>
              <a:fillRect/>
            </a:stretch>
          </a:blipFill>
        </p:spPr>
        <p:txBody>
          <a:bodyPr/>
          <a:lstStyle/>
          <a:p>
            <a:endParaRPr lang="en-GB"/>
          </a:p>
        </p:txBody>
      </p:sp>
      <p:sp>
        <p:nvSpPr>
          <p:cNvPr id="21" name="Freeform 21"/>
          <p:cNvSpPr/>
          <p:nvPr/>
        </p:nvSpPr>
        <p:spPr>
          <a:xfrm>
            <a:off x="3592650" y="2156806"/>
            <a:ext cx="1556331" cy="1461006"/>
          </a:xfrm>
          <a:custGeom>
            <a:avLst/>
            <a:gdLst/>
            <a:ahLst/>
            <a:cxnLst/>
            <a:rect l="l" t="t" r="r" b="b"/>
            <a:pathLst>
              <a:path w="1556331" h="1461006">
                <a:moveTo>
                  <a:pt x="0" y="0"/>
                </a:moveTo>
                <a:lnTo>
                  <a:pt x="1556330" y="0"/>
                </a:lnTo>
                <a:lnTo>
                  <a:pt x="1556330" y="1461006"/>
                </a:lnTo>
                <a:lnTo>
                  <a:pt x="0" y="1461006"/>
                </a:lnTo>
                <a:lnTo>
                  <a:pt x="0" y="0"/>
                </a:lnTo>
                <a:close/>
              </a:path>
            </a:pathLst>
          </a:custGeom>
          <a:blipFill>
            <a:blip r:embed="rId8"/>
            <a:stretch>
              <a:fillRect/>
            </a:stretch>
          </a:blipFill>
        </p:spPr>
        <p:txBody>
          <a:bodyPr/>
          <a:lstStyle/>
          <a:p>
            <a:endParaRPr lang="en-GB"/>
          </a:p>
        </p:txBody>
      </p:sp>
      <p:sp>
        <p:nvSpPr>
          <p:cNvPr id="22" name="AutoShape 22"/>
          <p:cNvSpPr/>
          <p:nvPr/>
        </p:nvSpPr>
        <p:spPr>
          <a:xfrm>
            <a:off x="5148980" y="2178374"/>
            <a:ext cx="1461307" cy="125312"/>
          </a:xfrm>
          <a:prstGeom prst="line">
            <a:avLst/>
          </a:prstGeom>
          <a:ln w="38100" cap="flat">
            <a:solidFill>
              <a:srgbClr val="FFC331"/>
            </a:solidFill>
            <a:prstDash val="solid"/>
            <a:headEnd type="none" w="sm" len="sm"/>
            <a:tailEnd type="arrow" w="med" len="sm"/>
          </a:ln>
        </p:spPr>
        <p:txBody>
          <a:bodyPr/>
          <a:lstStyle/>
          <a:p>
            <a:endParaRPr lang="en-GB"/>
          </a:p>
        </p:txBody>
      </p:sp>
      <p:sp>
        <p:nvSpPr>
          <p:cNvPr id="23" name="AutoShape 23"/>
          <p:cNvSpPr/>
          <p:nvPr/>
        </p:nvSpPr>
        <p:spPr>
          <a:xfrm>
            <a:off x="5271506" y="5201071"/>
            <a:ext cx="1461307" cy="125312"/>
          </a:xfrm>
          <a:prstGeom prst="line">
            <a:avLst/>
          </a:prstGeom>
          <a:ln w="38100" cap="flat">
            <a:solidFill>
              <a:srgbClr val="FFC331"/>
            </a:solidFill>
            <a:prstDash val="solid"/>
            <a:headEnd type="none" w="sm" len="sm"/>
            <a:tailEnd type="arrow" w="med" len="sm"/>
          </a:ln>
        </p:spPr>
        <p:txBody>
          <a:bodyPr/>
          <a:lstStyle/>
          <a:p>
            <a:endParaRPr lang="en-GB"/>
          </a:p>
        </p:txBody>
      </p:sp>
      <p:sp>
        <p:nvSpPr>
          <p:cNvPr id="24" name="AutoShape 24"/>
          <p:cNvSpPr/>
          <p:nvPr/>
        </p:nvSpPr>
        <p:spPr>
          <a:xfrm>
            <a:off x="5366146" y="7362827"/>
            <a:ext cx="1461307" cy="125312"/>
          </a:xfrm>
          <a:prstGeom prst="line">
            <a:avLst/>
          </a:prstGeom>
          <a:ln w="38100" cap="flat">
            <a:solidFill>
              <a:srgbClr val="FFC331"/>
            </a:solidFill>
            <a:prstDash val="solid"/>
            <a:headEnd type="none" w="sm" len="sm"/>
            <a:tailEnd type="arrow" w="med" len="sm"/>
          </a:ln>
        </p:spPr>
        <p:txBody>
          <a:bodyPr/>
          <a:lstStyle/>
          <a:p>
            <a:endParaRPr lang="en-GB"/>
          </a:p>
        </p:txBody>
      </p:sp>
      <p:sp>
        <p:nvSpPr>
          <p:cNvPr id="25" name="AutoShape 25"/>
          <p:cNvSpPr/>
          <p:nvPr/>
        </p:nvSpPr>
        <p:spPr>
          <a:xfrm flipV="1">
            <a:off x="8235823" y="3421917"/>
            <a:ext cx="1393464" cy="711045"/>
          </a:xfrm>
          <a:prstGeom prst="line">
            <a:avLst/>
          </a:prstGeom>
          <a:ln w="38100" cap="flat">
            <a:solidFill>
              <a:srgbClr val="0795FF"/>
            </a:solidFill>
            <a:prstDash val="solid"/>
            <a:headEnd type="none" w="sm" len="sm"/>
            <a:tailEnd type="triangle" w="lg" len="med"/>
          </a:ln>
        </p:spPr>
        <p:txBody>
          <a:bodyPr/>
          <a:lstStyle/>
          <a:p>
            <a:endParaRPr lang="en-GB"/>
          </a:p>
        </p:txBody>
      </p:sp>
      <p:sp>
        <p:nvSpPr>
          <p:cNvPr id="26" name="AutoShape 26"/>
          <p:cNvSpPr/>
          <p:nvPr/>
        </p:nvSpPr>
        <p:spPr>
          <a:xfrm flipV="1">
            <a:off x="8254723" y="6084808"/>
            <a:ext cx="575386" cy="194871"/>
          </a:xfrm>
          <a:prstGeom prst="line">
            <a:avLst/>
          </a:prstGeom>
          <a:ln w="38100" cap="flat">
            <a:solidFill>
              <a:srgbClr val="0795FF"/>
            </a:solidFill>
            <a:prstDash val="solid"/>
            <a:headEnd type="none" w="sm" len="sm"/>
            <a:tailEnd type="triangle" w="lg" len="med"/>
          </a:ln>
        </p:spPr>
        <p:txBody>
          <a:bodyPr/>
          <a:lstStyle/>
          <a:p>
            <a:endParaRPr lang="en-GB"/>
          </a:p>
        </p:txBody>
      </p:sp>
      <p:sp>
        <p:nvSpPr>
          <p:cNvPr id="27" name="AutoShape 27"/>
          <p:cNvSpPr/>
          <p:nvPr/>
        </p:nvSpPr>
        <p:spPr>
          <a:xfrm flipV="1">
            <a:off x="8254723" y="7978736"/>
            <a:ext cx="514919" cy="256484"/>
          </a:xfrm>
          <a:prstGeom prst="line">
            <a:avLst/>
          </a:prstGeom>
          <a:ln w="38100" cap="flat">
            <a:solidFill>
              <a:srgbClr val="0795FF"/>
            </a:solidFill>
            <a:prstDash val="solid"/>
            <a:headEnd type="none" w="sm" len="sm"/>
            <a:tailEnd type="triangle" w="lg" len="med"/>
          </a:ln>
        </p:spPr>
        <p:txBody>
          <a:bodyPr/>
          <a:lstStyle/>
          <a:p>
            <a:endParaRPr lang="en-GB"/>
          </a:p>
        </p:txBody>
      </p:sp>
      <p:sp>
        <p:nvSpPr>
          <p:cNvPr id="28" name="TextBox 28"/>
          <p:cNvSpPr txBox="1"/>
          <p:nvPr/>
        </p:nvSpPr>
        <p:spPr>
          <a:xfrm>
            <a:off x="5497417" y="1518991"/>
            <a:ext cx="556637" cy="444954"/>
          </a:xfrm>
          <a:prstGeom prst="rect">
            <a:avLst/>
          </a:prstGeom>
        </p:spPr>
        <p:txBody>
          <a:bodyPr lIns="0" tIns="0" rIns="0" bIns="0" rtlCol="0" anchor="t">
            <a:spAutoFit/>
          </a:bodyPr>
          <a:lstStyle/>
          <a:p>
            <a:pPr algn="ctr">
              <a:lnSpc>
                <a:spcPts val="3926"/>
              </a:lnSpc>
              <a:spcBef>
                <a:spcPct val="0"/>
              </a:spcBef>
            </a:pPr>
            <a:r>
              <a:rPr lang="en-US" sz="2066" i="1" spc="30">
                <a:solidFill>
                  <a:srgbClr val="000000"/>
                </a:solidFill>
                <a:latin typeface="Canva Sans Italics"/>
                <a:ea typeface="Canva Sans Italics"/>
                <a:cs typeface="Canva Sans Italics"/>
                <a:sym typeface="Canva Sans Italics"/>
              </a:rPr>
              <a:t>s</a:t>
            </a:r>
          </a:p>
        </p:txBody>
      </p:sp>
      <p:sp>
        <p:nvSpPr>
          <p:cNvPr id="29" name="TextBox 29"/>
          <p:cNvSpPr txBox="1"/>
          <p:nvPr/>
        </p:nvSpPr>
        <p:spPr>
          <a:xfrm>
            <a:off x="9399139" y="4024991"/>
            <a:ext cx="556637" cy="444954"/>
          </a:xfrm>
          <a:prstGeom prst="rect">
            <a:avLst/>
          </a:prstGeom>
        </p:spPr>
        <p:txBody>
          <a:bodyPr lIns="0" tIns="0" rIns="0" bIns="0" rtlCol="0" anchor="t">
            <a:spAutoFit/>
          </a:bodyPr>
          <a:lstStyle/>
          <a:p>
            <a:pPr algn="ctr">
              <a:lnSpc>
                <a:spcPts val="3926"/>
              </a:lnSpc>
              <a:spcBef>
                <a:spcPct val="0"/>
              </a:spcBef>
            </a:pPr>
            <a:r>
              <a:rPr lang="en-US" sz="2066" i="1" spc="30">
                <a:solidFill>
                  <a:srgbClr val="000000"/>
                </a:solidFill>
                <a:latin typeface="Canva Sans Italics"/>
                <a:ea typeface="Canva Sans Italics"/>
                <a:cs typeface="Canva Sans Italics"/>
                <a:sym typeface="Canva Sans Italics"/>
              </a:rPr>
              <a:t>a</a:t>
            </a:r>
          </a:p>
        </p:txBody>
      </p:sp>
      <p:sp>
        <p:nvSpPr>
          <p:cNvPr id="30" name="TextBox 30"/>
          <p:cNvSpPr txBox="1"/>
          <p:nvPr/>
        </p:nvSpPr>
        <p:spPr>
          <a:xfrm>
            <a:off x="5722788" y="4548866"/>
            <a:ext cx="556637" cy="444954"/>
          </a:xfrm>
          <a:prstGeom prst="rect">
            <a:avLst/>
          </a:prstGeom>
        </p:spPr>
        <p:txBody>
          <a:bodyPr lIns="0" tIns="0" rIns="0" bIns="0" rtlCol="0" anchor="t">
            <a:spAutoFit/>
          </a:bodyPr>
          <a:lstStyle/>
          <a:p>
            <a:pPr algn="ctr">
              <a:lnSpc>
                <a:spcPts val="3926"/>
              </a:lnSpc>
              <a:spcBef>
                <a:spcPct val="0"/>
              </a:spcBef>
            </a:pPr>
            <a:r>
              <a:rPr lang="en-US" sz="2066" i="1" spc="30">
                <a:solidFill>
                  <a:srgbClr val="000000"/>
                </a:solidFill>
                <a:latin typeface="Canva Sans Italics"/>
                <a:ea typeface="Canva Sans Italics"/>
                <a:cs typeface="Canva Sans Italics"/>
                <a:sym typeface="Canva Sans Italics"/>
              </a:rPr>
              <a:t>s</a:t>
            </a:r>
          </a:p>
        </p:txBody>
      </p:sp>
      <p:sp>
        <p:nvSpPr>
          <p:cNvPr id="31" name="TextBox 31"/>
          <p:cNvSpPr txBox="1"/>
          <p:nvPr/>
        </p:nvSpPr>
        <p:spPr>
          <a:xfrm>
            <a:off x="8871077" y="7845386"/>
            <a:ext cx="556637" cy="444954"/>
          </a:xfrm>
          <a:prstGeom prst="rect">
            <a:avLst/>
          </a:prstGeom>
        </p:spPr>
        <p:txBody>
          <a:bodyPr lIns="0" tIns="0" rIns="0" bIns="0" rtlCol="0" anchor="t">
            <a:spAutoFit/>
          </a:bodyPr>
          <a:lstStyle/>
          <a:p>
            <a:pPr algn="ctr">
              <a:lnSpc>
                <a:spcPts val="3926"/>
              </a:lnSpc>
              <a:spcBef>
                <a:spcPct val="0"/>
              </a:spcBef>
            </a:pPr>
            <a:r>
              <a:rPr lang="en-US" sz="2066" i="1" spc="30">
                <a:solidFill>
                  <a:srgbClr val="000000"/>
                </a:solidFill>
                <a:latin typeface="Canva Sans Italics"/>
                <a:ea typeface="Canva Sans Italics"/>
                <a:cs typeface="Canva Sans Italics"/>
                <a:sym typeface="Canva Sans Italics"/>
              </a:rPr>
              <a:t>a</a:t>
            </a:r>
          </a:p>
        </p:txBody>
      </p:sp>
      <p:sp>
        <p:nvSpPr>
          <p:cNvPr id="32" name="TextBox 32"/>
          <p:cNvSpPr txBox="1"/>
          <p:nvPr/>
        </p:nvSpPr>
        <p:spPr>
          <a:xfrm>
            <a:off x="5775736" y="6708300"/>
            <a:ext cx="556637" cy="444954"/>
          </a:xfrm>
          <a:prstGeom prst="rect">
            <a:avLst/>
          </a:prstGeom>
        </p:spPr>
        <p:txBody>
          <a:bodyPr lIns="0" tIns="0" rIns="0" bIns="0" rtlCol="0" anchor="t">
            <a:spAutoFit/>
          </a:bodyPr>
          <a:lstStyle/>
          <a:p>
            <a:pPr algn="ctr">
              <a:lnSpc>
                <a:spcPts val="3926"/>
              </a:lnSpc>
              <a:spcBef>
                <a:spcPct val="0"/>
              </a:spcBef>
            </a:pPr>
            <a:r>
              <a:rPr lang="en-US" sz="2066" i="1" spc="30">
                <a:solidFill>
                  <a:srgbClr val="000000"/>
                </a:solidFill>
                <a:latin typeface="Canva Sans Italics"/>
                <a:ea typeface="Canva Sans Italics"/>
                <a:cs typeface="Canva Sans Italics"/>
                <a:sym typeface="Canva Sans Italics"/>
              </a:rPr>
              <a:t>s</a:t>
            </a:r>
          </a:p>
        </p:txBody>
      </p:sp>
      <p:sp>
        <p:nvSpPr>
          <p:cNvPr id="33" name="TextBox 33"/>
          <p:cNvSpPr txBox="1"/>
          <p:nvPr/>
        </p:nvSpPr>
        <p:spPr>
          <a:xfrm>
            <a:off x="8769642" y="6146329"/>
            <a:ext cx="556637" cy="444954"/>
          </a:xfrm>
          <a:prstGeom prst="rect">
            <a:avLst/>
          </a:prstGeom>
        </p:spPr>
        <p:txBody>
          <a:bodyPr lIns="0" tIns="0" rIns="0" bIns="0" rtlCol="0" anchor="t">
            <a:spAutoFit/>
          </a:bodyPr>
          <a:lstStyle/>
          <a:p>
            <a:pPr algn="ctr">
              <a:lnSpc>
                <a:spcPts val="3926"/>
              </a:lnSpc>
              <a:spcBef>
                <a:spcPct val="0"/>
              </a:spcBef>
            </a:pPr>
            <a:r>
              <a:rPr lang="en-US" sz="2066" i="1" spc="30">
                <a:solidFill>
                  <a:srgbClr val="000000"/>
                </a:solidFill>
                <a:latin typeface="Canva Sans Italics"/>
                <a:ea typeface="Canva Sans Italics"/>
                <a:cs typeface="Canva Sans Italics"/>
                <a:sym typeface="Canva Sans Italics"/>
              </a:rPr>
              <a:t>a</a:t>
            </a:r>
          </a:p>
        </p:txBody>
      </p:sp>
      <p:sp>
        <p:nvSpPr>
          <p:cNvPr id="34" name="AutoShape 34"/>
          <p:cNvSpPr/>
          <p:nvPr/>
        </p:nvSpPr>
        <p:spPr>
          <a:xfrm flipV="1">
            <a:off x="7349143" y="3802621"/>
            <a:ext cx="0" cy="1296548"/>
          </a:xfrm>
          <a:prstGeom prst="line">
            <a:avLst/>
          </a:prstGeom>
          <a:ln w="38100" cap="flat">
            <a:solidFill>
              <a:srgbClr val="FFC331"/>
            </a:solidFill>
            <a:prstDash val="solid"/>
            <a:headEnd type="arrow" w="med" len="sm"/>
            <a:tailEnd type="arrow" w="med" len="sm"/>
          </a:ln>
        </p:spPr>
        <p:txBody>
          <a:bodyPr/>
          <a:lstStyle/>
          <a:p>
            <a:endParaRPr lang="en-GB"/>
          </a:p>
        </p:txBody>
      </p:sp>
      <p:sp>
        <p:nvSpPr>
          <p:cNvPr id="35" name="AutoShape 35"/>
          <p:cNvSpPr/>
          <p:nvPr/>
        </p:nvSpPr>
        <p:spPr>
          <a:xfrm flipV="1">
            <a:off x="7376243" y="6001292"/>
            <a:ext cx="0" cy="1296548"/>
          </a:xfrm>
          <a:prstGeom prst="line">
            <a:avLst/>
          </a:prstGeom>
          <a:ln w="38100" cap="flat">
            <a:solidFill>
              <a:srgbClr val="FFC331"/>
            </a:solidFill>
            <a:prstDash val="solid"/>
            <a:headEnd type="arrow" w="med" len="sm"/>
            <a:tailEnd type="arrow" w="med" len="sm"/>
          </a:ln>
        </p:spPr>
        <p:txBody>
          <a:bodyPr/>
          <a:lstStyle/>
          <a:p>
            <a:endParaRPr lang="en-GB"/>
          </a:p>
        </p:txBody>
      </p:sp>
      <p:sp>
        <p:nvSpPr>
          <p:cNvPr id="36" name="TextBox 36"/>
          <p:cNvSpPr txBox="1"/>
          <p:nvPr/>
        </p:nvSpPr>
        <p:spPr>
          <a:xfrm rot="-5400000">
            <a:off x="6270537" y="4178666"/>
            <a:ext cx="1566663" cy="444954"/>
          </a:xfrm>
          <a:prstGeom prst="rect">
            <a:avLst/>
          </a:prstGeom>
        </p:spPr>
        <p:txBody>
          <a:bodyPr lIns="0" tIns="0" rIns="0" bIns="0" rtlCol="0" anchor="t">
            <a:spAutoFit/>
          </a:bodyPr>
          <a:lstStyle/>
          <a:p>
            <a:pPr algn="ctr">
              <a:lnSpc>
                <a:spcPts val="3926"/>
              </a:lnSpc>
              <a:spcBef>
                <a:spcPct val="0"/>
              </a:spcBef>
            </a:pPr>
            <a:r>
              <a:rPr lang="en-US" sz="2066" i="1" spc="30">
                <a:solidFill>
                  <a:srgbClr val="000000"/>
                </a:solidFill>
                <a:latin typeface="Canva Sans Italics"/>
                <a:ea typeface="Canva Sans Italics"/>
                <a:cs typeface="Canva Sans Italics"/>
                <a:sym typeface="Canva Sans Italics"/>
              </a:rPr>
              <a:t>messages</a:t>
            </a:r>
          </a:p>
        </p:txBody>
      </p:sp>
      <p:sp>
        <p:nvSpPr>
          <p:cNvPr id="37" name="TextBox 37"/>
          <p:cNvSpPr txBox="1"/>
          <p:nvPr/>
        </p:nvSpPr>
        <p:spPr>
          <a:xfrm rot="-5400000">
            <a:off x="6289587" y="6482331"/>
            <a:ext cx="1566663" cy="444954"/>
          </a:xfrm>
          <a:prstGeom prst="rect">
            <a:avLst/>
          </a:prstGeom>
        </p:spPr>
        <p:txBody>
          <a:bodyPr lIns="0" tIns="0" rIns="0" bIns="0" rtlCol="0" anchor="t">
            <a:spAutoFit/>
          </a:bodyPr>
          <a:lstStyle/>
          <a:p>
            <a:pPr algn="ctr">
              <a:lnSpc>
                <a:spcPts val="3926"/>
              </a:lnSpc>
              <a:spcBef>
                <a:spcPct val="0"/>
              </a:spcBef>
            </a:pPr>
            <a:r>
              <a:rPr lang="en-US" sz="2066" i="1" spc="30">
                <a:solidFill>
                  <a:srgbClr val="000000"/>
                </a:solidFill>
                <a:latin typeface="Canva Sans Italics"/>
                <a:ea typeface="Canva Sans Italics"/>
                <a:cs typeface="Canva Sans Italics"/>
                <a:sym typeface="Canva Sans Italics"/>
              </a:rPr>
              <a:t>messages</a:t>
            </a:r>
          </a:p>
        </p:txBody>
      </p:sp>
      <p:grpSp>
        <p:nvGrpSpPr>
          <p:cNvPr id="38" name="Group 38"/>
          <p:cNvGrpSpPr/>
          <p:nvPr/>
        </p:nvGrpSpPr>
        <p:grpSpPr>
          <a:xfrm>
            <a:off x="10184377" y="628055"/>
            <a:ext cx="7919274" cy="5362051"/>
            <a:chOff x="0" y="0"/>
            <a:chExt cx="2085735" cy="1412227"/>
          </a:xfrm>
        </p:grpSpPr>
        <p:sp>
          <p:nvSpPr>
            <p:cNvPr id="39" name="Freeform 39"/>
            <p:cNvSpPr/>
            <p:nvPr/>
          </p:nvSpPr>
          <p:spPr>
            <a:xfrm>
              <a:off x="0" y="0"/>
              <a:ext cx="2085735" cy="1412227"/>
            </a:xfrm>
            <a:custGeom>
              <a:avLst/>
              <a:gdLst/>
              <a:ahLst/>
              <a:cxnLst/>
              <a:rect l="l" t="t" r="r" b="b"/>
              <a:pathLst>
                <a:path w="2085735" h="1412227">
                  <a:moveTo>
                    <a:pt x="49858" y="0"/>
                  </a:moveTo>
                  <a:lnTo>
                    <a:pt x="2035877" y="0"/>
                  </a:lnTo>
                  <a:cubicBezTo>
                    <a:pt x="2049100" y="0"/>
                    <a:pt x="2061782" y="5253"/>
                    <a:pt x="2071132" y="14603"/>
                  </a:cubicBezTo>
                  <a:cubicBezTo>
                    <a:pt x="2080482" y="23953"/>
                    <a:pt x="2085735" y="36635"/>
                    <a:pt x="2085735" y="49858"/>
                  </a:cubicBezTo>
                  <a:lnTo>
                    <a:pt x="2085735" y="1362370"/>
                  </a:lnTo>
                  <a:cubicBezTo>
                    <a:pt x="2085735" y="1375593"/>
                    <a:pt x="2080482" y="1388274"/>
                    <a:pt x="2071132" y="1397624"/>
                  </a:cubicBezTo>
                  <a:cubicBezTo>
                    <a:pt x="2061782" y="1406975"/>
                    <a:pt x="2049100" y="1412227"/>
                    <a:pt x="2035877" y="1412227"/>
                  </a:cubicBezTo>
                  <a:lnTo>
                    <a:pt x="49858" y="1412227"/>
                  </a:lnTo>
                  <a:cubicBezTo>
                    <a:pt x="36635" y="1412227"/>
                    <a:pt x="23953" y="1406975"/>
                    <a:pt x="14603" y="1397624"/>
                  </a:cubicBezTo>
                  <a:cubicBezTo>
                    <a:pt x="5253" y="1388274"/>
                    <a:pt x="0" y="1375593"/>
                    <a:pt x="0" y="1362370"/>
                  </a:cubicBezTo>
                  <a:lnTo>
                    <a:pt x="0" y="49858"/>
                  </a:lnTo>
                  <a:cubicBezTo>
                    <a:pt x="0" y="36635"/>
                    <a:pt x="5253" y="23953"/>
                    <a:pt x="14603" y="14603"/>
                  </a:cubicBezTo>
                  <a:cubicBezTo>
                    <a:pt x="23953" y="5253"/>
                    <a:pt x="36635" y="0"/>
                    <a:pt x="49858" y="0"/>
                  </a:cubicBezTo>
                  <a:close/>
                </a:path>
              </a:pathLst>
            </a:custGeom>
            <a:solidFill>
              <a:srgbClr val="C1FF72"/>
            </a:solidFill>
          </p:spPr>
          <p:txBody>
            <a:bodyPr/>
            <a:lstStyle/>
            <a:p>
              <a:endParaRPr lang="en-GB"/>
            </a:p>
          </p:txBody>
        </p:sp>
        <p:sp>
          <p:nvSpPr>
            <p:cNvPr id="40" name="TextBox 40"/>
            <p:cNvSpPr txBox="1"/>
            <p:nvPr/>
          </p:nvSpPr>
          <p:spPr>
            <a:xfrm>
              <a:off x="0" y="-19050"/>
              <a:ext cx="2085735" cy="1431277"/>
            </a:xfrm>
            <a:prstGeom prst="rect">
              <a:avLst/>
            </a:prstGeom>
          </p:spPr>
          <p:txBody>
            <a:bodyPr lIns="139700" tIns="139700" rIns="139700" bIns="139700" rtlCol="0" anchor="t"/>
            <a:lstStyle/>
            <a:p>
              <a:pPr algn="l">
                <a:lnSpc>
                  <a:spcPts val="3099"/>
                </a:lnSpc>
              </a:pPr>
              <a:endParaRPr/>
            </a:p>
            <a:p>
              <a:pPr algn="l">
                <a:lnSpc>
                  <a:spcPts val="3099"/>
                </a:lnSpc>
              </a:pPr>
              <a:endParaRPr/>
            </a:p>
            <a:p>
              <a:pPr marL="510886" lvl="1" indent="-255443" algn="l">
                <a:lnSpc>
                  <a:spcPts val="3099"/>
                </a:lnSpc>
                <a:buAutoNum type="arabicPeriod"/>
              </a:pPr>
              <a:r>
                <a:rPr lang="en-US" sz="2366" spc="35">
                  <a:solidFill>
                    <a:srgbClr val="000000"/>
                  </a:solidFill>
                  <a:latin typeface="Canva Sans"/>
                  <a:ea typeface="Canva Sans"/>
                  <a:cs typeface="Canva Sans"/>
                  <a:sym typeface="Canva Sans"/>
                </a:rPr>
                <a:t> The system shall reduce average vehicle waiting time at intersections by compared to fixed-time traffic lights</a:t>
              </a:r>
            </a:p>
            <a:p>
              <a:pPr marL="510886" lvl="1" indent="-255443" algn="l">
                <a:lnSpc>
                  <a:spcPts val="3099"/>
                </a:lnSpc>
                <a:buAutoNum type="arabicPeriod"/>
              </a:pPr>
              <a:r>
                <a:rPr lang="en-US" sz="2366" spc="35">
                  <a:solidFill>
                    <a:srgbClr val="000000"/>
                  </a:solidFill>
                  <a:latin typeface="Canva Sans"/>
                  <a:ea typeface="Canva Sans"/>
                  <a:cs typeface="Canva Sans"/>
                  <a:sym typeface="Canva Sans"/>
                </a:rPr>
                <a:t>Intersections shall coordinate with neighboring intersections to optimize city-wide traffic flow</a:t>
              </a:r>
            </a:p>
            <a:p>
              <a:pPr marL="510886" lvl="1" indent="-255443" algn="l">
                <a:lnSpc>
                  <a:spcPts val="3099"/>
                </a:lnSpc>
                <a:buAutoNum type="arabicPeriod"/>
              </a:pPr>
              <a:r>
                <a:rPr lang="en-US" sz="2366" spc="35">
                  <a:solidFill>
                    <a:srgbClr val="000000"/>
                  </a:solidFill>
                  <a:latin typeface="Canva Sans"/>
                  <a:ea typeface="Canva Sans"/>
                  <a:cs typeface="Canva Sans"/>
                  <a:sym typeface="Canva Sans"/>
                </a:rPr>
                <a:t>Scalability</a:t>
              </a:r>
            </a:p>
            <a:p>
              <a:pPr marL="510886" lvl="1" indent="-255443" algn="l">
                <a:lnSpc>
                  <a:spcPts val="3099"/>
                </a:lnSpc>
                <a:buAutoNum type="arabicPeriod"/>
              </a:pPr>
              <a:r>
                <a:rPr lang="en-US" sz="2366" spc="35">
                  <a:solidFill>
                    <a:srgbClr val="000000"/>
                  </a:solidFill>
                  <a:latin typeface="Canva Sans"/>
                  <a:ea typeface="Canva Sans"/>
                  <a:cs typeface="Canva Sans"/>
                  <a:sym typeface="Canva Sans"/>
                </a:rPr>
                <a:t>Traffic signals shall adjust timing based on real-time vehicle queues</a:t>
              </a:r>
            </a:p>
            <a:p>
              <a:pPr marL="510886" lvl="1" indent="-255443" algn="l">
                <a:lnSpc>
                  <a:spcPts val="3099"/>
                </a:lnSpc>
                <a:buAutoNum type="arabicPeriod"/>
              </a:pPr>
              <a:r>
                <a:rPr lang="en-US" sz="2366" spc="35">
                  <a:solidFill>
                    <a:srgbClr val="000000"/>
                  </a:solidFill>
                  <a:latin typeface="Canva Sans"/>
                  <a:ea typeface="Canva Sans"/>
                  <a:cs typeface="Canva Sans"/>
                  <a:sym typeface="Canva Sans"/>
                </a:rPr>
                <a:t>A dashboard that shows system comparison prediction before switching to the system</a:t>
              </a:r>
            </a:p>
            <a:p>
              <a:pPr marL="510886" lvl="1" indent="-255443" algn="l">
                <a:lnSpc>
                  <a:spcPts val="3099"/>
                </a:lnSpc>
                <a:buAutoNum type="arabicPeriod"/>
              </a:pPr>
              <a:r>
                <a:rPr lang="en-US" sz="2366" spc="35">
                  <a:solidFill>
                    <a:srgbClr val="000000"/>
                  </a:solidFill>
                  <a:latin typeface="Canva Sans"/>
                  <a:ea typeface="Canva Sans"/>
                  <a:cs typeface="Canva Sans"/>
                  <a:sym typeface="Canva Sans"/>
                </a:rPr>
                <a:t>flexibilty to switch in between systems controls</a:t>
              </a:r>
            </a:p>
          </p:txBody>
        </p:sp>
      </p:grpSp>
      <p:grpSp>
        <p:nvGrpSpPr>
          <p:cNvPr id="41" name="Group 41"/>
          <p:cNvGrpSpPr/>
          <p:nvPr/>
        </p:nvGrpSpPr>
        <p:grpSpPr>
          <a:xfrm>
            <a:off x="10089127" y="628055"/>
            <a:ext cx="8081199" cy="779315"/>
            <a:chOff x="0" y="0"/>
            <a:chExt cx="2128382" cy="205252"/>
          </a:xfrm>
        </p:grpSpPr>
        <p:sp>
          <p:nvSpPr>
            <p:cNvPr id="42" name="Freeform 42"/>
            <p:cNvSpPr/>
            <p:nvPr/>
          </p:nvSpPr>
          <p:spPr>
            <a:xfrm>
              <a:off x="0" y="0"/>
              <a:ext cx="2128382" cy="205252"/>
            </a:xfrm>
            <a:custGeom>
              <a:avLst/>
              <a:gdLst/>
              <a:ahLst/>
              <a:cxnLst/>
              <a:rect l="l" t="t" r="r" b="b"/>
              <a:pathLst>
                <a:path w="2128382" h="205252">
                  <a:moveTo>
                    <a:pt x="48859" y="0"/>
                  </a:moveTo>
                  <a:lnTo>
                    <a:pt x="2079523" y="0"/>
                  </a:lnTo>
                  <a:cubicBezTo>
                    <a:pt x="2106507" y="0"/>
                    <a:pt x="2128382" y="21875"/>
                    <a:pt x="2128382" y="48859"/>
                  </a:cubicBezTo>
                  <a:lnTo>
                    <a:pt x="2128382" y="156393"/>
                  </a:lnTo>
                  <a:cubicBezTo>
                    <a:pt x="2128382" y="183377"/>
                    <a:pt x="2106507" y="205252"/>
                    <a:pt x="2079523" y="205252"/>
                  </a:cubicBezTo>
                  <a:lnTo>
                    <a:pt x="48859" y="205252"/>
                  </a:lnTo>
                  <a:cubicBezTo>
                    <a:pt x="21875" y="205252"/>
                    <a:pt x="0" y="183377"/>
                    <a:pt x="0" y="156393"/>
                  </a:cubicBezTo>
                  <a:lnTo>
                    <a:pt x="0" y="48859"/>
                  </a:lnTo>
                  <a:cubicBezTo>
                    <a:pt x="0" y="21875"/>
                    <a:pt x="21875" y="0"/>
                    <a:pt x="48859" y="0"/>
                  </a:cubicBezTo>
                  <a:close/>
                </a:path>
              </a:pathLst>
            </a:custGeom>
            <a:gradFill rotWithShape="1">
              <a:gsLst>
                <a:gs pos="0">
                  <a:srgbClr val="180754">
                    <a:alpha val="100000"/>
                  </a:srgbClr>
                </a:gs>
                <a:gs pos="100000">
                  <a:srgbClr val="070030">
                    <a:alpha val="100000"/>
                  </a:srgbClr>
                </a:gs>
              </a:gsLst>
              <a:lin ang="0"/>
            </a:gradFill>
          </p:spPr>
          <p:txBody>
            <a:bodyPr/>
            <a:lstStyle/>
            <a:p>
              <a:endParaRPr lang="en-GB"/>
            </a:p>
          </p:txBody>
        </p:sp>
        <p:sp>
          <p:nvSpPr>
            <p:cNvPr id="43" name="TextBox 43"/>
            <p:cNvSpPr txBox="1"/>
            <p:nvPr/>
          </p:nvSpPr>
          <p:spPr>
            <a:xfrm>
              <a:off x="0" y="-200025"/>
              <a:ext cx="2128382" cy="405277"/>
            </a:xfrm>
            <a:prstGeom prst="rect">
              <a:avLst/>
            </a:prstGeom>
          </p:spPr>
          <p:txBody>
            <a:bodyPr lIns="50800" tIns="50800" rIns="50800" bIns="50800" rtlCol="0" anchor="ctr"/>
            <a:lstStyle/>
            <a:p>
              <a:pPr algn="ctr">
                <a:lnSpc>
                  <a:spcPts val="5700"/>
                </a:lnSpc>
              </a:pPr>
              <a:r>
                <a:rPr lang="en-US" sz="3000" spc="44">
                  <a:solidFill>
                    <a:srgbClr val="FFFFFF"/>
                  </a:solidFill>
                  <a:latin typeface="Canva Sans"/>
                  <a:ea typeface="Canva Sans"/>
                  <a:cs typeface="Canva Sans"/>
                  <a:sym typeface="Canva Sans"/>
                </a:rPr>
                <a:t>User Requirements</a:t>
              </a:r>
            </a:p>
          </p:txBody>
        </p:sp>
      </p:grpSp>
      <p:grpSp>
        <p:nvGrpSpPr>
          <p:cNvPr id="44" name="Group 44"/>
          <p:cNvGrpSpPr/>
          <p:nvPr/>
        </p:nvGrpSpPr>
        <p:grpSpPr>
          <a:xfrm>
            <a:off x="10184377" y="6084808"/>
            <a:ext cx="7919274" cy="3409426"/>
            <a:chOff x="0" y="0"/>
            <a:chExt cx="2085735" cy="897956"/>
          </a:xfrm>
        </p:grpSpPr>
        <p:sp>
          <p:nvSpPr>
            <p:cNvPr id="45" name="Freeform 45"/>
            <p:cNvSpPr/>
            <p:nvPr/>
          </p:nvSpPr>
          <p:spPr>
            <a:xfrm>
              <a:off x="0" y="0"/>
              <a:ext cx="2085735" cy="897956"/>
            </a:xfrm>
            <a:custGeom>
              <a:avLst/>
              <a:gdLst/>
              <a:ahLst/>
              <a:cxnLst/>
              <a:rect l="l" t="t" r="r" b="b"/>
              <a:pathLst>
                <a:path w="2085735" h="897956">
                  <a:moveTo>
                    <a:pt x="49858" y="0"/>
                  </a:moveTo>
                  <a:lnTo>
                    <a:pt x="2035877" y="0"/>
                  </a:lnTo>
                  <a:cubicBezTo>
                    <a:pt x="2049100" y="0"/>
                    <a:pt x="2061782" y="5253"/>
                    <a:pt x="2071132" y="14603"/>
                  </a:cubicBezTo>
                  <a:cubicBezTo>
                    <a:pt x="2080482" y="23953"/>
                    <a:pt x="2085735" y="36635"/>
                    <a:pt x="2085735" y="49858"/>
                  </a:cubicBezTo>
                  <a:lnTo>
                    <a:pt x="2085735" y="848098"/>
                  </a:lnTo>
                  <a:cubicBezTo>
                    <a:pt x="2085735" y="861321"/>
                    <a:pt x="2080482" y="874003"/>
                    <a:pt x="2071132" y="883353"/>
                  </a:cubicBezTo>
                  <a:cubicBezTo>
                    <a:pt x="2061782" y="892703"/>
                    <a:pt x="2049100" y="897956"/>
                    <a:pt x="2035877" y="897956"/>
                  </a:cubicBezTo>
                  <a:lnTo>
                    <a:pt x="49858" y="897956"/>
                  </a:lnTo>
                  <a:cubicBezTo>
                    <a:pt x="36635" y="897956"/>
                    <a:pt x="23953" y="892703"/>
                    <a:pt x="14603" y="883353"/>
                  </a:cubicBezTo>
                  <a:cubicBezTo>
                    <a:pt x="5253" y="874003"/>
                    <a:pt x="0" y="861321"/>
                    <a:pt x="0" y="848098"/>
                  </a:cubicBezTo>
                  <a:lnTo>
                    <a:pt x="0" y="49858"/>
                  </a:lnTo>
                  <a:cubicBezTo>
                    <a:pt x="0" y="36635"/>
                    <a:pt x="5253" y="23953"/>
                    <a:pt x="14603" y="14603"/>
                  </a:cubicBezTo>
                  <a:cubicBezTo>
                    <a:pt x="23953" y="5253"/>
                    <a:pt x="36635" y="0"/>
                    <a:pt x="49858" y="0"/>
                  </a:cubicBezTo>
                  <a:close/>
                </a:path>
              </a:pathLst>
            </a:custGeom>
            <a:solidFill>
              <a:srgbClr val="C1FF72"/>
            </a:solidFill>
          </p:spPr>
          <p:txBody>
            <a:bodyPr/>
            <a:lstStyle/>
            <a:p>
              <a:endParaRPr lang="en-GB"/>
            </a:p>
          </p:txBody>
        </p:sp>
        <p:sp>
          <p:nvSpPr>
            <p:cNvPr id="46" name="TextBox 46"/>
            <p:cNvSpPr txBox="1"/>
            <p:nvPr/>
          </p:nvSpPr>
          <p:spPr>
            <a:xfrm>
              <a:off x="0" y="-19050"/>
              <a:ext cx="2085735" cy="917006"/>
            </a:xfrm>
            <a:prstGeom prst="rect">
              <a:avLst/>
            </a:prstGeom>
          </p:spPr>
          <p:txBody>
            <a:bodyPr lIns="139700" tIns="139700" rIns="139700" bIns="139700" rtlCol="0" anchor="t"/>
            <a:lstStyle/>
            <a:p>
              <a:pPr algn="l">
                <a:lnSpc>
                  <a:spcPts val="3099"/>
                </a:lnSpc>
              </a:pPr>
              <a:endParaRPr/>
            </a:p>
            <a:p>
              <a:pPr algn="l">
                <a:lnSpc>
                  <a:spcPts val="3099"/>
                </a:lnSpc>
              </a:pPr>
              <a:endParaRPr/>
            </a:p>
            <a:p>
              <a:pPr marL="510886" lvl="1" indent="-255443" algn="l">
                <a:lnSpc>
                  <a:spcPts val="3099"/>
                </a:lnSpc>
                <a:buAutoNum type="arabicPeriod"/>
              </a:pPr>
              <a:r>
                <a:rPr lang="en-US" sz="2366" spc="35">
                  <a:solidFill>
                    <a:srgbClr val="000000"/>
                  </a:solidFill>
                  <a:latin typeface="Canva Sans"/>
                  <a:ea typeface="Canva Sans"/>
                  <a:cs typeface="Canva Sans"/>
                  <a:sym typeface="Canva Sans"/>
                </a:rPr>
                <a:t> VDN Architecture Implementation through CT</a:t>
              </a:r>
            </a:p>
            <a:p>
              <a:pPr marL="510886" lvl="1" indent="-255443" algn="l">
                <a:lnSpc>
                  <a:spcPts val="3099"/>
                </a:lnSpc>
                <a:buAutoNum type="arabicPeriod"/>
              </a:pPr>
              <a:r>
                <a:rPr lang="en-US" sz="2366" spc="35">
                  <a:solidFill>
                    <a:srgbClr val="000000"/>
                  </a:solidFill>
                  <a:latin typeface="Canva Sans"/>
                  <a:ea typeface="Canva Sans"/>
                  <a:cs typeface="Canva Sans"/>
                  <a:sym typeface="Canva Sans"/>
                </a:rPr>
                <a:t>DE with Real-time Control</a:t>
              </a:r>
            </a:p>
            <a:p>
              <a:pPr marL="510886" lvl="1" indent="-255443" algn="l">
                <a:lnSpc>
                  <a:spcPts val="3099"/>
                </a:lnSpc>
                <a:buAutoNum type="arabicPeriod"/>
              </a:pPr>
              <a:r>
                <a:rPr lang="en-US" sz="2366" spc="35">
                  <a:solidFill>
                    <a:srgbClr val="000000"/>
                  </a:solidFill>
                  <a:latin typeface="Canva Sans"/>
                  <a:ea typeface="Canva Sans"/>
                  <a:cs typeface="Canva Sans"/>
                  <a:sym typeface="Canva Sans"/>
                </a:rPr>
                <a:t> Lightweight Communication Protocol for inter agent communication</a:t>
              </a:r>
            </a:p>
            <a:p>
              <a:pPr marL="510886" lvl="1" indent="-255443" algn="l">
                <a:lnSpc>
                  <a:spcPts val="3099"/>
                </a:lnSpc>
                <a:buAutoNum type="arabicPeriod"/>
              </a:pPr>
              <a:r>
                <a:rPr lang="en-US" sz="2366" spc="35">
                  <a:solidFill>
                    <a:srgbClr val="000000"/>
                  </a:solidFill>
                  <a:latin typeface="Canva Sans"/>
                  <a:ea typeface="Canva Sans"/>
                  <a:cs typeface="Canva Sans"/>
                  <a:sym typeface="Canva Sans"/>
                </a:rPr>
                <a:t>Dashboard Integration for metrics analysis and research purposes</a:t>
              </a:r>
            </a:p>
          </p:txBody>
        </p:sp>
      </p:grpSp>
      <p:grpSp>
        <p:nvGrpSpPr>
          <p:cNvPr id="47" name="Group 47"/>
          <p:cNvGrpSpPr/>
          <p:nvPr/>
        </p:nvGrpSpPr>
        <p:grpSpPr>
          <a:xfrm>
            <a:off x="10126379" y="6092105"/>
            <a:ext cx="8081199" cy="779315"/>
            <a:chOff x="0" y="0"/>
            <a:chExt cx="2128382" cy="205252"/>
          </a:xfrm>
        </p:grpSpPr>
        <p:sp>
          <p:nvSpPr>
            <p:cNvPr id="48" name="Freeform 48"/>
            <p:cNvSpPr/>
            <p:nvPr/>
          </p:nvSpPr>
          <p:spPr>
            <a:xfrm>
              <a:off x="0" y="0"/>
              <a:ext cx="2128382" cy="205252"/>
            </a:xfrm>
            <a:custGeom>
              <a:avLst/>
              <a:gdLst/>
              <a:ahLst/>
              <a:cxnLst/>
              <a:rect l="l" t="t" r="r" b="b"/>
              <a:pathLst>
                <a:path w="2128382" h="205252">
                  <a:moveTo>
                    <a:pt x="48859" y="0"/>
                  </a:moveTo>
                  <a:lnTo>
                    <a:pt x="2079523" y="0"/>
                  </a:lnTo>
                  <a:cubicBezTo>
                    <a:pt x="2106507" y="0"/>
                    <a:pt x="2128382" y="21875"/>
                    <a:pt x="2128382" y="48859"/>
                  </a:cubicBezTo>
                  <a:lnTo>
                    <a:pt x="2128382" y="156393"/>
                  </a:lnTo>
                  <a:cubicBezTo>
                    <a:pt x="2128382" y="183377"/>
                    <a:pt x="2106507" y="205252"/>
                    <a:pt x="2079523" y="205252"/>
                  </a:cubicBezTo>
                  <a:lnTo>
                    <a:pt x="48859" y="205252"/>
                  </a:lnTo>
                  <a:cubicBezTo>
                    <a:pt x="21875" y="205252"/>
                    <a:pt x="0" y="183377"/>
                    <a:pt x="0" y="156393"/>
                  </a:cubicBezTo>
                  <a:lnTo>
                    <a:pt x="0" y="48859"/>
                  </a:lnTo>
                  <a:cubicBezTo>
                    <a:pt x="0" y="21875"/>
                    <a:pt x="21875" y="0"/>
                    <a:pt x="48859" y="0"/>
                  </a:cubicBezTo>
                  <a:close/>
                </a:path>
              </a:pathLst>
            </a:custGeom>
            <a:gradFill rotWithShape="1">
              <a:gsLst>
                <a:gs pos="0">
                  <a:srgbClr val="180754">
                    <a:alpha val="100000"/>
                  </a:srgbClr>
                </a:gs>
                <a:gs pos="100000">
                  <a:srgbClr val="070030">
                    <a:alpha val="100000"/>
                  </a:srgbClr>
                </a:gs>
              </a:gsLst>
              <a:lin ang="0"/>
            </a:gradFill>
          </p:spPr>
          <p:txBody>
            <a:bodyPr/>
            <a:lstStyle/>
            <a:p>
              <a:endParaRPr lang="en-GB"/>
            </a:p>
          </p:txBody>
        </p:sp>
        <p:sp>
          <p:nvSpPr>
            <p:cNvPr id="49" name="TextBox 49"/>
            <p:cNvSpPr txBox="1"/>
            <p:nvPr/>
          </p:nvSpPr>
          <p:spPr>
            <a:xfrm>
              <a:off x="0" y="-200025"/>
              <a:ext cx="2128382" cy="405277"/>
            </a:xfrm>
            <a:prstGeom prst="rect">
              <a:avLst/>
            </a:prstGeom>
          </p:spPr>
          <p:txBody>
            <a:bodyPr lIns="50800" tIns="50800" rIns="50800" bIns="50800" rtlCol="0" anchor="ctr"/>
            <a:lstStyle/>
            <a:p>
              <a:pPr algn="ctr">
                <a:lnSpc>
                  <a:spcPts val="5700"/>
                </a:lnSpc>
              </a:pPr>
              <a:r>
                <a:rPr lang="en-US" sz="3000" spc="44">
                  <a:solidFill>
                    <a:srgbClr val="FFFFFF"/>
                  </a:solidFill>
                  <a:latin typeface="Canva Sans"/>
                  <a:ea typeface="Canva Sans"/>
                  <a:cs typeface="Canva Sans"/>
                  <a:sym typeface="Canva Sans"/>
                </a:rPr>
                <a:t>Functional Requirements</a:t>
              </a:r>
            </a:p>
          </p:txBody>
        </p:sp>
      </p:gr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4173200" y="605040"/>
            <a:ext cx="3086100" cy="4114800"/>
          </a:xfrm>
          <a:custGeom>
            <a:avLst/>
            <a:gdLst/>
            <a:ahLst/>
            <a:cxnLst/>
            <a:rect l="l" t="t" r="r" b="b"/>
            <a:pathLst>
              <a:path w="3086100" h="4114800">
                <a:moveTo>
                  <a:pt x="0" y="0"/>
                </a:moveTo>
                <a:lnTo>
                  <a:pt x="3086100" y="0"/>
                </a:lnTo>
                <a:lnTo>
                  <a:pt x="3086100" y="4114800"/>
                </a:lnTo>
                <a:lnTo>
                  <a:pt x="0" y="41148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1028700" y="4510290"/>
            <a:ext cx="12025716" cy="2287017"/>
          </a:xfrm>
          <a:prstGeom prst="rect">
            <a:avLst/>
          </a:prstGeom>
        </p:spPr>
        <p:txBody>
          <a:bodyPr lIns="0" tIns="0" rIns="0" bIns="0" rtlCol="0" anchor="t">
            <a:spAutoFit/>
          </a:bodyPr>
          <a:lstStyle/>
          <a:p>
            <a:pPr marL="0" lvl="0" indent="0" algn="just">
              <a:lnSpc>
                <a:spcPts val="9321"/>
              </a:lnSpc>
            </a:pPr>
            <a:r>
              <a:rPr lang="en-US" sz="5899" b="1" spc="88">
                <a:solidFill>
                  <a:srgbClr val="3D2812"/>
                </a:solidFill>
                <a:latin typeface="Canva Sans Bold"/>
                <a:ea typeface="Canva Sans Bold"/>
                <a:cs typeface="Canva Sans Bold"/>
                <a:sym typeface="Canva Sans Bold"/>
              </a:rPr>
              <a:t>IT22346568   |   Sangeerthan S</a:t>
            </a:r>
          </a:p>
          <a:p>
            <a:pPr marL="0" lvl="0" indent="0" algn="just">
              <a:lnSpc>
                <a:spcPts val="9321"/>
              </a:lnSpc>
            </a:pPr>
            <a:r>
              <a:rPr lang="en-US" sz="5899" b="1" spc="88">
                <a:solidFill>
                  <a:srgbClr val="3D2812"/>
                </a:solidFill>
                <a:latin typeface="Canva Sans Bold"/>
                <a:ea typeface="Canva Sans Bold"/>
                <a:cs typeface="Canva Sans Bold"/>
                <a:sym typeface="Canva Sans Bold"/>
              </a:rPr>
              <a:t>Software Engineering</a:t>
            </a:r>
          </a:p>
        </p:txBody>
      </p:sp>
      <p:sp>
        <p:nvSpPr>
          <p:cNvPr id="4" name="TextBox 4"/>
          <p:cNvSpPr txBox="1"/>
          <p:nvPr/>
        </p:nvSpPr>
        <p:spPr>
          <a:xfrm>
            <a:off x="1028700" y="7210627"/>
            <a:ext cx="14083673" cy="1593489"/>
          </a:xfrm>
          <a:prstGeom prst="rect">
            <a:avLst/>
          </a:prstGeom>
        </p:spPr>
        <p:txBody>
          <a:bodyPr lIns="0" tIns="0" rIns="0" bIns="0" rtlCol="0" anchor="t">
            <a:spAutoFit/>
          </a:bodyPr>
          <a:lstStyle/>
          <a:p>
            <a:pPr marL="0" lvl="0" indent="0" algn="l">
              <a:lnSpc>
                <a:spcPts val="5998"/>
              </a:lnSpc>
            </a:pPr>
            <a:r>
              <a:rPr lang="en-US" sz="4614" b="1" spc="69">
                <a:solidFill>
                  <a:srgbClr val="3D2812"/>
                </a:solidFill>
                <a:latin typeface="The Seasons Bold"/>
                <a:ea typeface="The Seasons Bold"/>
                <a:cs typeface="The Seasons Bold"/>
                <a:sym typeface="The Seasons Bold"/>
              </a:rPr>
              <a:t>EMERGENCY VEHICLE DETECTION AND TRIGGERING SIGNAL IN SUMO SIMULATOR </a:t>
            </a:r>
          </a:p>
        </p:txBody>
      </p:sp>
      <p:grpSp>
        <p:nvGrpSpPr>
          <p:cNvPr id="5" name="Group 5"/>
          <p:cNvGrpSpPr/>
          <p:nvPr/>
        </p:nvGrpSpPr>
        <p:grpSpPr>
          <a:xfrm>
            <a:off x="0" y="9322212"/>
            <a:ext cx="16446351" cy="964788"/>
            <a:chOff x="0" y="0"/>
            <a:chExt cx="21928468" cy="1286384"/>
          </a:xfrm>
        </p:grpSpPr>
        <p:sp>
          <p:nvSpPr>
            <p:cNvPr id="6" name="Freeform 6"/>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3"/>
              <a:stretch>
                <a:fillRect/>
              </a:stretch>
            </a:blipFill>
          </p:spPr>
          <p:txBody>
            <a:bodyPr/>
            <a:lstStyle/>
            <a:p>
              <a:endParaRPr lang="en-GB"/>
            </a:p>
          </p:txBody>
        </p:sp>
        <p:sp>
          <p:nvSpPr>
            <p:cNvPr id="7" name="TextBox 7"/>
            <p:cNvSpPr txBox="1"/>
            <p:nvPr/>
          </p:nvSpPr>
          <p:spPr>
            <a:xfrm>
              <a:off x="5438298" y="538417"/>
              <a:ext cx="11493275"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IT22346568       |       Sangeerthan S      |       25-26J-473 </a:t>
              </a:r>
            </a:p>
          </p:txBody>
        </p:sp>
        <p:sp>
          <p:nvSpPr>
            <p:cNvPr id="8" name="TextBox 8"/>
            <p:cNvSpPr txBox="1"/>
            <p:nvPr/>
          </p:nvSpPr>
          <p:spPr>
            <a:xfrm>
              <a:off x="17904380" y="471742"/>
              <a:ext cx="4024088" cy="692757"/>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grpSp>
      <p:sp>
        <p:nvSpPr>
          <p:cNvPr id="9" name="TextBox 9"/>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13</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0" y="9322212"/>
            <a:ext cx="16446351" cy="964788"/>
            <a:chOff x="0" y="0"/>
            <a:chExt cx="21928468" cy="1286384"/>
          </a:xfrm>
        </p:grpSpPr>
        <p:sp>
          <p:nvSpPr>
            <p:cNvPr id="3" name="Freeform 3"/>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2"/>
              <a:stretch>
                <a:fillRect/>
              </a:stretch>
            </a:blipFill>
          </p:spPr>
          <p:txBody>
            <a:bodyPr/>
            <a:lstStyle/>
            <a:p>
              <a:endParaRPr lang="en-GB"/>
            </a:p>
          </p:txBody>
        </p:sp>
        <p:sp>
          <p:nvSpPr>
            <p:cNvPr id="4" name="TextBox 4"/>
            <p:cNvSpPr txBox="1"/>
            <p:nvPr/>
          </p:nvSpPr>
          <p:spPr>
            <a:xfrm>
              <a:off x="5438298" y="538417"/>
              <a:ext cx="11493275"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IT22346568       |       Sangeerthan S      |       25-26J-473 </a:t>
              </a:r>
            </a:p>
          </p:txBody>
        </p:sp>
        <p:sp>
          <p:nvSpPr>
            <p:cNvPr id="5" name="TextBox 5"/>
            <p:cNvSpPr txBox="1"/>
            <p:nvPr/>
          </p:nvSpPr>
          <p:spPr>
            <a:xfrm>
              <a:off x="17904380" y="471742"/>
              <a:ext cx="4024088" cy="692757"/>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grpSp>
      <p:sp>
        <p:nvSpPr>
          <p:cNvPr id="6" name="TextBox 6"/>
          <p:cNvSpPr txBox="1"/>
          <p:nvPr/>
        </p:nvSpPr>
        <p:spPr>
          <a:xfrm>
            <a:off x="2504404" y="142420"/>
            <a:ext cx="13941947" cy="562430"/>
          </a:xfrm>
          <a:prstGeom prst="rect">
            <a:avLst/>
          </a:prstGeom>
        </p:spPr>
        <p:txBody>
          <a:bodyPr lIns="0" tIns="0" rIns="0" bIns="0" rtlCol="0" anchor="t">
            <a:spAutoFit/>
          </a:bodyPr>
          <a:lstStyle/>
          <a:p>
            <a:pPr algn="ctr">
              <a:lnSpc>
                <a:spcPts val="4875"/>
              </a:lnSpc>
              <a:spcBef>
                <a:spcPct val="0"/>
              </a:spcBef>
            </a:pPr>
            <a:r>
              <a:rPr lang="en-US" sz="2566" i="1" spc="38">
                <a:solidFill>
                  <a:srgbClr val="000000"/>
                </a:solidFill>
                <a:latin typeface="Canva Sans Italics"/>
                <a:ea typeface="Canva Sans Italics"/>
                <a:cs typeface="Canva Sans Italics"/>
                <a:sym typeface="Canva Sans Italics"/>
              </a:rPr>
              <a:t>EMERGENCY VEHICLE DETECTION AND TRIGGERING SIGNAL</a:t>
            </a:r>
          </a:p>
        </p:txBody>
      </p:sp>
      <p:sp>
        <p:nvSpPr>
          <p:cNvPr id="7" name="TextBox 7"/>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14</a:t>
            </a:r>
          </a:p>
        </p:txBody>
      </p:sp>
      <p:sp>
        <p:nvSpPr>
          <p:cNvPr id="8" name="TextBox 8"/>
          <p:cNvSpPr txBox="1"/>
          <p:nvPr/>
        </p:nvSpPr>
        <p:spPr>
          <a:xfrm>
            <a:off x="1129904" y="1764030"/>
            <a:ext cx="16690947" cy="3775710"/>
          </a:xfrm>
          <a:prstGeom prst="rect">
            <a:avLst/>
          </a:prstGeom>
        </p:spPr>
        <p:txBody>
          <a:bodyPr lIns="0" tIns="0" rIns="0" bIns="0" rtlCol="0" anchor="t">
            <a:spAutoFit/>
          </a:bodyPr>
          <a:lstStyle/>
          <a:p>
            <a:pPr algn="l">
              <a:lnSpc>
                <a:spcPts val="4349"/>
              </a:lnSpc>
            </a:pPr>
            <a:r>
              <a:rPr lang="en-US" sz="2899" b="1" dirty="0">
                <a:solidFill>
                  <a:srgbClr val="3D2812"/>
                </a:solidFill>
                <a:latin typeface="Canva Sans Bold"/>
                <a:ea typeface="Canva Sans Bold"/>
                <a:cs typeface="Canva Sans Bold"/>
                <a:sym typeface="Canva Sans Bold"/>
              </a:rPr>
              <a:t>Identifying the Emergency Vehicles </a:t>
            </a:r>
          </a:p>
          <a:p>
            <a:pPr marL="626109" lvl="1" indent="-313054" algn="l">
              <a:lnSpc>
                <a:spcPts val="4349"/>
              </a:lnSpc>
              <a:buFont typeface="Arial"/>
              <a:buChar char="•"/>
            </a:pPr>
            <a:r>
              <a:rPr lang="en-US" sz="2899" dirty="0">
                <a:solidFill>
                  <a:srgbClr val="3D2812"/>
                </a:solidFill>
                <a:latin typeface="Canva Sans"/>
                <a:ea typeface="Canva Sans"/>
                <a:cs typeface="Canva Sans"/>
                <a:sym typeface="Canva Sans"/>
              </a:rPr>
              <a:t>Vision-Based Detection - Detect emergency vehicles using object detection models from camera feeds.</a:t>
            </a:r>
          </a:p>
          <a:p>
            <a:pPr marL="626109" lvl="1" indent="-313054" algn="l">
              <a:lnSpc>
                <a:spcPts val="4349"/>
              </a:lnSpc>
              <a:buFont typeface="Arial"/>
              <a:buChar char="•"/>
            </a:pPr>
            <a:r>
              <a:rPr lang="en-US" sz="2899" dirty="0">
                <a:solidFill>
                  <a:srgbClr val="3D2812"/>
                </a:solidFill>
                <a:latin typeface="Canva Sans"/>
                <a:ea typeface="Canva Sans"/>
                <a:cs typeface="Canva Sans"/>
                <a:sym typeface="Canva Sans"/>
              </a:rPr>
              <a:t>Audio-Based Detection - Identify emergency siren sounds using sound classification techniques.</a:t>
            </a:r>
          </a:p>
          <a:p>
            <a:pPr marL="626109" lvl="1" indent="-313054" algn="l">
              <a:lnSpc>
                <a:spcPts val="4349"/>
              </a:lnSpc>
              <a:buFont typeface="Arial"/>
              <a:buChar char="•"/>
            </a:pPr>
            <a:r>
              <a:rPr lang="en-US" sz="2899" dirty="0">
                <a:solidFill>
                  <a:srgbClr val="3D2812"/>
                </a:solidFill>
                <a:latin typeface="Canva Sans"/>
                <a:ea typeface="Canva Sans"/>
                <a:cs typeface="Canva Sans"/>
                <a:sym typeface="Canva Sans"/>
              </a:rPr>
              <a:t>Light Pattern Detection - Detect flashing siren lights based on color and intensity patterns.</a:t>
            </a:r>
          </a:p>
          <a:p>
            <a:pPr algn="l">
              <a:lnSpc>
                <a:spcPts val="4349"/>
              </a:lnSpc>
            </a:pPr>
            <a:endParaRPr lang="en-US" sz="2899" dirty="0">
              <a:solidFill>
                <a:srgbClr val="3D2812"/>
              </a:solidFill>
              <a:latin typeface="Canva Sans"/>
              <a:ea typeface="Canva Sans"/>
              <a:cs typeface="Canva Sans"/>
              <a:sym typeface="Canva Sans"/>
            </a:endParaRPr>
          </a:p>
        </p:txBody>
      </p:sp>
      <p:sp>
        <p:nvSpPr>
          <p:cNvPr id="9" name="TextBox 9"/>
          <p:cNvSpPr txBox="1"/>
          <p:nvPr/>
        </p:nvSpPr>
        <p:spPr>
          <a:xfrm>
            <a:off x="1028700" y="6326505"/>
            <a:ext cx="11149636" cy="2912364"/>
          </a:xfrm>
          <a:prstGeom prst="rect">
            <a:avLst/>
          </a:prstGeom>
        </p:spPr>
        <p:txBody>
          <a:bodyPr lIns="0" tIns="0" rIns="0" bIns="0" rtlCol="0" anchor="t">
            <a:spAutoFit/>
          </a:bodyPr>
          <a:lstStyle/>
          <a:p>
            <a:pPr marL="626109" lvl="1" indent="-313054" algn="l">
              <a:lnSpc>
                <a:spcPts val="4697"/>
              </a:lnSpc>
              <a:buFont typeface="Arial"/>
              <a:buChar char="•"/>
            </a:pPr>
            <a:r>
              <a:rPr lang="en-US" sz="2899">
                <a:solidFill>
                  <a:srgbClr val="000000"/>
                </a:solidFill>
                <a:latin typeface="Canva Sans"/>
                <a:ea typeface="Canva Sans"/>
                <a:cs typeface="Canva Sans"/>
                <a:sym typeface="Canva Sans"/>
              </a:rPr>
              <a:t>Real-time visualization of emergency vehicle detection status</a:t>
            </a:r>
          </a:p>
          <a:p>
            <a:pPr marL="626109" lvl="1" indent="-313054" algn="l">
              <a:lnSpc>
                <a:spcPts val="4697"/>
              </a:lnSpc>
              <a:buFont typeface="Arial"/>
              <a:buChar char="•"/>
            </a:pPr>
            <a:r>
              <a:rPr lang="en-US" sz="2899">
                <a:solidFill>
                  <a:srgbClr val="000000"/>
                </a:solidFill>
                <a:latin typeface="Canva Sans"/>
                <a:ea typeface="Canva Sans"/>
                <a:cs typeface="Canva Sans"/>
                <a:sym typeface="Canva Sans"/>
              </a:rPr>
              <a:t>Automatic traffic signal override for emergency vehicles</a:t>
            </a:r>
          </a:p>
          <a:p>
            <a:pPr marL="626109" lvl="1" indent="-313054" algn="l">
              <a:lnSpc>
                <a:spcPts val="4697"/>
              </a:lnSpc>
              <a:buFont typeface="Arial"/>
              <a:buChar char="•"/>
            </a:pPr>
            <a:r>
              <a:rPr lang="en-US" sz="2899">
                <a:solidFill>
                  <a:srgbClr val="000000"/>
                </a:solidFill>
                <a:latin typeface="Canva Sans"/>
                <a:ea typeface="Canva Sans"/>
                <a:cs typeface="Canva Sans"/>
                <a:sym typeface="Canva Sans"/>
              </a:rPr>
              <a:t>Notification alerts when emergency vehicles are detected</a:t>
            </a:r>
          </a:p>
          <a:p>
            <a:pPr marL="626109" lvl="1" indent="-313054" algn="l">
              <a:lnSpc>
                <a:spcPts val="4697"/>
              </a:lnSpc>
              <a:buFont typeface="Arial"/>
              <a:buChar char="•"/>
            </a:pPr>
            <a:r>
              <a:rPr lang="en-US" sz="2899">
                <a:solidFill>
                  <a:srgbClr val="000000"/>
                </a:solidFill>
                <a:latin typeface="Canva Sans"/>
                <a:ea typeface="Canva Sans"/>
                <a:cs typeface="Canva Sans"/>
                <a:sym typeface="Canva Sans"/>
              </a:rPr>
              <a:t>Management and review of detected video and event data</a:t>
            </a:r>
          </a:p>
        </p:txBody>
      </p:sp>
      <p:sp>
        <p:nvSpPr>
          <p:cNvPr id="10" name="TextBox 10"/>
          <p:cNvSpPr txBox="1"/>
          <p:nvPr/>
        </p:nvSpPr>
        <p:spPr>
          <a:xfrm>
            <a:off x="1028700" y="962025"/>
            <a:ext cx="10401601" cy="563880"/>
          </a:xfrm>
          <a:prstGeom prst="rect">
            <a:avLst/>
          </a:prstGeom>
        </p:spPr>
        <p:txBody>
          <a:bodyPr lIns="0" tIns="0" rIns="0" bIns="0" rtlCol="0" anchor="t">
            <a:spAutoFit/>
          </a:bodyPr>
          <a:lstStyle/>
          <a:p>
            <a:pPr algn="l">
              <a:lnSpc>
                <a:spcPts val="4620"/>
              </a:lnSpc>
            </a:pPr>
            <a:r>
              <a:rPr lang="en-US" sz="3300" b="1">
                <a:solidFill>
                  <a:srgbClr val="3D2812"/>
                </a:solidFill>
                <a:latin typeface="Canva Sans Bold"/>
                <a:ea typeface="Canva Sans Bold"/>
                <a:cs typeface="Canva Sans Bold"/>
                <a:sym typeface="Canva Sans Bold"/>
              </a:rPr>
              <a:t>Solution Approach for the Identified Sub-Problem</a:t>
            </a:r>
          </a:p>
        </p:txBody>
      </p:sp>
      <p:sp>
        <p:nvSpPr>
          <p:cNvPr id="11" name="TextBox 11"/>
          <p:cNvSpPr txBox="1"/>
          <p:nvPr/>
        </p:nvSpPr>
        <p:spPr>
          <a:xfrm>
            <a:off x="1028700" y="5473065"/>
            <a:ext cx="10401601" cy="563880"/>
          </a:xfrm>
          <a:prstGeom prst="rect">
            <a:avLst/>
          </a:prstGeom>
        </p:spPr>
        <p:txBody>
          <a:bodyPr lIns="0" tIns="0" rIns="0" bIns="0" rtlCol="0" anchor="t">
            <a:spAutoFit/>
          </a:bodyPr>
          <a:lstStyle/>
          <a:p>
            <a:pPr algn="l">
              <a:lnSpc>
                <a:spcPts val="4620"/>
              </a:lnSpc>
            </a:pPr>
            <a:r>
              <a:rPr lang="en-US" sz="3300" b="1">
                <a:solidFill>
                  <a:srgbClr val="3D2812"/>
                </a:solidFill>
                <a:latin typeface="Canva Sans Bold"/>
                <a:ea typeface="Canva Sans Bold"/>
                <a:cs typeface="Canva Sans Bold"/>
                <a:sym typeface="Canva Sans Bold"/>
              </a:rPr>
              <a:t> User Requirements Fulfilled by the Solution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0" y="9322212"/>
            <a:ext cx="16446351" cy="964788"/>
            <a:chOff x="0" y="0"/>
            <a:chExt cx="21928468" cy="1286384"/>
          </a:xfrm>
        </p:grpSpPr>
        <p:sp>
          <p:nvSpPr>
            <p:cNvPr id="3" name="Freeform 3"/>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2"/>
              <a:stretch>
                <a:fillRect/>
              </a:stretch>
            </a:blipFill>
          </p:spPr>
          <p:txBody>
            <a:bodyPr/>
            <a:lstStyle/>
            <a:p>
              <a:endParaRPr lang="en-GB"/>
            </a:p>
          </p:txBody>
        </p:sp>
        <p:sp>
          <p:nvSpPr>
            <p:cNvPr id="4" name="TextBox 4"/>
            <p:cNvSpPr txBox="1"/>
            <p:nvPr/>
          </p:nvSpPr>
          <p:spPr>
            <a:xfrm>
              <a:off x="5438298" y="538417"/>
              <a:ext cx="11493275"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IT22346568       |       Sangeerthan S      |       25-26J-473 </a:t>
              </a:r>
            </a:p>
          </p:txBody>
        </p:sp>
        <p:sp>
          <p:nvSpPr>
            <p:cNvPr id="5" name="TextBox 5"/>
            <p:cNvSpPr txBox="1"/>
            <p:nvPr/>
          </p:nvSpPr>
          <p:spPr>
            <a:xfrm>
              <a:off x="17904380" y="471742"/>
              <a:ext cx="4024088" cy="692757"/>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grpSp>
      <p:sp>
        <p:nvSpPr>
          <p:cNvPr id="6" name="TextBox 6"/>
          <p:cNvSpPr txBox="1"/>
          <p:nvPr/>
        </p:nvSpPr>
        <p:spPr>
          <a:xfrm>
            <a:off x="2504404" y="142420"/>
            <a:ext cx="13941947" cy="562430"/>
          </a:xfrm>
          <a:prstGeom prst="rect">
            <a:avLst/>
          </a:prstGeom>
        </p:spPr>
        <p:txBody>
          <a:bodyPr lIns="0" tIns="0" rIns="0" bIns="0" rtlCol="0" anchor="t">
            <a:spAutoFit/>
          </a:bodyPr>
          <a:lstStyle/>
          <a:p>
            <a:pPr algn="ctr">
              <a:lnSpc>
                <a:spcPts val="4875"/>
              </a:lnSpc>
              <a:spcBef>
                <a:spcPct val="0"/>
              </a:spcBef>
            </a:pPr>
            <a:r>
              <a:rPr lang="en-US" sz="2566" i="1" spc="38">
                <a:solidFill>
                  <a:srgbClr val="000000"/>
                </a:solidFill>
                <a:latin typeface="Canva Sans Italics"/>
                <a:ea typeface="Canva Sans Italics"/>
                <a:cs typeface="Canva Sans Italics"/>
                <a:sym typeface="Canva Sans Italics"/>
              </a:rPr>
              <a:t>EMERGENCY VEHICLE DETECTION AND TRIGGERING SIGNAL</a:t>
            </a:r>
          </a:p>
        </p:txBody>
      </p:sp>
      <p:sp>
        <p:nvSpPr>
          <p:cNvPr id="7" name="TextBox 7"/>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15</a:t>
            </a:r>
          </a:p>
        </p:txBody>
      </p:sp>
      <p:sp>
        <p:nvSpPr>
          <p:cNvPr id="8" name="TextBox 8"/>
          <p:cNvSpPr txBox="1"/>
          <p:nvPr/>
        </p:nvSpPr>
        <p:spPr>
          <a:xfrm>
            <a:off x="913076" y="855836"/>
            <a:ext cx="7979320" cy="551689"/>
          </a:xfrm>
          <a:prstGeom prst="rect">
            <a:avLst/>
          </a:prstGeom>
        </p:spPr>
        <p:txBody>
          <a:bodyPr wrap="square" lIns="0" tIns="0" rIns="0" bIns="0" rtlCol="0" anchor="t">
            <a:spAutoFit/>
          </a:bodyPr>
          <a:lstStyle/>
          <a:p>
            <a:pPr algn="ctr">
              <a:lnSpc>
                <a:spcPts val="4620"/>
              </a:lnSpc>
            </a:pPr>
            <a:r>
              <a:rPr lang="en-US" sz="3300" b="1" dirty="0">
                <a:solidFill>
                  <a:srgbClr val="000000"/>
                </a:solidFill>
                <a:latin typeface="Canva Sans Bold"/>
                <a:ea typeface="Canva Sans Bold"/>
                <a:cs typeface="Canva Sans Bold"/>
                <a:sym typeface="Canva Sans Bold"/>
              </a:rPr>
              <a:t>Design Excellence/Contribution</a:t>
            </a:r>
          </a:p>
        </p:txBody>
      </p:sp>
      <p:sp>
        <p:nvSpPr>
          <p:cNvPr id="9" name="TextBox 9"/>
          <p:cNvSpPr txBox="1"/>
          <p:nvPr/>
        </p:nvSpPr>
        <p:spPr>
          <a:xfrm>
            <a:off x="1028700" y="1725930"/>
            <a:ext cx="16346224" cy="2920619"/>
          </a:xfrm>
          <a:prstGeom prst="rect">
            <a:avLst/>
          </a:prstGeom>
        </p:spPr>
        <p:txBody>
          <a:bodyPr lIns="0" tIns="0" rIns="0" bIns="0" rtlCol="0" anchor="t">
            <a:spAutoFit/>
          </a:bodyPr>
          <a:lstStyle/>
          <a:p>
            <a:pPr marL="626111" lvl="1" indent="-313055" algn="l">
              <a:lnSpc>
                <a:spcPts val="4756"/>
              </a:lnSpc>
              <a:buFont typeface="Arial"/>
              <a:buChar char="•"/>
            </a:pPr>
            <a:r>
              <a:rPr lang="en-US" sz="2900" spc="89">
                <a:solidFill>
                  <a:srgbClr val="000000"/>
                </a:solidFill>
                <a:latin typeface="Canva Sans"/>
                <a:ea typeface="Canva Sans"/>
                <a:cs typeface="Canva Sans"/>
                <a:sym typeface="Canva Sans"/>
              </a:rPr>
              <a:t>Multi-Modal Detection Architecture-Combines vision-based, audio-based, and light-based detection to improve accuracy and reduce false positives.</a:t>
            </a:r>
          </a:p>
          <a:p>
            <a:pPr marL="626111" lvl="1" indent="-313055" algn="l">
              <a:lnSpc>
                <a:spcPts val="4756"/>
              </a:lnSpc>
              <a:buFont typeface="Arial"/>
              <a:buChar char="•"/>
            </a:pPr>
            <a:r>
              <a:rPr lang="en-US" sz="2900" spc="89">
                <a:solidFill>
                  <a:srgbClr val="000000"/>
                </a:solidFill>
                <a:latin typeface="Canva Sans"/>
                <a:ea typeface="Canva Sans"/>
                <a:cs typeface="Canva Sans"/>
                <a:sym typeface="Canva Sans"/>
              </a:rPr>
              <a:t>Event-driven traffic signal prioritization integrated with SUMO TraCI interface</a:t>
            </a:r>
          </a:p>
          <a:p>
            <a:pPr marL="626111" lvl="1" indent="-313055" algn="l">
              <a:lnSpc>
                <a:spcPts val="4756"/>
              </a:lnSpc>
              <a:buFont typeface="Arial"/>
              <a:buChar char="•"/>
            </a:pPr>
            <a:r>
              <a:rPr lang="en-US" sz="2900" spc="89">
                <a:solidFill>
                  <a:srgbClr val="000000"/>
                </a:solidFill>
                <a:latin typeface="Canva Sans"/>
                <a:ea typeface="Canva Sans"/>
                <a:cs typeface="Canva Sans"/>
                <a:sym typeface="Canva Sans"/>
              </a:rPr>
              <a:t>Scalable architecture suitable for real-world smart city deployment</a:t>
            </a:r>
          </a:p>
          <a:p>
            <a:pPr algn="l">
              <a:lnSpc>
                <a:spcPts val="4060"/>
              </a:lnSpc>
            </a:pPr>
            <a:endParaRPr lang="en-US" sz="2900" spc="89">
              <a:solidFill>
                <a:srgbClr val="000000"/>
              </a:solidFill>
              <a:latin typeface="Canva Sans"/>
              <a:ea typeface="Canva Sans"/>
              <a:cs typeface="Canva Sans"/>
              <a:sym typeface="Canva Sans"/>
            </a:endParaRPr>
          </a:p>
        </p:txBody>
      </p:sp>
      <p:sp>
        <p:nvSpPr>
          <p:cNvPr id="10" name="TextBox 10"/>
          <p:cNvSpPr txBox="1"/>
          <p:nvPr/>
        </p:nvSpPr>
        <p:spPr>
          <a:xfrm>
            <a:off x="1011447" y="4388503"/>
            <a:ext cx="7141953" cy="551689"/>
          </a:xfrm>
          <a:prstGeom prst="rect">
            <a:avLst/>
          </a:prstGeom>
        </p:spPr>
        <p:txBody>
          <a:bodyPr wrap="square" lIns="0" tIns="0" rIns="0" bIns="0" rtlCol="0" anchor="t">
            <a:spAutoFit/>
          </a:bodyPr>
          <a:lstStyle/>
          <a:p>
            <a:pPr algn="ctr">
              <a:lnSpc>
                <a:spcPts val="4620"/>
              </a:lnSpc>
            </a:pPr>
            <a:r>
              <a:rPr lang="en-US" sz="3300" b="1" dirty="0">
                <a:solidFill>
                  <a:srgbClr val="000000"/>
                </a:solidFill>
                <a:latin typeface="Canva Sans Bold"/>
                <a:ea typeface="Canva Sans Bold"/>
                <a:cs typeface="Canva Sans Bold"/>
                <a:sym typeface="Canva Sans Bold"/>
              </a:rPr>
              <a:t>User Feedback on Prototype</a:t>
            </a:r>
          </a:p>
        </p:txBody>
      </p:sp>
      <p:sp>
        <p:nvSpPr>
          <p:cNvPr id="11" name="TextBox 11"/>
          <p:cNvSpPr txBox="1"/>
          <p:nvPr/>
        </p:nvSpPr>
        <p:spPr>
          <a:xfrm>
            <a:off x="913076" y="5462159"/>
            <a:ext cx="16969827" cy="2920619"/>
          </a:xfrm>
          <a:prstGeom prst="rect">
            <a:avLst/>
          </a:prstGeom>
        </p:spPr>
        <p:txBody>
          <a:bodyPr lIns="0" tIns="0" rIns="0" bIns="0" rtlCol="0" anchor="t">
            <a:spAutoFit/>
          </a:bodyPr>
          <a:lstStyle/>
          <a:p>
            <a:pPr marL="626111" lvl="1" indent="-313055" algn="l">
              <a:lnSpc>
                <a:spcPts val="4756"/>
              </a:lnSpc>
              <a:buFont typeface="Arial"/>
              <a:buChar char="•"/>
            </a:pPr>
            <a:r>
              <a:rPr lang="en-US" sz="2900" spc="89">
                <a:solidFill>
                  <a:srgbClr val="000000"/>
                </a:solidFill>
                <a:latin typeface="Canva Sans"/>
                <a:ea typeface="Canva Sans"/>
                <a:cs typeface="Canva Sans"/>
                <a:sym typeface="Canva Sans"/>
              </a:rPr>
              <a:t>Users reported that the emergency vehicle detection system was easy to understand and intuitive to use mention about location based UI.</a:t>
            </a:r>
          </a:p>
          <a:p>
            <a:pPr marL="626111" lvl="1" indent="-313055" algn="l">
              <a:lnSpc>
                <a:spcPts val="4756"/>
              </a:lnSpc>
              <a:buFont typeface="Arial"/>
              <a:buChar char="•"/>
            </a:pPr>
            <a:r>
              <a:rPr lang="en-US" sz="2900" spc="89">
                <a:solidFill>
                  <a:srgbClr val="000000"/>
                </a:solidFill>
                <a:latin typeface="Canva Sans"/>
                <a:ea typeface="Canva Sans"/>
                <a:cs typeface="Canva Sans"/>
                <a:sym typeface="Canva Sans"/>
              </a:rPr>
              <a:t>The real-time visualization of detected emergency vehicles was considered clear and informative.</a:t>
            </a:r>
          </a:p>
          <a:p>
            <a:pPr algn="l">
              <a:lnSpc>
                <a:spcPts val="4060"/>
              </a:lnSpc>
            </a:pPr>
            <a:endParaRPr lang="en-US" sz="2900" spc="89">
              <a:solidFill>
                <a:srgbClr val="000000"/>
              </a:solidFill>
              <a:latin typeface="Canva Sans"/>
              <a:ea typeface="Canva Sans"/>
              <a:cs typeface="Canva Sans"/>
              <a:sym typeface="Canv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934075" y="4276342"/>
            <a:ext cx="9891584" cy="2287017"/>
          </a:xfrm>
          <a:prstGeom prst="rect">
            <a:avLst/>
          </a:prstGeom>
        </p:spPr>
        <p:txBody>
          <a:bodyPr lIns="0" tIns="0" rIns="0" bIns="0" rtlCol="0" anchor="t">
            <a:spAutoFit/>
          </a:bodyPr>
          <a:lstStyle/>
          <a:p>
            <a:pPr marL="0" lvl="0" indent="0" algn="just">
              <a:lnSpc>
                <a:spcPts val="9321"/>
              </a:lnSpc>
            </a:pPr>
            <a:r>
              <a:rPr lang="en-US" sz="5899" b="1" spc="88">
                <a:solidFill>
                  <a:srgbClr val="3D2812"/>
                </a:solidFill>
                <a:latin typeface="Canva Sans Bold"/>
                <a:ea typeface="Canva Sans Bold"/>
                <a:cs typeface="Canva Sans Bold"/>
                <a:sym typeface="Canva Sans Bold"/>
              </a:rPr>
              <a:t>IT22323316   |   Luvinson I</a:t>
            </a:r>
          </a:p>
          <a:p>
            <a:pPr marL="0" lvl="0" indent="0" algn="just">
              <a:lnSpc>
                <a:spcPts val="9321"/>
              </a:lnSpc>
            </a:pPr>
            <a:r>
              <a:rPr lang="en-US" sz="5899" b="1" spc="88">
                <a:solidFill>
                  <a:srgbClr val="3D2812"/>
                </a:solidFill>
                <a:latin typeface="Canva Sans Bold"/>
                <a:ea typeface="Canva Sans Bold"/>
                <a:cs typeface="Canva Sans Bold"/>
                <a:sym typeface="Canva Sans Bold"/>
              </a:rPr>
              <a:t>Software Engineering</a:t>
            </a:r>
          </a:p>
        </p:txBody>
      </p:sp>
      <p:sp>
        <p:nvSpPr>
          <p:cNvPr id="3" name="TextBox 3"/>
          <p:cNvSpPr txBox="1"/>
          <p:nvPr/>
        </p:nvSpPr>
        <p:spPr>
          <a:xfrm>
            <a:off x="1934075" y="7168278"/>
            <a:ext cx="9181356" cy="1576525"/>
          </a:xfrm>
          <a:prstGeom prst="rect">
            <a:avLst/>
          </a:prstGeom>
        </p:spPr>
        <p:txBody>
          <a:bodyPr lIns="0" tIns="0" rIns="0" bIns="0" rtlCol="0" anchor="t">
            <a:spAutoFit/>
          </a:bodyPr>
          <a:lstStyle/>
          <a:p>
            <a:pPr marL="0" lvl="0" indent="0" algn="l">
              <a:lnSpc>
                <a:spcPts val="5998"/>
              </a:lnSpc>
            </a:pPr>
            <a:r>
              <a:rPr lang="en-US" sz="4614" b="1" spc="69">
                <a:solidFill>
                  <a:srgbClr val="3D2812"/>
                </a:solidFill>
                <a:latin typeface="The Seasons Bold"/>
                <a:ea typeface="The Seasons Bold"/>
                <a:cs typeface="The Seasons Bold"/>
                <a:sym typeface="The Seasons Bold"/>
              </a:rPr>
              <a:t>PEDESTRIAN DETECTION AND </a:t>
            </a:r>
          </a:p>
          <a:p>
            <a:pPr marL="0" lvl="0" indent="0" algn="l">
              <a:lnSpc>
                <a:spcPts val="5998"/>
              </a:lnSpc>
            </a:pPr>
            <a:r>
              <a:rPr lang="en-US" sz="4614" b="1" spc="69">
                <a:solidFill>
                  <a:srgbClr val="3D2812"/>
                </a:solidFill>
                <a:latin typeface="The Seasons Bold"/>
                <a:ea typeface="The Seasons Bold"/>
                <a:cs typeface="The Seasons Bold"/>
                <a:sym typeface="The Seasons Bold"/>
              </a:rPr>
              <a:t>SIGNAL ADJUSTMENT</a:t>
            </a:r>
          </a:p>
        </p:txBody>
      </p:sp>
      <p:sp>
        <p:nvSpPr>
          <p:cNvPr id="4" name="Freeform 4"/>
          <p:cNvSpPr/>
          <p:nvPr/>
        </p:nvSpPr>
        <p:spPr>
          <a:xfrm>
            <a:off x="14222006" y="1028700"/>
            <a:ext cx="3037294" cy="4773743"/>
          </a:xfrm>
          <a:custGeom>
            <a:avLst/>
            <a:gdLst/>
            <a:ahLst/>
            <a:cxnLst/>
            <a:rect l="l" t="t" r="r" b="b"/>
            <a:pathLst>
              <a:path w="3037294" h="4773743">
                <a:moveTo>
                  <a:pt x="0" y="0"/>
                </a:moveTo>
                <a:lnTo>
                  <a:pt x="3037294" y="0"/>
                </a:lnTo>
                <a:lnTo>
                  <a:pt x="3037294" y="4773743"/>
                </a:lnTo>
                <a:lnTo>
                  <a:pt x="0" y="4773743"/>
                </a:lnTo>
                <a:lnTo>
                  <a:pt x="0" y="0"/>
                </a:lnTo>
                <a:close/>
              </a:path>
            </a:pathLst>
          </a:custGeom>
          <a:blipFill>
            <a:blip r:embed="rId2"/>
            <a:stretch>
              <a:fillRect/>
            </a:stretch>
          </a:blipFill>
        </p:spPr>
        <p:txBody>
          <a:bodyPr/>
          <a:lstStyle/>
          <a:p>
            <a:endParaRPr lang="en-GB"/>
          </a:p>
        </p:txBody>
      </p:sp>
      <p:grpSp>
        <p:nvGrpSpPr>
          <p:cNvPr id="5" name="Group 5"/>
          <p:cNvGrpSpPr/>
          <p:nvPr/>
        </p:nvGrpSpPr>
        <p:grpSpPr>
          <a:xfrm>
            <a:off x="0" y="9322212"/>
            <a:ext cx="16446351" cy="964788"/>
            <a:chOff x="0" y="0"/>
            <a:chExt cx="21928468" cy="1286384"/>
          </a:xfrm>
        </p:grpSpPr>
        <p:sp>
          <p:nvSpPr>
            <p:cNvPr id="6" name="Freeform 6"/>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3"/>
              <a:stretch>
                <a:fillRect/>
              </a:stretch>
            </a:blipFill>
          </p:spPr>
          <p:txBody>
            <a:bodyPr/>
            <a:lstStyle/>
            <a:p>
              <a:endParaRPr lang="en-GB"/>
            </a:p>
          </p:txBody>
        </p:sp>
        <p:sp>
          <p:nvSpPr>
            <p:cNvPr id="7" name="TextBox 7"/>
            <p:cNvSpPr txBox="1"/>
            <p:nvPr/>
          </p:nvSpPr>
          <p:spPr>
            <a:xfrm>
              <a:off x="5438298" y="538417"/>
              <a:ext cx="11493275"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IT22323316       |       Luvinson I     |       25-26J-473 </a:t>
              </a:r>
            </a:p>
          </p:txBody>
        </p:sp>
        <p:sp>
          <p:nvSpPr>
            <p:cNvPr id="8" name="TextBox 8"/>
            <p:cNvSpPr txBox="1"/>
            <p:nvPr/>
          </p:nvSpPr>
          <p:spPr>
            <a:xfrm>
              <a:off x="17904380" y="471742"/>
              <a:ext cx="4024088" cy="692757"/>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grpSp>
      <p:sp>
        <p:nvSpPr>
          <p:cNvPr id="9" name="TextBox 9"/>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0" y="9322212"/>
            <a:ext cx="16446351" cy="964788"/>
            <a:chOff x="0" y="0"/>
            <a:chExt cx="21928468" cy="1286384"/>
          </a:xfrm>
        </p:grpSpPr>
        <p:sp>
          <p:nvSpPr>
            <p:cNvPr id="3" name="Freeform 3"/>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2"/>
              <a:stretch>
                <a:fillRect/>
              </a:stretch>
            </a:blipFill>
          </p:spPr>
          <p:txBody>
            <a:bodyPr/>
            <a:lstStyle/>
            <a:p>
              <a:endParaRPr lang="en-GB"/>
            </a:p>
          </p:txBody>
        </p:sp>
        <p:sp>
          <p:nvSpPr>
            <p:cNvPr id="4" name="TextBox 4"/>
            <p:cNvSpPr txBox="1"/>
            <p:nvPr/>
          </p:nvSpPr>
          <p:spPr>
            <a:xfrm>
              <a:off x="5438298" y="538417"/>
              <a:ext cx="11493275"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IT22323316       |       Luvinson I     |       25-26J-473 </a:t>
              </a:r>
            </a:p>
          </p:txBody>
        </p:sp>
        <p:sp>
          <p:nvSpPr>
            <p:cNvPr id="5" name="TextBox 5"/>
            <p:cNvSpPr txBox="1"/>
            <p:nvPr/>
          </p:nvSpPr>
          <p:spPr>
            <a:xfrm>
              <a:off x="17904380" y="471742"/>
              <a:ext cx="4024088" cy="692757"/>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grpSp>
      <p:sp>
        <p:nvSpPr>
          <p:cNvPr id="6" name="TextBox 6"/>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17</a:t>
            </a:r>
          </a:p>
        </p:txBody>
      </p:sp>
      <p:sp>
        <p:nvSpPr>
          <p:cNvPr id="7" name="TextBox 7"/>
          <p:cNvSpPr txBox="1"/>
          <p:nvPr/>
        </p:nvSpPr>
        <p:spPr>
          <a:xfrm>
            <a:off x="3622809" y="92585"/>
            <a:ext cx="10478669" cy="540192"/>
          </a:xfrm>
          <a:prstGeom prst="rect">
            <a:avLst/>
          </a:prstGeom>
        </p:spPr>
        <p:txBody>
          <a:bodyPr lIns="0" tIns="0" rIns="0" bIns="0" rtlCol="0" anchor="t">
            <a:spAutoFit/>
          </a:bodyPr>
          <a:lstStyle/>
          <a:p>
            <a:pPr algn="ctr">
              <a:lnSpc>
                <a:spcPts val="4586"/>
              </a:lnSpc>
              <a:spcBef>
                <a:spcPct val="0"/>
              </a:spcBef>
            </a:pPr>
            <a:r>
              <a:rPr lang="en-US" sz="2866" spc="-171">
                <a:solidFill>
                  <a:srgbClr val="000000"/>
                </a:solidFill>
                <a:latin typeface="Canva Sans"/>
                <a:ea typeface="Canva Sans"/>
                <a:cs typeface="Canva Sans"/>
                <a:sym typeface="Canva Sans"/>
              </a:rPr>
              <a:t>PEDESTRIAN DETECTION AND  SIGNAL ADJUSTMENT</a:t>
            </a:r>
          </a:p>
        </p:txBody>
      </p:sp>
      <p:sp>
        <p:nvSpPr>
          <p:cNvPr id="8" name="TextBox 8"/>
          <p:cNvSpPr txBox="1"/>
          <p:nvPr/>
        </p:nvSpPr>
        <p:spPr>
          <a:xfrm>
            <a:off x="918218" y="1342573"/>
            <a:ext cx="10401601" cy="563880"/>
          </a:xfrm>
          <a:prstGeom prst="rect">
            <a:avLst/>
          </a:prstGeom>
        </p:spPr>
        <p:txBody>
          <a:bodyPr lIns="0" tIns="0" rIns="0" bIns="0" rtlCol="0" anchor="t">
            <a:spAutoFit/>
          </a:bodyPr>
          <a:lstStyle/>
          <a:p>
            <a:pPr algn="l">
              <a:lnSpc>
                <a:spcPts val="4620"/>
              </a:lnSpc>
            </a:pPr>
            <a:r>
              <a:rPr lang="en-US" sz="3300" b="1">
                <a:solidFill>
                  <a:srgbClr val="3D2812"/>
                </a:solidFill>
                <a:latin typeface="Canva Sans Bold"/>
                <a:ea typeface="Canva Sans Bold"/>
                <a:cs typeface="Canva Sans Bold"/>
                <a:sym typeface="Canva Sans Bold"/>
              </a:rPr>
              <a:t>Solution Approach for the Identified Sub-Problem</a:t>
            </a:r>
          </a:p>
        </p:txBody>
      </p:sp>
      <p:sp>
        <p:nvSpPr>
          <p:cNvPr id="9" name="TextBox 9"/>
          <p:cNvSpPr txBox="1"/>
          <p:nvPr/>
        </p:nvSpPr>
        <p:spPr>
          <a:xfrm>
            <a:off x="1679751" y="2299257"/>
            <a:ext cx="13928141" cy="6114875"/>
          </a:xfrm>
          <a:prstGeom prst="rect">
            <a:avLst/>
          </a:prstGeom>
        </p:spPr>
        <p:txBody>
          <a:bodyPr lIns="0" tIns="0" rIns="0" bIns="0" rtlCol="0" anchor="t">
            <a:spAutoFit/>
          </a:bodyPr>
          <a:lstStyle/>
          <a:p>
            <a:pPr marL="449309" lvl="1" indent="-224655" algn="l">
              <a:lnSpc>
                <a:spcPts val="3121"/>
              </a:lnSpc>
              <a:buFont typeface="Arial"/>
              <a:buChar char="•"/>
            </a:pPr>
            <a:r>
              <a:rPr lang="en-US" sz="2081" b="1">
                <a:solidFill>
                  <a:srgbClr val="3D2812"/>
                </a:solidFill>
                <a:latin typeface="Canva Sans Bold"/>
                <a:ea typeface="Canva Sans Bold"/>
                <a:cs typeface="Canva Sans Bold"/>
                <a:sym typeface="Canva Sans Bold"/>
              </a:rPr>
              <a:t>Vision-Based Pedestrian Detection</a:t>
            </a:r>
          </a:p>
          <a:p>
            <a:pPr marL="898619" lvl="2" indent="-299540" algn="l">
              <a:lnSpc>
                <a:spcPts val="3121"/>
              </a:lnSpc>
              <a:buFont typeface="Arial"/>
              <a:buChar char="⚬"/>
            </a:pPr>
            <a:r>
              <a:rPr lang="en-US" sz="2081">
                <a:solidFill>
                  <a:srgbClr val="3D2812"/>
                </a:solidFill>
                <a:latin typeface="Canva Sans"/>
                <a:ea typeface="Canva Sans"/>
                <a:cs typeface="Canva Sans"/>
                <a:sym typeface="Canva Sans"/>
              </a:rPr>
              <a:t>Detect pedestrians at intersections using a YOLOv8 object detection model on camera feeds.</a:t>
            </a:r>
          </a:p>
          <a:p>
            <a:pPr marL="449309" lvl="1" indent="-224655" algn="l">
              <a:lnSpc>
                <a:spcPts val="3121"/>
              </a:lnSpc>
              <a:buFont typeface="Arial"/>
              <a:buChar char="•"/>
            </a:pPr>
            <a:r>
              <a:rPr lang="en-US" sz="2081" b="1">
                <a:solidFill>
                  <a:srgbClr val="3D2812"/>
                </a:solidFill>
                <a:latin typeface="Canva Sans Bold"/>
                <a:ea typeface="Canva Sans Bold"/>
                <a:cs typeface="Canva Sans Bold"/>
                <a:sym typeface="Canva Sans Bold"/>
              </a:rPr>
              <a:t>Mobility-Based Pedestrian Classification</a:t>
            </a:r>
          </a:p>
          <a:p>
            <a:pPr marL="898619" lvl="2" indent="-299540" algn="l">
              <a:lnSpc>
                <a:spcPts val="3121"/>
              </a:lnSpc>
              <a:buFont typeface="Arial"/>
              <a:buChar char="⚬"/>
            </a:pPr>
            <a:r>
              <a:rPr lang="en-US" sz="2081">
                <a:solidFill>
                  <a:srgbClr val="3D2812"/>
                </a:solidFill>
                <a:latin typeface="Canva Sans"/>
                <a:ea typeface="Canva Sans"/>
                <a:cs typeface="Canva Sans"/>
                <a:sym typeface="Canva Sans"/>
              </a:rPr>
              <a:t>Classify pedestrians into Adult, Elder, Student, and Mobility Aid categories.</a:t>
            </a:r>
          </a:p>
          <a:p>
            <a:pPr marL="449309" lvl="1" indent="-224655" algn="l">
              <a:lnSpc>
                <a:spcPts val="3121"/>
              </a:lnSpc>
              <a:buFont typeface="Arial"/>
              <a:buChar char="•"/>
            </a:pPr>
            <a:r>
              <a:rPr lang="en-US" sz="2081" b="1">
                <a:solidFill>
                  <a:srgbClr val="3D2812"/>
                </a:solidFill>
                <a:latin typeface="Canva Sans Bold"/>
                <a:ea typeface="Canva Sans Bold"/>
                <a:cs typeface="Canva Sans Bold"/>
                <a:sym typeface="Canva Sans Bold"/>
              </a:rPr>
              <a:t>Improper Pedestrian Behavior Detection</a:t>
            </a:r>
          </a:p>
          <a:p>
            <a:pPr marL="898619" lvl="2" indent="-299540" algn="l">
              <a:lnSpc>
                <a:spcPts val="3121"/>
              </a:lnSpc>
              <a:buFont typeface="Arial"/>
              <a:buChar char="⚬"/>
            </a:pPr>
            <a:r>
              <a:rPr lang="en-US" sz="2081">
                <a:solidFill>
                  <a:srgbClr val="3D2812"/>
                </a:solidFill>
                <a:latin typeface="Canva Sans"/>
                <a:ea typeface="Canva Sans"/>
                <a:cs typeface="Canva Sans"/>
                <a:sym typeface="Canva Sans"/>
              </a:rPr>
              <a:t>Identify pedestrians crossing outside designated crosswalks or during red signal phases.</a:t>
            </a:r>
          </a:p>
          <a:p>
            <a:pPr marL="898619" lvl="2" indent="-299540" algn="l">
              <a:lnSpc>
                <a:spcPts val="3121"/>
              </a:lnSpc>
              <a:buFont typeface="Arial"/>
              <a:buChar char="⚬"/>
            </a:pPr>
            <a:r>
              <a:rPr lang="en-US" sz="2081">
                <a:solidFill>
                  <a:srgbClr val="3D2812"/>
                </a:solidFill>
                <a:latin typeface="Canva Sans"/>
                <a:ea typeface="Canva Sans"/>
                <a:cs typeface="Canva Sans"/>
                <a:sym typeface="Canva Sans"/>
              </a:rPr>
              <a:t>Maintain counts of rule-violating pedestrians.</a:t>
            </a:r>
          </a:p>
          <a:p>
            <a:pPr marL="449309" lvl="1" indent="-224655" algn="l">
              <a:lnSpc>
                <a:spcPts val="3121"/>
              </a:lnSpc>
              <a:buFont typeface="Arial"/>
              <a:buChar char="•"/>
            </a:pPr>
            <a:r>
              <a:rPr lang="en-US" sz="2081" b="1">
                <a:solidFill>
                  <a:srgbClr val="3D2812"/>
                </a:solidFill>
                <a:latin typeface="Canva Sans Bold"/>
                <a:ea typeface="Canva Sans Bold"/>
                <a:cs typeface="Canva Sans Bold"/>
                <a:sym typeface="Canva Sans Bold"/>
              </a:rPr>
              <a:t>Adaptive Signal Timing Support</a:t>
            </a:r>
          </a:p>
          <a:p>
            <a:pPr marL="898619" lvl="2" indent="-299540" algn="l">
              <a:lnSpc>
                <a:spcPts val="3121"/>
              </a:lnSpc>
              <a:buFont typeface="Arial"/>
              <a:buChar char="⚬"/>
            </a:pPr>
            <a:r>
              <a:rPr lang="en-US" sz="2081">
                <a:solidFill>
                  <a:srgbClr val="3D2812"/>
                </a:solidFill>
                <a:latin typeface="Canva Sans"/>
                <a:ea typeface="Canva Sans"/>
                <a:cs typeface="Canva Sans"/>
                <a:sym typeface="Canva Sans"/>
              </a:rPr>
              <a:t>Increase pedestrian crossing time when students or mobility aid users are detected.</a:t>
            </a:r>
          </a:p>
          <a:p>
            <a:pPr marL="898619" lvl="2" indent="-299540" algn="l">
              <a:lnSpc>
                <a:spcPts val="3121"/>
              </a:lnSpc>
              <a:buFont typeface="Arial"/>
              <a:buChar char="⚬"/>
            </a:pPr>
            <a:r>
              <a:rPr lang="en-US" sz="2081">
                <a:solidFill>
                  <a:srgbClr val="3D2812"/>
                </a:solidFill>
                <a:latin typeface="Canva Sans"/>
                <a:ea typeface="Canva Sans"/>
                <a:cs typeface="Canva Sans"/>
                <a:sym typeface="Canva Sans"/>
              </a:rPr>
              <a:t>Provide safety-aware inputs to traffic signal control logic.</a:t>
            </a:r>
          </a:p>
          <a:p>
            <a:pPr marL="449309" lvl="1" indent="-224655" algn="l">
              <a:lnSpc>
                <a:spcPts val="3121"/>
              </a:lnSpc>
              <a:buFont typeface="Arial"/>
              <a:buChar char="•"/>
            </a:pPr>
            <a:r>
              <a:rPr lang="en-US" sz="2081" b="1">
                <a:solidFill>
                  <a:srgbClr val="3D2812"/>
                </a:solidFill>
                <a:latin typeface="Canva Sans Bold"/>
                <a:ea typeface="Canva Sans Bold"/>
                <a:cs typeface="Canva Sans Bold"/>
                <a:sym typeface="Canva Sans Bold"/>
              </a:rPr>
              <a:t>Integration with RL Agents (SUMO)</a:t>
            </a:r>
          </a:p>
          <a:p>
            <a:pPr marL="898619" lvl="2" indent="-299540" algn="l">
              <a:lnSpc>
                <a:spcPts val="3121"/>
              </a:lnSpc>
              <a:buFont typeface="Arial"/>
              <a:buChar char="⚬"/>
            </a:pPr>
            <a:r>
              <a:rPr lang="en-US" sz="2081">
                <a:solidFill>
                  <a:srgbClr val="3D2812"/>
                </a:solidFill>
                <a:latin typeface="Canva Sans"/>
                <a:ea typeface="Canva Sans"/>
                <a:cs typeface="Canva Sans"/>
                <a:sym typeface="Canva Sans"/>
              </a:rPr>
              <a:t>Share pedestrian classification and violation data with reinforcement learning agents.</a:t>
            </a:r>
          </a:p>
          <a:p>
            <a:pPr marL="898619" lvl="2" indent="-299540" algn="l">
              <a:lnSpc>
                <a:spcPts val="3121"/>
              </a:lnSpc>
              <a:buFont typeface="Arial"/>
              <a:buChar char="⚬"/>
            </a:pPr>
            <a:r>
              <a:rPr lang="en-US" sz="2081">
                <a:solidFill>
                  <a:srgbClr val="3D2812"/>
                </a:solidFill>
                <a:latin typeface="Canva Sans"/>
                <a:ea typeface="Canva Sans"/>
                <a:cs typeface="Canva Sans"/>
                <a:sym typeface="Canva Sans"/>
              </a:rPr>
              <a:t>Enable adaptive and pedestrian-prioritized signal optimization.</a:t>
            </a:r>
          </a:p>
          <a:p>
            <a:pPr marL="449309" lvl="1" indent="-224655" algn="l">
              <a:lnSpc>
                <a:spcPts val="3121"/>
              </a:lnSpc>
              <a:buFont typeface="Arial"/>
              <a:buChar char="•"/>
            </a:pPr>
            <a:r>
              <a:rPr lang="en-US" sz="2081" b="1">
                <a:solidFill>
                  <a:srgbClr val="3D2812"/>
                </a:solidFill>
                <a:latin typeface="Canva Sans Bold"/>
                <a:ea typeface="Canva Sans Bold"/>
                <a:cs typeface="Canva Sans Bold"/>
                <a:sym typeface="Canva Sans Bold"/>
              </a:rPr>
              <a:t>Dashboard Visualization</a:t>
            </a:r>
          </a:p>
          <a:p>
            <a:pPr marL="898619" lvl="2" indent="-299540" algn="l">
              <a:lnSpc>
                <a:spcPts val="3121"/>
              </a:lnSpc>
              <a:buFont typeface="Arial"/>
              <a:buChar char="⚬"/>
            </a:pPr>
            <a:r>
              <a:rPr lang="en-US" sz="2081">
                <a:solidFill>
                  <a:srgbClr val="3D2812"/>
                </a:solidFill>
                <a:latin typeface="Canva Sans"/>
                <a:ea typeface="Canva Sans"/>
                <a:cs typeface="Canva Sans"/>
                <a:sym typeface="Canva Sans"/>
              </a:rPr>
              <a:t>Display detections, classifications, and rule-violation counts in a web-based interface.</a:t>
            </a:r>
          </a:p>
          <a:p>
            <a:pPr algn="l">
              <a:lnSpc>
                <a:spcPts val="2142"/>
              </a:lnSpc>
            </a:pPr>
            <a:endParaRPr lang="en-US" sz="2081">
              <a:solidFill>
                <a:srgbClr val="3D2812"/>
              </a:solidFill>
              <a:latin typeface="Canva Sans"/>
              <a:ea typeface="Canva Sans"/>
              <a:cs typeface="Canva Sans"/>
              <a:sym typeface="Canv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0" y="9322212"/>
            <a:ext cx="16446351" cy="964788"/>
            <a:chOff x="0" y="0"/>
            <a:chExt cx="21928468" cy="1286384"/>
          </a:xfrm>
        </p:grpSpPr>
        <p:sp>
          <p:nvSpPr>
            <p:cNvPr id="3" name="Freeform 3"/>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2"/>
              <a:stretch>
                <a:fillRect/>
              </a:stretch>
            </a:blipFill>
          </p:spPr>
          <p:txBody>
            <a:bodyPr/>
            <a:lstStyle/>
            <a:p>
              <a:endParaRPr lang="en-GB"/>
            </a:p>
          </p:txBody>
        </p:sp>
        <p:sp>
          <p:nvSpPr>
            <p:cNvPr id="4" name="TextBox 4"/>
            <p:cNvSpPr txBox="1"/>
            <p:nvPr/>
          </p:nvSpPr>
          <p:spPr>
            <a:xfrm>
              <a:off x="5438298" y="538417"/>
              <a:ext cx="11493275"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IT22323316       |       Luvinson I     |       25-26J-473 </a:t>
              </a:r>
            </a:p>
          </p:txBody>
        </p:sp>
        <p:sp>
          <p:nvSpPr>
            <p:cNvPr id="5" name="TextBox 5"/>
            <p:cNvSpPr txBox="1"/>
            <p:nvPr/>
          </p:nvSpPr>
          <p:spPr>
            <a:xfrm>
              <a:off x="17904380" y="471742"/>
              <a:ext cx="4024088" cy="692757"/>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grpSp>
      <p:sp>
        <p:nvSpPr>
          <p:cNvPr id="6" name="TextBox 6"/>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18</a:t>
            </a:r>
          </a:p>
        </p:txBody>
      </p:sp>
      <p:sp>
        <p:nvSpPr>
          <p:cNvPr id="7" name="TextBox 7"/>
          <p:cNvSpPr txBox="1"/>
          <p:nvPr/>
        </p:nvSpPr>
        <p:spPr>
          <a:xfrm>
            <a:off x="3622809" y="92585"/>
            <a:ext cx="10478669" cy="540192"/>
          </a:xfrm>
          <a:prstGeom prst="rect">
            <a:avLst/>
          </a:prstGeom>
        </p:spPr>
        <p:txBody>
          <a:bodyPr lIns="0" tIns="0" rIns="0" bIns="0" rtlCol="0" anchor="t">
            <a:spAutoFit/>
          </a:bodyPr>
          <a:lstStyle/>
          <a:p>
            <a:pPr algn="ctr">
              <a:lnSpc>
                <a:spcPts val="4586"/>
              </a:lnSpc>
              <a:spcBef>
                <a:spcPct val="0"/>
              </a:spcBef>
            </a:pPr>
            <a:r>
              <a:rPr lang="en-US" sz="2866" spc="-171">
                <a:solidFill>
                  <a:srgbClr val="000000"/>
                </a:solidFill>
                <a:latin typeface="Canva Sans"/>
                <a:ea typeface="Canva Sans"/>
                <a:cs typeface="Canva Sans"/>
                <a:sym typeface="Canva Sans"/>
              </a:rPr>
              <a:t>PEDESTRIAN DETECTION AND  SIGNAL ADJUSTMENT</a:t>
            </a:r>
          </a:p>
        </p:txBody>
      </p:sp>
      <p:sp>
        <p:nvSpPr>
          <p:cNvPr id="8" name="TextBox 8"/>
          <p:cNvSpPr txBox="1"/>
          <p:nvPr/>
        </p:nvSpPr>
        <p:spPr>
          <a:xfrm>
            <a:off x="1669992" y="3305588"/>
            <a:ext cx="15834823" cy="3229513"/>
          </a:xfrm>
          <a:prstGeom prst="rect">
            <a:avLst/>
          </a:prstGeom>
        </p:spPr>
        <p:txBody>
          <a:bodyPr lIns="0" tIns="0" rIns="0" bIns="0" rtlCol="0" anchor="t">
            <a:spAutoFit/>
          </a:bodyPr>
          <a:lstStyle/>
          <a:p>
            <a:pPr marL="576126" lvl="1" indent="-288063" algn="l">
              <a:lnSpc>
                <a:spcPts val="4322"/>
              </a:lnSpc>
              <a:buFont typeface="Arial"/>
              <a:buChar char="•"/>
            </a:pPr>
            <a:r>
              <a:rPr lang="en-US" sz="2668">
                <a:solidFill>
                  <a:srgbClr val="000000"/>
                </a:solidFill>
                <a:latin typeface="Canva Sans"/>
                <a:ea typeface="Canva Sans"/>
                <a:cs typeface="Canva Sans"/>
                <a:sym typeface="Canva Sans"/>
              </a:rPr>
              <a:t>Real-time visualization of pedestrian detection and classification</a:t>
            </a:r>
          </a:p>
          <a:p>
            <a:pPr marL="576126" lvl="1" indent="-288063" algn="l">
              <a:lnSpc>
                <a:spcPts val="4322"/>
              </a:lnSpc>
              <a:buFont typeface="Arial"/>
              <a:buChar char="•"/>
            </a:pPr>
            <a:r>
              <a:rPr lang="en-US" sz="2668">
                <a:solidFill>
                  <a:srgbClr val="000000"/>
                </a:solidFill>
                <a:latin typeface="Canva Sans"/>
                <a:ea typeface="Canva Sans"/>
                <a:cs typeface="Canva Sans"/>
                <a:sym typeface="Canva Sans"/>
              </a:rPr>
              <a:t>Automatic adjustment of pedestrian crossing time for vulnerable users</a:t>
            </a:r>
          </a:p>
          <a:p>
            <a:pPr marL="576126" lvl="1" indent="-288063" algn="l">
              <a:lnSpc>
                <a:spcPts val="4322"/>
              </a:lnSpc>
              <a:buFont typeface="Arial"/>
              <a:buChar char="•"/>
            </a:pPr>
            <a:r>
              <a:rPr lang="en-US" sz="2668">
                <a:solidFill>
                  <a:srgbClr val="000000"/>
                </a:solidFill>
                <a:latin typeface="Canva Sans"/>
                <a:ea typeface="Canva Sans"/>
                <a:cs typeface="Canva Sans"/>
                <a:sym typeface="Canva Sans"/>
              </a:rPr>
              <a:t>Detection and counting of pedestrians violating traffic rules</a:t>
            </a:r>
          </a:p>
          <a:p>
            <a:pPr marL="576126" lvl="1" indent="-288063" algn="l">
              <a:lnSpc>
                <a:spcPts val="4322"/>
              </a:lnSpc>
              <a:buFont typeface="Arial"/>
              <a:buChar char="•"/>
            </a:pPr>
            <a:r>
              <a:rPr lang="en-US" sz="2668">
                <a:solidFill>
                  <a:srgbClr val="000000"/>
                </a:solidFill>
                <a:latin typeface="Canva Sans"/>
                <a:ea typeface="Canva Sans"/>
                <a:cs typeface="Canva Sans"/>
                <a:sym typeface="Canva Sans"/>
              </a:rPr>
              <a:t>Safety-aware inputs to reinforcement learning–based signal control</a:t>
            </a:r>
          </a:p>
          <a:p>
            <a:pPr marL="576126" lvl="1" indent="-288063" algn="l">
              <a:lnSpc>
                <a:spcPts val="4322"/>
              </a:lnSpc>
              <a:buFont typeface="Arial"/>
              <a:buChar char="•"/>
            </a:pPr>
            <a:r>
              <a:rPr lang="en-US" sz="2668">
                <a:solidFill>
                  <a:srgbClr val="000000"/>
                </a:solidFill>
                <a:latin typeface="Canva Sans"/>
                <a:ea typeface="Canva Sans"/>
                <a:cs typeface="Canva Sans"/>
                <a:sym typeface="Canva Sans"/>
              </a:rPr>
              <a:t>Review of detected pedestrian and event data</a:t>
            </a:r>
          </a:p>
          <a:p>
            <a:pPr algn="l">
              <a:lnSpc>
                <a:spcPts val="4322"/>
              </a:lnSpc>
            </a:pPr>
            <a:endParaRPr lang="en-US" sz="2668">
              <a:solidFill>
                <a:srgbClr val="000000"/>
              </a:solidFill>
              <a:latin typeface="Canva Sans"/>
              <a:ea typeface="Canva Sans"/>
              <a:cs typeface="Canva Sans"/>
              <a:sym typeface="Canva Sans"/>
            </a:endParaRPr>
          </a:p>
        </p:txBody>
      </p:sp>
      <p:sp>
        <p:nvSpPr>
          <p:cNvPr id="9" name="TextBox 9"/>
          <p:cNvSpPr txBox="1"/>
          <p:nvPr/>
        </p:nvSpPr>
        <p:spPr>
          <a:xfrm>
            <a:off x="1028700" y="2026111"/>
            <a:ext cx="10401601" cy="563880"/>
          </a:xfrm>
          <a:prstGeom prst="rect">
            <a:avLst/>
          </a:prstGeom>
        </p:spPr>
        <p:txBody>
          <a:bodyPr lIns="0" tIns="0" rIns="0" bIns="0" rtlCol="0" anchor="t">
            <a:spAutoFit/>
          </a:bodyPr>
          <a:lstStyle/>
          <a:p>
            <a:pPr algn="l">
              <a:lnSpc>
                <a:spcPts val="4620"/>
              </a:lnSpc>
            </a:pPr>
            <a:r>
              <a:rPr lang="en-US" sz="3300" b="1">
                <a:solidFill>
                  <a:srgbClr val="3D2812"/>
                </a:solidFill>
                <a:latin typeface="Canva Sans Bold"/>
                <a:ea typeface="Canva Sans Bold"/>
                <a:cs typeface="Canva Sans Bold"/>
                <a:sym typeface="Canva Sans Bold"/>
              </a:rPr>
              <a:t> User Requirements Fulfilled by the Solution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0" y="9322212"/>
            <a:ext cx="16446351" cy="964788"/>
            <a:chOff x="0" y="0"/>
            <a:chExt cx="21928468" cy="1286384"/>
          </a:xfrm>
        </p:grpSpPr>
        <p:sp>
          <p:nvSpPr>
            <p:cNvPr id="3" name="Freeform 3"/>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2"/>
              <a:stretch>
                <a:fillRect/>
              </a:stretch>
            </a:blipFill>
          </p:spPr>
          <p:txBody>
            <a:bodyPr/>
            <a:lstStyle/>
            <a:p>
              <a:endParaRPr lang="en-GB"/>
            </a:p>
          </p:txBody>
        </p:sp>
        <p:sp>
          <p:nvSpPr>
            <p:cNvPr id="4" name="TextBox 4"/>
            <p:cNvSpPr txBox="1"/>
            <p:nvPr/>
          </p:nvSpPr>
          <p:spPr>
            <a:xfrm>
              <a:off x="5438298" y="538417"/>
              <a:ext cx="11493275"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IT22323316       |       Luvinson I     |       25-26J-473 </a:t>
              </a:r>
            </a:p>
          </p:txBody>
        </p:sp>
        <p:sp>
          <p:nvSpPr>
            <p:cNvPr id="5" name="TextBox 5"/>
            <p:cNvSpPr txBox="1"/>
            <p:nvPr/>
          </p:nvSpPr>
          <p:spPr>
            <a:xfrm>
              <a:off x="17904380" y="471742"/>
              <a:ext cx="4024088" cy="692757"/>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grpSp>
      <p:sp>
        <p:nvSpPr>
          <p:cNvPr id="6" name="TextBox 6"/>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19</a:t>
            </a:r>
          </a:p>
        </p:txBody>
      </p:sp>
      <p:sp>
        <p:nvSpPr>
          <p:cNvPr id="7" name="TextBox 7"/>
          <p:cNvSpPr txBox="1"/>
          <p:nvPr/>
        </p:nvSpPr>
        <p:spPr>
          <a:xfrm>
            <a:off x="3622809" y="92585"/>
            <a:ext cx="10478669" cy="540192"/>
          </a:xfrm>
          <a:prstGeom prst="rect">
            <a:avLst/>
          </a:prstGeom>
        </p:spPr>
        <p:txBody>
          <a:bodyPr lIns="0" tIns="0" rIns="0" bIns="0" rtlCol="0" anchor="t">
            <a:spAutoFit/>
          </a:bodyPr>
          <a:lstStyle/>
          <a:p>
            <a:pPr algn="ctr">
              <a:lnSpc>
                <a:spcPts val="4586"/>
              </a:lnSpc>
              <a:spcBef>
                <a:spcPct val="0"/>
              </a:spcBef>
            </a:pPr>
            <a:r>
              <a:rPr lang="en-US" sz="2866" spc="-171">
                <a:solidFill>
                  <a:srgbClr val="000000"/>
                </a:solidFill>
                <a:latin typeface="Canva Sans"/>
                <a:ea typeface="Canva Sans"/>
                <a:cs typeface="Canva Sans"/>
                <a:sym typeface="Canva Sans"/>
              </a:rPr>
              <a:t>PEDESTRIAN DETECTION AND  SIGNAL ADJUSTMENT</a:t>
            </a:r>
          </a:p>
        </p:txBody>
      </p:sp>
      <p:sp>
        <p:nvSpPr>
          <p:cNvPr id="8" name="TextBox 8"/>
          <p:cNvSpPr txBox="1"/>
          <p:nvPr/>
        </p:nvSpPr>
        <p:spPr>
          <a:xfrm>
            <a:off x="1028674" y="687495"/>
            <a:ext cx="7810525" cy="551689"/>
          </a:xfrm>
          <a:prstGeom prst="rect">
            <a:avLst/>
          </a:prstGeom>
        </p:spPr>
        <p:txBody>
          <a:bodyPr wrap="square" lIns="0" tIns="0" rIns="0" bIns="0" rtlCol="0" anchor="t">
            <a:spAutoFit/>
          </a:bodyPr>
          <a:lstStyle/>
          <a:p>
            <a:pPr algn="ctr">
              <a:lnSpc>
                <a:spcPts val="4620"/>
              </a:lnSpc>
            </a:pPr>
            <a:r>
              <a:rPr lang="en-US" sz="3300" b="1" dirty="0">
                <a:solidFill>
                  <a:srgbClr val="000000"/>
                </a:solidFill>
                <a:latin typeface="Canva Sans Bold"/>
                <a:ea typeface="Canva Sans Bold"/>
                <a:cs typeface="Canva Sans Bold"/>
                <a:sym typeface="Canva Sans Bold"/>
              </a:rPr>
              <a:t>Design Excellence/Contribution</a:t>
            </a:r>
          </a:p>
        </p:txBody>
      </p:sp>
      <p:sp>
        <p:nvSpPr>
          <p:cNvPr id="9" name="TextBox 9"/>
          <p:cNvSpPr txBox="1"/>
          <p:nvPr/>
        </p:nvSpPr>
        <p:spPr>
          <a:xfrm>
            <a:off x="1028700" y="1583810"/>
            <a:ext cx="14665217" cy="3700208"/>
          </a:xfrm>
          <a:prstGeom prst="rect">
            <a:avLst/>
          </a:prstGeom>
        </p:spPr>
        <p:txBody>
          <a:bodyPr lIns="0" tIns="0" rIns="0" bIns="0" rtlCol="0" anchor="t">
            <a:spAutoFit/>
          </a:bodyPr>
          <a:lstStyle/>
          <a:p>
            <a:pPr marL="561723" lvl="1" indent="-280861" algn="l">
              <a:lnSpc>
                <a:spcPts val="4266"/>
              </a:lnSpc>
              <a:buFont typeface="Arial"/>
              <a:buChar char="•"/>
            </a:pPr>
            <a:r>
              <a:rPr lang="en-US" sz="2601" spc="80" dirty="0">
                <a:solidFill>
                  <a:srgbClr val="000000"/>
                </a:solidFill>
                <a:latin typeface="Canva Sans"/>
                <a:ea typeface="Canva Sans"/>
                <a:cs typeface="Canva Sans"/>
                <a:sym typeface="Canva Sans"/>
              </a:rPr>
              <a:t>Vision-based pedestrian detection and mobility classification using a custom-trained YOLOv8 model</a:t>
            </a:r>
          </a:p>
          <a:p>
            <a:pPr marL="561723" lvl="1" indent="-280861" algn="l">
              <a:lnSpc>
                <a:spcPts val="4266"/>
              </a:lnSpc>
              <a:buFont typeface="Arial"/>
              <a:buChar char="•"/>
            </a:pPr>
            <a:r>
              <a:rPr lang="en-US" sz="2601" spc="80" dirty="0">
                <a:solidFill>
                  <a:srgbClr val="000000"/>
                </a:solidFill>
                <a:latin typeface="Canva Sans"/>
                <a:ea typeface="Canva Sans"/>
                <a:cs typeface="Canva Sans"/>
                <a:sym typeface="Canva Sans"/>
              </a:rPr>
              <a:t>Pedestrian-aware adaptive signal timing integrated with SUMO and reinforcement learning agents</a:t>
            </a:r>
          </a:p>
          <a:p>
            <a:pPr marL="561723" lvl="1" indent="-280861" algn="l">
              <a:lnSpc>
                <a:spcPts val="4266"/>
              </a:lnSpc>
              <a:buFont typeface="Arial"/>
              <a:buChar char="•"/>
            </a:pPr>
            <a:r>
              <a:rPr lang="en-US" sz="2601" spc="80" dirty="0">
                <a:solidFill>
                  <a:srgbClr val="000000"/>
                </a:solidFill>
                <a:latin typeface="Canva Sans"/>
                <a:ea typeface="Canva Sans"/>
                <a:cs typeface="Canva Sans"/>
                <a:sym typeface="Canva Sans"/>
              </a:rPr>
              <a:t>Rule-violation detection to improve pedestrian safety and traffic decision-making</a:t>
            </a:r>
          </a:p>
          <a:p>
            <a:pPr marL="561723" lvl="1" indent="-280861" algn="l">
              <a:lnSpc>
                <a:spcPts val="4266"/>
              </a:lnSpc>
              <a:buFont typeface="Arial"/>
              <a:buChar char="•"/>
            </a:pPr>
            <a:r>
              <a:rPr lang="en-US" sz="2601" spc="80" dirty="0">
                <a:solidFill>
                  <a:srgbClr val="000000"/>
                </a:solidFill>
                <a:latin typeface="Canva Sans"/>
                <a:ea typeface="Canva Sans"/>
                <a:cs typeface="Canva Sans"/>
                <a:sym typeface="Canva Sans"/>
              </a:rPr>
              <a:t>Modular and scalable design suitable for smart city traffic systems</a:t>
            </a:r>
          </a:p>
          <a:p>
            <a:pPr algn="l">
              <a:lnSpc>
                <a:spcPts val="3642"/>
              </a:lnSpc>
            </a:pPr>
            <a:endParaRPr lang="en-US" sz="2601" spc="80" dirty="0">
              <a:solidFill>
                <a:srgbClr val="000000"/>
              </a:solidFill>
              <a:latin typeface="Canva Sans"/>
              <a:ea typeface="Canva Sans"/>
              <a:cs typeface="Canva Sans"/>
              <a:sym typeface="Canva Sans"/>
            </a:endParaRPr>
          </a:p>
        </p:txBody>
      </p:sp>
      <p:sp>
        <p:nvSpPr>
          <p:cNvPr id="10" name="TextBox 10"/>
          <p:cNvSpPr txBox="1"/>
          <p:nvPr/>
        </p:nvSpPr>
        <p:spPr>
          <a:xfrm>
            <a:off x="685800" y="5136142"/>
            <a:ext cx="7810525" cy="551689"/>
          </a:xfrm>
          <a:prstGeom prst="rect">
            <a:avLst/>
          </a:prstGeom>
        </p:spPr>
        <p:txBody>
          <a:bodyPr wrap="square" lIns="0" tIns="0" rIns="0" bIns="0" rtlCol="0" anchor="t">
            <a:spAutoFit/>
          </a:bodyPr>
          <a:lstStyle/>
          <a:p>
            <a:pPr algn="ctr">
              <a:lnSpc>
                <a:spcPts val="4620"/>
              </a:lnSpc>
            </a:pPr>
            <a:r>
              <a:rPr lang="en-US" sz="3300" b="1" dirty="0">
                <a:solidFill>
                  <a:srgbClr val="000000"/>
                </a:solidFill>
                <a:latin typeface="Canva Sans Bold"/>
                <a:ea typeface="Canva Sans Bold"/>
                <a:cs typeface="Canva Sans Bold"/>
                <a:sym typeface="Canva Sans Bold"/>
              </a:rPr>
              <a:t>User Feedback on Prototype</a:t>
            </a:r>
          </a:p>
        </p:txBody>
      </p:sp>
      <p:sp>
        <p:nvSpPr>
          <p:cNvPr id="11" name="TextBox 11"/>
          <p:cNvSpPr txBox="1"/>
          <p:nvPr/>
        </p:nvSpPr>
        <p:spPr>
          <a:xfrm>
            <a:off x="1028700" y="5948886"/>
            <a:ext cx="15150235" cy="2715989"/>
          </a:xfrm>
          <a:prstGeom prst="rect">
            <a:avLst/>
          </a:prstGeom>
        </p:spPr>
        <p:txBody>
          <a:bodyPr lIns="0" tIns="0" rIns="0" bIns="0" rtlCol="0" anchor="t">
            <a:spAutoFit/>
          </a:bodyPr>
          <a:lstStyle/>
          <a:p>
            <a:pPr marL="580301" lvl="1" indent="-290150" algn="l">
              <a:lnSpc>
                <a:spcPts val="4408"/>
              </a:lnSpc>
              <a:buFont typeface="Arial"/>
              <a:buChar char="•"/>
            </a:pPr>
            <a:r>
              <a:rPr lang="en-US" sz="2687" spc="83">
                <a:solidFill>
                  <a:srgbClr val="000000"/>
                </a:solidFill>
                <a:latin typeface="Canva Sans"/>
                <a:ea typeface="Canva Sans"/>
                <a:cs typeface="Canva Sans"/>
                <a:sym typeface="Canva Sans"/>
              </a:rPr>
              <a:t>Users reported that the pedestrian detection and classification dashboard was easy to understand and intuitive to use.</a:t>
            </a:r>
          </a:p>
          <a:p>
            <a:pPr marL="580301" lvl="1" indent="-290150" algn="l">
              <a:lnSpc>
                <a:spcPts val="4408"/>
              </a:lnSpc>
              <a:buFont typeface="Arial"/>
              <a:buChar char="•"/>
            </a:pPr>
            <a:r>
              <a:rPr lang="en-US" sz="2687" spc="83">
                <a:solidFill>
                  <a:srgbClr val="000000"/>
                </a:solidFill>
                <a:latin typeface="Canva Sans"/>
                <a:ea typeface="Canva Sans"/>
                <a:cs typeface="Canva Sans"/>
                <a:sym typeface="Canva Sans"/>
              </a:rPr>
              <a:t>The real-time visualization of pedestrian categories and detections was considered clear and informative.</a:t>
            </a:r>
          </a:p>
          <a:p>
            <a:pPr algn="l">
              <a:lnSpc>
                <a:spcPts val="3762"/>
              </a:lnSpc>
            </a:pPr>
            <a:endParaRPr lang="en-US" sz="2687" spc="83">
              <a:solidFill>
                <a:srgbClr val="000000"/>
              </a:solidFill>
              <a:latin typeface="Canva Sans"/>
              <a:ea typeface="Canva Sans"/>
              <a:cs typeface="Canva Sans"/>
              <a:sym typeface="Canva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7744518"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20</a:t>
            </a:r>
          </a:p>
        </p:txBody>
      </p:sp>
      <p:grpSp>
        <p:nvGrpSpPr>
          <p:cNvPr id="3" name="Group 3"/>
          <p:cNvGrpSpPr/>
          <p:nvPr/>
        </p:nvGrpSpPr>
        <p:grpSpPr>
          <a:xfrm>
            <a:off x="871784" y="-356782"/>
            <a:ext cx="3694519" cy="1453060"/>
            <a:chOff x="0" y="-200025"/>
            <a:chExt cx="973042" cy="382699"/>
          </a:xfrm>
        </p:grpSpPr>
        <p:sp>
          <p:nvSpPr>
            <p:cNvPr id="4" name="Freeform 4"/>
            <p:cNvSpPr/>
            <p:nvPr/>
          </p:nvSpPr>
          <p:spPr>
            <a:xfrm>
              <a:off x="0" y="-62762"/>
              <a:ext cx="973042" cy="182674"/>
            </a:xfrm>
            <a:custGeom>
              <a:avLst/>
              <a:gdLst/>
              <a:ahLst/>
              <a:cxnLst/>
              <a:rect l="l" t="t" r="r" b="b"/>
              <a:pathLst>
                <a:path w="973042" h="182674">
                  <a:moveTo>
                    <a:pt x="91337" y="0"/>
                  </a:moveTo>
                  <a:lnTo>
                    <a:pt x="881705" y="0"/>
                  </a:lnTo>
                  <a:cubicBezTo>
                    <a:pt x="905929" y="0"/>
                    <a:pt x="929161" y="9623"/>
                    <a:pt x="946290" y="26752"/>
                  </a:cubicBezTo>
                  <a:cubicBezTo>
                    <a:pt x="963419" y="43881"/>
                    <a:pt x="973042" y="67113"/>
                    <a:pt x="973042" y="91337"/>
                  </a:cubicBezTo>
                  <a:lnTo>
                    <a:pt x="973042" y="91337"/>
                  </a:lnTo>
                  <a:cubicBezTo>
                    <a:pt x="973042" y="141781"/>
                    <a:pt x="932149" y="182674"/>
                    <a:pt x="881705" y="182674"/>
                  </a:cubicBezTo>
                  <a:lnTo>
                    <a:pt x="91337" y="182674"/>
                  </a:lnTo>
                  <a:cubicBezTo>
                    <a:pt x="67113" y="182674"/>
                    <a:pt x="43881" y="173051"/>
                    <a:pt x="26752" y="155922"/>
                  </a:cubicBezTo>
                  <a:cubicBezTo>
                    <a:pt x="9623" y="138793"/>
                    <a:pt x="0" y="115561"/>
                    <a:pt x="0" y="91337"/>
                  </a:cubicBezTo>
                  <a:lnTo>
                    <a:pt x="0" y="91337"/>
                  </a:lnTo>
                  <a:cubicBezTo>
                    <a:pt x="0" y="67113"/>
                    <a:pt x="9623" y="43881"/>
                    <a:pt x="26752" y="26752"/>
                  </a:cubicBezTo>
                  <a:cubicBezTo>
                    <a:pt x="43881" y="9623"/>
                    <a:pt x="67113" y="0"/>
                    <a:pt x="91337" y="0"/>
                  </a:cubicBezTo>
                  <a:close/>
                </a:path>
              </a:pathLst>
            </a:custGeom>
            <a:gradFill rotWithShape="1">
              <a:gsLst>
                <a:gs pos="0">
                  <a:srgbClr val="180754">
                    <a:alpha val="100000"/>
                  </a:srgbClr>
                </a:gs>
                <a:gs pos="100000">
                  <a:srgbClr val="070030">
                    <a:alpha val="100000"/>
                  </a:srgbClr>
                </a:gs>
              </a:gsLst>
              <a:lin ang="0"/>
            </a:gradFill>
          </p:spPr>
          <p:txBody>
            <a:bodyPr/>
            <a:lstStyle/>
            <a:p>
              <a:endParaRPr lang="en-GB"/>
            </a:p>
          </p:txBody>
        </p:sp>
        <p:sp>
          <p:nvSpPr>
            <p:cNvPr id="5" name="TextBox 5"/>
            <p:cNvSpPr txBox="1"/>
            <p:nvPr/>
          </p:nvSpPr>
          <p:spPr>
            <a:xfrm>
              <a:off x="0" y="-200025"/>
              <a:ext cx="973042" cy="382699"/>
            </a:xfrm>
            <a:prstGeom prst="rect">
              <a:avLst/>
            </a:prstGeom>
          </p:spPr>
          <p:txBody>
            <a:bodyPr lIns="50800" tIns="50800" rIns="50800" bIns="50800" rtlCol="0" anchor="ctr"/>
            <a:lstStyle/>
            <a:p>
              <a:pPr algn="ctr">
                <a:lnSpc>
                  <a:spcPts val="5700"/>
                </a:lnSpc>
              </a:pPr>
              <a:r>
                <a:rPr lang="en-US" sz="3000" spc="44" dirty="0">
                  <a:solidFill>
                    <a:srgbClr val="FFFFFF"/>
                  </a:solidFill>
                  <a:latin typeface="Canva Sans"/>
                  <a:ea typeface="Canva Sans"/>
                  <a:cs typeface="Canva Sans"/>
                  <a:sym typeface="Canva Sans"/>
                </a:rPr>
                <a:t>Commercialization</a:t>
              </a:r>
            </a:p>
          </p:txBody>
        </p:sp>
      </p:grpSp>
      <p:grpSp>
        <p:nvGrpSpPr>
          <p:cNvPr id="6" name="Group 6"/>
          <p:cNvGrpSpPr/>
          <p:nvPr/>
        </p:nvGrpSpPr>
        <p:grpSpPr>
          <a:xfrm>
            <a:off x="555493" y="1096278"/>
            <a:ext cx="17430781" cy="2373646"/>
            <a:chOff x="0" y="0"/>
            <a:chExt cx="4590823" cy="625158"/>
          </a:xfrm>
        </p:grpSpPr>
        <p:sp>
          <p:nvSpPr>
            <p:cNvPr id="7" name="Freeform 7"/>
            <p:cNvSpPr/>
            <p:nvPr/>
          </p:nvSpPr>
          <p:spPr>
            <a:xfrm>
              <a:off x="0" y="0"/>
              <a:ext cx="4590823" cy="625158"/>
            </a:xfrm>
            <a:custGeom>
              <a:avLst/>
              <a:gdLst/>
              <a:ahLst/>
              <a:cxnLst/>
              <a:rect l="l" t="t" r="r" b="b"/>
              <a:pathLst>
                <a:path w="4590823" h="625158">
                  <a:moveTo>
                    <a:pt x="8439" y="0"/>
                  </a:moveTo>
                  <a:lnTo>
                    <a:pt x="4582384" y="0"/>
                  </a:lnTo>
                  <a:cubicBezTo>
                    <a:pt x="4584622" y="0"/>
                    <a:pt x="4586768" y="889"/>
                    <a:pt x="4588351" y="2472"/>
                  </a:cubicBezTo>
                  <a:cubicBezTo>
                    <a:pt x="4589934" y="4054"/>
                    <a:pt x="4590823" y="6201"/>
                    <a:pt x="4590823" y="8439"/>
                  </a:cubicBezTo>
                  <a:lnTo>
                    <a:pt x="4590823" y="616719"/>
                  </a:lnTo>
                  <a:cubicBezTo>
                    <a:pt x="4590823" y="618957"/>
                    <a:pt x="4589934" y="621104"/>
                    <a:pt x="4588351" y="622686"/>
                  </a:cubicBezTo>
                  <a:cubicBezTo>
                    <a:pt x="4586768" y="624269"/>
                    <a:pt x="4584622" y="625158"/>
                    <a:pt x="4582384" y="625158"/>
                  </a:cubicBezTo>
                  <a:lnTo>
                    <a:pt x="8439" y="625158"/>
                  </a:lnTo>
                  <a:cubicBezTo>
                    <a:pt x="6201" y="625158"/>
                    <a:pt x="4054" y="624269"/>
                    <a:pt x="2472" y="622686"/>
                  </a:cubicBezTo>
                  <a:cubicBezTo>
                    <a:pt x="889" y="621104"/>
                    <a:pt x="0" y="618957"/>
                    <a:pt x="0" y="616719"/>
                  </a:cubicBezTo>
                  <a:lnTo>
                    <a:pt x="0" y="8439"/>
                  </a:lnTo>
                  <a:cubicBezTo>
                    <a:pt x="0" y="6201"/>
                    <a:pt x="889" y="4054"/>
                    <a:pt x="2472" y="2472"/>
                  </a:cubicBezTo>
                  <a:cubicBezTo>
                    <a:pt x="4054" y="889"/>
                    <a:pt x="6201" y="0"/>
                    <a:pt x="8439" y="0"/>
                  </a:cubicBezTo>
                  <a:close/>
                </a:path>
              </a:pathLst>
            </a:custGeom>
            <a:solidFill>
              <a:srgbClr val="EDF7FF"/>
            </a:solidFill>
          </p:spPr>
          <p:txBody>
            <a:bodyPr/>
            <a:lstStyle/>
            <a:p>
              <a:endParaRPr lang="en-GB"/>
            </a:p>
          </p:txBody>
        </p:sp>
        <p:sp>
          <p:nvSpPr>
            <p:cNvPr id="8" name="TextBox 8"/>
            <p:cNvSpPr txBox="1"/>
            <p:nvPr/>
          </p:nvSpPr>
          <p:spPr>
            <a:xfrm>
              <a:off x="0" y="28575"/>
              <a:ext cx="4590823" cy="596583"/>
            </a:xfrm>
            <a:prstGeom prst="rect">
              <a:avLst/>
            </a:prstGeom>
          </p:spPr>
          <p:txBody>
            <a:bodyPr lIns="190500" tIns="190500" rIns="190500" bIns="190500" rtlCol="0" anchor="t"/>
            <a:lstStyle/>
            <a:p>
              <a:pPr algn="l">
                <a:lnSpc>
                  <a:spcPts val="2555"/>
                </a:lnSpc>
              </a:pPr>
              <a:r>
                <a:rPr lang="en-US" sz="2366" spc="35">
                  <a:solidFill>
                    <a:srgbClr val="000000"/>
                  </a:solidFill>
                  <a:latin typeface="Canva Sans"/>
                  <a:ea typeface="Canva Sans"/>
                  <a:cs typeface="Canva Sans"/>
                  <a:sym typeface="Canva Sans"/>
                </a:rPr>
                <a:t>Offer the target audience a software-driven solution to reduce congestion and citizen commute times. Steps;</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Protect the Intellectual Property</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Create a Minimal Viable deployable Product</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Offer a free pilot program to a targeted municipality or a large commercial property</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Charge an annual subscription fee per intersection controlled</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Partner with Hardware Vendors to increases the value of their hardware, thereby they becoming a sales channel</a:t>
              </a:r>
            </a:p>
          </p:txBody>
        </p:sp>
      </p:grpSp>
      <p:sp>
        <p:nvSpPr>
          <p:cNvPr id="9" name="Freeform 9"/>
          <p:cNvSpPr/>
          <p:nvPr/>
        </p:nvSpPr>
        <p:spPr>
          <a:xfrm>
            <a:off x="0" y="9322212"/>
            <a:ext cx="4078723" cy="964788"/>
          </a:xfrm>
          <a:custGeom>
            <a:avLst/>
            <a:gdLst/>
            <a:ahLst/>
            <a:cxnLst/>
            <a:rect l="l" t="t" r="r" b="b"/>
            <a:pathLst>
              <a:path w="4078723" h="964788">
                <a:moveTo>
                  <a:pt x="0" y="0"/>
                </a:moveTo>
                <a:lnTo>
                  <a:pt x="4078723" y="0"/>
                </a:lnTo>
                <a:lnTo>
                  <a:pt x="4078723" y="964788"/>
                </a:lnTo>
                <a:lnTo>
                  <a:pt x="0" y="964788"/>
                </a:lnTo>
                <a:lnTo>
                  <a:pt x="0" y="0"/>
                </a:lnTo>
                <a:close/>
              </a:path>
            </a:pathLst>
          </a:custGeom>
          <a:blipFill>
            <a:blip r:embed="rId3"/>
            <a:stretch>
              <a:fillRect/>
            </a:stretch>
          </a:blipFill>
        </p:spPr>
        <p:txBody>
          <a:bodyPr/>
          <a:lstStyle/>
          <a:p>
            <a:endParaRPr lang="en-GB"/>
          </a:p>
        </p:txBody>
      </p:sp>
      <p:grpSp>
        <p:nvGrpSpPr>
          <p:cNvPr id="10" name="Group 10"/>
          <p:cNvGrpSpPr/>
          <p:nvPr/>
        </p:nvGrpSpPr>
        <p:grpSpPr>
          <a:xfrm>
            <a:off x="2719043" y="3027877"/>
            <a:ext cx="3706020" cy="1453060"/>
            <a:chOff x="0" y="-138720"/>
            <a:chExt cx="976071" cy="382699"/>
          </a:xfrm>
        </p:grpSpPr>
        <p:sp>
          <p:nvSpPr>
            <p:cNvPr id="11" name="Freeform 11"/>
            <p:cNvSpPr/>
            <p:nvPr/>
          </p:nvSpPr>
          <p:spPr>
            <a:xfrm>
              <a:off x="0" y="0"/>
              <a:ext cx="973042" cy="182674"/>
            </a:xfrm>
            <a:custGeom>
              <a:avLst/>
              <a:gdLst/>
              <a:ahLst/>
              <a:cxnLst/>
              <a:rect l="l" t="t" r="r" b="b"/>
              <a:pathLst>
                <a:path w="973042" h="182674">
                  <a:moveTo>
                    <a:pt x="91337" y="0"/>
                  </a:moveTo>
                  <a:lnTo>
                    <a:pt x="881705" y="0"/>
                  </a:lnTo>
                  <a:cubicBezTo>
                    <a:pt x="905929" y="0"/>
                    <a:pt x="929161" y="9623"/>
                    <a:pt x="946290" y="26752"/>
                  </a:cubicBezTo>
                  <a:cubicBezTo>
                    <a:pt x="963419" y="43881"/>
                    <a:pt x="973042" y="67113"/>
                    <a:pt x="973042" y="91337"/>
                  </a:cubicBezTo>
                  <a:lnTo>
                    <a:pt x="973042" y="91337"/>
                  </a:lnTo>
                  <a:cubicBezTo>
                    <a:pt x="973042" y="141781"/>
                    <a:pt x="932149" y="182674"/>
                    <a:pt x="881705" y="182674"/>
                  </a:cubicBezTo>
                  <a:lnTo>
                    <a:pt x="91337" y="182674"/>
                  </a:lnTo>
                  <a:cubicBezTo>
                    <a:pt x="67113" y="182674"/>
                    <a:pt x="43881" y="173051"/>
                    <a:pt x="26752" y="155922"/>
                  </a:cubicBezTo>
                  <a:cubicBezTo>
                    <a:pt x="9623" y="138793"/>
                    <a:pt x="0" y="115561"/>
                    <a:pt x="0" y="91337"/>
                  </a:cubicBezTo>
                  <a:lnTo>
                    <a:pt x="0" y="91337"/>
                  </a:lnTo>
                  <a:cubicBezTo>
                    <a:pt x="0" y="67113"/>
                    <a:pt x="9623" y="43881"/>
                    <a:pt x="26752" y="26752"/>
                  </a:cubicBezTo>
                  <a:cubicBezTo>
                    <a:pt x="43881" y="9623"/>
                    <a:pt x="67113" y="0"/>
                    <a:pt x="91337" y="0"/>
                  </a:cubicBezTo>
                  <a:close/>
                </a:path>
              </a:pathLst>
            </a:custGeom>
            <a:gradFill rotWithShape="1">
              <a:gsLst>
                <a:gs pos="0">
                  <a:srgbClr val="180754">
                    <a:alpha val="100000"/>
                  </a:srgbClr>
                </a:gs>
                <a:gs pos="100000">
                  <a:srgbClr val="070030">
                    <a:alpha val="100000"/>
                  </a:srgbClr>
                </a:gs>
              </a:gsLst>
              <a:lin ang="0"/>
            </a:gradFill>
          </p:spPr>
          <p:txBody>
            <a:bodyPr/>
            <a:lstStyle/>
            <a:p>
              <a:endParaRPr lang="en-GB"/>
            </a:p>
          </p:txBody>
        </p:sp>
        <p:sp>
          <p:nvSpPr>
            <p:cNvPr id="12" name="TextBox 12"/>
            <p:cNvSpPr txBox="1"/>
            <p:nvPr/>
          </p:nvSpPr>
          <p:spPr>
            <a:xfrm>
              <a:off x="3029" y="-138720"/>
              <a:ext cx="973042" cy="382699"/>
            </a:xfrm>
            <a:prstGeom prst="rect">
              <a:avLst/>
            </a:prstGeom>
          </p:spPr>
          <p:txBody>
            <a:bodyPr lIns="50800" tIns="50800" rIns="50800" bIns="50800" rtlCol="0" anchor="ctr"/>
            <a:lstStyle/>
            <a:p>
              <a:pPr algn="ctr">
                <a:lnSpc>
                  <a:spcPts val="5700"/>
                </a:lnSpc>
              </a:pPr>
              <a:r>
                <a:rPr lang="en-US" sz="3000" spc="44" dirty="0">
                  <a:solidFill>
                    <a:srgbClr val="FFFFFF"/>
                  </a:solidFill>
                  <a:latin typeface="Canva Sans"/>
                  <a:ea typeface="Canva Sans"/>
                  <a:cs typeface="Canva Sans"/>
                  <a:sym typeface="Canva Sans"/>
                </a:rPr>
                <a:t>Target Market</a:t>
              </a:r>
            </a:p>
          </p:txBody>
        </p:sp>
      </p:grpSp>
      <p:grpSp>
        <p:nvGrpSpPr>
          <p:cNvPr id="13" name="Group 13"/>
          <p:cNvGrpSpPr/>
          <p:nvPr/>
        </p:nvGrpSpPr>
        <p:grpSpPr>
          <a:xfrm>
            <a:off x="697136" y="4265589"/>
            <a:ext cx="8588507" cy="2049796"/>
            <a:chOff x="0" y="0"/>
            <a:chExt cx="2261994" cy="539864"/>
          </a:xfrm>
        </p:grpSpPr>
        <p:sp>
          <p:nvSpPr>
            <p:cNvPr id="14" name="Freeform 14"/>
            <p:cNvSpPr/>
            <p:nvPr/>
          </p:nvSpPr>
          <p:spPr>
            <a:xfrm>
              <a:off x="0" y="0"/>
              <a:ext cx="2261994" cy="539864"/>
            </a:xfrm>
            <a:custGeom>
              <a:avLst/>
              <a:gdLst/>
              <a:ahLst/>
              <a:cxnLst/>
              <a:rect l="l" t="t" r="r" b="b"/>
              <a:pathLst>
                <a:path w="2261994" h="539864">
                  <a:moveTo>
                    <a:pt x="17127" y="0"/>
                  </a:moveTo>
                  <a:lnTo>
                    <a:pt x="2244867" y="0"/>
                  </a:lnTo>
                  <a:cubicBezTo>
                    <a:pt x="2249409" y="0"/>
                    <a:pt x="2253765" y="1804"/>
                    <a:pt x="2256977" y="5016"/>
                  </a:cubicBezTo>
                  <a:cubicBezTo>
                    <a:pt x="2260189" y="8228"/>
                    <a:pt x="2261994" y="12585"/>
                    <a:pt x="2261994" y="17127"/>
                  </a:cubicBezTo>
                  <a:lnTo>
                    <a:pt x="2261994" y="522737"/>
                  </a:lnTo>
                  <a:cubicBezTo>
                    <a:pt x="2261994" y="527279"/>
                    <a:pt x="2260189" y="531636"/>
                    <a:pt x="2256977" y="534848"/>
                  </a:cubicBezTo>
                  <a:cubicBezTo>
                    <a:pt x="2253765" y="538060"/>
                    <a:pt x="2249409" y="539864"/>
                    <a:pt x="2244867" y="539864"/>
                  </a:cubicBezTo>
                  <a:lnTo>
                    <a:pt x="17127" y="539864"/>
                  </a:lnTo>
                  <a:cubicBezTo>
                    <a:pt x="12585" y="539864"/>
                    <a:pt x="8228" y="538060"/>
                    <a:pt x="5016" y="534848"/>
                  </a:cubicBezTo>
                  <a:cubicBezTo>
                    <a:pt x="1804" y="531636"/>
                    <a:pt x="0" y="527279"/>
                    <a:pt x="0" y="522737"/>
                  </a:cubicBezTo>
                  <a:lnTo>
                    <a:pt x="0" y="17127"/>
                  </a:lnTo>
                  <a:cubicBezTo>
                    <a:pt x="0" y="12585"/>
                    <a:pt x="1804" y="8228"/>
                    <a:pt x="5016" y="5016"/>
                  </a:cubicBezTo>
                  <a:cubicBezTo>
                    <a:pt x="8228" y="1804"/>
                    <a:pt x="12585" y="0"/>
                    <a:pt x="17127" y="0"/>
                  </a:cubicBezTo>
                  <a:close/>
                </a:path>
              </a:pathLst>
            </a:custGeom>
            <a:solidFill>
              <a:srgbClr val="EDF7FF"/>
            </a:solidFill>
          </p:spPr>
          <p:txBody>
            <a:bodyPr/>
            <a:lstStyle/>
            <a:p>
              <a:endParaRPr lang="en-GB"/>
            </a:p>
          </p:txBody>
        </p:sp>
        <p:sp>
          <p:nvSpPr>
            <p:cNvPr id="15" name="TextBox 15"/>
            <p:cNvSpPr txBox="1"/>
            <p:nvPr/>
          </p:nvSpPr>
          <p:spPr>
            <a:xfrm>
              <a:off x="0" y="28575"/>
              <a:ext cx="2261994" cy="511289"/>
            </a:xfrm>
            <a:prstGeom prst="rect">
              <a:avLst/>
            </a:prstGeom>
          </p:spPr>
          <p:txBody>
            <a:bodyPr lIns="190500" tIns="190500" rIns="190500" bIns="190500" rtlCol="0" anchor="t"/>
            <a:lstStyle/>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Government traffic management authorities</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City councils</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Ambulances, fire brigades, and police departments</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Smart city solution providers </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IoT companies </a:t>
              </a:r>
            </a:p>
          </p:txBody>
        </p:sp>
      </p:grpSp>
      <p:grpSp>
        <p:nvGrpSpPr>
          <p:cNvPr id="16" name="Group 16"/>
          <p:cNvGrpSpPr/>
          <p:nvPr/>
        </p:nvGrpSpPr>
        <p:grpSpPr>
          <a:xfrm>
            <a:off x="12043808" y="3098569"/>
            <a:ext cx="3694519" cy="1453060"/>
            <a:chOff x="0" y="-136902"/>
            <a:chExt cx="973042" cy="382699"/>
          </a:xfrm>
        </p:grpSpPr>
        <p:sp>
          <p:nvSpPr>
            <p:cNvPr id="17" name="Freeform 17"/>
            <p:cNvSpPr/>
            <p:nvPr/>
          </p:nvSpPr>
          <p:spPr>
            <a:xfrm>
              <a:off x="0" y="0"/>
              <a:ext cx="973042" cy="182674"/>
            </a:xfrm>
            <a:custGeom>
              <a:avLst/>
              <a:gdLst/>
              <a:ahLst/>
              <a:cxnLst/>
              <a:rect l="l" t="t" r="r" b="b"/>
              <a:pathLst>
                <a:path w="973042" h="182674">
                  <a:moveTo>
                    <a:pt x="91337" y="0"/>
                  </a:moveTo>
                  <a:lnTo>
                    <a:pt x="881705" y="0"/>
                  </a:lnTo>
                  <a:cubicBezTo>
                    <a:pt x="905929" y="0"/>
                    <a:pt x="929161" y="9623"/>
                    <a:pt x="946290" y="26752"/>
                  </a:cubicBezTo>
                  <a:cubicBezTo>
                    <a:pt x="963419" y="43881"/>
                    <a:pt x="973042" y="67113"/>
                    <a:pt x="973042" y="91337"/>
                  </a:cubicBezTo>
                  <a:lnTo>
                    <a:pt x="973042" y="91337"/>
                  </a:lnTo>
                  <a:cubicBezTo>
                    <a:pt x="973042" y="141781"/>
                    <a:pt x="932149" y="182674"/>
                    <a:pt x="881705" y="182674"/>
                  </a:cubicBezTo>
                  <a:lnTo>
                    <a:pt x="91337" y="182674"/>
                  </a:lnTo>
                  <a:cubicBezTo>
                    <a:pt x="67113" y="182674"/>
                    <a:pt x="43881" y="173051"/>
                    <a:pt x="26752" y="155922"/>
                  </a:cubicBezTo>
                  <a:cubicBezTo>
                    <a:pt x="9623" y="138793"/>
                    <a:pt x="0" y="115561"/>
                    <a:pt x="0" y="91337"/>
                  </a:cubicBezTo>
                  <a:lnTo>
                    <a:pt x="0" y="91337"/>
                  </a:lnTo>
                  <a:cubicBezTo>
                    <a:pt x="0" y="67113"/>
                    <a:pt x="9623" y="43881"/>
                    <a:pt x="26752" y="26752"/>
                  </a:cubicBezTo>
                  <a:cubicBezTo>
                    <a:pt x="43881" y="9623"/>
                    <a:pt x="67113" y="0"/>
                    <a:pt x="91337" y="0"/>
                  </a:cubicBezTo>
                  <a:close/>
                </a:path>
              </a:pathLst>
            </a:custGeom>
            <a:gradFill rotWithShape="1">
              <a:gsLst>
                <a:gs pos="0">
                  <a:srgbClr val="180754">
                    <a:alpha val="100000"/>
                  </a:srgbClr>
                </a:gs>
                <a:gs pos="100000">
                  <a:srgbClr val="070030">
                    <a:alpha val="100000"/>
                  </a:srgbClr>
                </a:gs>
              </a:gsLst>
              <a:lin ang="0"/>
            </a:gradFill>
          </p:spPr>
          <p:txBody>
            <a:bodyPr/>
            <a:lstStyle/>
            <a:p>
              <a:endParaRPr lang="en-GB"/>
            </a:p>
          </p:txBody>
        </p:sp>
        <p:sp>
          <p:nvSpPr>
            <p:cNvPr id="18" name="TextBox 18"/>
            <p:cNvSpPr txBox="1"/>
            <p:nvPr/>
          </p:nvSpPr>
          <p:spPr>
            <a:xfrm>
              <a:off x="0" y="-136902"/>
              <a:ext cx="973042" cy="382699"/>
            </a:xfrm>
            <a:prstGeom prst="rect">
              <a:avLst/>
            </a:prstGeom>
          </p:spPr>
          <p:txBody>
            <a:bodyPr lIns="50800" tIns="50800" rIns="50800" bIns="50800" rtlCol="0" anchor="ctr"/>
            <a:lstStyle/>
            <a:p>
              <a:pPr algn="ctr">
                <a:lnSpc>
                  <a:spcPts val="5700"/>
                </a:lnSpc>
              </a:pPr>
              <a:r>
                <a:rPr lang="en-US" sz="3000" spc="44" dirty="0">
                  <a:solidFill>
                    <a:srgbClr val="FFFFFF"/>
                  </a:solidFill>
                  <a:latin typeface="Canva Sans"/>
                  <a:ea typeface="Canva Sans"/>
                  <a:cs typeface="Canva Sans"/>
                  <a:sym typeface="Canva Sans"/>
                </a:rPr>
                <a:t>Customer Profile</a:t>
              </a:r>
            </a:p>
          </p:txBody>
        </p:sp>
      </p:grpSp>
      <p:grpSp>
        <p:nvGrpSpPr>
          <p:cNvPr id="19" name="Group 19"/>
          <p:cNvGrpSpPr/>
          <p:nvPr/>
        </p:nvGrpSpPr>
        <p:grpSpPr>
          <a:xfrm>
            <a:off x="10191271" y="4311959"/>
            <a:ext cx="7399594" cy="1758141"/>
            <a:chOff x="0" y="0"/>
            <a:chExt cx="1948864" cy="463050"/>
          </a:xfrm>
        </p:grpSpPr>
        <p:sp>
          <p:nvSpPr>
            <p:cNvPr id="20" name="Freeform 20"/>
            <p:cNvSpPr/>
            <p:nvPr/>
          </p:nvSpPr>
          <p:spPr>
            <a:xfrm>
              <a:off x="0" y="0"/>
              <a:ext cx="1948864" cy="463050"/>
            </a:xfrm>
            <a:custGeom>
              <a:avLst/>
              <a:gdLst/>
              <a:ahLst/>
              <a:cxnLst/>
              <a:rect l="l" t="t" r="r" b="b"/>
              <a:pathLst>
                <a:path w="1948864" h="463050">
                  <a:moveTo>
                    <a:pt x="19879" y="0"/>
                  </a:moveTo>
                  <a:lnTo>
                    <a:pt x="1928985" y="0"/>
                  </a:lnTo>
                  <a:cubicBezTo>
                    <a:pt x="1939964" y="0"/>
                    <a:pt x="1948864" y="8900"/>
                    <a:pt x="1948864" y="19879"/>
                  </a:cubicBezTo>
                  <a:lnTo>
                    <a:pt x="1948864" y="443171"/>
                  </a:lnTo>
                  <a:cubicBezTo>
                    <a:pt x="1948864" y="454149"/>
                    <a:pt x="1939964" y="463050"/>
                    <a:pt x="1928985" y="463050"/>
                  </a:cubicBezTo>
                  <a:lnTo>
                    <a:pt x="19879" y="463050"/>
                  </a:lnTo>
                  <a:cubicBezTo>
                    <a:pt x="8900" y="463050"/>
                    <a:pt x="0" y="454149"/>
                    <a:pt x="0" y="443171"/>
                  </a:cubicBezTo>
                  <a:lnTo>
                    <a:pt x="0" y="19879"/>
                  </a:lnTo>
                  <a:cubicBezTo>
                    <a:pt x="0" y="8900"/>
                    <a:pt x="8900" y="0"/>
                    <a:pt x="19879" y="0"/>
                  </a:cubicBezTo>
                  <a:close/>
                </a:path>
              </a:pathLst>
            </a:custGeom>
            <a:solidFill>
              <a:srgbClr val="EDF7FF"/>
            </a:solidFill>
          </p:spPr>
          <p:txBody>
            <a:bodyPr/>
            <a:lstStyle/>
            <a:p>
              <a:endParaRPr lang="en-GB"/>
            </a:p>
          </p:txBody>
        </p:sp>
        <p:sp>
          <p:nvSpPr>
            <p:cNvPr id="21" name="TextBox 21"/>
            <p:cNvSpPr txBox="1"/>
            <p:nvPr/>
          </p:nvSpPr>
          <p:spPr>
            <a:xfrm>
              <a:off x="0" y="28575"/>
              <a:ext cx="1948864" cy="434475"/>
            </a:xfrm>
            <a:prstGeom prst="rect">
              <a:avLst/>
            </a:prstGeom>
          </p:spPr>
          <p:txBody>
            <a:bodyPr lIns="190500" tIns="190500" rIns="190500" bIns="190500" rtlCol="0" anchor="t"/>
            <a:lstStyle/>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Traffic control center operators </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City planners and officials </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Emergency dispatch teams </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Everyday pedestrians and drivers</a:t>
              </a:r>
            </a:p>
          </p:txBody>
        </p:sp>
      </p:grpSp>
      <p:grpSp>
        <p:nvGrpSpPr>
          <p:cNvPr id="22" name="Group 22"/>
          <p:cNvGrpSpPr/>
          <p:nvPr/>
        </p:nvGrpSpPr>
        <p:grpSpPr>
          <a:xfrm>
            <a:off x="10191272" y="5874888"/>
            <a:ext cx="5462678" cy="1453060"/>
            <a:chOff x="0" y="-125192"/>
            <a:chExt cx="950819" cy="382699"/>
          </a:xfrm>
        </p:grpSpPr>
        <p:sp>
          <p:nvSpPr>
            <p:cNvPr id="23" name="Freeform 23"/>
            <p:cNvSpPr/>
            <p:nvPr/>
          </p:nvSpPr>
          <p:spPr>
            <a:xfrm>
              <a:off x="0" y="0"/>
              <a:ext cx="950819" cy="182674"/>
            </a:xfrm>
            <a:custGeom>
              <a:avLst/>
              <a:gdLst/>
              <a:ahLst/>
              <a:cxnLst/>
              <a:rect l="l" t="t" r="r" b="b"/>
              <a:pathLst>
                <a:path w="950819" h="182674">
                  <a:moveTo>
                    <a:pt x="91337" y="0"/>
                  </a:moveTo>
                  <a:lnTo>
                    <a:pt x="859482" y="0"/>
                  </a:lnTo>
                  <a:cubicBezTo>
                    <a:pt x="909926" y="0"/>
                    <a:pt x="950819" y="40893"/>
                    <a:pt x="950819" y="91337"/>
                  </a:cubicBezTo>
                  <a:lnTo>
                    <a:pt x="950819" y="91337"/>
                  </a:lnTo>
                  <a:cubicBezTo>
                    <a:pt x="950819" y="115561"/>
                    <a:pt x="941196" y="138793"/>
                    <a:pt x="924067" y="155922"/>
                  </a:cubicBezTo>
                  <a:cubicBezTo>
                    <a:pt x="906938" y="173051"/>
                    <a:pt x="883706" y="182674"/>
                    <a:pt x="859482" y="182674"/>
                  </a:cubicBezTo>
                  <a:lnTo>
                    <a:pt x="91337" y="182674"/>
                  </a:lnTo>
                  <a:cubicBezTo>
                    <a:pt x="67113" y="182674"/>
                    <a:pt x="43881" y="173051"/>
                    <a:pt x="26752" y="155922"/>
                  </a:cubicBezTo>
                  <a:cubicBezTo>
                    <a:pt x="9623" y="138793"/>
                    <a:pt x="0" y="115561"/>
                    <a:pt x="0" y="91337"/>
                  </a:cubicBezTo>
                  <a:lnTo>
                    <a:pt x="0" y="91337"/>
                  </a:lnTo>
                  <a:cubicBezTo>
                    <a:pt x="0" y="67113"/>
                    <a:pt x="9623" y="43881"/>
                    <a:pt x="26752" y="26752"/>
                  </a:cubicBezTo>
                  <a:cubicBezTo>
                    <a:pt x="43881" y="9623"/>
                    <a:pt x="67113" y="0"/>
                    <a:pt x="91337" y="0"/>
                  </a:cubicBezTo>
                  <a:close/>
                </a:path>
              </a:pathLst>
            </a:custGeom>
            <a:gradFill rotWithShape="1">
              <a:gsLst>
                <a:gs pos="0">
                  <a:srgbClr val="180754">
                    <a:alpha val="100000"/>
                  </a:srgbClr>
                </a:gs>
                <a:gs pos="100000">
                  <a:srgbClr val="070030">
                    <a:alpha val="100000"/>
                  </a:srgbClr>
                </a:gs>
              </a:gsLst>
              <a:lin ang="0"/>
            </a:gradFill>
          </p:spPr>
          <p:txBody>
            <a:bodyPr/>
            <a:lstStyle/>
            <a:p>
              <a:endParaRPr lang="en-GB"/>
            </a:p>
          </p:txBody>
        </p:sp>
        <p:sp>
          <p:nvSpPr>
            <p:cNvPr id="24" name="TextBox 24"/>
            <p:cNvSpPr txBox="1"/>
            <p:nvPr/>
          </p:nvSpPr>
          <p:spPr>
            <a:xfrm>
              <a:off x="0" y="-125192"/>
              <a:ext cx="950819" cy="382699"/>
            </a:xfrm>
            <a:prstGeom prst="rect">
              <a:avLst/>
            </a:prstGeom>
          </p:spPr>
          <p:txBody>
            <a:bodyPr lIns="50800" tIns="50800" rIns="50800" bIns="50800" rtlCol="0" anchor="ctr"/>
            <a:lstStyle/>
            <a:p>
              <a:pPr algn="ctr">
                <a:lnSpc>
                  <a:spcPts val="5700"/>
                </a:lnSpc>
              </a:pPr>
              <a:r>
                <a:rPr lang="en-US" sz="3000" spc="44" dirty="0">
                  <a:solidFill>
                    <a:srgbClr val="FFFFFF"/>
                  </a:solidFill>
                  <a:latin typeface="Canva Sans"/>
                  <a:ea typeface="Canva Sans"/>
                  <a:cs typeface="Canva Sans"/>
                  <a:sym typeface="Canva Sans"/>
                </a:rPr>
                <a:t>Value propositions</a:t>
              </a:r>
            </a:p>
          </p:txBody>
        </p:sp>
      </p:grpSp>
      <p:grpSp>
        <p:nvGrpSpPr>
          <p:cNvPr id="25" name="Group 25"/>
          <p:cNvGrpSpPr/>
          <p:nvPr/>
        </p:nvGrpSpPr>
        <p:grpSpPr>
          <a:xfrm>
            <a:off x="697136" y="7043816"/>
            <a:ext cx="16893729" cy="2373646"/>
            <a:chOff x="0" y="0"/>
            <a:chExt cx="4449377" cy="625158"/>
          </a:xfrm>
        </p:grpSpPr>
        <p:sp>
          <p:nvSpPr>
            <p:cNvPr id="26" name="Freeform 26"/>
            <p:cNvSpPr/>
            <p:nvPr/>
          </p:nvSpPr>
          <p:spPr>
            <a:xfrm>
              <a:off x="0" y="0"/>
              <a:ext cx="4449377" cy="625158"/>
            </a:xfrm>
            <a:custGeom>
              <a:avLst/>
              <a:gdLst/>
              <a:ahLst/>
              <a:cxnLst/>
              <a:rect l="l" t="t" r="r" b="b"/>
              <a:pathLst>
                <a:path w="4449377" h="625158">
                  <a:moveTo>
                    <a:pt x="8707" y="0"/>
                  </a:moveTo>
                  <a:lnTo>
                    <a:pt x="4440670" y="0"/>
                  </a:lnTo>
                  <a:cubicBezTo>
                    <a:pt x="4442979" y="0"/>
                    <a:pt x="4445194" y="917"/>
                    <a:pt x="4446827" y="2550"/>
                  </a:cubicBezTo>
                  <a:cubicBezTo>
                    <a:pt x="4448460" y="4183"/>
                    <a:pt x="4449377" y="6398"/>
                    <a:pt x="4449377" y="8707"/>
                  </a:cubicBezTo>
                  <a:lnTo>
                    <a:pt x="4449377" y="616451"/>
                  </a:lnTo>
                  <a:cubicBezTo>
                    <a:pt x="4449377" y="621260"/>
                    <a:pt x="4445479" y="625158"/>
                    <a:pt x="4440670" y="625158"/>
                  </a:cubicBezTo>
                  <a:lnTo>
                    <a:pt x="8707" y="625158"/>
                  </a:lnTo>
                  <a:cubicBezTo>
                    <a:pt x="3898" y="625158"/>
                    <a:pt x="0" y="621260"/>
                    <a:pt x="0" y="616451"/>
                  </a:cubicBezTo>
                  <a:lnTo>
                    <a:pt x="0" y="8707"/>
                  </a:lnTo>
                  <a:cubicBezTo>
                    <a:pt x="0" y="3898"/>
                    <a:pt x="3898" y="0"/>
                    <a:pt x="8707" y="0"/>
                  </a:cubicBezTo>
                  <a:close/>
                </a:path>
              </a:pathLst>
            </a:custGeom>
            <a:solidFill>
              <a:srgbClr val="EDF7FF"/>
            </a:solidFill>
          </p:spPr>
          <p:txBody>
            <a:bodyPr/>
            <a:lstStyle/>
            <a:p>
              <a:endParaRPr lang="en-GB"/>
            </a:p>
          </p:txBody>
        </p:sp>
        <p:sp>
          <p:nvSpPr>
            <p:cNvPr id="27" name="TextBox 27"/>
            <p:cNvSpPr txBox="1"/>
            <p:nvPr/>
          </p:nvSpPr>
          <p:spPr>
            <a:xfrm>
              <a:off x="0" y="28575"/>
              <a:ext cx="4449377" cy="596583"/>
            </a:xfrm>
            <a:prstGeom prst="rect">
              <a:avLst/>
            </a:prstGeom>
          </p:spPr>
          <p:txBody>
            <a:bodyPr lIns="190500" tIns="190500" rIns="190500" bIns="190500" rtlCol="0" anchor="t"/>
            <a:lstStyle/>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Smart traffic signal system allowing intersections to communicate &amp; learn optimal patterns.</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Safer for pedestrians with disabilities &amp; children when crossing the road</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Real-time signal preemption system for vehicle detection that allows priority for instances such as ambulances and other emergency vehicles</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System testing before deployment with SUMO therefore low-risk in deployment</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UI for logging and monitering real-time analytics</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7727109" y="946906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21</a:t>
            </a:r>
          </a:p>
        </p:txBody>
      </p:sp>
      <p:sp>
        <p:nvSpPr>
          <p:cNvPr id="3" name="Freeform 3"/>
          <p:cNvSpPr/>
          <p:nvPr/>
        </p:nvSpPr>
        <p:spPr>
          <a:xfrm>
            <a:off x="0" y="9251257"/>
            <a:ext cx="4078723" cy="964788"/>
          </a:xfrm>
          <a:custGeom>
            <a:avLst/>
            <a:gdLst/>
            <a:ahLst/>
            <a:cxnLst/>
            <a:rect l="l" t="t" r="r" b="b"/>
            <a:pathLst>
              <a:path w="4078723" h="964788">
                <a:moveTo>
                  <a:pt x="0" y="0"/>
                </a:moveTo>
                <a:lnTo>
                  <a:pt x="4078723" y="0"/>
                </a:lnTo>
                <a:lnTo>
                  <a:pt x="4078723" y="964788"/>
                </a:lnTo>
                <a:lnTo>
                  <a:pt x="0" y="964788"/>
                </a:lnTo>
                <a:lnTo>
                  <a:pt x="0" y="0"/>
                </a:lnTo>
                <a:close/>
              </a:path>
            </a:pathLst>
          </a:custGeom>
          <a:blipFill>
            <a:blip r:embed="rId3"/>
            <a:stretch>
              <a:fillRect/>
            </a:stretch>
          </a:blipFill>
        </p:spPr>
        <p:txBody>
          <a:bodyPr/>
          <a:lstStyle/>
          <a:p>
            <a:endParaRPr lang="en-GB"/>
          </a:p>
        </p:txBody>
      </p:sp>
      <p:grpSp>
        <p:nvGrpSpPr>
          <p:cNvPr id="4" name="Group 4"/>
          <p:cNvGrpSpPr/>
          <p:nvPr/>
        </p:nvGrpSpPr>
        <p:grpSpPr>
          <a:xfrm>
            <a:off x="914400" y="-298934"/>
            <a:ext cx="5805865" cy="1453060"/>
            <a:chOff x="0" y="-142044"/>
            <a:chExt cx="1529117" cy="382699"/>
          </a:xfrm>
        </p:grpSpPr>
        <p:sp>
          <p:nvSpPr>
            <p:cNvPr id="5" name="Freeform 5"/>
            <p:cNvSpPr/>
            <p:nvPr/>
          </p:nvSpPr>
          <p:spPr>
            <a:xfrm>
              <a:off x="0" y="0"/>
              <a:ext cx="1529117" cy="182674"/>
            </a:xfrm>
            <a:custGeom>
              <a:avLst/>
              <a:gdLst/>
              <a:ahLst/>
              <a:cxnLst/>
              <a:rect l="l" t="t" r="r" b="b"/>
              <a:pathLst>
                <a:path w="1529117" h="182674">
                  <a:moveTo>
                    <a:pt x="68007" y="0"/>
                  </a:moveTo>
                  <a:lnTo>
                    <a:pt x="1461110" y="0"/>
                  </a:lnTo>
                  <a:cubicBezTo>
                    <a:pt x="1479147" y="0"/>
                    <a:pt x="1496444" y="7165"/>
                    <a:pt x="1509198" y="19919"/>
                  </a:cubicBezTo>
                  <a:cubicBezTo>
                    <a:pt x="1521952" y="32672"/>
                    <a:pt x="1529117" y="49970"/>
                    <a:pt x="1529117" y="68007"/>
                  </a:cubicBezTo>
                  <a:lnTo>
                    <a:pt x="1529117" y="114667"/>
                  </a:lnTo>
                  <a:cubicBezTo>
                    <a:pt x="1529117" y="132704"/>
                    <a:pt x="1521952" y="150001"/>
                    <a:pt x="1509198" y="162755"/>
                  </a:cubicBezTo>
                  <a:cubicBezTo>
                    <a:pt x="1496444" y="175509"/>
                    <a:pt x="1479147" y="182674"/>
                    <a:pt x="1461110" y="182674"/>
                  </a:cubicBezTo>
                  <a:lnTo>
                    <a:pt x="68007" y="182674"/>
                  </a:lnTo>
                  <a:cubicBezTo>
                    <a:pt x="49970" y="182674"/>
                    <a:pt x="32672" y="175509"/>
                    <a:pt x="19919" y="162755"/>
                  </a:cubicBezTo>
                  <a:cubicBezTo>
                    <a:pt x="7165" y="150001"/>
                    <a:pt x="0" y="132704"/>
                    <a:pt x="0" y="114667"/>
                  </a:cubicBezTo>
                  <a:lnTo>
                    <a:pt x="0" y="68007"/>
                  </a:lnTo>
                  <a:cubicBezTo>
                    <a:pt x="0" y="49970"/>
                    <a:pt x="7165" y="32672"/>
                    <a:pt x="19919" y="19919"/>
                  </a:cubicBezTo>
                  <a:cubicBezTo>
                    <a:pt x="32672" y="7165"/>
                    <a:pt x="49970" y="0"/>
                    <a:pt x="68007" y="0"/>
                  </a:cubicBezTo>
                  <a:close/>
                </a:path>
              </a:pathLst>
            </a:custGeom>
            <a:gradFill rotWithShape="1">
              <a:gsLst>
                <a:gs pos="0">
                  <a:srgbClr val="180754">
                    <a:alpha val="100000"/>
                  </a:srgbClr>
                </a:gs>
                <a:gs pos="100000">
                  <a:srgbClr val="070030">
                    <a:alpha val="100000"/>
                  </a:srgbClr>
                </a:gs>
              </a:gsLst>
              <a:lin ang="0"/>
            </a:gradFill>
          </p:spPr>
          <p:txBody>
            <a:bodyPr/>
            <a:lstStyle/>
            <a:p>
              <a:endParaRPr lang="en-GB"/>
            </a:p>
          </p:txBody>
        </p:sp>
        <p:sp>
          <p:nvSpPr>
            <p:cNvPr id="6" name="TextBox 6"/>
            <p:cNvSpPr txBox="1"/>
            <p:nvPr/>
          </p:nvSpPr>
          <p:spPr>
            <a:xfrm>
              <a:off x="0" y="-142044"/>
              <a:ext cx="1529117" cy="382699"/>
            </a:xfrm>
            <a:prstGeom prst="rect">
              <a:avLst/>
            </a:prstGeom>
          </p:spPr>
          <p:txBody>
            <a:bodyPr lIns="50800" tIns="50800" rIns="50800" bIns="50800" rtlCol="0" anchor="ctr"/>
            <a:lstStyle/>
            <a:p>
              <a:pPr algn="ctr">
                <a:lnSpc>
                  <a:spcPts val="5700"/>
                </a:lnSpc>
              </a:pPr>
              <a:r>
                <a:rPr lang="en-US" sz="3000" spc="44" dirty="0">
                  <a:solidFill>
                    <a:srgbClr val="FFFFFF"/>
                  </a:solidFill>
                  <a:latin typeface="Canva Sans"/>
                  <a:ea typeface="Canva Sans"/>
                  <a:cs typeface="Canva Sans"/>
                  <a:sym typeface="Canva Sans"/>
                </a:rPr>
                <a:t>Intellectual property rights</a:t>
              </a:r>
            </a:p>
          </p:txBody>
        </p:sp>
      </p:grpSp>
      <p:grpSp>
        <p:nvGrpSpPr>
          <p:cNvPr id="7" name="Group 7"/>
          <p:cNvGrpSpPr/>
          <p:nvPr/>
        </p:nvGrpSpPr>
        <p:grpSpPr>
          <a:xfrm>
            <a:off x="697136" y="1062265"/>
            <a:ext cx="16893729" cy="2049796"/>
            <a:chOff x="0" y="0"/>
            <a:chExt cx="4449377" cy="539864"/>
          </a:xfrm>
        </p:grpSpPr>
        <p:sp>
          <p:nvSpPr>
            <p:cNvPr id="8" name="Freeform 8"/>
            <p:cNvSpPr/>
            <p:nvPr/>
          </p:nvSpPr>
          <p:spPr>
            <a:xfrm>
              <a:off x="0" y="0"/>
              <a:ext cx="4449377" cy="539864"/>
            </a:xfrm>
            <a:custGeom>
              <a:avLst/>
              <a:gdLst/>
              <a:ahLst/>
              <a:cxnLst/>
              <a:rect l="l" t="t" r="r" b="b"/>
              <a:pathLst>
                <a:path w="4449377" h="539864">
                  <a:moveTo>
                    <a:pt x="8707" y="0"/>
                  </a:moveTo>
                  <a:lnTo>
                    <a:pt x="4440670" y="0"/>
                  </a:lnTo>
                  <a:cubicBezTo>
                    <a:pt x="4442979" y="0"/>
                    <a:pt x="4445194" y="917"/>
                    <a:pt x="4446827" y="2550"/>
                  </a:cubicBezTo>
                  <a:cubicBezTo>
                    <a:pt x="4448460" y="4183"/>
                    <a:pt x="4449377" y="6398"/>
                    <a:pt x="4449377" y="8707"/>
                  </a:cubicBezTo>
                  <a:lnTo>
                    <a:pt x="4449377" y="531157"/>
                  </a:lnTo>
                  <a:cubicBezTo>
                    <a:pt x="4449377" y="535966"/>
                    <a:pt x="4445479" y="539864"/>
                    <a:pt x="4440670" y="539864"/>
                  </a:cubicBezTo>
                  <a:lnTo>
                    <a:pt x="8707" y="539864"/>
                  </a:lnTo>
                  <a:cubicBezTo>
                    <a:pt x="6398" y="539864"/>
                    <a:pt x="4183" y="538947"/>
                    <a:pt x="2550" y="537314"/>
                  </a:cubicBezTo>
                  <a:cubicBezTo>
                    <a:pt x="917" y="535681"/>
                    <a:pt x="0" y="533466"/>
                    <a:pt x="0" y="531157"/>
                  </a:cubicBezTo>
                  <a:lnTo>
                    <a:pt x="0" y="8707"/>
                  </a:lnTo>
                  <a:cubicBezTo>
                    <a:pt x="0" y="3898"/>
                    <a:pt x="3898" y="0"/>
                    <a:pt x="8707" y="0"/>
                  </a:cubicBezTo>
                  <a:close/>
                </a:path>
              </a:pathLst>
            </a:custGeom>
            <a:solidFill>
              <a:srgbClr val="EDF7FF"/>
            </a:solidFill>
          </p:spPr>
          <p:txBody>
            <a:bodyPr/>
            <a:lstStyle/>
            <a:p>
              <a:endParaRPr lang="en-GB"/>
            </a:p>
          </p:txBody>
        </p:sp>
        <p:sp>
          <p:nvSpPr>
            <p:cNvPr id="9" name="TextBox 9"/>
            <p:cNvSpPr txBox="1"/>
            <p:nvPr/>
          </p:nvSpPr>
          <p:spPr>
            <a:xfrm>
              <a:off x="0" y="28575"/>
              <a:ext cx="4449377" cy="511289"/>
            </a:xfrm>
            <a:prstGeom prst="rect">
              <a:avLst/>
            </a:prstGeom>
          </p:spPr>
          <p:txBody>
            <a:bodyPr lIns="190500" tIns="190500" rIns="190500" bIns="190500" rtlCol="0" anchor="t"/>
            <a:lstStyle/>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Codebase, algorithms, and datasets will be copyright protected.</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Patentable innovations - The pedestrian-aware MARL traffic signals, dashboard integration</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Proprietary assets - labeled datasets for pedestrians, mobility detection </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Branding will follow a licensing or SaaS business model - “Traffixion” (System name), “SafeCity AI Traffic Manager” (Trademarked Headline)</a:t>
              </a:r>
            </a:p>
          </p:txBody>
        </p:sp>
      </p:grpSp>
      <p:grpSp>
        <p:nvGrpSpPr>
          <p:cNvPr id="10" name="Group 10"/>
          <p:cNvGrpSpPr/>
          <p:nvPr/>
        </p:nvGrpSpPr>
        <p:grpSpPr>
          <a:xfrm>
            <a:off x="741474" y="2814248"/>
            <a:ext cx="3731899" cy="1453060"/>
            <a:chOff x="-9845" y="-146011"/>
            <a:chExt cx="982887" cy="382699"/>
          </a:xfrm>
        </p:grpSpPr>
        <p:sp>
          <p:nvSpPr>
            <p:cNvPr id="11" name="Freeform 11"/>
            <p:cNvSpPr/>
            <p:nvPr/>
          </p:nvSpPr>
          <p:spPr>
            <a:xfrm>
              <a:off x="0" y="0"/>
              <a:ext cx="973042" cy="182674"/>
            </a:xfrm>
            <a:custGeom>
              <a:avLst/>
              <a:gdLst/>
              <a:ahLst/>
              <a:cxnLst/>
              <a:rect l="l" t="t" r="r" b="b"/>
              <a:pathLst>
                <a:path w="973042" h="182674">
                  <a:moveTo>
                    <a:pt x="91337" y="0"/>
                  </a:moveTo>
                  <a:lnTo>
                    <a:pt x="881705" y="0"/>
                  </a:lnTo>
                  <a:cubicBezTo>
                    <a:pt x="905929" y="0"/>
                    <a:pt x="929161" y="9623"/>
                    <a:pt x="946290" y="26752"/>
                  </a:cubicBezTo>
                  <a:cubicBezTo>
                    <a:pt x="963419" y="43881"/>
                    <a:pt x="973042" y="67113"/>
                    <a:pt x="973042" y="91337"/>
                  </a:cubicBezTo>
                  <a:lnTo>
                    <a:pt x="973042" y="91337"/>
                  </a:lnTo>
                  <a:cubicBezTo>
                    <a:pt x="973042" y="141781"/>
                    <a:pt x="932149" y="182674"/>
                    <a:pt x="881705" y="182674"/>
                  </a:cubicBezTo>
                  <a:lnTo>
                    <a:pt x="91337" y="182674"/>
                  </a:lnTo>
                  <a:cubicBezTo>
                    <a:pt x="67113" y="182674"/>
                    <a:pt x="43881" y="173051"/>
                    <a:pt x="26752" y="155922"/>
                  </a:cubicBezTo>
                  <a:cubicBezTo>
                    <a:pt x="9623" y="138793"/>
                    <a:pt x="0" y="115561"/>
                    <a:pt x="0" y="91337"/>
                  </a:cubicBezTo>
                  <a:lnTo>
                    <a:pt x="0" y="91337"/>
                  </a:lnTo>
                  <a:cubicBezTo>
                    <a:pt x="0" y="67113"/>
                    <a:pt x="9623" y="43881"/>
                    <a:pt x="26752" y="26752"/>
                  </a:cubicBezTo>
                  <a:cubicBezTo>
                    <a:pt x="43881" y="9623"/>
                    <a:pt x="67113" y="0"/>
                    <a:pt x="91337" y="0"/>
                  </a:cubicBezTo>
                  <a:close/>
                </a:path>
              </a:pathLst>
            </a:custGeom>
            <a:gradFill rotWithShape="1">
              <a:gsLst>
                <a:gs pos="0">
                  <a:srgbClr val="180754">
                    <a:alpha val="100000"/>
                  </a:srgbClr>
                </a:gs>
                <a:gs pos="100000">
                  <a:srgbClr val="070030">
                    <a:alpha val="100000"/>
                  </a:srgbClr>
                </a:gs>
              </a:gsLst>
              <a:lin ang="0"/>
            </a:gradFill>
          </p:spPr>
          <p:txBody>
            <a:bodyPr/>
            <a:lstStyle/>
            <a:p>
              <a:endParaRPr lang="en-GB"/>
            </a:p>
          </p:txBody>
        </p:sp>
        <p:sp>
          <p:nvSpPr>
            <p:cNvPr id="12" name="TextBox 12"/>
            <p:cNvSpPr txBox="1"/>
            <p:nvPr/>
          </p:nvSpPr>
          <p:spPr>
            <a:xfrm>
              <a:off x="-9845" y="-146011"/>
              <a:ext cx="973042" cy="382699"/>
            </a:xfrm>
            <a:prstGeom prst="rect">
              <a:avLst/>
            </a:prstGeom>
          </p:spPr>
          <p:txBody>
            <a:bodyPr lIns="50800" tIns="50800" rIns="50800" bIns="50800" rtlCol="0" anchor="ctr"/>
            <a:lstStyle/>
            <a:p>
              <a:pPr algn="ctr">
                <a:lnSpc>
                  <a:spcPts val="5700"/>
                </a:lnSpc>
              </a:pPr>
              <a:r>
                <a:rPr lang="en-US" sz="3000" spc="44" dirty="0">
                  <a:solidFill>
                    <a:srgbClr val="FFFFFF"/>
                  </a:solidFill>
                  <a:latin typeface="Canva Sans"/>
                  <a:ea typeface="Canva Sans"/>
                  <a:cs typeface="Canva Sans"/>
                  <a:sym typeface="Canva Sans"/>
                </a:rPr>
                <a:t>Investment Cost</a:t>
              </a:r>
            </a:p>
          </p:txBody>
        </p:sp>
      </p:grpSp>
      <p:grpSp>
        <p:nvGrpSpPr>
          <p:cNvPr id="13" name="Group 13"/>
          <p:cNvGrpSpPr/>
          <p:nvPr/>
        </p:nvGrpSpPr>
        <p:grpSpPr>
          <a:xfrm>
            <a:off x="13471851" y="2908907"/>
            <a:ext cx="3694519" cy="1453060"/>
            <a:chOff x="0" y="-121080"/>
            <a:chExt cx="973042" cy="382699"/>
          </a:xfrm>
        </p:grpSpPr>
        <p:sp>
          <p:nvSpPr>
            <p:cNvPr id="14" name="Freeform 14"/>
            <p:cNvSpPr/>
            <p:nvPr/>
          </p:nvSpPr>
          <p:spPr>
            <a:xfrm>
              <a:off x="0" y="0"/>
              <a:ext cx="973042" cy="182674"/>
            </a:xfrm>
            <a:custGeom>
              <a:avLst/>
              <a:gdLst/>
              <a:ahLst/>
              <a:cxnLst/>
              <a:rect l="l" t="t" r="r" b="b"/>
              <a:pathLst>
                <a:path w="973042" h="182674">
                  <a:moveTo>
                    <a:pt x="91337" y="0"/>
                  </a:moveTo>
                  <a:lnTo>
                    <a:pt x="881705" y="0"/>
                  </a:lnTo>
                  <a:cubicBezTo>
                    <a:pt x="905929" y="0"/>
                    <a:pt x="929161" y="9623"/>
                    <a:pt x="946290" y="26752"/>
                  </a:cubicBezTo>
                  <a:cubicBezTo>
                    <a:pt x="963419" y="43881"/>
                    <a:pt x="973042" y="67113"/>
                    <a:pt x="973042" y="91337"/>
                  </a:cubicBezTo>
                  <a:lnTo>
                    <a:pt x="973042" y="91337"/>
                  </a:lnTo>
                  <a:cubicBezTo>
                    <a:pt x="973042" y="141781"/>
                    <a:pt x="932149" y="182674"/>
                    <a:pt x="881705" y="182674"/>
                  </a:cubicBezTo>
                  <a:lnTo>
                    <a:pt x="91337" y="182674"/>
                  </a:lnTo>
                  <a:cubicBezTo>
                    <a:pt x="67113" y="182674"/>
                    <a:pt x="43881" y="173051"/>
                    <a:pt x="26752" y="155922"/>
                  </a:cubicBezTo>
                  <a:cubicBezTo>
                    <a:pt x="9623" y="138793"/>
                    <a:pt x="0" y="115561"/>
                    <a:pt x="0" y="91337"/>
                  </a:cubicBezTo>
                  <a:lnTo>
                    <a:pt x="0" y="91337"/>
                  </a:lnTo>
                  <a:cubicBezTo>
                    <a:pt x="0" y="67113"/>
                    <a:pt x="9623" y="43881"/>
                    <a:pt x="26752" y="26752"/>
                  </a:cubicBezTo>
                  <a:cubicBezTo>
                    <a:pt x="43881" y="9623"/>
                    <a:pt x="67113" y="0"/>
                    <a:pt x="91337" y="0"/>
                  </a:cubicBezTo>
                  <a:close/>
                </a:path>
              </a:pathLst>
            </a:custGeom>
            <a:gradFill rotWithShape="1">
              <a:gsLst>
                <a:gs pos="0">
                  <a:srgbClr val="180754">
                    <a:alpha val="100000"/>
                  </a:srgbClr>
                </a:gs>
                <a:gs pos="100000">
                  <a:srgbClr val="070030">
                    <a:alpha val="100000"/>
                  </a:srgbClr>
                </a:gs>
              </a:gsLst>
              <a:lin ang="0"/>
            </a:gradFill>
          </p:spPr>
          <p:txBody>
            <a:bodyPr/>
            <a:lstStyle/>
            <a:p>
              <a:endParaRPr lang="en-GB"/>
            </a:p>
          </p:txBody>
        </p:sp>
        <p:sp>
          <p:nvSpPr>
            <p:cNvPr id="15" name="TextBox 15"/>
            <p:cNvSpPr txBox="1"/>
            <p:nvPr/>
          </p:nvSpPr>
          <p:spPr>
            <a:xfrm>
              <a:off x="0" y="-121080"/>
              <a:ext cx="973042" cy="382699"/>
            </a:xfrm>
            <a:prstGeom prst="rect">
              <a:avLst/>
            </a:prstGeom>
          </p:spPr>
          <p:txBody>
            <a:bodyPr lIns="50800" tIns="50800" rIns="50800" bIns="50800" rtlCol="0" anchor="ctr"/>
            <a:lstStyle/>
            <a:p>
              <a:pPr algn="ctr">
                <a:lnSpc>
                  <a:spcPts val="5700"/>
                </a:lnSpc>
              </a:pPr>
              <a:r>
                <a:rPr lang="en-US" sz="3000" spc="44" dirty="0">
                  <a:solidFill>
                    <a:srgbClr val="FFFFFF"/>
                  </a:solidFill>
                  <a:latin typeface="Canva Sans"/>
                  <a:ea typeface="Canva Sans"/>
                  <a:cs typeface="Canva Sans"/>
                  <a:sym typeface="Canva Sans"/>
                </a:rPr>
                <a:t>Cost Recovery</a:t>
              </a:r>
            </a:p>
          </p:txBody>
        </p:sp>
      </p:grpSp>
      <p:grpSp>
        <p:nvGrpSpPr>
          <p:cNvPr id="16" name="Group 16"/>
          <p:cNvGrpSpPr/>
          <p:nvPr/>
        </p:nvGrpSpPr>
        <p:grpSpPr>
          <a:xfrm>
            <a:off x="7063082" y="4158810"/>
            <a:ext cx="10830262" cy="4640596"/>
            <a:chOff x="0" y="0"/>
            <a:chExt cx="2852415" cy="1222215"/>
          </a:xfrm>
        </p:grpSpPr>
        <p:sp>
          <p:nvSpPr>
            <p:cNvPr id="17" name="Freeform 17"/>
            <p:cNvSpPr/>
            <p:nvPr/>
          </p:nvSpPr>
          <p:spPr>
            <a:xfrm>
              <a:off x="0" y="0"/>
              <a:ext cx="2852415" cy="1222215"/>
            </a:xfrm>
            <a:custGeom>
              <a:avLst/>
              <a:gdLst/>
              <a:ahLst/>
              <a:cxnLst/>
              <a:rect l="l" t="t" r="r" b="b"/>
              <a:pathLst>
                <a:path w="2852415" h="1222215">
                  <a:moveTo>
                    <a:pt x="13582" y="0"/>
                  </a:moveTo>
                  <a:lnTo>
                    <a:pt x="2838833" y="0"/>
                  </a:lnTo>
                  <a:cubicBezTo>
                    <a:pt x="2842435" y="0"/>
                    <a:pt x="2845889" y="1431"/>
                    <a:pt x="2848437" y="3978"/>
                  </a:cubicBezTo>
                  <a:cubicBezTo>
                    <a:pt x="2850984" y="6525"/>
                    <a:pt x="2852415" y="9980"/>
                    <a:pt x="2852415" y="13582"/>
                  </a:cubicBezTo>
                  <a:lnTo>
                    <a:pt x="2852415" y="1208633"/>
                  </a:lnTo>
                  <a:cubicBezTo>
                    <a:pt x="2852415" y="1212235"/>
                    <a:pt x="2850984" y="1215689"/>
                    <a:pt x="2848437" y="1218237"/>
                  </a:cubicBezTo>
                  <a:cubicBezTo>
                    <a:pt x="2845889" y="1220784"/>
                    <a:pt x="2842435" y="1222215"/>
                    <a:pt x="2838833" y="1222215"/>
                  </a:cubicBezTo>
                  <a:lnTo>
                    <a:pt x="13582" y="1222215"/>
                  </a:lnTo>
                  <a:cubicBezTo>
                    <a:pt x="9980" y="1222215"/>
                    <a:pt x="6525" y="1220784"/>
                    <a:pt x="3978" y="1218237"/>
                  </a:cubicBezTo>
                  <a:cubicBezTo>
                    <a:pt x="1431" y="1215689"/>
                    <a:pt x="0" y="1212235"/>
                    <a:pt x="0" y="1208633"/>
                  </a:cubicBezTo>
                  <a:lnTo>
                    <a:pt x="0" y="13582"/>
                  </a:lnTo>
                  <a:cubicBezTo>
                    <a:pt x="0" y="9980"/>
                    <a:pt x="1431" y="6525"/>
                    <a:pt x="3978" y="3978"/>
                  </a:cubicBezTo>
                  <a:cubicBezTo>
                    <a:pt x="6525" y="1431"/>
                    <a:pt x="9980" y="0"/>
                    <a:pt x="13582" y="0"/>
                  </a:cubicBezTo>
                  <a:close/>
                </a:path>
              </a:pathLst>
            </a:custGeom>
            <a:solidFill>
              <a:srgbClr val="EDF7FF"/>
            </a:solidFill>
          </p:spPr>
          <p:txBody>
            <a:bodyPr/>
            <a:lstStyle/>
            <a:p>
              <a:endParaRPr lang="en-GB"/>
            </a:p>
          </p:txBody>
        </p:sp>
        <p:sp>
          <p:nvSpPr>
            <p:cNvPr id="18" name="TextBox 18"/>
            <p:cNvSpPr txBox="1"/>
            <p:nvPr/>
          </p:nvSpPr>
          <p:spPr>
            <a:xfrm>
              <a:off x="0" y="28575"/>
              <a:ext cx="2852415" cy="1193640"/>
            </a:xfrm>
            <a:prstGeom prst="rect">
              <a:avLst/>
            </a:prstGeom>
          </p:spPr>
          <p:txBody>
            <a:bodyPr lIns="190500" tIns="190500" rIns="190500" bIns="190500" rtlCol="0" anchor="t"/>
            <a:lstStyle/>
            <a:p>
              <a:pPr algn="l">
                <a:lnSpc>
                  <a:spcPts val="2555"/>
                </a:lnSpc>
              </a:pPr>
              <a:r>
                <a:rPr lang="en-US" sz="2366" spc="35">
                  <a:solidFill>
                    <a:srgbClr val="000000"/>
                  </a:solidFill>
                  <a:latin typeface="Canva Sans"/>
                  <a:ea typeface="Canva Sans"/>
                  <a:cs typeface="Canva Sans"/>
                  <a:sym typeface="Canva Sans"/>
                </a:rPr>
                <a:t>Academic Value &amp; Funding:</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Project recognized under final-year research through awards and recognitions</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Potential for university research grants or government innovation funds (ITS/AI).</a:t>
              </a:r>
            </a:p>
            <a:p>
              <a:pPr algn="l">
                <a:lnSpc>
                  <a:spcPts val="2555"/>
                </a:lnSpc>
              </a:pPr>
              <a:r>
                <a:rPr lang="en-US" sz="2366" spc="35">
                  <a:solidFill>
                    <a:srgbClr val="000000"/>
                  </a:solidFill>
                  <a:latin typeface="Canva Sans"/>
                  <a:ea typeface="Canva Sans"/>
                  <a:cs typeface="Canva Sans"/>
                  <a:sym typeface="Canva Sans"/>
                </a:rPr>
                <a:t>Cost Recovery through Commercialization:</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Licensing to municipalities / smart city projects for real-time traffic management.</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Subscription-based dashboard services for traffic departments (monthly hosting fees).</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Partnerships with transportation authorities </a:t>
              </a:r>
            </a:p>
            <a:p>
              <a:pPr marL="510886" lvl="1" indent="-255443" algn="l">
                <a:lnSpc>
                  <a:spcPts val="2555"/>
                </a:lnSpc>
                <a:buFont typeface="Arial"/>
                <a:buChar char="•"/>
              </a:pPr>
              <a:r>
                <a:rPr lang="en-US" sz="2366" spc="35">
                  <a:solidFill>
                    <a:srgbClr val="000000"/>
                  </a:solidFill>
                  <a:latin typeface="Canva Sans"/>
                  <a:ea typeface="Canva Sans"/>
                  <a:cs typeface="Canva Sans"/>
                  <a:sym typeface="Canva Sans"/>
                </a:rPr>
                <a:t>Future integration into Sri Lanka Intelligent Transportation Systems (ITS) </a:t>
              </a:r>
            </a:p>
          </p:txBody>
        </p:sp>
      </p:grpSp>
      <p:graphicFrame>
        <p:nvGraphicFramePr>
          <p:cNvPr id="19" name="Object 19"/>
          <p:cNvGraphicFramePr/>
          <p:nvPr/>
        </p:nvGraphicFramePr>
        <p:xfrm>
          <a:off x="462563" y="4158810"/>
          <a:ext cx="7586157" cy="4274588"/>
        </p:xfrm>
        <a:graphic>
          <a:graphicData uri="http://schemas.openxmlformats.org/presentationml/2006/ole">
            <mc:AlternateContent xmlns:mc="http://schemas.openxmlformats.org/markup-compatibility/2006">
              <mc:Choice xmlns:v="urn:schemas-microsoft-com:vml" Requires="v">
                <p:oleObj name="Worksheet" r:id="rId4" imgW="9105900" imgH="5791200" progId="Excel.Sheet.12">
                  <p:embed/>
                </p:oleObj>
              </mc:Choice>
              <mc:Fallback>
                <p:oleObj name="Worksheet" r:id="rId4" imgW="9105900" imgH="5791200" progId="Excel.Sheet.12">
                  <p:embed/>
                  <p:pic>
                    <p:nvPicPr>
                      <p:cNvPr id="0" name=""/>
                      <p:cNvPicPr/>
                      <p:nvPr/>
                    </p:nvPicPr>
                    <p:blipFill>
                      <a:blip r:embed="rId5"/>
                      <a:stretch>
                        <a:fillRect/>
                      </a:stretch>
                    </p:blipFill>
                    <p:spPr>
                      <a:xfrm>
                        <a:off x="462563" y="4158810"/>
                        <a:ext cx="7586157" cy="4274588"/>
                      </a:xfrm>
                      <a:prstGeom prst="rect">
                        <a:avLst/>
                      </a:prstGeom>
                    </p:spPr>
                  </p:pic>
                </p:oleObj>
              </mc:Fallback>
            </mc:AlternateContent>
          </a:graphicData>
        </a:graphic>
      </p:graphicFrame>
      <p:grpSp>
        <p:nvGrpSpPr>
          <p:cNvPr id="20" name="Group 20"/>
          <p:cNvGrpSpPr/>
          <p:nvPr/>
        </p:nvGrpSpPr>
        <p:grpSpPr>
          <a:xfrm>
            <a:off x="394656" y="8296169"/>
            <a:ext cx="17498688" cy="811546"/>
            <a:chOff x="0" y="0"/>
            <a:chExt cx="4608708" cy="213741"/>
          </a:xfrm>
        </p:grpSpPr>
        <p:sp>
          <p:nvSpPr>
            <p:cNvPr id="21" name="Freeform 21"/>
            <p:cNvSpPr/>
            <p:nvPr/>
          </p:nvSpPr>
          <p:spPr>
            <a:xfrm>
              <a:off x="0" y="0"/>
              <a:ext cx="4608708" cy="213741"/>
            </a:xfrm>
            <a:custGeom>
              <a:avLst/>
              <a:gdLst/>
              <a:ahLst/>
              <a:cxnLst/>
              <a:rect l="l" t="t" r="r" b="b"/>
              <a:pathLst>
                <a:path w="4608708" h="213741">
                  <a:moveTo>
                    <a:pt x="8406" y="0"/>
                  </a:moveTo>
                  <a:lnTo>
                    <a:pt x="4600302" y="0"/>
                  </a:lnTo>
                  <a:cubicBezTo>
                    <a:pt x="4604944" y="0"/>
                    <a:pt x="4608708" y="3764"/>
                    <a:pt x="4608708" y="8406"/>
                  </a:cubicBezTo>
                  <a:lnTo>
                    <a:pt x="4608708" y="205334"/>
                  </a:lnTo>
                  <a:cubicBezTo>
                    <a:pt x="4608708" y="209977"/>
                    <a:pt x="4604944" y="213741"/>
                    <a:pt x="4600302" y="213741"/>
                  </a:cubicBezTo>
                  <a:lnTo>
                    <a:pt x="8406" y="213741"/>
                  </a:lnTo>
                  <a:cubicBezTo>
                    <a:pt x="3764" y="213741"/>
                    <a:pt x="0" y="209977"/>
                    <a:pt x="0" y="205334"/>
                  </a:cubicBezTo>
                  <a:lnTo>
                    <a:pt x="0" y="8406"/>
                  </a:lnTo>
                  <a:cubicBezTo>
                    <a:pt x="0" y="3764"/>
                    <a:pt x="3764" y="0"/>
                    <a:pt x="8406" y="0"/>
                  </a:cubicBezTo>
                  <a:close/>
                </a:path>
              </a:pathLst>
            </a:custGeom>
            <a:solidFill>
              <a:srgbClr val="EDF7FF"/>
            </a:solidFill>
          </p:spPr>
          <p:txBody>
            <a:bodyPr/>
            <a:lstStyle/>
            <a:p>
              <a:endParaRPr lang="en-GB"/>
            </a:p>
          </p:txBody>
        </p:sp>
        <p:sp>
          <p:nvSpPr>
            <p:cNvPr id="22" name="TextBox 22"/>
            <p:cNvSpPr txBox="1"/>
            <p:nvPr/>
          </p:nvSpPr>
          <p:spPr>
            <a:xfrm>
              <a:off x="0" y="28575"/>
              <a:ext cx="4608708" cy="185166"/>
            </a:xfrm>
            <a:prstGeom prst="rect">
              <a:avLst/>
            </a:prstGeom>
          </p:spPr>
          <p:txBody>
            <a:bodyPr lIns="12700" tIns="12700" rIns="12700" bIns="12700" rtlCol="0" anchor="b"/>
            <a:lstStyle/>
            <a:p>
              <a:pPr algn="l">
                <a:lnSpc>
                  <a:spcPts val="2555"/>
                </a:lnSpc>
              </a:pPr>
              <a:r>
                <a:rPr lang="en-US" sz="2366" spc="35">
                  <a:solidFill>
                    <a:srgbClr val="000000"/>
                  </a:solidFill>
                  <a:latin typeface="Canva Sans"/>
                  <a:ea typeface="Canva Sans"/>
                  <a:cs typeface="Canva Sans"/>
                  <a:sym typeface="Canva Sans"/>
                </a:rPr>
                <a:t> Recovery Path: Initial cost (~LKR 130,000) is recovered through a combination of research funding, institutional adoption, and future commercialization of the traffic optimization platform.</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7687737" y="407239"/>
            <a:ext cx="11770257" cy="11716811"/>
            <a:chOff x="0" y="0"/>
            <a:chExt cx="6378940" cy="6349975"/>
          </a:xfrm>
        </p:grpSpPr>
        <p:sp>
          <p:nvSpPr>
            <p:cNvPr id="3" name="Freeform 3"/>
            <p:cNvSpPr/>
            <p:nvPr/>
          </p:nvSpPr>
          <p:spPr>
            <a:xfrm>
              <a:off x="0" y="0"/>
              <a:ext cx="6378940" cy="6349975"/>
            </a:xfrm>
            <a:custGeom>
              <a:avLst/>
              <a:gdLst/>
              <a:ahLst/>
              <a:cxnLst/>
              <a:rect l="l" t="t" r="r" b="b"/>
              <a:pathLst>
                <a:path w="6378940" h="6349975">
                  <a:moveTo>
                    <a:pt x="6378940" y="3175025"/>
                  </a:moveTo>
                  <a:cubicBezTo>
                    <a:pt x="6378940" y="4928451"/>
                    <a:pt x="4950937" y="6349975"/>
                    <a:pt x="3189470" y="6349975"/>
                  </a:cubicBezTo>
                  <a:cubicBezTo>
                    <a:pt x="1427977" y="6349975"/>
                    <a:pt x="0" y="4928451"/>
                    <a:pt x="0" y="3175025"/>
                  </a:cubicBezTo>
                  <a:cubicBezTo>
                    <a:pt x="0" y="1421511"/>
                    <a:pt x="1427977" y="0"/>
                    <a:pt x="3189470" y="0"/>
                  </a:cubicBezTo>
                  <a:cubicBezTo>
                    <a:pt x="4950963" y="0"/>
                    <a:pt x="6378940" y="1421511"/>
                    <a:pt x="6378940" y="3175025"/>
                  </a:cubicBezTo>
                  <a:close/>
                </a:path>
              </a:pathLst>
            </a:custGeom>
            <a:blipFill>
              <a:blip r:embed="rId2">
                <a:alphaModFix amt="9999"/>
              </a:blip>
              <a:stretch>
                <a:fillRect t="-228" b="-228"/>
              </a:stretch>
            </a:blipFill>
          </p:spPr>
          <p:txBody>
            <a:bodyPr/>
            <a:lstStyle/>
            <a:p>
              <a:endParaRPr lang="en-GB"/>
            </a:p>
          </p:txBody>
        </p:sp>
      </p:grpSp>
      <p:sp>
        <p:nvSpPr>
          <p:cNvPr id="4" name="TextBox 4"/>
          <p:cNvSpPr txBox="1"/>
          <p:nvPr/>
        </p:nvSpPr>
        <p:spPr>
          <a:xfrm>
            <a:off x="17744518"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22</a:t>
            </a:r>
          </a:p>
        </p:txBody>
      </p:sp>
      <p:sp>
        <p:nvSpPr>
          <p:cNvPr id="5" name="TextBox 5"/>
          <p:cNvSpPr txBox="1"/>
          <p:nvPr/>
        </p:nvSpPr>
        <p:spPr>
          <a:xfrm>
            <a:off x="5702697" y="4274503"/>
            <a:ext cx="6882607" cy="1566544"/>
          </a:xfrm>
          <a:prstGeom prst="rect">
            <a:avLst/>
          </a:prstGeom>
        </p:spPr>
        <p:txBody>
          <a:bodyPr lIns="0" tIns="0" rIns="0" bIns="0" rtlCol="0" anchor="t">
            <a:spAutoFit/>
          </a:bodyPr>
          <a:lstStyle/>
          <a:p>
            <a:pPr algn="ctr">
              <a:lnSpc>
                <a:spcPts val="12880"/>
              </a:lnSpc>
            </a:pPr>
            <a:r>
              <a:rPr lang="en-US" sz="9200" b="1">
                <a:solidFill>
                  <a:srgbClr val="1A1A1A"/>
                </a:solidFill>
                <a:latin typeface="Canva Sans Bold"/>
                <a:ea typeface="Canva Sans Bold"/>
                <a:cs typeface="Canva Sans Bold"/>
                <a:sym typeface="Canva Sans Bold"/>
              </a:rPr>
              <a:t>THANK YOU</a:t>
            </a:r>
          </a:p>
        </p:txBody>
      </p:sp>
      <p:sp>
        <p:nvSpPr>
          <p:cNvPr id="6" name="Freeform 6"/>
          <p:cNvSpPr/>
          <p:nvPr/>
        </p:nvSpPr>
        <p:spPr>
          <a:xfrm>
            <a:off x="0" y="9322212"/>
            <a:ext cx="4078723" cy="964788"/>
          </a:xfrm>
          <a:custGeom>
            <a:avLst/>
            <a:gdLst/>
            <a:ahLst/>
            <a:cxnLst/>
            <a:rect l="l" t="t" r="r" b="b"/>
            <a:pathLst>
              <a:path w="4078723" h="964788">
                <a:moveTo>
                  <a:pt x="0" y="0"/>
                </a:moveTo>
                <a:lnTo>
                  <a:pt x="4078723" y="0"/>
                </a:lnTo>
                <a:lnTo>
                  <a:pt x="4078723" y="964788"/>
                </a:lnTo>
                <a:lnTo>
                  <a:pt x="0" y="964788"/>
                </a:lnTo>
                <a:lnTo>
                  <a:pt x="0" y="0"/>
                </a:lnTo>
                <a:close/>
              </a:path>
            </a:pathLst>
          </a:custGeom>
          <a:blipFill>
            <a:blip r:embed="rId3"/>
            <a:stretch>
              <a:fillRect/>
            </a:stretch>
          </a:blipFill>
        </p:spPr>
        <p:txBody>
          <a:bodyPr/>
          <a:lstStyle/>
          <a:p>
            <a:endParaRPr lang="en-GB"/>
          </a:p>
        </p:txBody>
      </p:sp>
      <p:sp>
        <p:nvSpPr>
          <p:cNvPr id="7" name="Freeform 7"/>
          <p:cNvSpPr/>
          <p:nvPr/>
        </p:nvSpPr>
        <p:spPr>
          <a:xfrm>
            <a:off x="0" y="9322212"/>
            <a:ext cx="4078723" cy="964788"/>
          </a:xfrm>
          <a:custGeom>
            <a:avLst/>
            <a:gdLst/>
            <a:ahLst/>
            <a:cxnLst/>
            <a:rect l="l" t="t" r="r" b="b"/>
            <a:pathLst>
              <a:path w="4078723" h="964788">
                <a:moveTo>
                  <a:pt x="0" y="0"/>
                </a:moveTo>
                <a:lnTo>
                  <a:pt x="4078723" y="0"/>
                </a:lnTo>
                <a:lnTo>
                  <a:pt x="4078723" y="964788"/>
                </a:lnTo>
                <a:lnTo>
                  <a:pt x="0" y="964788"/>
                </a:lnTo>
                <a:lnTo>
                  <a:pt x="0" y="0"/>
                </a:lnTo>
                <a:close/>
              </a:path>
            </a:pathLst>
          </a:custGeom>
          <a:blipFill>
            <a:blip r:embed="rId3"/>
            <a:stretch>
              <a:fillRect/>
            </a:stretch>
          </a:blipFill>
        </p:spPr>
        <p:txBody>
          <a:bodyPr/>
          <a:lstStyle/>
          <a:p>
            <a:endParaRPr lang="en-GB"/>
          </a:p>
        </p:txBody>
      </p:sp>
      <p:sp>
        <p:nvSpPr>
          <p:cNvPr id="8" name="TextBox 8"/>
          <p:cNvSpPr txBox="1"/>
          <p:nvPr/>
        </p:nvSpPr>
        <p:spPr>
          <a:xfrm>
            <a:off x="4078723" y="9699831"/>
            <a:ext cx="8619957" cy="54019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     25-26J-473 </a:t>
            </a:r>
          </a:p>
        </p:txBody>
      </p:sp>
      <p:sp>
        <p:nvSpPr>
          <p:cNvPr id="9" name="TextBox 9"/>
          <p:cNvSpPr txBox="1"/>
          <p:nvPr/>
        </p:nvSpPr>
        <p:spPr>
          <a:xfrm>
            <a:off x="13428285" y="9633156"/>
            <a:ext cx="3018066" cy="562430"/>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7687737" y="407239"/>
            <a:ext cx="11770257" cy="11716811"/>
            <a:chOff x="0" y="0"/>
            <a:chExt cx="6378940" cy="6349975"/>
          </a:xfrm>
        </p:grpSpPr>
        <p:sp>
          <p:nvSpPr>
            <p:cNvPr id="3" name="Freeform 3"/>
            <p:cNvSpPr/>
            <p:nvPr/>
          </p:nvSpPr>
          <p:spPr>
            <a:xfrm>
              <a:off x="0" y="0"/>
              <a:ext cx="6378940" cy="6349975"/>
            </a:xfrm>
            <a:custGeom>
              <a:avLst/>
              <a:gdLst/>
              <a:ahLst/>
              <a:cxnLst/>
              <a:rect l="l" t="t" r="r" b="b"/>
              <a:pathLst>
                <a:path w="6378940" h="6349975">
                  <a:moveTo>
                    <a:pt x="6378940" y="3175025"/>
                  </a:moveTo>
                  <a:cubicBezTo>
                    <a:pt x="6378940" y="4928451"/>
                    <a:pt x="4950937" y="6349975"/>
                    <a:pt x="3189470" y="6349975"/>
                  </a:cubicBezTo>
                  <a:cubicBezTo>
                    <a:pt x="1427977" y="6349975"/>
                    <a:pt x="0" y="4928451"/>
                    <a:pt x="0" y="3175025"/>
                  </a:cubicBezTo>
                  <a:cubicBezTo>
                    <a:pt x="0" y="1421511"/>
                    <a:pt x="1427977" y="0"/>
                    <a:pt x="3189470" y="0"/>
                  </a:cubicBezTo>
                  <a:cubicBezTo>
                    <a:pt x="4950963" y="0"/>
                    <a:pt x="6378940" y="1421511"/>
                    <a:pt x="6378940" y="3175025"/>
                  </a:cubicBezTo>
                  <a:close/>
                </a:path>
              </a:pathLst>
            </a:custGeom>
            <a:blipFill>
              <a:blip r:embed="rId2">
                <a:alphaModFix amt="6999"/>
              </a:blip>
              <a:stretch>
                <a:fillRect t="-228" b="-228"/>
              </a:stretch>
            </a:blipFill>
          </p:spPr>
          <p:txBody>
            <a:bodyPr/>
            <a:lstStyle/>
            <a:p>
              <a:endParaRPr lang="en-GB"/>
            </a:p>
          </p:txBody>
        </p:sp>
      </p:grpSp>
      <p:sp>
        <p:nvSpPr>
          <p:cNvPr id="4" name="TextBox 4"/>
          <p:cNvSpPr txBox="1"/>
          <p:nvPr/>
        </p:nvSpPr>
        <p:spPr>
          <a:xfrm>
            <a:off x="17744518"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23</a:t>
            </a:r>
          </a:p>
        </p:txBody>
      </p:sp>
      <p:sp>
        <p:nvSpPr>
          <p:cNvPr id="5" name="TextBox 5"/>
          <p:cNvSpPr txBox="1"/>
          <p:nvPr/>
        </p:nvSpPr>
        <p:spPr>
          <a:xfrm>
            <a:off x="7617916" y="4274503"/>
            <a:ext cx="3052167" cy="1566544"/>
          </a:xfrm>
          <a:prstGeom prst="rect">
            <a:avLst/>
          </a:prstGeom>
        </p:spPr>
        <p:txBody>
          <a:bodyPr lIns="0" tIns="0" rIns="0" bIns="0" rtlCol="0" anchor="t">
            <a:spAutoFit/>
          </a:bodyPr>
          <a:lstStyle/>
          <a:p>
            <a:pPr algn="ctr">
              <a:lnSpc>
                <a:spcPts val="12880"/>
              </a:lnSpc>
            </a:pPr>
            <a:r>
              <a:rPr lang="en-US" sz="9200" b="1">
                <a:solidFill>
                  <a:srgbClr val="1A1A1A"/>
                </a:solidFill>
                <a:latin typeface="Canva Sans Bold"/>
                <a:ea typeface="Canva Sans Bold"/>
                <a:cs typeface="Canva Sans Bold"/>
                <a:sym typeface="Canva Sans Bold"/>
              </a:rPr>
              <a:t>Q &amp; A</a:t>
            </a:r>
          </a:p>
        </p:txBody>
      </p:sp>
      <p:sp>
        <p:nvSpPr>
          <p:cNvPr id="6" name="Freeform 6"/>
          <p:cNvSpPr/>
          <p:nvPr/>
        </p:nvSpPr>
        <p:spPr>
          <a:xfrm>
            <a:off x="0" y="9322212"/>
            <a:ext cx="4078723" cy="964788"/>
          </a:xfrm>
          <a:custGeom>
            <a:avLst/>
            <a:gdLst/>
            <a:ahLst/>
            <a:cxnLst/>
            <a:rect l="l" t="t" r="r" b="b"/>
            <a:pathLst>
              <a:path w="4078723" h="964788">
                <a:moveTo>
                  <a:pt x="0" y="0"/>
                </a:moveTo>
                <a:lnTo>
                  <a:pt x="4078723" y="0"/>
                </a:lnTo>
                <a:lnTo>
                  <a:pt x="4078723" y="964788"/>
                </a:lnTo>
                <a:lnTo>
                  <a:pt x="0" y="964788"/>
                </a:lnTo>
                <a:lnTo>
                  <a:pt x="0" y="0"/>
                </a:lnTo>
                <a:close/>
              </a:path>
            </a:pathLst>
          </a:custGeom>
          <a:blipFill>
            <a:blip r:embed="rId3"/>
            <a:stretch>
              <a:fillRect/>
            </a:stretch>
          </a:blipFill>
        </p:spPr>
        <p:txBody>
          <a:bodyPr/>
          <a:lstStyle/>
          <a:p>
            <a:endParaRPr lang="en-GB"/>
          </a:p>
        </p:txBody>
      </p:sp>
      <p:sp>
        <p:nvSpPr>
          <p:cNvPr id="7" name="TextBox 7"/>
          <p:cNvSpPr txBox="1"/>
          <p:nvPr/>
        </p:nvSpPr>
        <p:spPr>
          <a:xfrm>
            <a:off x="4078723" y="9699831"/>
            <a:ext cx="8619957" cy="54019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     25-26J-473 </a:t>
            </a:r>
          </a:p>
        </p:txBody>
      </p:sp>
      <p:sp>
        <p:nvSpPr>
          <p:cNvPr id="8" name="TextBox 8"/>
          <p:cNvSpPr txBox="1"/>
          <p:nvPr/>
        </p:nvSpPr>
        <p:spPr>
          <a:xfrm>
            <a:off x="13428285" y="9633156"/>
            <a:ext cx="3018066" cy="562430"/>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2415</Words>
  <Application>Microsoft Office PowerPoint</Application>
  <PresentationFormat>Custom</PresentationFormat>
  <Paragraphs>365</Paragraphs>
  <Slides>23</Slides>
  <Notes>6</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6" baseType="lpstr">
      <vt:lpstr>Canva Sans Italics</vt:lpstr>
      <vt:lpstr>Calibri</vt:lpstr>
      <vt:lpstr>Open Sans Bold</vt:lpstr>
      <vt:lpstr>Arial</vt:lpstr>
      <vt:lpstr>The Seasons Bold</vt:lpstr>
      <vt:lpstr>Lato Bold</vt:lpstr>
      <vt:lpstr>The Seasons</vt:lpstr>
      <vt:lpstr>Canva Sans</vt:lpstr>
      <vt:lpstr>Canva Sans Bold</vt:lpstr>
      <vt:lpstr>Canva Sans Bold Italics</vt:lpstr>
      <vt:lpstr>Open Sans</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PP1 of Smart Traffic Flow Optimization with Multi Agent Reinforcement Learning</dc:title>
  <dc:creator>Sangeerthan Sivananthan</dc:creator>
  <cp:lastModifiedBy>SANGEERTHAN S it22346568</cp:lastModifiedBy>
  <cp:revision>3</cp:revision>
  <dcterms:created xsi:type="dcterms:W3CDTF">2006-08-16T00:00:00Z</dcterms:created>
  <dcterms:modified xsi:type="dcterms:W3CDTF">2026-05-04T02:01:17Z</dcterms:modified>
  <dc:identifier>DAG9KYiRuFc</dc:identifier>
</cp:coreProperties>
</file>